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8" r:id="rId2"/>
    <p:sldId id="275" r:id="rId3"/>
    <p:sldId id="325" r:id="rId4"/>
    <p:sldId id="326" r:id="rId5"/>
    <p:sldId id="327" r:id="rId6"/>
    <p:sldId id="328" r:id="rId7"/>
    <p:sldId id="351" r:id="rId8"/>
    <p:sldId id="349" r:id="rId9"/>
    <p:sldId id="330" r:id="rId10"/>
    <p:sldId id="331" r:id="rId11"/>
    <p:sldId id="332" r:id="rId12"/>
    <p:sldId id="346" r:id="rId13"/>
    <p:sldId id="356" r:id="rId14"/>
    <p:sldId id="337" r:id="rId15"/>
    <p:sldId id="333" r:id="rId16"/>
    <p:sldId id="352" r:id="rId17"/>
    <p:sldId id="335" r:id="rId18"/>
    <p:sldId id="350" r:id="rId19"/>
    <p:sldId id="336" r:id="rId20"/>
    <p:sldId id="329" r:id="rId21"/>
    <p:sldId id="272" r:id="rId22"/>
    <p:sldId id="273" r:id="rId23"/>
    <p:sldId id="341" r:id="rId24"/>
    <p:sldId id="340" r:id="rId25"/>
    <p:sldId id="353" r:id="rId26"/>
    <p:sldId id="354" r:id="rId27"/>
    <p:sldId id="355" r:id="rId28"/>
    <p:sldId id="342" r:id="rId29"/>
    <p:sldId id="344" r:id="rId30"/>
    <p:sldId id="343" r:id="rId31"/>
    <p:sldId id="347" r:id="rId32"/>
    <p:sldId id="345" r:id="rId33"/>
    <p:sldId id="338" r:id="rId34"/>
    <p:sldId id="348" r:id="rId35"/>
    <p:sldId id="339" r:id="rId36"/>
    <p:sldId id="357" r:id="rId37"/>
    <p:sldId id="358" r:id="rId38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EACE"/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57" autoAdjust="0"/>
    <p:restoredTop sz="94364" autoAdjust="0"/>
  </p:normalViewPr>
  <p:slideViewPr>
    <p:cSldViewPr snapToGrid="0">
      <p:cViewPr varScale="1">
        <p:scale>
          <a:sx n="51" d="100"/>
          <a:sy n="51" d="100"/>
        </p:scale>
        <p:origin x="4428" y="22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596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emf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hyperlink" Target="https://sdrangan.github.io/hwdesign/docs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hyperlink" Target="https://sdrangan.github.io/waveflow/docs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llmgrader-e6o7.onrender.com/" TargetMode="External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drangan.github.io/llmgrader/docs/student/openai.html" TargetMode="Externa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eg"/><Relationship Id="rId3" Type="http://schemas.openxmlformats.org/officeDocument/2006/relationships/image" Target="../media/image19.jpeg"/><Relationship Id="rId4" Type="http://schemas.openxmlformats.org/officeDocument/2006/relationships/image" Target="../media/image20.jpeg"/><Relationship Id="rId5" Type="http://schemas.openxmlformats.org/officeDocument/2006/relationships/image" Target="../media/image21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drangan.github.io/hwdesign/nyu/project.html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eg"/><Relationship Id="rId3" Type="http://schemas.openxmlformats.org/officeDocument/2006/relationships/image" Target="../media/image25.jpeg"/><Relationship Id="rId4" Type="http://schemas.openxmlformats.org/officeDocument/2006/relationships/image" Target="../media/image26.jpeg"/><Relationship Id="rId5" Type="http://schemas.openxmlformats.org/officeDocument/2006/relationships/image" Target="../media/image27.jpeg"/><Relationship Id="rId6" Type="http://schemas.openxmlformats.org/officeDocument/2006/relationships/image" Target="../media/image28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eg"/><Relationship Id="rId3" Type="http://schemas.openxmlformats.org/officeDocument/2006/relationships/image" Target="../media/image25.jpeg"/><Relationship Id="rId4" Type="http://schemas.openxmlformats.org/officeDocument/2006/relationships/image" Target="../media/image26.jpeg"/><Relationship Id="rId5" Type="http://schemas.openxmlformats.org/officeDocument/2006/relationships/image" Target="../media/image27.jpeg"/><Relationship Id="rId6" Type="http://schemas.openxmlformats.org/officeDocument/2006/relationships/image" Target="../media/image28.jpe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6.jpeg"/><Relationship Id="rId5" Type="http://schemas.openxmlformats.org/officeDocument/2006/relationships/image" Target="../media/image29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00.png"/><Relationship Id="rId5" Type="http://schemas.openxmlformats.org/officeDocument/2006/relationships/image" Target="../media/image3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34.jpeg"/><Relationship Id="rId6" Type="http://schemas.openxmlformats.org/officeDocument/2006/relationships/image" Target="../media/image35.png"/><Relationship Id="rId7" Type="http://schemas.openxmlformats.org/officeDocument/2006/relationships/image" Target="../media/image3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e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36.jpeg"/><Relationship Id="rId4" Type="http://schemas.openxmlformats.org/officeDocument/2006/relationships/image" Target="../media/image37.jpeg"/><Relationship Id="rId5" Type="http://schemas.openxmlformats.org/officeDocument/2006/relationships/image" Target="../media/image3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eg"/><Relationship Id="rId3" Type="http://schemas.openxmlformats.org/officeDocument/2006/relationships/image" Target="../media/image28.jpe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llmgrader-e6o7.onrender.com/" TargetMode="External"/><Relationship Id="rId3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Unit 0 </a:t>
            </a:r>
            <a:br>
              <a:rPr lang="en-US" sz="6600" dirty="0"/>
            </a:br>
            <a:r>
              <a:rPr lang="en-US" sz="6600" dirty="0"/>
              <a:t>Course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ECE-GY 6463:  Advanced Hardware Design</a:t>
            </a:r>
          </a:p>
          <a:p>
            <a:r>
              <a:rPr lang="en-US" dirty="0"/>
              <a:t>Prof. Sundeep Rangan, Siddharth Garg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E59F8-EF96-20D9-3BF6-DBCF84399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5D5A7-6271-5B63-9B97-5A2686E82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3743C-B42E-14C5-942C-A1259FB2B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Course Admin</a:t>
            </a:r>
          </a:p>
          <a:p>
            <a:endParaRPr lang="en-US" sz="2400" dirty="0"/>
          </a:p>
          <a:p>
            <a:r>
              <a:rPr lang="en-US" sz="2400" dirty="0"/>
              <a:t>What is Custom Hardware and What Can it Do?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521AA-8799-5DBA-9D19-ACE01D30A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C9C9242D-0C02-1CE5-D0CB-EB939C4BE126}"/>
              </a:ext>
            </a:extLst>
          </p:cNvPr>
          <p:cNvSpPr/>
          <p:nvPr/>
        </p:nvSpPr>
        <p:spPr>
          <a:xfrm>
            <a:off x="450151" y="1488947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083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2930E-BC71-3A0E-7AC2-70DC7F3D7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4AD46-19A2-DBA5-EA89-B2417381B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Instructor</a:t>
            </a:r>
          </a:p>
          <a:p>
            <a:pPr lvl="1"/>
            <a:r>
              <a:rPr lang="en-US" dirty="0"/>
              <a:t>Sundeep Rangan, 370 Jay St, 9-th floor</a:t>
            </a:r>
          </a:p>
          <a:p>
            <a:r>
              <a:rPr lang="en-US" dirty="0"/>
              <a:t>Course assistant:</a:t>
            </a:r>
          </a:p>
          <a:p>
            <a:pPr lvl="1"/>
            <a:r>
              <a:rPr lang="en-US" dirty="0" err="1"/>
              <a:t>Ruibin</a:t>
            </a:r>
            <a:r>
              <a:rPr lang="en-US" dirty="0"/>
              <a:t> Chen, </a:t>
            </a:r>
          </a:p>
          <a:p>
            <a:r>
              <a:rPr lang="en-US" dirty="0"/>
              <a:t>Office Hours:</a:t>
            </a:r>
          </a:p>
          <a:p>
            <a:pPr lvl="1"/>
            <a:r>
              <a:rPr lang="en-US" dirty="0"/>
              <a:t>Instructor:  Tuesday, 2-3</a:t>
            </a:r>
          </a:p>
          <a:p>
            <a:r>
              <a:rPr lang="en-US" dirty="0"/>
              <a:t>Time and Location:  </a:t>
            </a:r>
          </a:p>
          <a:p>
            <a:pPr lvl="1"/>
            <a:r>
              <a:rPr lang="en-US" dirty="0"/>
              <a:t>Jacob’s Hall, 6 Metrotech Room 201</a:t>
            </a:r>
          </a:p>
          <a:p>
            <a:pPr lvl="1"/>
            <a:r>
              <a:rPr lang="en-US" dirty="0"/>
              <a:t>Wednesdays 11-1:30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EC84A-5C8F-097B-0143-1E50F59D3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264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32B1B-65A9-7DD2-5B06-CF4D7CAC7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4D45A-6B35-358E-70C1-DCA7EA6A1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/>
              <a:t>Identify tasks for hardware acceleration</a:t>
            </a:r>
          </a:p>
          <a:p>
            <a:pPr lvl="0"/>
            <a:r>
              <a:rPr lang="en-US" sz="2400" dirty="0"/>
              <a:t>Design, simulate, and evaluate designs for hardware accelerators</a:t>
            </a:r>
          </a:p>
          <a:p>
            <a:pPr lvl="1"/>
            <a:r>
              <a:rPr lang="en-US" sz="2200" dirty="0"/>
              <a:t>Called </a:t>
            </a:r>
            <a:r>
              <a:rPr lang="en-US" sz="2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Intellectual Property </a:t>
            </a:r>
            <a:r>
              <a:rPr lang="en-US" sz="2200" dirty="0"/>
              <a:t>or </a:t>
            </a:r>
            <a:r>
              <a:rPr lang="en-US" sz="2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IPs</a:t>
            </a:r>
          </a:p>
          <a:p>
            <a:pPr lvl="1"/>
            <a:r>
              <a:rPr lang="en-US" sz="2200" dirty="0"/>
              <a:t>Use state-of-the-art tools</a:t>
            </a:r>
          </a:p>
          <a:p>
            <a:pPr lvl="1"/>
            <a:r>
              <a:rPr lang="en-US" sz="2200" dirty="0"/>
              <a:t>High-level synthesis (HLS) and AI</a:t>
            </a:r>
          </a:p>
          <a:p>
            <a:pPr lvl="0"/>
            <a:r>
              <a:rPr lang="en-US" sz="2400" dirty="0"/>
              <a:t>Integrate IP into processor-based systems for real-world applications</a:t>
            </a:r>
          </a:p>
          <a:p>
            <a:pPr lvl="0"/>
            <a:r>
              <a:rPr lang="en-US" sz="2400" dirty="0"/>
              <a:t>Deploy and test systems on FPGA boards</a:t>
            </a:r>
          </a:p>
          <a:p>
            <a:pPr marL="0" lv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E9F40-C6E0-4149-CEB1-8A21F2CD9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846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50D4C-D61D-36BA-157D-6DC966D7F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Pre-Requisites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9A5A2-EF8E-3C8C-AEB0-93FB6B7A8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628900"/>
            <a:ext cx="10058400" cy="3240194"/>
          </a:xfrm>
        </p:spPr>
        <p:txBody>
          <a:bodyPr/>
          <a:lstStyle/>
          <a:p>
            <a:r>
              <a:rPr lang="en-US" dirty="0"/>
              <a:t>No prior hardware experience is required!</a:t>
            </a:r>
          </a:p>
          <a:p>
            <a:r>
              <a:rPr lang="en-US" dirty="0"/>
              <a:t>No hard pre-requisites!</a:t>
            </a:r>
          </a:p>
          <a:p>
            <a:r>
              <a:rPr lang="en-US" dirty="0"/>
              <a:t>Just have</a:t>
            </a:r>
          </a:p>
          <a:p>
            <a:pPr lvl="1"/>
            <a:r>
              <a:rPr lang="en-US" sz="2000" dirty="0"/>
              <a:t>Some software experience (e.g., C, python)</a:t>
            </a:r>
          </a:p>
          <a:p>
            <a:pPr lvl="1"/>
            <a:r>
              <a:rPr lang="en-US" sz="2000" dirty="0"/>
              <a:t>Desire to learn</a:t>
            </a:r>
          </a:p>
          <a:p>
            <a:r>
              <a:rPr lang="en-US" dirty="0"/>
              <a:t>Many possible disciplines</a:t>
            </a:r>
          </a:p>
          <a:p>
            <a:pPr lvl="1"/>
            <a:r>
              <a:rPr lang="en-US" dirty="0"/>
              <a:t>Robotics, wireless, scientific computation, cryptography, networking, …</a:t>
            </a:r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64A3F-9FE7-5D1B-F48A-786486DCD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9B0972B-9A48-3C51-67B4-B454D453FF66}"/>
              </a:ext>
            </a:extLst>
          </p:cNvPr>
          <p:cNvSpPr/>
          <p:nvPr/>
        </p:nvSpPr>
        <p:spPr>
          <a:xfrm>
            <a:off x="3267074" y="1520657"/>
            <a:ext cx="5405437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2"/>
                </a:solidFill>
              </a:rPr>
              <a:t>Anyone can learn hardware</a:t>
            </a:r>
          </a:p>
        </p:txBody>
      </p:sp>
    </p:spTree>
    <p:extLst>
      <p:ext uri="{BB962C8B-B14F-4D97-AF65-F5344CB8AC3E}">
        <p14:creationId xmlns:p14="http://schemas.microsoft.com/office/powerpoint/2010/main" val="2696472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0B4B1-C81A-24C4-A91D-FB8A4A8C5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Webpage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BA53C-68B3-CE77-291E-023CAA41A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6452096" cy="4329817"/>
          </a:xfrm>
        </p:spPr>
        <p:txBody>
          <a:bodyPr/>
          <a:lstStyle/>
          <a:p>
            <a:r>
              <a:rPr lang="en-US" dirty="0"/>
              <a:t>All the material for the class is on GitHub </a:t>
            </a:r>
          </a:p>
          <a:p>
            <a:r>
              <a:rPr lang="en-US" dirty="0"/>
              <a:t>Demos:</a:t>
            </a:r>
          </a:p>
          <a:p>
            <a:pPr lvl="1"/>
            <a:r>
              <a:rPr lang="en-US" dirty="0" err="1"/>
              <a:t>SystemVerilog</a:t>
            </a:r>
            <a:endParaRPr lang="en-US" dirty="0"/>
          </a:p>
          <a:p>
            <a:pPr lvl="1"/>
            <a:r>
              <a:rPr lang="en-US" dirty="0"/>
              <a:t>Vitis HLS</a:t>
            </a:r>
          </a:p>
          <a:p>
            <a:pPr lvl="1"/>
            <a:r>
              <a:rPr lang="en-US" dirty="0"/>
              <a:t>Python</a:t>
            </a:r>
          </a:p>
          <a:p>
            <a:r>
              <a:rPr lang="en-US" dirty="0"/>
              <a:t>Lecture notes</a:t>
            </a:r>
          </a:p>
          <a:p>
            <a:r>
              <a:rPr lang="en-US" dirty="0"/>
              <a:t>Problems, Lab </a:t>
            </a:r>
            <a:r>
              <a:rPr lang="en-US" dirty="0" err="1"/>
              <a:t>assignnments</a:t>
            </a:r>
            <a:endParaRPr lang="en-US" dirty="0"/>
          </a:p>
          <a:p>
            <a:r>
              <a:rPr lang="en-US" dirty="0"/>
              <a:t>Repository is work in progress</a:t>
            </a:r>
          </a:p>
          <a:p>
            <a:pPr lvl="1"/>
            <a:r>
              <a:rPr lang="en-US" dirty="0"/>
              <a:t>Re-sync periodically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3F543-E72D-CBDA-C7DC-750C87ABD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E3648C-3979-74A3-6E4F-A93EDD2AA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620" y="818594"/>
            <a:ext cx="5159440" cy="4389026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46E95C3-4464-57DB-D4FF-57467CE60BF2}"/>
              </a:ext>
            </a:extLst>
          </p:cNvPr>
          <p:cNvSpPr/>
          <p:nvPr/>
        </p:nvSpPr>
        <p:spPr>
          <a:xfrm>
            <a:off x="4436533" y="5420083"/>
            <a:ext cx="6719147" cy="57659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2"/>
                </a:solidFill>
                <a:hlinkClick r:id="rId3"/>
              </a:rPr>
              <a:t>https://sdrangan.github.io/hwdesign/docs</a:t>
            </a: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2433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CD38F-B3CA-58A8-CE7B-63C43F6DB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WaveFlow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D73C1-F6FA-9C9C-31AA-D90326606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1740" y="1533701"/>
            <a:ext cx="6162164" cy="4329817"/>
          </a:xfrm>
        </p:spPr>
        <p:txBody>
          <a:bodyPr/>
          <a:lstStyle/>
          <a:p>
            <a:r>
              <a:rPr lang="en-US" dirty="0"/>
              <a:t>Package for python-native circuit design</a:t>
            </a:r>
          </a:p>
          <a:p>
            <a:r>
              <a:rPr lang="en-US" dirty="0"/>
              <a:t>We will use this package for:</a:t>
            </a:r>
          </a:p>
          <a:p>
            <a:pPr lvl="1"/>
            <a:r>
              <a:rPr lang="en-US" dirty="0"/>
              <a:t>Python-based AMD tool calls</a:t>
            </a:r>
          </a:p>
          <a:p>
            <a:pPr lvl="1"/>
            <a:r>
              <a:rPr lang="en-US" dirty="0"/>
              <a:t>Python golden models</a:t>
            </a:r>
          </a:p>
          <a:p>
            <a:pPr lvl="1"/>
            <a:r>
              <a:rPr lang="en-US" dirty="0"/>
              <a:t>Schemas and fixed point simulation</a:t>
            </a:r>
          </a:p>
          <a:p>
            <a:r>
              <a:rPr lang="en-US" dirty="0"/>
              <a:t>You can also use it for your project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C4EF0-67E4-3A55-8227-93242F7A9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4CEA66-5B94-5865-70E2-FED6CB784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310" y="1900384"/>
            <a:ext cx="6422685" cy="2870315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6198C05-E973-A931-2AE4-E5EF90E57469}"/>
              </a:ext>
            </a:extLst>
          </p:cNvPr>
          <p:cNvSpPr/>
          <p:nvPr/>
        </p:nvSpPr>
        <p:spPr>
          <a:xfrm>
            <a:off x="4182822" y="5055971"/>
            <a:ext cx="6719147" cy="57659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2"/>
                </a:solidFill>
                <a:hlinkClick r:id="rId3"/>
              </a:rPr>
              <a:t>https://sdrangan.github.io/waveflow/docs</a:t>
            </a: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5855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3C9C2-F070-02D6-1966-AC09B6174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Set-Up:  ECS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209A2-7DC0-B5BF-8E52-5248F53E4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tools are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Vitis</a:t>
            </a:r>
            <a:r>
              <a:rPr lang="en-US" dirty="0"/>
              <a:t> and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Vivado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Basic software for digital design</a:t>
            </a:r>
          </a:p>
          <a:p>
            <a:r>
              <a:rPr lang="en-US" dirty="0"/>
              <a:t>You can run all demos and labs on NYU ECS servers</a:t>
            </a:r>
          </a:p>
          <a:p>
            <a:pPr lvl="1"/>
            <a:r>
              <a:rPr lang="en-US" dirty="0"/>
              <a:t>No need for set-up on your local machine</a:t>
            </a:r>
          </a:p>
          <a:p>
            <a:r>
              <a:rPr lang="en-US" dirty="0"/>
              <a:t>Ideal for MacOS users</a:t>
            </a:r>
          </a:p>
          <a:p>
            <a:pPr lvl="1"/>
            <a:r>
              <a:rPr lang="en-US" dirty="0"/>
              <a:t>Local set-up only supported on Windows and Linux</a:t>
            </a:r>
          </a:p>
          <a:p>
            <a:r>
              <a:rPr lang="en-US" dirty="0"/>
              <a:t>Instructor will provide your email to NYU IT</a:t>
            </a:r>
          </a:p>
          <a:p>
            <a:r>
              <a:rPr lang="en-US" dirty="0"/>
              <a:t>You will then be able to log into ecs03.poly.edu to ecs06.poly.edu</a:t>
            </a:r>
          </a:p>
          <a:p>
            <a:pPr lvl="1"/>
            <a:r>
              <a:rPr lang="en-US" dirty="0"/>
              <a:t>SSH for command line</a:t>
            </a:r>
          </a:p>
          <a:p>
            <a:pPr lvl="1"/>
            <a:r>
              <a:rPr lang="en-US" dirty="0"/>
              <a:t>Or </a:t>
            </a:r>
            <a:r>
              <a:rPr lang="en-US" dirty="0" err="1"/>
              <a:t>FastX</a:t>
            </a:r>
            <a:r>
              <a:rPr lang="en-US" dirty="0"/>
              <a:t> for a GUI-based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56C8F7-FCC3-6BD5-9ABF-22216B1F1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BD93D7-7B17-E837-F6DB-C2FFAB412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555" y="4821737"/>
            <a:ext cx="5839125" cy="114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676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A5653-2626-C12B-D4B5-3E3E7463A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Set-Up: Local Machine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54360-EB05-5ECD-4C10-6269DCB7E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You can also install Vitis and </a:t>
            </a:r>
            <a:r>
              <a:rPr lang="en-US" sz="2400" dirty="0" err="1"/>
              <a:t>Vivado</a:t>
            </a:r>
            <a:r>
              <a:rPr lang="en-US" sz="2400" dirty="0"/>
              <a:t> on local machine</a:t>
            </a:r>
          </a:p>
          <a:p>
            <a:r>
              <a:rPr lang="en-US" sz="2400" dirty="0"/>
              <a:t>But only works for Windows and Linux</a:t>
            </a:r>
          </a:p>
          <a:p>
            <a:pPr lvl="1"/>
            <a:r>
              <a:rPr lang="en-US" sz="2000" dirty="0"/>
              <a:t>Does not work for MacOS</a:t>
            </a:r>
          </a:p>
          <a:p>
            <a:r>
              <a:rPr lang="en-US" sz="2400" dirty="0"/>
              <a:t>Optional:  Purchase an actual FPGA board</a:t>
            </a:r>
          </a:p>
          <a:p>
            <a:pPr lvl="1"/>
            <a:r>
              <a:rPr lang="en-US" sz="2200" dirty="0"/>
              <a:t>See next slide</a:t>
            </a:r>
          </a:p>
          <a:p>
            <a:r>
              <a:rPr lang="en-US" sz="2400" dirty="0"/>
              <a:t>See installation instructions in class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58FC5-F591-A75E-94DC-945852BFC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44BB8C-D309-9C27-A6DE-4182F725B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1818" y="1957773"/>
            <a:ext cx="2952902" cy="280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048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11039-AB79-5C2B-A2DD-99BCE50D8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Boards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CD018-8CEC-5AF3-F372-0EA172C54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Projects and labs can be deployed on actual hardware</a:t>
            </a:r>
          </a:p>
          <a:p>
            <a:pPr lvl="1"/>
            <a:r>
              <a:rPr lang="en-US" sz="2200" dirty="0"/>
              <a:t>Currently optional due to price</a:t>
            </a:r>
          </a:p>
          <a:p>
            <a:r>
              <a:rPr lang="en-US" sz="2400" dirty="0"/>
              <a:t>We suggest:  Pynq-Z2 board</a:t>
            </a:r>
          </a:p>
          <a:p>
            <a:pPr lvl="1"/>
            <a:r>
              <a:rPr lang="en-US" sz="2200" dirty="0"/>
              <a:t>$300 </a:t>
            </a:r>
          </a:p>
          <a:p>
            <a:pPr lvl="1"/>
            <a:r>
              <a:rPr lang="en-US" sz="2200" dirty="0"/>
              <a:t>USB connection to your laptop</a:t>
            </a:r>
          </a:p>
          <a:p>
            <a:pPr lvl="1"/>
            <a:r>
              <a:rPr lang="en-US" sz="2200" dirty="0" err="1"/>
              <a:t>Pynq</a:t>
            </a:r>
            <a:r>
              <a:rPr lang="en-US" sz="2200" dirty="0"/>
              <a:t>:  Simple python interface</a:t>
            </a:r>
          </a:p>
          <a:p>
            <a:pPr lvl="1"/>
            <a:r>
              <a:rPr lang="en-US" sz="2200" dirty="0"/>
              <a:t>Low-end, but ideal for teaching</a:t>
            </a:r>
          </a:p>
          <a:p>
            <a:r>
              <a:rPr lang="en-US" sz="2400" dirty="0"/>
              <a:t>Other boards may be available in lab</a:t>
            </a:r>
          </a:p>
          <a:p>
            <a:pPr lvl="1"/>
            <a:r>
              <a:rPr lang="en-US" sz="2200" dirty="0"/>
              <a:t>Ex: </a:t>
            </a:r>
            <a:r>
              <a:rPr lang="en-US" sz="2200" dirty="0" err="1"/>
              <a:t>RFSoC</a:t>
            </a:r>
            <a:r>
              <a:rPr lang="en-US" sz="2200" dirty="0"/>
              <a:t> 4x2 for wireless communications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7729F-F5BF-5631-CE34-678FB092D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8A23A0-0F27-10E7-3351-DB9D10428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083" y="382694"/>
            <a:ext cx="3132331" cy="25187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11EA30-7607-2636-0AE5-CEE8CABF6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338" y="3080485"/>
            <a:ext cx="5242862" cy="9621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990E59-4093-DAA4-FDC4-99F75672D7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5811" y="4211635"/>
            <a:ext cx="4304867" cy="2467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149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63C20-3B82-441C-12B0-76CFECCBD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Tentative Grading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F4927-B5C7-8DB2-27BA-85662F410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Points</a:t>
            </a:r>
          </a:p>
          <a:p>
            <a:pPr lvl="1"/>
            <a:r>
              <a:rPr lang="en-US" dirty="0"/>
              <a:t>Homework + Labs: 25%</a:t>
            </a:r>
          </a:p>
          <a:p>
            <a:pPr lvl="1"/>
            <a:r>
              <a:rPr lang="en-US" dirty="0"/>
              <a:t>Midterm:  25%</a:t>
            </a:r>
          </a:p>
          <a:p>
            <a:pPr lvl="1"/>
            <a:r>
              <a:rPr lang="en-US" dirty="0"/>
              <a:t>Final:  25%</a:t>
            </a:r>
          </a:p>
          <a:p>
            <a:pPr lvl="1"/>
            <a:r>
              <a:rPr lang="en-US" dirty="0"/>
              <a:t>Project:  25% </a:t>
            </a:r>
          </a:p>
          <a:p>
            <a:r>
              <a:rPr lang="en-US" dirty="0"/>
              <a:t>Labs will be mostly </a:t>
            </a:r>
            <a:r>
              <a:rPr lang="en-US" dirty="0" err="1"/>
              <a:t>SystemVerilog</a:t>
            </a:r>
            <a:r>
              <a:rPr lang="en-US" dirty="0"/>
              <a:t> and </a:t>
            </a:r>
            <a:r>
              <a:rPr lang="en-US" dirty="0" err="1"/>
              <a:t>VitisHLS</a:t>
            </a:r>
            <a:endParaRPr lang="en-US" dirty="0"/>
          </a:p>
          <a:p>
            <a:pPr lvl="1"/>
            <a:r>
              <a:rPr lang="en-US" dirty="0"/>
              <a:t>Approximately 4 Vitis HLS assignments</a:t>
            </a:r>
          </a:p>
          <a:p>
            <a:pPr lvl="1"/>
            <a:r>
              <a:rPr lang="en-US" dirty="0"/>
              <a:t>Approximately 5 written assignments</a:t>
            </a:r>
          </a:p>
          <a:p>
            <a:r>
              <a:rPr lang="en-US" dirty="0"/>
              <a:t>Midterm and Final are in class</a:t>
            </a:r>
          </a:p>
          <a:p>
            <a:pPr lvl="1"/>
            <a:r>
              <a:rPr lang="en-US" dirty="0"/>
              <a:t>Closed book, no electronic aids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CD1AC-1CF5-DED5-ADE8-F1E655F73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818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FA4C1-71AC-123B-B99F-699DEB5D9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</a:t>
            </a:r>
            <a:r>
              <a:rPr lang="en-US" dirty="0" err="1"/>
              <a:t>Autograder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0ADDC-09C9-7DE9-3FE9-C059D43BF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070862" cy="4329817"/>
          </a:xfrm>
        </p:spPr>
        <p:txBody>
          <a:bodyPr/>
          <a:lstStyle/>
          <a:p>
            <a:r>
              <a:rPr lang="en-US" dirty="0"/>
              <a:t>An </a:t>
            </a:r>
            <a:r>
              <a:rPr lang="en-US" dirty="0">
                <a:hlinkClick r:id="rId2"/>
              </a:rPr>
              <a:t>LLM-automated grader</a:t>
            </a:r>
            <a:endParaRPr lang="en-US" dirty="0"/>
          </a:p>
          <a:p>
            <a:r>
              <a:rPr lang="en-US" dirty="0"/>
              <a:t>Will use for:</a:t>
            </a:r>
          </a:p>
          <a:p>
            <a:pPr lvl="1"/>
            <a:r>
              <a:rPr lang="en-US" dirty="0"/>
              <a:t>In class exercises</a:t>
            </a:r>
          </a:p>
          <a:p>
            <a:pPr lvl="1"/>
            <a:r>
              <a:rPr lang="en-US" dirty="0"/>
              <a:t>For </a:t>
            </a:r>
            <a:r>
              <a:rPr lang="en-US" dirty="0" err="1"/>
              <a:t>Gradescrope</a:t>
            </a:r>
            <a:r>
              <a:rPr lang="en-US" dirty="0"/>
              <a:t> submissions</a:t>
            </a:r>
          </a:p>
          <a:p>
            <a:r>
              <a:rPr lang="en-US" dirty="0"/>
              <a:t>Provides</a:t>
            </a:r>
          </a:p>
          <a:p>
            <a:pPr lvl="1"/>
            <a:r>
              <a:rPr lang="en-US" dirty="0"/>
              <a:t>Instant, detailed feedback</a:t>
            </a:r>
          </a:p>
          <a:p>
            <a:r>
              <a:rPr lang="en-US" dirty="0"/>
              <a:t>But</a:t>
            </a:r>
          </a:p>
          <a:p>
            <a:pPr lvl="1"/>
            <a:r>
              <a:rPr lang="en-US" dirty="0"/>
              <a:t>May make mistakes</a:t>
            </a:r>
          </a:p>
          <a:p>
            <a:r>
              <a:rPr lang="en-US" dirty="0"/>
              <a:t>Still experimental</a:t>
            </a:r>
          </a:p>
          <a:p>
            <a:pPr lvl="1"/>
            <a:r>
              <a:rPr lang="en-US" dirty="0"/>
              <a:t>Need your feedback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9BE6A3-ED12-515F-1028-F85F299E3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FF5452-282B-87C1-47EA-E46A68269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152" y="536859"/>
            <a:ext cx="7157215" cy="4877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204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35F5D-2CDF-2046-6A75-3B02556D9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OpenAI API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59ABA-5A2A-FC24-3B58-B4533CA69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610325" cy="4329817"/>
          </a:xfrm>
        </p:spPr>
        <p:txBody>
          <a:bodyPr/>
          <a:lstStyle/>
          <a:p>
            <a:r>
              <a:rPr lang="en-US" dirty="0"/>
              <a:t>LLM Grader uses OpenAI models</a:t>
            </a:r>
          </a:p>
          <a:p>
            <a:r>
              <a:rPr lang="en-US" dirty="0"/>
              <a:t>You will need your own OpenAI API key</a:t>
            </a:r>
          </a:p>
          <a:p>
            <a:r>
              <a:rPr lang="en-US" dirty="0"/>
              <a:t>Follow </a:t>
            </a:r>
            <a:r>
              <a:rPr lang="en-US" dirty="0">
                <a:hlinkClick r:id="rId2"/>
              </a:rPr>
              <a:t>instructions</a:t>
            </a:r>
            <a:r>
              <a:rPr lang="en-US" dirty="0"/>
              <a:t> </a:t>
            </a:r>
          </a:p>
          <a:p>
            <a:r>
              <a:rPr lang="en-US" dirty="0"/>
              <a:t>Cost is minimal:</a:t>
            </a:r>
          </a:p>
          <a:p>
            <a:pPr lvl="1"/>
            <a:r>
              <a:rPr lang="en-US" dirty="0"/>
              <a:t>For GPT-5.6 Luna, about $0.30 for 1000 questions</a:t>
            </a:r>
          </a:p>
          <a:p>
            <a:pPr lvl="1"/>
            <a:endParaRPr lang="en-US" dirty="0"/>
          </a:p>
          <a:p>
            <a:r>
              <a:rPr lang="en-US" dirty="0"/>
              <a:t>Note:  Your OpenAI API key is kept privately</a:t>
            </a:r>
          </a:p>
          <a:p>
            <a:pPr lvl="1"/>
            <a:r>
              <a:rPr lang="en-US" dirty="0"/>
              <a:t>Stored on your browser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F5A2D2-EEEE-3732-F59A-F59C9C30B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E157B2-EA14-3DA0-F8DB-3E27D7FD4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1479" y="3160136"/>
            <a:ext cx="4401164" cy="28960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D90014-8CDB-D93B-F3BA-A2C66E8FF0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018" y="509673"/>
            <a:ext cx="5594625" cy="265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968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5364D-9978-6A04-C9F5-A9C557EA8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1529F-348E-A27A-8167-2D4D321BA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800212" cy="4329817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It is encouraged! </a:t>
            </a:r>
          </a:p>
          <a:p>
            <a:pPr lvl="1"/>
            <a:r>
              <a:rPr lang="en-US" sz="2200" dirty="0"/>
              <a:t>Use it for labs, problems, projects</a:t>
            </a:r>
          </a:p>
          <a:p>
            <a:r>
              <a:rPr lang="en-US" sz="2400" dirty="0"/>
              <a:t>But learn to use it well:</a:t>
            </a:r>
          </a:p>
          <a:p>
            <a:pPr lvl="1"/>
            <a:r>
              <a:rPr lang="en-US" sz="2200" dirty="0"/>
              <a:t>It still makes mistakes.</a:t>
            </a:r>
          </a:p>
          <a:p>
            <a:pPr lvl="1"/>
            <a:r>
              <a:rPr lang="en-US" sz="2200" dirty="0"/>
              <a:t>Learn to test the results</a:t>
            </a:r>
          </a:p>
          <a:p>
            <a:pPr lvl="1"/>
            <a:r>
              <a:rPr lang="en-US" sz="2200" dirty="0"/>
              <a:t>Write clear, specific prompts</a:t>
            </a:r>
          </a:p>
          <a:p>
            <a:pPr lvl="1"/>
            <a:r>
              <a:rPr lang="en-US" sz="2200" dirty="0"/>
              <a:t>Use it as a tutor</a:t>
            </a:r>
          </a:p>
          <a:p>
            <a:pPr lvl="1"/>
            <a:r>
              <a:rPr lang="en-US" sz="2200" dirty="0"/>
              <a:t>Have it generate questions</a:t>
            </a:r>
          </a:p>
          <a:p>
            <a:pPr lvl="1"/>
            <a:r>
              <a:rPr lang="en-US" sz="2200" dirty="0"/>
              <a:t>Explain results</a:t>
            </a:r>
          </a:p>
          <a:p>
            <a:r>
              <a:rPr lang="en-US" sz="2400" dirty="0"/>
              <a:t>On the midterm &amp; final there are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no aids</a:t>
            </a:r>
            <a:r>
              <a:rPr lang="en-US" sz="2400" dirty="0"/>
              <a:t>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EE8DA-A9AA-7730-E9CB-A591A192E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03A549-734E-A848-927E-67B41A996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588" y="470266"/>
            <a:ext cx="4525563" cy="6365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1FB749-33A9-D03F-9B82-6BBE0F404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492" y="1326814"/>
            <a:ext cx="4543659" cy="4496031"/>
          </a:xfrm>
          <a:prstGeom prst="rect">
            <a:avLst/>
          </a:prstGeom>
        </p:spPr>
      </p:pic>
      <p:pic>
        <p:nvPicPr>
          <p:cNvPr id="3074" name="Picture 2" descr="Microsoft Copilot Icon | Dashboard Icons">
            <a:extLst>
              <a:ext uri="{FF2B5EF4-FFF2-40B4-BE49-F238E27FC236}">
                <a16:creationId xmlns:a16="http://schemas.microsoft.com/office/drawing/2014/main" id="{D5159984-BBBE-2871-4051-9B819EB70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6338" y="3372290"/>
            <a:ext cx="15430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0657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FDD44-B2BF-8B90-2BE0-A070DE05E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Tentative Syllabus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B11B2-DE58-4074-6A66-8F453F163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724F8FE4-A521-C68D-3C05-74A65BEE6C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0193705"/>
              </p:ext>
            </p:extLst>
          </p:nvPr>
        </p:nvGraphicFramePr>
        <p:xfrm>
          <a:off x="1096963" y="1600000"/>
          <a:ext cx="10058400" cy="4000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172044387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1953659805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marL="0" marR="0"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Date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Lecture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extLst>
                  <a:ext uri="{0D108BD9-81ED-4DB2-BD59-A6C34878D82A}">
                    <a16:rowId xmlns:a16="http://schemas.microsoft.com/office/drawing/2014/main" val="3859845707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marL="0" marR="0">
                        <a:spcAft>
                          <a:spcPts val="800"/>
                        </a:spcAft>
                        <a:buNone/>
                      </a:pPr>
                      <a:r>
                        <a:rPr lang="en-US" sz="2400" b="0" kern="100">
                          <a:effectLst/>
                        </a:rPr>
                        <a:t>9/2/2026</a:t>
                      </a:r>
                      <a:endParaRPr lang="en-US" sz="18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Course Admin</a:t>
                      </a:r>
                      <a:br>
                        <a:rPr lang="en-US" sz="2400" kern="100">
                          <a:effectLst/>
                        </a:rPr>
                      </a:br>
                      <a:r>
                        <a:rPr lang="en-US" sz="2400" kern="100">
                          <a:effectLst/>
                        </a:rPr>
                        <a:t>Unit 1: Data types and combinational logic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extLst>
                  <a:ext uri="{0D108BD9-81ED-4DB2-BD59-A6C34878D82A}">
                    <a16:rowId xmlns:a16="http://schemas.microsoft.com/office/drawing/2014/main" val="2798411756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marR="0">
                        <a:spcAft>
                          <a:spcPts val="800"/>
                        </a:spcAft>
                        <a:buNone/>
                      </a:pPr>
                      <a:r>
                        <a:rPr lang="en-US" sz="2400" b="0" kern="100">
                          <a:effectLst/>
                        </a:rPr>
                        <a:t>9/9/2026</a:t>
                      </a:r>
                      <a:endParaRPr lang="en-US" sz="18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Unit 2: Sequential logic and finite state machines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extLst>
                  <a:ext uri="{0D108BD9-81ED-4DB2-BD59-A6C34878D82A}">
                    <a16:rowId xmlns:a16="http://schemas.microsoft.com/office/drawing/2014/main" val="37604991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marR="0">
                        <a:spcAft>
                          <a:spcPts val="800"/>
                        </a:spcAft>
                        <a:buNone/>
                      </a:pPr>
                      <a:r>
                        <a:rPr lang="en-US" sz="2400" b="0" kern="100">
                          <a:effectLst/>
                        </a:rPr>
                        <a:t>9/16/2026</a:t>
                      </a:r>
                      <a:endParaRPr lang="en-US" sz="18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Unit 3: Floating- and fixed-point arithmetic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extLst>
                  <a:ext uri="{0D108BD9-81ED-4DB2-BD59-A6C34878D82A}">
                    <a16:rowId xmlns:a16="http://schemas.microsoft.com/office/drawing/2014/main" val="27014267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marR="0">
                        <a:spcAft>
                          <a:spcPts val="800"/>
                        </a:spcAft>
                        <a:buNone/>
                      </a:pPr>
                      <a:r>
                        <a:rPr lang="en-US" sz="2400" b="0" kern="100">
                          <a:effectLst/>
                        </a:rPr>
                        <a:t>9/23/2026</a:t>
                      </a:r>
                      <a:endParaRPr lang="en-US" sz="18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Unit 4: Bus basics and memory-mapped interfaces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extLst>
                  <a:ext uri="{0D108BD9-81ED-4DB2-BD59-A6C34878D82A}">
                    <a16:rowId xmlns:a16="http://schemas.microsoft.com/office/drawing/2014/main" val="4065875416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marR="0">
                        <a:spcAft>
                          <a:spcPts val="800"/>
                        </a:spcAft>
                        <a:buNone/>
                      </a:pPr>
                      <a:r>
                        <a:rPr lang="en-US" sz="2400" b="0" kern="100">
                          <a:effectLst/>
                        </a:rPr>
                        <a:t>9/30/2026</a:t>
                      </a:r>
                      <a:endParaRPr lang="en-US" sz="18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Unit 5: FIFO and streaming interfaces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extLst>
                  <a:ext uri="{0D108BD9-81ED-4DB2-BD59-A6C34878D82A}">
                    <a16:rowId xmlns:a16="http://schemas.microsoft.com/office/drawing/2014/main" val="3868897888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marR="0">
                        <a:spcAft>
                          <a:spcPts val="800"/>
                        </a:spcAft>
                        <a:buNone/>
                      </a:pPr>
                      <a:r>
                        <a:rPr lang="en-US" sz="2400" b="0" kern="100">
                          <a:effectLst/>
                        </a:rPr>
                        <a:t>10/7/2026</a:t>
                      </a:r>
                      <a:endParaRPr lang="en-US" sz="18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Midterm review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extLst>
                  <a:ext uri="{0D108BD9-81ED-4DB2-BD59-A6C34878D82A}">
                    <a16:rowId xmlns:a16="http://schemas.microsoft.com/office/drawing/2014/main" val="250105781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marR="0">
                        <a:spcAft>
                          <a:spcPts val="800"/>
                        </a:spcAft>
                        <a:buNone/>
                      </a:pPr>
                      <a:r>
                        <a:rPr lang="en-US" sz="2400" b="0" kern="100">
                          <a:effectLst/>
                        </a:rPr>
                        <a:t>10/14/2026</a:t>
                      </a:r>
                      <a:endParaRPr lang="en-US" sz="18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Legislative Monday - no class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extLst>
                  <a:ext uri="{0D108BD9-81ED-4DB2-BD59-A6C34878D82A}">
                    <a16:rowId xmlns:a16="http://schemas.microsoft.com/office/drawing/2014/main" val="389087063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marR="0">
                        <a:spcAft>
                          <a:spcPts val="800"/>
                        </a:spcAft>
                        <a:buNone/>
                      </a:pPr>
                      <a:r>
                        <a:rPr lang="en-US" sz="2400" b="0" kern="100" dirty="0">
                          <a:effectLst/>
                        </a:rPr>
                        <a:t>10/21/2026</a:t>
                      </a:r>
                      <a:endParaRPr lang="en-US" sz="1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Midterm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extLst>
                  <a:ext uri="{0D108BD9-81ED-4DB2-BD59-A6C34878D82A}">
                    <a16:rowId xmlns:a16="http://schemas.microsoft.com/office/drawing/2014/main" val="2180918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7328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34C39-4FC0-43FF-A75C-49AC29354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Tentative Syllabus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596CD-4A2A-442F-8D4B-B73AFF6FD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09306850-F13E-4D23-AD44-E894937C4D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7656391"/>
              </p:ext>
            </p:extLst>
          </p:nvPr>
        </p:nvGraphicFramePr>
        <p:xfrm>
          <a:off x="1096963" y="1600000"/>
          <a:ext cx="10058400" cy="3440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172044387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1953659805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marL="0" marR="0"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Date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Lecture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extLst>
                  <a:ext uri="{0D108BD9-81ED-4DB2-BD59-A6C34878D82A}">
                    <a16:rowId xmlns:a16="http://schemas.microsoft.com/office/drawing/2014/main" val="385984570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marR="0">
                        <a:spcAft>
                          <a:spcPts val="800"/>
                        </a:spcAft>
                        <a:buNone/>
                      </a:pPr>
                      <a:r>
                        <a:rPr lang="en-US" sz="2400" b="0" kern="100" dirty="0">
                          <a:effectLst/>
                        </a:rPr>
                        <a:t>10/28/2026</a:t>
                      </a:r>
                      <a:endParaRPr lang="en-US" sz="1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Unit 6: Timing &amp; critical path analysis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extLst>
                  <a:ext uri="{0D108BD9-81ED-4DB2-BD59-A6C34878D82A}">
                    <a16:rowId xmlns:a16="http://schemas.microsoft.com/office/drawing/2014/main" val="398012217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marR="0">
                        <a:spcAft>
                          <a:spcPts val="800"/>
                        </a:spcAft>
                        <a:buNone/>
                      </a:pPr>
                      <a:r>
                        <a:rPr lang="en-US" sz="2400" b="0" kern="100" dirty="0">
                          <a:effectLst/>
                        </a:rPr>
                        <a:t>11/4/2026</a:t>
                      </a:r>
                      <a:endParaRPr lang="en-US" sz="1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Unit 7: Pipelining and loop optimization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extLst>
                  <a:ext uri="{0D108BD9-81ED-4DB2-BD59-A6C34878D82A}">
                    <a16:rowId xmlns:a16="http://schemas.microsoft.com/office/drawing/2014/main" val="428142607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marR="0">
                        <a:spcAft>
                          <a:spcPts val="800"/>
                        </a:spcAft>
                        <a:buNone/>
                      </a:pPr>
                      <a:r>
                        <a:rPr lang="en-US" sz="2400" b="0" kern="100" dirty="0">
                          <a:effectLst/>
                        </a:rPr>
                        <a:t>11/11/2026</a:t>
                      </a:r>
                      <a:endParaRPr lang="en-US" sz="1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Unit 8: Shared memory architectures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extLst>
                  <a:ext uri="{0D108BD9-81ED-4DB2-BD59-A6C34878D82A}">
                    <a16:rowId xmlns:a16="http://schemas.microsoft.com/office/drawing/2014/main" val="54866270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marR="0">
                        <a:spcAft>
                          <a:spcPts val="800"/>
                        </a:spcAft>
                        <a:buNone/>
                      </a:pPr>
                      <a:r>
                        <a:rPr lang="en-US" sz="2400" b="0" kern="100" dirty="0">
                          <a:effectLst/>
                        </a:rPr>
                        <a:t>11/18/2026</a:t>
                      </a:r>
                      <a:endParaRPr lang="en-US" sz="1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Unit 9: Systolic arrays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extLst>
                  <a:ext uri="{0D108BD9-81ED-4DB2-BD59-A6C34878D82A}">
                    <a16:rowId xmlns:a16="http://schemas.microsoft.com/office/drawing/2014/main" val="1979191198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marR="0">
                        <a:spcAft>
                          <a:spcPts val="800"/>
                        </a:spcAft>
                        <a:buNone/>
                      </a:pPr>
                      <a:r>
                        <a:rPr lang="en-US" sz="2400" b="0" kern="100" dirty="0">
                          <a:effectLst/>
                        </a:rPr>
                        <a:t>11/25/2026</a:t>
                      </a:r>
                      <a:endParaRPr lang="en-US" sz="1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Possible advanced topic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extLst>
                  <a:ext uri="{0D108BD9-81ED-4DB2-BD59-A6C34878D82A}">
                    <a16:rowId xmlns:a16="http://schemas.microsoft.com/office/drawing/2014/main" val="375999534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marR="0">
                        <a:spcAft>
                          <a:spcPts val="800"/>
                        </a:spcAft>
                        <a:buNone/>
                      </a:pPr>
                      <a:r>
                        <a:rPr lang="en-US" sz="2400" b="0" kern="100" dirty="0">
                          <a:effectLst/>
                        </a:rPr>
                        <a:t>12/2/2026</a:t>
                      </a:r>
                      <a:endParaRPr lang="en-US" sz="1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Final exam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extLst>
                  <a:ext uri="{0D108BD9-81ED-4DB2-BD59-A6C34878D82A}">
                    <a16:rowId xmlns:a16="http://schemas.microsoft.com/office/drawing/2014/main" val="166481820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marR="0">
                        <a:spcAft>
                          <a:spcPts val="800"/>
                        </a:spcAft>
                        <a:buNone/>
                      </a:pPr>
                      <a:r>
                        <a:rPr lang="en-US" sz="2400" b="0" kern="100" dirty="0">
                          <a:effectLst/>
                        </a:rPr>
                        <a:t>12/9/2026</a:t>
                      </a:r>
                      <a:endParaRPr lang="en-US" sz="1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Project presentations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extLst>
                  <a:ext uri="{0D108BD9-81ED-4DB2-BD59-A6C34878D82A}">
                    <a16:rowId xmlns:a16="http://schemas.microsoft.com/office/drawing/2014/main" val="2811826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7800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5BDE0-DB38-CCE7-08CF-D58ABC282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42AEA-049B-D207-24AB-B2B8F15C2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6733953" cy="4329817"/>
          </a:xfrm>
        </p:spPr>
        <p:txBody>
          <a:bodyPr/>
          <a:lstStyle/>
          <a:p>
            <a:r>
              <a:rPr lang="en-US" dirty="0"/>
              <a:t>Build your own IP</a:t>
            </a:r>
          </a:p>
          <a:p>
            <a:r>
              <a:rPr lang="en-US" dirty="0"/>
              <a:t>You must provide:</a:t>
            </a:r>
          </a:p>
          <a:p>
            <a:pPr lvl="1"/>
            <a:r>
              <a:rPr lang="en-US" dirty="0"/>
              <a:t>A clearly defined hardware IP block (RTL or HLS)</a:t>
            </a:r>
          </a:p>
          <a:p>
            <a:pPr lvl="1"/>
            <a:r>
              <a:rPr lang="en-US" dirty="0"/>
              <a:t>A well‑specified interface and integration model with a host system</a:t>
            </a:r>
          </a:p>
          <a:p>
            <a:pPr lvl="1"/>
            <a:r>
              <a:rPr lang="en-US" dirty="0"/>
              <a:t>A testbench and evaluation methodology</a:t>
            </a:r>
          </a:p>
          <a:p>
            <a:pPr lvl="1"/>
            <a:r>
              <a:rPr lang="en-US" dirty="0"/>
              <a:t>Documentation that allows others to reproduce your result</a:t>
            </a:r>
          </a:p>
          <a:p>
            <a:r>
              <a:rPr lang="en-US" dirty="0"/>
              <a:t>Any topic of choice</a:t>
            </a:r>
          </a:p>
          <a:p>
            <a:pPr lvl="1"/>
            <a:r>
              <a:rPr lang="en-US" dirty="0"/>
              <a:t>Computer vision, communications, computing, …</a:t>
            </a:r>
          </a:p>
          <a:p>
            <a:r>
              <a:rPr lang="en-US" dirty="0"/>
              <a:t>Work in groups of 2 to 4</a:t>
            </a:r>
          </a:p>
          <a:p>
            <a:pPr lvl="1"/>
            <a:r>
              <a:rPr lang="en-US" dirty="0"/>
              <a:t>Individual projects require instructor permission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B9AC8-B9AB-9076-444E-5FDC01E51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  <p:pic>
        <p:nvPicPr>
          <p:cNvPr id="2050" name="Picture 2" descr="Asic - Free icons">
            <a:extLst>
              <a:ext uri="{FF2B5EF4-FFF2-40B4-BE49-F238E27FC236}">
                <a16:creationId xmlns:a16="http://schemas.microsoft.com/office/drawing/2014/main" id="{78C6B843-6476-291A-BDC6-42E6053793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8299" y="2438042"/>
            <a:ext cx="1072840" cy="1072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680FE2-22BB-E33C-50B1-4220C555D317}"/>
              </a:ext>
            </a:extLst>
          </p:cNvPr>
          <p:cNvSpPr txBox="1"/>
          <p:nvPr/>
        </p:nvSpPr>
        <p:spPr>
          <a:xfrm>
            <a:off x="10410668" y="3747530"/>
            <a:ext cx="14900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Hardware IP</a:t>
            </a:r>
            <a:br>
              <a:rPr lang="en-US" dirty="0"/>
            </a:br>
            <a:r>
              <a:rPr lang="en-US" dirty="0"/>
              <a:t>or accelerator</a:t>
            </a:r>
          </a:p>
        </p:txBody>
      </p:sp>
      <p:pic>
        <p:nvPicPr>
          <p:cNvPr id="2054" name="Picture 6" descr="Desktop Computer Icon Computer PNG &amp; SVG Design For T-Shirts">
            <a:extLst>
              <a:ext uri="{FF2B5EF4-FFF2-40B4-BE49-F238E27FC236}">
                <a16:creationId xmlns:a16="http://schemas.microsoft.com/office/drawing/2014/main" id="{8BECE664-233D-F17B-EE19-DAFD81484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6275" y="2153619"/>
            <a:ext cx="1872753" cy="1872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91434D6A-6C17-B593-8155-ABB0406CDF06}"/>
              </a:ext>
            </a:extLst>
          </p:cNvPr>
          <p:cNvSpPr/>
          <p:nvPr/>
        </p:nvSpPr>
        <p:spPr>
          <a:xfrm>
            <a:off x="9799028" y="2932771"/>
            <a:ext cx="629035" cy="314450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AE51BA-1953-9205-B7E6-3A975352BE85}"/>
              </a:ext>
            </a:extLst>
          </p:cNvPr>
          <p:cNvSpPr txBox="1"/>
          <p:nvPr/>
        </p:nvSpPr>
        <p:spPr>
          <a:xfrm>
            <a:off x="8195994" y="3972747"/>
            <a:ext cx="1316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Host system</a:t>
            </a:r>
          </a:p>
        </p:txBody>
      </p:sp>
    </p:spTree>
    <p:extLst>
      <p:ext uri="{BB962C8B-B14F-4D97-AF65-F5344CB8AC3E}">
        <p14:creationId xmlns:p14="http://schemas.microsoft.com/office/powerpoint/2010/main" val="3106628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A949E-7518-7433-155E-D5B210EF6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AI the Right Way!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211F8-AA63-4D44-7476-8ABA83A15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132720" cy="43298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AI works well only when…</a:t>
            </a:r>
          </a:p>
          <a:p>
            <a:r>
              <a:rPr lang="en-US" sz="2400" dirty="0"/>
              <a:t>Ideas and goals are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precise</a:t>
            </a:r>
          </a:p>
          <a:p>
            <a:r>
              <a:rPr lang="en-US" sz="2400" dirty="0"/>
              <a:t>The design is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planned</a:t>
            </a:r>
          </a:p>
          <a:p>
            <a:pPr lvl="1"/>
            <a:r>
              <a:rPr lang="en-US" sz="2000" dirty="0"/>
              <a:t>Context before AI fills in the detail</a:t>
            </a:r>
          </a:p>
          <a:p>
            <a:r>
              <a:rPr lang="en-US" sz="2400" dirty="0"/>
              <a:t>Every output is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verified</a:t>
            </a:r>
          </a:p>
          <a:p>
            <a:pPr lvl="1"/>
            <a:r>
              <a:rPr lang="en-US" sz="2000" dirty="0"/>
              <a:t>AI makes mistakes — a design needs proof</a:t>
            </a:r>
          </a:p>
          <a:p>
            <a:pPr lvl="1"/>
            <a:r>
              <a:rPr lang="en-US" sz="2000" dirty="0"/>
              <a:t>Know the expected result before you ask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BFC46-F1B7-473A-D01D-DBF4AB3D4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  <p:sp>
        <p:nvSpPr>
          <p:cNvPr id="20" name="Idea Prompt"/>
          <p:cNvSpPr/>
          <p:nvPr/>
        </p:nvSpPr>
        <p:spPr>
          <a:xfrm>
            <a:off x="7401805" y="1620541"/>
            <a:ext cx="2900000" cy="5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2278F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1600" b="1" dirty="0">
                <a:solidFill>
                  <a:srgbClr val="3B1A3A"/>
                </a:solidFill>
              </a:rPr>
              <a:t>Idea prompt</a:t>
            </a:r>
          </a:p>
        </p:txBody>
      </p:sp>
      <p:sp>
        <p:nvSpPr>
          <p:cNvPr id="21" name="AI 1"/>
          <p:cNvSpPr/>
          <p:nvPr/>
        </p:nvSpPr>
        <p:spPr>
          <a:xfrm>
            <a:off x="8101805" y="2310541"/>
            <a:ext cx="1500000" cy="380000"/>
          </a:xfrm>
          <a:prstGeom prst="roundRect">
            <a:avLst/>
          </a:prstGeom>
          <a:solidFill>
            <a:srgbClr val="92278F"/>
          </a:solidFill>
          <a:ln w="19050">
            <a:solidFill>
              <a:srgbClr val="92278F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22" name="Plan"/>
          <p:cNvSpPr/>
          <p:nvPr/>
        </p:nvSpPr>
        <p:spPr>
          <a:xfrm>
            <a:off x="7401805" y="2860541"/>
            <a:ext cx="2900000" cy="5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2278F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1600" b="1" dirty="0">
                <a:solidFill>
                  <a:srgbClr val="3B1A3A"/>
                </a:solidFill>
              </a:rPr>
              <a:t>Plan</a:t>
            </a:r>
          </a:p>
        </p:txBody>
      </p:sp>
      <p:sp>
        <p:nvSpPr>
          <p:cNvPr id="23" name="AI 2"/>
          <p:cNvSpPr/>
          <p:nvPr/>
        </p:nvSpPr>
        <p:spPr>
          <a:xfrm>
            <a:off x="8101805" y="3550541"/>
            <a:ext cx="1500000" cy="380000"/>
          </a:xfrm>
          <a:prstGeom prst="roundRect">
            <a:avLst/>
          </a:prstGeom>
          <a:solidFill>
            <a:srgbClr val="92278F"/>
          </a:solidFill>
          <a:ln w="19050">
            <a:solidFill>
              <a:srgbClr val="92278F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24" name="Design"/>
          <p:cNvSpPr/>
          <p:nvPr/>
        </p:nvSpPr>
        <p:spPr>
          <a:xfrm>
            <a:off x="7401805" y="4100541"/>
            <a:ext cx="2900000" cy="5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2278F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1600" b="1" dirty="0">
                <a:solidFill>
                  <a:srgbClr val="3B1A3A"/>
                </a:solidFill>
              </a:rPr>
              <a:t>Design</a:t>
            </a:r>
          </a:p>
        </p:txBody>
      </p:sp>
      <p:sp>
        <p:nvSpPr>
          <p:cNvPr id="25" name="Verify"/>
          <p:cNvSpPr/>
          <p:nvPr/>
        </p:nvSpPr>
        <p:spPr>
          <a:xfrm>
            <a:off x="7401805" y="5040541"/>
            <a:ext cx="2900000" cy="460000"/>
          </a:xfrm>
          <a:prstGeom prst="roundRect">
            <a:avLst/>
          </a:prstGeom>
          <a:solidFill>
            <a:srgbClr val="755DD9"/>
          </a:solidFill>
          <a:ln w="28575">
            <a:solidFill>
              <a:srgbClr val="92278F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Verify</a:t>
            </a:r>
          </a:p>
        </p:txBody>
      </p:sp>
      <p:sp>
        <p:nvSpPr>
          <p:cNvPr id="30" name="Arrow 30"/>
          <p:cNvSpPr/>
          <p:nvPr/>
        </p:nvSpPr>
        <p:spPr>
          <a:xfrm>
            <a:off x="8781805" y="2140541"/>
            <a:ext cx="140000" cy="170000"/>
          </a:xfrm>
          <a:prstGeom prst="downArrow">
            <a:avLst>
              <a:gd name="adj1" fmla="val 50000"/>
              <a:gd name="adj2" fmla="val 55000"/>
            </a:avLst>
          </a:prstGeom>
          <a:solidFill>
            <a:srgbClr val="92278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Arrow 31"/>
          <p:cNvSpPr/>
          <p:nvPr/>
        </p:nvSpPr>
        <p:spPr>
          <a:xfrm>
            <a:off x="8781805" y="2690541"/>
            <a:ext cx="140000" cy="170000"/>
          </a:xfrm>
          <a:prstGeom prst="downArrow">
            <a:avLst>
              <a:gd name="adj1" fmla="val 50000"/>
              <a:gd name="adj2" fmla="val 55000"/>
            </a:avLst>
          </a:prstGeom>
          <a:solidFill>
            <a:srgbClr val="92278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Arrow 32"/>
          <p:cNvSpPr/>
          <p:nvPr/>
        </p:nvSpPr>
        <p:spPr>
          <a:xfrm>
            <a:off x="8781805" y="3380541"/>
            <a:ext cx="140000" cy="170000"/>
          </a:xfrm>
          <a:prstGeom prst="downArrow">
            <a:avLst>
              <a:gd name="adj1" fmla="val 50000"/>
              <a:gd name="adj2" fmla="val 55000"/>
            </a:avLst>
          </a:prstGeom>
          <a:solidFill>
            <a:srgbClr val="92278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Arrow 33"/>
          <p:cNvSpPr/>
          <p:nvPr/>
        </p:nvSpPr>
        <p:spPr>
          <a:xfrm>
            <a:off x="8781805" y="3930541"/>
            <a:ext cx="140000" cy="170000"/>
          </a:xfrm>
          <a:prstGeom prst="downArrow">
            <a:avLst>
              <a:gd name="adj1" fmla="val 50000"/>
              <a:gd name="adj2" fmla="val 55000"/>
            </a:avLst>
          </a:prstGeom>
          <a:solidFill>
            <a:srgbClr val="92278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Arrow 34"/>
          <p:cNvSpPr/>
          <p:nvPr/>
        </p:nvSpPr>
        <p:spPr>
          <a:xfrm>
            <a:off x="8771805" y="4620541"/>
            <a:ext cx="160000" cy="420000"/>
          </a:xfrm>
          <a:prstGeom prst="downArrow">
            <a:avLst>
              <a:gd name="adj1" fmla="val 50000"/>
              <a:gd name="adj2" fmla="val 55000"/>
            </a:avLst>
          </a:prstGeom>
          <a:solidFill>
            <a:srgbClr val="92278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con 40"/>
          <p:cNvPicPr>
            <a:picLocks noChangeAspect="1"/>
          </p:cNvPicPr>
          <p:nvPr/>
        </p:nvPicPr>
        <p:blipFill>
          <a:blip r:embed="rId2"/>
          <a:srcRect l="12000" t="12000" r="12000" b="12000"/>
          <a:stretch>
            <a:fillRect/>
          </a:stretch>
        </p:blipFill>
        <p:spPr>
          <a:xfrm>
            <a:off x="6701805" y="1620541"/>
            <a:ext cx="520000" cy="520000"/>
          </a:xfrm>
          <a:prstGeom prst="rect">
            <a:avLst/>
          </a:prstGeom>
        </p:spPr>
      </p:pic>
      <p:pic>
        <p:nvPicPr>
          <p:cNvPr id="41" name="Icon 41"/>
          <p:cNvPicPr>
            <a:picLocks noChangeAspect="1"/>
          </p:cNvPicPr>
          <p:nvPr/>
        </p:nvPicPr>
        <p:blipFill>
          <a:blip r:embed="rId3"/>
          <a:srcRect l="12000" t="12000" r="12000" b="12000"/>
          <a:stretch>
            <a:fillRect/>
          </a:stretch>
        </p:blipFill>
        <p:spPr>
          <a:xfrm>
            <a:off x="6701805" y="2860541"/>
            <a:ext cx="520000" cy="520000"/>
          </a:xfrm>
          <a:prstGeom prst="rect">
            <a:avLst/>
          </a:prstGeom>
        </p:spPr>
      </p:pic>
      <p:pic>
        <p:nvPicPr>
          <p:cNvPr id="42" name="Icon 42"/>
          <p:cNvPicPr>
            <a:picLocks noChangeAspect="1"/>
          </p:cNvPicPr>
          <p:nvPr/>
        </p:nvPicPr>
        <p:blipFill>
          <a:blip r:embed="rId4"/>
          <a:srcRect l="12000" t="12000" r="12000" b="12000"/>
          <a:stretch>
            <a:fillRect/>
          </a:stretch>
        </p:blipFill>
        <p:spPr>
          <a:xfrm>
            <a:off x="6701805" y="4100541"/>
            <a:ext cx="520000" cy="520000"/>
          </a:xfrm>
          <a:prstGeom prst="rect">
            <a:avLst/>
          </a:prstGeom>
        </p:spPr>
      </p:pic>
      <p:sp>
        <p:nvSpPr>
          <p:cNvPr id="50" name="Loop 50"/>
          <p:cNvSpPr/>
          <p:nvPr/>
        </p:nvSpPr>
        <p:spPr>
          <a:xfrm>
            <a:off x="10301805" y="5270541"/>
            <a:ext cx="600000" cy="0"/>
          </a:xfrm>
          <a:prstGeom prst="line">
            <a:avLst/>
          </a:prstGeom>
          <a:ln w="28575">
            <a:solidFill>
              <a:srgbClr val="92278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Loop 51"/>
          <p:cNvSpPr/>
          <p:nvPr/>
        </p:nvSpPr>
        <p:spPr>
          <a:xfrm>
            <a:off x="10901805" y="4360541"/>
            <a:ext cx="0" cy="910000"/>
          </a:xfrm>
          <a:prstGeom prst="line">
            <a:avLst/>
          </a:prstGeom>
          <a:ln w="28575">
            <a:solidFill>
              <a:srgbClr val="92278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Loop 52"/>
          <p:cNvSpPr/>
          <p:nvPr/>
        </p:nvSpPr>
        <p:spPr>
          <a:xfrm flipH="1">
            <a:off x="10301805" y="4360541"/>
            <a:ext cx="600000" cy="0"/>
          </a:xfrm>
          <a:prstGeom prst="line">
            <a:avLst/>
          </a:prstGeom>
          <a:ln w="28575">
            <a:solidFill>
              <a:srgbClr val="92278F"/>
            </a:solidFill>
            <a:tailEnd type="triangle" w="lg" len="lg"/>
          </a:ln>
        </p:spPr>
        <p:txBody>
          <a:bodyPr/>
          <a:lstStyle/>
          <a:p>
            <a:endParaRPr lang="en-US"/>
          </a:p>
        </p:txBody>
      </p:sp>
      <p:pic>
        <p:nvPicPr>
          <p:cNvPr id="60" name="AI Icon 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1805" y="2335432"/>
            <a:ext cx="340000" cy="330218"/>
          </a:xfrm>
          <a:prstGeom prst="rect">
            <a:avLst/>
          </a:prstGeom>
        </p:spPr>
      </p:pic>
      <p:pic>
        <p:nvPicPr>
          <p:cNvPr id="61" name="AI Icon 6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1805" y="3575432"/>
            <a:ext cx="340000" cy="33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740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70F3B-5DBC-8099-0474-17F5B6270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40F26-9E43-10CA-0586-B6E227544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See full rubric on </a:t>
            </a:r>
            <a:r>
              <a:rPr lang="en-US" dirty="0">
                <a:hlinkClick r:id="rId2"/>
              </a:rPr>
              <a:t>project page </a:t>
            </a:r>
            <a:r>
              <a:rPr lang="en-US" dirty="0"/>
              <a:t>on the GitHub pages</a:t>
            </a:r>
          </a:p>
          <a:p>
            <a:r>
              <a:rPr lang="en-US" dirty="0"/>
              <a:t>Submission on GitHub</a:t>
            </a:r>
          </a:p>
          <a:p>
            <a:pPr lvl="1"/>
            <a:r>
              <a:rPr lang="en-US" dirty="0"/>
              <a:t>Create a repo for the project.  You can start now!</a:t>
            </a:r>
          </a:p>
          <a:p>
            <a:pPr lvl="1"/>
            <a:r>
              <a:rPr lang="en-US" dirty="0"/>
              <a:t>Submit only the repo URL.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IP definition and interface</a:t>
            </a:r>
            <a:r>
              <a:rPr lang="en-US" dirty="0"/>
              <a:t>:  Clear role, well-justified boundary between host and IP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IP design</a:t>
            </a:r>
            <a:r>
              <a:rPr lang="en-US" dirty="0"/>
              <a:t>:  Efficient design, correct, design choices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Verification and evaluation</a:t>
            </a:r>
            <a:r>
              <a:rPr lang="en-US" dirty="0"/>
              <a:t>:  </a:t>
            </a:r>
          </a:p>
          <a:p>
            <a:pPr lvl="1"/>
            <a:r>
              <a:rPr lang="en-US" dirty="0"/>
              <a:t>Testbench that are comprehensive, test corner cases, evaluate performance</a:t>
            </a:r>
          </a:p>
          <a:p>
            <a:pPr lvl="1"/>
            <a:r>
              <a:rPr lang="en-US" dirty="0"/>
              <a:t>Measure design options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Organization and documentation:  </a:t>
            </a:r>
            <a:r>
              <a:rPr lang="en-US" dirty="0"/>
              <a:t>Assume you are pitching to a prospective employer 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125CD-800D-62BE-6974-659966117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2996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742C7-D3BA-6730-8276-1E0711A2C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5A82E-04A7-7D35-F1AC-E5D414CC6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EAC19-0A96-EDB9-920C-8C09F17EA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Course Admin</a:t>
            </a:r>
          </a:p>
          <a:p>
            <a:endParaRPr lang="en-US" sz="2400" dirty="0"/>
          </a:p>
          <a:p>
            <a:r>
              <a:rPr lang="en-US" sz="2400" dirty="0"/>
              <a:t>What is Custom Hardware and What Can it Do?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7AD15-543A-1947-CCEA-68FAC3297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07C7E60-1E2F-8729-0E87-ADDB9DFF6935}"/>
              </a:ext>
            </a:extLst>
          </p:cNvPr>
          <p:cNvSpPr/>
          <p:nvPr/>
        </p:nvSpPr>
        <p:spPr>
          <a:xfrm>
            <a:off x="427849" y="2470254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1557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577C3-770B-D4E0-D6C5-FF26537A1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vs.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3A37F-9A5E-8D51-07C3-61D1F1E2A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279583" cy="43298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Hardware  </a:t>
            </a:r>
          </a:p>
          <a:p>
            <a:pPr marL="0" indent="0">
              <a:buNone/>
            </a:pPr>
            <a:r>
              <a:rPr lang="en-US" sz="2400" i="1" dirty="0"/>
              <a:t>Any electronic circuit that performs some computation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9070E-1FD7-289A-80F6-D62A03A9A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3825D09-E50C-96AE-B886-F8E7C43AC875}"/>
              </a:ext>
            </a:extLst>
          </p:cNvPr>
          <p:cNvSpPr txBox="1">
            <a:spLocks/>
          </p:cNvSpPr>
          <p:nvPr/>
        </p:nvSpPr>
        <p:spPr>
          <a:xfrm>
            <a:off x="6221730" y="1463077"/>
            <a:ext cx="4279583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Software 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i="1" dirty="0"/>
              <a:t>Instructions executed on hardware</a:t>
            </a:r>
          </a:p>
        </p:txBody>
      </p:sp>
      <p:pic>
        <p:nvPicPr>
          <p:cNvPr id="1026" name="Picture 2" descr="Asic - Free icons">
            <a:extLst>
              <a:ext uri="{FF2B5EF4-FFF2-40B4-BE49-F238E27FC236}">
                <a16:creationId xmlns:a16="http://schemas.microsoft.com/office/drawing/2014/main" id="{A127B8B9-11D9-72E1-20D2-7C2DFA90C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687" y="3115691"/>
            <a:ext cx="14287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oftware Icon Vector Set on White Background Stock Vector - Illustration of  system, vector: 330039356">
            <a:extLst>
              <a:ext uri="{FF2B5EF4-FFF2-40B4-BE49-F238E27FC236}">
                <a16:creationId xmlns:a16="http://schemas.microsoft.com/office/drawing/2014/main" id="{BF57CD19-2599-72DF-EA35-37545C4626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78" t="21334" r="16319" b="16795"/>
          <a:stretch>
            <a:fillRect/>
          </a:stretch>
        </p:blipFill>
        <p:spPr bwMode="auto">
          <a:xfrm>
            <a:off x="6831330" y="2624679"/>
            <a:ext cx="2550795" cy="2529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18014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C9320-3639-F55F-3728-81C671508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Comes in Many Forms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F72C6-E897-D9D3-7BFF-4B50BCFCB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  <p:pic>
        <p:nvPicPr>
          <p:cNvPr id="2050" name="Picture 2" descr="A Beginner's Guide to NVIDIA GPUs in ...">
            <a:extLst>
              <a:ext uri="{FF2B5EF4-FFF2-40B4-BE49-F238E27FC236}">
                <a16:creationId xmlns:a16="http://schemas.microsoft.com/office/drawing/2014/main" id="{41D49556-CCC9-1195-BABE-D4519392E2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41" r="19919"/>
          <a:stretch>
            <a:fillRect/>
          </a:stretch>
        </p:blipFill>
        <p:spPr bwMode="auto">
          <a:xfrm>
            <a:off x="4962135" y="1484879"/>
            <a:ext cx="1779521" cy="1619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ntel BX80673I97940X Core Processor ...">
            <a:extLst>
              <a:ext uri="{FF2B5EF4-FFF2-40B4-BE49-F238E27FC236}">
                <a16:creationId xmlns:a16="http://schemas.microsoft.com/office/drawing/2014/main" id="{D81F071C-FCB1-45D0-A7EF-BBC274C14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558" y="1664760"/>
            <a:ext cx="1709487" cy="1368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04B3BB-0094-BE36-2E20-362D6BE3EBA1}"/>
              </a:ext>
            </a:extLst>
          </p:cNvPr>
          <p:cNvSpPr txBox="1"/>
          <p:nvPr/>
        </p:nvSpPr>
        <p:spPr>
          <a:xfrm>
            <a:off x="554095" y="3127613"/>
            <a:ext cx="2269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General purpose CPU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Intel, AMD, ARM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CFF4B3-2DEE-08D7-7064-7191AE62434D}"/>
              </a:ext>
            </a:extLst>
          </p:cNvPr>
          <p:cNvSpPr txBox="1"/>
          <p:nvPr/>
        </p:nvSpPr>
        <p:spPr>
          <a:xfrm>
            <a:off x="5292608" y="3127613"/>
            <a:ext cx="9791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GPU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Nvidia</a:t>
            </a:r>
            <a:br>
              <a:rPr lang="en-US" dirty="0"/>
            </a:br>
            <a:r>
              <a:rPr lang="en-US" dirty="0"/>
              <a:t>Intel Radeon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46E191-80D6-BB4A-C919-850A5931E8F1}"/>
              </a:ext>
            </a:extLst>
          </p:cNvPr>
          <p:cNvSpPr txBox="1"/>
          <p:nvPr/>
        </p:nvSpPr>
        <p:spPr>
          <a:xfrm>
            <a:off x="7389911" y="3081082"/>
            <a:ext cx="14717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FPGA</a:t>
            </a:r>
            <a:br>
              <a:rPr lang="en-US" dirty="0"/>
            </a:br>
            <a:br>
              <a:rPr lang="en-US" dirty="0"/>
            </a:br>
            <a:r>
              <a:rPr lang="en-US" dirty="0"/>
              <a:t>Xilinx / AMD,</a:t>
            </a:r>
            <a:br>
              <a:rPr lang="en-US" dirty="0"/>
            </a:br>
            <a:r>
              <a:rPr lang="en-US" dirty="0"/>
              <a:t>Intel / Altera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E7C2D4-5510-5221-9E5D-A596A5AFC6CA}"/>
              </a:ext>
            </a:extLst>
          </p:cNvPr>
          <p:cNvSpPr txBox="1"/>
          <p:nvPr/>
        </p:nvSpPr>
        <p:spPr>
          <a:xfrm>
            <a:off x="9979816" y="3081082"/>
            <a:ext cx="16420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Custom ASIC</a:t>
            </a:r>
          </a:p>
          <a:p>
            <a:endParaRPr lang="en-US" dirty="0"/>
          </a:p>
          <a:p>
            <a:r>
              <a:rPr lang="en-US" dirty="0"/>
              <a:t>Qualcomm,</a:t>
            </a:r>
            <a:br>
              <a:rPr lang="en-US" dirty="0"/>
            </a:br>
            <a:r>
              <a:rPr lang="en-US" dirty="0"/>
              <a:t>Apple,</a:t>
            </a:r>
            <a:br>
              <a:rPr lang="en-US" dirty="0"/>
            </a:br>
            <a:r>
              <a:rPr lang="en-US" dirty="0" err="1"/>
              <a:t>Broadcomm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F65182-AFAB-65F8-56F1-9F4135014D34}"/>
              </a:ext>
            </a:extLst>
          </p:cNvPr>
          <p:cNvSpPr txBox="1"/>
          <p:nvPr/>
        </p:nvSpPr>
        <p:spPr>
          <a:xfrm>
            <a:off x="3036482" y="3104355"/>
            <a:ext cx="16974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DSP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Texas Instruments,</a:t>
            </a:r>
          </a:p>
          <a:p>
            <a:r>
              <a:rPr lang="en-US" dirty="0"/>
              <a:t>Qualcomm </a:t>
            </a:r>
            <a:br>
              <a:rPr lang="en-US" dirty="0"/>
            </a:br>
            <a:r>
              <a:rPr lang="en-US" dirty="0"/>
              <a:t>Hexagon</a:t>
            </a:r>
          </a:p>
        </p:txBody>
      </p:sp>
      <p:pic>
        <p:nvPicPr>
          <p:cNvPr id="4098" name="Picture 2" descr="What is a DSP chip？-Perceptive Electronic Components">
            <a:extLst>
              <a:ext uri="{FF2B5EF4-FFF2-40B4-BE49-F238E27FC236}">
                <a16:creationId xmlns:a16="http://schemas.microsoft.com/office/drawing/2014/main" id="{F1788B4F-0630-2F00-8E9E-E45AAEFE19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482" y="1744548"/>
            <a:ext cx="1508972" cy="1100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 Guide to Xilinx FPGA Naming Standards">
            <a:extLst>
              <a:ext uri="{FF2B5EF4-FFF2-40B4-BE49-F238E27FC236}">
                <a16:creationId xmlns:a16="http://schemas.microsoft.com/office/drawing/2014/main" id="{46E536F7-7C71-DB9C-B243-0EE7AECB0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0339" y="1717012"/>
            <a:ext cx="1700753" cy="1127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Plot of ASIC layout submitted for ...">
            <a:extLst>
              <a:ext uri="{FF2B5EF4-FFF2-40B4-BE49-F238E27FC236}">
                <a16:creationId xmlns:a16="http://schemas.microsoft.com/office/drawing/2014/main" id="{AA2D2641-7931-56F0-87E5-43B2C8CC3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2806" y="1556298"/>
            <a:ext cx="1396858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35135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C3C52-335B-29E0-BE43-B8BD41368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CD7CA-21FA-EDF3-BA4C-1A7999F5A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Purpose vs. Custom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CA96F-A1F5-2FD8-28A7-6310F3D7E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  <p:pic>
        <p:nvPicPr>
          <p:cNvPr id="2050" name="Picture 2" descr="A Beginner's Guide to NVIDIA GPUs in ...">
            <a:extLst>
              <a:ext uri="{FF2B5EF4-FFF2-40B4-BE49-F238E27FC236}">
                <a16:creationId xmlns:a16="http://schemas.microsoft.com/office/drawing/2014/main" id="{6E334859-4FD4-1613-91B8-E7708AD442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41" r="19919"/>
          <a:stretch>
            <a:fillRect/>
          </a:stretch>
        </p:blipFill>
        <p:spPr bwMode="auto">
          <a:xfrm>
            <a:off x="5155614" y="1573634"/>
            <a:ext cx="1143011" cy="1040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ntel BX80673I97940X Core Processor ...">
            <a:extLst>
              <a:ext uri="{FF2B5EF4-FFF2-40B4-BE49-F238E27FC236}">
                <a16:creationId xmlns:a16="http://schemas.microsoft.com/office/drawing/2014/main" id="{0D83F79C-FD65-CAB2-F43B-CF5013B1FB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533" y="1744548"/>
            <a:ext cx="1044724" cy="836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CC9FA8-D877-BBB0-41E7-9B89EF5CADDC}"/>
              </a:ext>
            </a:extLst>
          </p:cNvPr>
          <p:cNvSpPr txBox="1"/>
          <p:nvPr/>
        </p:nvSpPr>
        <p:spPr>
          <a:xfrm>
            <a:off x="503295" y="2579435"/>
            <a:ext cx="2269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General purpose CPU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5C6E09-37A7-CBBA-791C-161838250DC1}"/>
              </a:ext>
            </a:extLst>
          </p:cNvPr>
          <p:cNvSpPr txBox="1"/>
          <p:nvPr/>
        </p:nvSpPr>
        <p:spPr>
          <a:xfrm>
            <a:off x="5479586" y="2579435"/>
            <a:ext cx="979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GPU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E7CD8A-9092-E70C-0C59-0DDE5D74161F}"/>
              </a:ext>
            </a:extLst>
          </p:cNvPr>
          <p:cNvSpPr txBox="1"/>
          <p:nvPr/>
        </p:nvSpPr>
        <p:spPr>
          <a:xfrm>
            <a:off x="7580081" y="2579435"/>
            <a:ext cx="1471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FPGA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A1919C-A593-0E2B-5C81-1E50887CCCB1}"/>
              </a:ext>
            </a:extLst>
          </p:cNvPr>
          <p:cNvSpPr txBox="1"/>
          <p:nvPr/>
        </p:nvSpPr>
        <p:spPr>
          <a:xfrm>
            <a:off x="9929016" y="2579435"/>
            <a:ext cx="1642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Custom ASIC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33AE82-8F47-477F-4A6B-66CF37FE473E}"/>
              </a:ext>
            </a:extLst>
          </p:cNvPr>
          <p:cNvSpPr txBox="1"/>
          <p:nvPr/>
        </p:nvSpPr>
        <p:spPr>
          <a:xfrm>
            <a:off x="3448923" y="2579435"/>
            <a:ext cx="979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DSP</a:t>
            </a:r>
            <a:endParaRPr lang="en-US" dirty="0"/>
          </a:p>
        </p:txBody>
      </p:sp>
      <p:pic>
        <p:nvPicPr>
          <p:cNvPr id="4098" name="Picture 2" descr="What is a DSP chip？-Perceptive Electronic Components">
            <a:extLst>
              <a:ext uri="{FF2B5EF4-FFF2-40B4-BE49-F238E27FC236}">
                <a16:creationId xmlns:a16="http://schemas.microsoft.com/office/drawing/2014/main" id="{BDD208B4-800C-FB6B-C35C-D1A90AE72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6832" y="1744548"/>
            <a:ext cx="957920" cy="698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 Guide to Xilinx FPGA Naming Standards">
            <a:extLst>
              <a:ext uri="{FF2B5EF4-FFF2-40B4-BE49-F238E27FC236}">
                <a16:creationId xmlns:a16="http://schemas.microsoft.com/office/drawing/2014/main" id="{379B6A6B-825D-56F0-B37B-E4098A17F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7190" y="1744548"/>
            <a:ext cx="1029614" cy="682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Plot of ASIC layout submitted for ...">
            <a:extLst>
              <a:ext uri="{FF2B5EF4-FFF2-40B4-BE49-F238E27FC236}">
                <a16:creationId xmlns:a16="http://schemas.microsoft.com/office/drawing/2014/main" id="{B5A80F2A-32AD-2542-7937-F35192C89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1658" y="1573634"/>
            <a:ext cx="880762" cy="876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6E15B4DD-4CE7-2A33-BAA3-5B6DC78D2AE2}"/>
              </a:ext>
            </a:extLst>
          </p:cNvPr>
          <p:cNvSpPr/>
          <p:nvPr/>
        </p:nvSpPr>
        <p:spPr>
          <a:xfrm rot="10800000">
            <a:off x="1838458" y="3272918"/>
            <a:ext cx="978408" cy="484632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5706709-DF52-47C8-7657-7A6CADEA268B}"/>
              </a:ext>
            </a:extLst>
          </p:cNvPr>
          <p:cNvSpPr/>
          <p:nvPr/>
        </p:nvSpPr>
        <p:spPr>
          <a:xfrm>
            <a:off x="8614135" y="3275875"/>
            <a:ext cx="978408" cy="484632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4AC2C1-B658-1CDD-25BC-E1EEAB5DB3EE}"/>
              </a:ext>
            </a:extLst>
          </p:cNvPr>
          <p:cNvSpPr txBox="1"/>
          <p:nvPr/>
        </p:nvSpPr>
        <p:spPr>
          <a:xfrm>
            <a:off x="908046" y="3880575"/>
            <a:ext cx="46609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General purpose,</a:t>
            </a:r>
            <a:br>
              <a:rPr lang="en-US" sz="1600" dirty="0"/>
            </a:br>
            <a:r>
              <a:rPr lang="en-US" sz="1600" dirty="0"/>
              <a:t>Applies in many domains,</a:t>
            </a:r>
            <a:br>
              <a:rPr lang="en-US" sz="1600" dirty="0"/>
            </a:br>
            <a:r>
              <a:rPr lang="en-US" sz="1600" dirty="0"/>
              <a:t>Re-programmed with software,</a:t>
            </a:r>
            <a:br>
              <a:rPr lang="en-US" sz="1600" dirty="0"/>
            </a:br>
            <a:r>
              <a:rPr lang="en-US" sz="1600" dirty="0"/>
              <a:t>Performance via SW optimization, multi-cores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6FF7D6-23CC-6A53-696A-72A0EE800819}"/>
              </a:ext>
            </a:extLst>
          </p:cNvPr>
          <p:cNvSpPr txBox="1"/>
          <p:nvPr/>
        </p:nvSpPr>
        <p:spPr>
          <a:xfrm>
            <a:off x="7724989" y="3960927"/>
            <a:ext cx="31552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Domain specific,</a:t>
            </a:r>
            <a:br>
              <a:rPr lang="en-US" sz="1600" dirty="0"/>
            </a:br>
            <a:r>
              <a:rPr lang="en-US" sz="1600" dirty="0"/>
              <a:t>HW optimized for specific task,</a:t>
            </a:r>
            <a:br>
              <a:rPr lang="en-US" sz="1600" dirty="0"/>
            </a:br>
            <a:r>
              <a:rPr lang="en-US" sz="1600" dirty="0"/>
              <a:t>Can enable: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Higher performance,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Lower power / OP, size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F30264-AAC2-89FE-38BD-3F6B9C214ADC}"/>
              </a:ext>
            </a:extLst>
          </p:cNvPr>
          <p:cNvSpPr txBox="1"/>
          <p:nvPr/>
        </p:nvSpPr>
        <p:spPr>
          <a:xfrm>
            <a:off x="8202649" y="5633785"/>
            <a:ext cx="2288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Focus of this course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D2512B1A-E24A-F751-05D0-C1A07CEC2CBB}"/>
              </a:ext>
            </a:extLst>
          </p:cNvPr>
          <p:cNvSpPr/>
          <p:nvPr/>
        </p:nvSpPr>
        <p:spPr>
          <a:xfrm rot="16200000">
            <a:off x="9264362" y="3546560"/>
            <a:ext cx="311150" cy="378676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4003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38B30-FC83-FD9A-583F-510175BC5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Accelerator or IP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80D9B-BAD9-C35E-A10A-2ADCD901A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  <p:pic>
        <p:nvPicPr>
          <p:cNvPr id="5" name="Picture 2" descr="Asic - Free icons">
            <a:extLst>
              <a:ext uri="{FF2B5EF4-FFF2-40B4-BE49-F238E27FC236}">
                <a16:creationId xmlns:a16="http://schemas.microsoft.com/office/drawing/2014/main" id="{2D198A59-C386-E6F1-2136-1EB5E3DA2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922" y="2229558"/>
            <a:ext cx="1072840" cy="1072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364BE1-B536-A9DB-31A1-CC63C0C6092E}"/>
              </a:ext>
            </a:extLst>
          </p:cNvPr>
          <p:cNvSpPr txBox="1"/>
          <p:nvPr/>
        </p:nvSpPr>
        <p:spPr>
          <a:xfrm>
            <a:off x="6339119" y="3541953"/>
            <a:ext cx="2691571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Hardware IP or accelerator</a:t>
            </a:r>
            <a:br>
              <a:rPr lang="en-US" dirty="0"/>
            </a:br>
            <a:r>
              <a:rPr lang="en-US" sz="1400" dirty="0"/>
              <a:t>Compute intensive tasks</a:t>
            </a:r>
          </a:p>
          <a:p>
            <a:r>
              <a:rPr lang="en-US" sz="1400" dirty="0"/>
              <a:t>Domain specific</a:t>
            </a:r>
          </a:p>
        </p:txBody>
      </p:sp>
      <p:pic>
        <p:nvPicPr>
          <p:cNvPr id="7" name="Picture 6" descr="Desktop Computer Icon Computer PNG &amp; SVG Design For T-Shirts">
            <a:extLst>
              <a:ext uri="{FF2B5EF4-FFF2-40B4-BE49-F238E27FC236}">
                <a16:creationId xmlns:a16="http://schemas.microsoft.com/office/drawing/2014/main" id="{582F8914-FDA1-332F-1F34-58FC78D7B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438" y="1948043"/>
            <a:ext cx="1606455" cy="160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rrow: Left-Right 7">
            <a:extLst>
              <a:ext uri="{FF2B5EF4-FFF2-40B4-BE49-F238E27FC236}">
                <a16:creationId xmlns:a16="http://schemas.microsoft.com/office/drawing/2014/main" id="{CC71A5C9-D584-DF02-58FB-2DA2DA0B1EDC}"/>
              </a:ext>
            </a:extLst>
          </p:cNvPr>
          <p:cNvSpPr/>
          <p:nvPr/>
        </p:nvSpPr>
        <p:spPr>
          <a:xfrm>
            <a:off x="5900982" y="2589821"/>
            <a:ext cx="629035" cy="314450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CA358E-D56C-FFD2-9565-B5F5EAC15C78}"/>
              </a:ext>
            </a:extLst>
          </p:cNvPr>
          <p:cNvSpPr txBox="1"/>
          <p:nvPr/>
        </p:nvSpPr>
        <p:spPr>
          <a:xfrm>
            <a:off x="3547478" y="3541952"/>
            <a:ext cx="19446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Embedded Processor</a:t>
            </a:r>
            <a:br>
              <a:rPr lang="en-US" sz="1600" dirty="0"/>
            </a:br>
            <a:r>
              <a:rPr lang="en-US" sz="1400" dirty="0"/>
              <a:t>(DSP, ARM,…)</a:t>
            </a:r>
            <a:br>
              <a:rPr lang="en-US" sz="1400" dirty="0"/>
            </a:br>
            <a:r>
              <a:rPr lang="en-US" sz="1400" dirty="0"/>
              <a:t>Configures HW,</a:t>
            </a:r>
            <a:br>
              <a:rPr lang="en-US" sz="1400" dirty="0"/>
            </a:br>
            <a:r>
              <a:rPr lang="en-US" sz="1400" dirty="0"/>
              <a:t>Manages data transfer,</a:t>
            </a:r>
            <a:br>
              <a:rPr lang="en-US" sz="1400" dirty="0"/>
            </a:br>
            <a:r>
              <a:rPr lang="en-US" sz="1400" dirty="0"/>
              <a:t>Performs some DSP</a:t>
            </a:r>
          </a:p>
        </p:txBody>
      </p:sp>
      <p:pic>
        <p:nvPicPr>
          <p:cNvPr id="10" name="Picture 2" descr="What is a DSP chip？-Perceptive Electronic Components">
            <a:extLst>
              <a:ext uri="{FF2B5EF4-FFF2-40B4-BE49-F238E27FC236}">
                <a16:creationId xmlns:a16="http://schemas.microsoft.com/office/drawing/2014/main" id="{1A2093CD-7818-780C-D674-5FC9CF4B5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551" y="2215909"/>
            <a:ext cx="1508972" cy="1100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A5ED07-1D32-CB91-D927-26E7A0349461}"/>
              </a:ext>
            </a:extLst>
          </p:cNvPr>
          <p:cNvSpPr txBox="1"/>
          <p:nvPr/>
        </p:nvSpPr>
        <p:spPr>
          <a:xfrm>
            <a:off x="744162" y="3575562"/>
            <a:ext cx="20953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Host system</a:t>
            </a:r>
            <a:br>
              <a:rPr lang="en-US" sz="1600" dirty="0"/>
            </a:br>
            <a:r>
              <a:rPr lang="en-US" sz="1400" dirty="0"/>
              <a:t>Runs main application,</a:t>
            </a:r>
            <a:br>
              <a:rPr lang="en-US" sz="1400" dirty="0"/>
            </a:br>
            <a:r>
              <a:rPr lang="en-US" sz="1400" dirty="0"/>
              <a:t>User interface,</a:t>
            </a:r>
            <a:br>
              <a:rPr lang="en-US" sz="1400" dirty="0"/>
            </a:br>
            <a:r>
              <a:rPr lang="en-US" sz="1400" dirty="0"/>
              <a:t>May be embedded as well</a:t>
            </a:r>
            <a:br>
              <a:rPr lang="en-US" sz="1400" dirty="0"/>
            </a:br>
            <a:r>
              <a:rPr lang="en-US" sz="1400" dirty="0"/>
              <a:t>(e.g., smartphone)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53BBBF18-AD9C-4F40-5760-91B5328C3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764" y="2276347"/>
            <a:ext cx="1061296" cy="1040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F430031-78C1-A525-F93A-35EF9DC9AF70}"/>
              </a:ext>
            </a:extLst>
          </p:cNvPr>
          <p:cNvSpPr txBox="1"/>
          <p:nvPr/>
        </p:nvSpPr>
        <p:spPr>
          <a:xfrm>
            <a:off x="9501419" y="3524305"/>
            <a:ext cx="2190600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High-speed IO</a:t>
            </a:r>
            <a:br>
              <a:rPr lang="en-US" dirty="0"/>
            </a:br>
            <a:r>
              <a:rPr lang="en-US" sz="1400" dirty="0"/>
              <a:t>Network interface,</a:t>
            </a:r>
            <a:br>
              <a:rPr lang="en-US" sz="1400" dirty="0"/>
            </a:br>
            <a:r>
              <a:rPr lang="en-US" sz="1400" dirty="0"/>
              <a:t>Digital communication data</a:t>
            </a:r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DAEA89D4-5BC4-1DE4-A51F-6C67BAF270A7}"/>
              </a:ext>
            </a:extLst>
          </p:cNvPr>
          <p:cNvSpPr/>
          <p:nvPr/>
        </p:nvSpPr>
        <p:spPr>
          <a:xfrm>
            <a:off x="8716172" y="2608753"/>
            <a:ext cx="629035" cy="314450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Left-Right 13">
            <a:extLst>
              <a:ext uri="{FF2B5EF4-FFF2-40B4-BE49-F238E27FC236}">
                <a16:creationId xmlns:a16="http://schemas.microsoft.com/office/drawing/2014/main" id="{DE51F192-7062-0ADD-6BFB-59AF2B741A08}"/>
              </a:ext>
            </a:extLst>
          </p:cNvPr>
          <p:cNvSpPr/>
          <p:nvPr/>
        </p:nvSpPr>
        <p:spPr>
          <a:xfrm>
            <a:off x="2622763" y="2608753"/>
            <a:ext cx="629035" cy="314450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C07B97A-280B-AD24-0061-71B4B7686AD6}"/>
              </a:ext>
            </a:extLst>
          </p:cNvPr>
          <p:cNvSpPr/>
          <p:nvPr/>
        </p:nvSpPr>
        <p:spPr>
          <a:xfrm>
            <a:off x="6774787" y="4775891"/>
            <a:ext cx="1820233" cy="4274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2"/>
                </a:solidFill>
              </a:rPr>
              <a:t>This class</a:t>
            </a:r>
          </a:p>
        </p:txBody>
      </p:sp>
    </p:spTree>
    <p:extLst>
      <p:ext uri="{BB962C8B-B14F-4D97-AF65-F5344CB8AC3E}">
        <p14:creationId xmlns:p14="http://schemas.microsoft.com/office/powerpoint/2010/main" val="38690650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C7012-3CC2-EDAA-7672-AEBF92581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HW Does Well:  Parallelism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7CCDF-FD4F-C517-920E-B5A180D3B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Single thread processor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51A9B-A44A-FF0C-D547-8D1CDF461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  <p:pic>
        <p:nvPicPr>
          <p:cNvPr id="5" name="Picture 4" descr="cpu icon from www.flaticon.com">
            <a:extLst>
              <a:ext uri="{FF2B5EF4-FFF2-40B4-BE49-F238E27FC236}">
                <a16:creationId xmlns:a16="http://schemas.microsoft.com/office/drawing/2014/main" id="{E726F64C-199C-F91C-7D50-1C028805D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988" y="2133830"/>
            <a:ext cx="876300" cy="876300"/>
          </a:xfrm>
          <a:prstGeom prst="rect">
            <a:avLst/>
          </a:prstGeom>
        </p:spPr>
      </p:pic>
      <p:pic>
        <p:nvPicPr>
          <p:cNvPr id="8" name="Picture 7" descr="220+ Asic Chip Stock Illustrations, Royalty-Free Vector ...">
            <a:extLst>
              <a:ext uri="{FF2B5EF4-FFF2-40B4-BE49-F238E27FC236}">
                <a16:creationId xmlns:a16="http://schemas.microsoft.com/office/drawing/2014/main" id="{79A93183-4016-0525-A094-6C4C18EDB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2188" y="2139406"/>
            <a:ext cx="1514939" cy="1028491"/>
          </a:xfrm>
          <a:prstGeom prst="rect">
            <a:avLst/>
          </a:prstGeom>
        </p:spPr>
      </p:pic>
      <p:pic>
        <p:nvPicPr>
          <p:cNvPr id="10" name="Picture 9" descr="220+ Asic Chip Stock Illustrations, Royalty-Free Vector ...">
            <a:extLst>
              <a:ext uri="{FF2B5EF4-FFF2-40B4-BE49-F238E27FC236}">
                <a16:creationId xmlns:a16="http://schemas.microsoft.com/office/drawing/2014/main" id="{7B304D8D-D811-A279-2095-EAE44F00B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4509" y="2155252"/>
            <a:ext cx="1514939" cy="1028491"/>
          </a:xfrm>
          <a:prstGeom prst="rect">
            <a:avLst/>
          </a:prstGeom>
        </p:spPr>
      </p:pic>
      <p:pic>
        <p:nvPicPr>
          <p:cNvPr id="12" name="Picture 11" descr="220+ Asic Chip Stock Illustrations, Royalty-Free Vector ...">
            <a:extLst>
              <a:ext uri="{FF2B5EF4-FFF2-40B4-BE49-F238E27FC236}">
                <a16:creationId xmlns:a16="http://schemas.microsoft.com/office/drawing/2014/main" id="{F8020C4D-2CD7-AD6D-3655-D9E992656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6435" y="2148765"/>
            <a:ext cx="1514939" cy="1028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4ECFE28-F010-E536-E002-0C79AAC009C9}"/>
              </a:ext>
            </a:extLst>
          </p:cNvPr>
          <p:cNvSpPr txBox="1"/>
          <p:nvPr/>
        </p:nvSpPr>
        <p:spPr>
          <a:xfrm>
            <a:off x="7253868" y="1513756"/>
            <a:ext cx="3141950" cy="598218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Custom hardware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253CB9D-9A7B-F5F2-2DCA-31A6BBD0106A}"/>
                  </a:ext>
                </a:extLst>
              </p:cNvPr>
              <p:cNvSpPr txBox="1"/>
              <p:nvPr/>
            </p:nvSpPr>
            <p:spPr>
              <a:xfrm>
                <a:off x="1434952" y="3354984"/>
                <a:ext cx="2740622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Throughput </a:t>
                </a:r>
                <a:br>
                  <a:rPr lang="en-US" sz="2400" dirty="0"/>
                </a:br>
                <a:r>
                  <a:rPr lang="en-US" sz="2400" dirty="0"/>
                  <a:t>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en-US" sz="2400" dirty="0"/>
                  <a:t> Clock frequency </a:t>
                </a:r>
                <a:br>
                  <a:rPr lang="en-US" sz="2400" dirty="0"/>
                </a:br>
                <a:r>
                  <a:rPr lang="en-US" sz="2400" dirty="0"/>
                  <a:t>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𝑃𝑜𝑤𝑒𝑟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253CB9D-9A7B-F5F2-2DCA-31A6BBD01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952" y="3354984"/>
                <a:ext cx="2740622" cy="1200329"/>
              </a:xfrm>
              <a:prstGeom prst="rect">
                <a:avLst/>
              </a:prstGeom>
              <a:blipFill>
                <a:blip r:embed="rId4"/>
                <a:stretch>
                  <a:fillRect l="-3333" t="-4061" r="-2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C22E567-1FD2-786F-92AE-E28359789F4E}"/>
                  </a:ext>
                </a:extLst>
              </p:cNvPr>
              <p:cNvSpPr txBox="1"/>
              <p:nvPr/>
            </p:nvSpPr>
            <p:spPr>
              <a:xfrm>
                <a:off x="7253868" y="3743616"/>
                <a:ext cx="334432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Throughput </a:t>
                </a:r>
                <a:br>
                  <a:rPr lang="en-US" sz="2400" dirty="0"/>
                </a:br>
                <a:r>
                  <a:rPr lang="en-US" sz="2400" dirty="0"/>
                  <a:t>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en-US" sz="2400" dirty="0"/>
                  <a:t> Hardware instance</a:t>
                </a:r>
                <a:br>
                  <a:rPr lang="en-US" sz="2400" dirty="0"/>
                </a:br>
                <a:r>
                  <a:rPr lang="en-US" sz="2400" dirty="0"/>
                  <a:t>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∝</m:t>
                    </m:r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𝑃𝑜𝑤𝑒𝑟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C22E567-1FD2-786F-92AE-E28359789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3868" y="3743616"/>
                <a:ext cx="3344324" cy="1200329"/>
              </a:xfrm>
              <a:prstGeom prst="rect">
                <a:avLst/>
              </a:prstGeom>
              <a:blipFill>
                <a:blip r:embed="rId5"/>
                <a:stretch>
                  <a:fillRect l="-2914" t="-4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3327793-2A3F-25A6-1BCF-F12FF4FDDB8D}"/>
              </a:ext>
            </a:extLst>
          </p:cNvPr>
          <p:cNvSpPr/>
          <p:nvPr/>
        </p:nvSpPr>
        <p:spPr>
          <a:xfrm>
            <a:off x="1393997" y="5196468"/>
            <a:ext cx="8608809" cy="8283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2"/>
                </a:solidFill>
              </a:rPr>
              <a:t>HW parallelism  can be fundamentally more efficient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0678A5-5F55-2FEB-0B38-7CECBC531039}"/>
              </a:ext>
            </a:extLst>
          </p:cNvPr>
          <p:cNvSpPr/>
          <p:nvPr/>
        </p:nvSpPr>
        <p:spPr>
          <a:xfrm>
            <a:off x="748968" y="2133830"/>
            <a:ext cx="1282948" cy="9144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Step A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Step B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Step C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A6AA7C-60F8-B517-207C-C1D56A55DEA3}"/>
              </a:ext>
            </a:extLst>
          </p:cNvPr>
          <p:cNvSpPr/>
          <p:nvPr/>
        </p:nvSpPr>
        <p:spPr>
          <a:xfrm>
            <a:off x="8200505" y="3135000"/>
            <a:ext cx="1282948" cy="45626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Step B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32CF5D-FDD3-EEA2-21AC-A5DE22F707CF}"/>
              </a:ext>
            </a:extLst>
          </p:cNvPr>
          <p:cNvSpPr/>
          <p:nvPr/>
        </p:nvSpPr>
        <p:spPr>
          <a:xfrm>
            <a:off x="6782188" y="3135000"/>
            <a:ext cx="1282948" cy="45626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Step 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EBF0401-C801-178A-41B1-5354D9DD7B85}"/>
              </a:ext>
            </a:extLst>
          </p:cNvPr>
          <p:cNvSpPr/>
          <p:nvPr/>
        </p:nvSpPr>
        <p:spPr>
          <a:xfrm>
            <a:off x="9618822" y="3135000"/>
            <a:ext cx="1282948" cy="45626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Step C</a:t>
            </a:r>
          </a:p>
        </p:txBody>
      </p:sp>
    </p:spTree>
    <p:extLst>
      <p:ext uri="{BB962C8B-B14F-4D97-AF65-F5344CB8AC3E}">
        <p14:creationId xmlns:p14="http://schemas.microsoft.com/office/powerpoint/2010/main" val="23694701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2D844-90AA-B306-0939-D9B0B6916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CFE27-BEA9-2FE3-2B15-E1C9F50A8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HW is Bad at:  Conditional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4FD30-6F95-A3DF-AE27-34B3A62CA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Single thread processor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A7EEF-33CA-692B-C0AB-D99681D85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AD4D1E-BCAC-D927-9E4C-3F80EF9A9E78}"/>
              </a:ext>
            </a:extLst>
          </p:cNvPr>
          <p:cNvSpPr txBox="1"/>
          <p:nvPr/>
        </p:nvSpPr>
        <p:spPr>
          <a:xfrm>
            <a:off x="7253868" y="1513756"/>
            <a:ext cx="3141950" cy="598218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Custom hardware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FFFC7D-DC97-1D00-79C5-4A5C1AF52953}"/>
              </a:ext>
            </a:extLst>
          </p:cNvPr>
          <p:cNvSpPr txBox="1"/>
          <p:nvPr/>
        </p:nvSpPr>
        <p:spPr>
          <a:xfrm>
            <a:off x="491992" y="4259594"/>
            <a:ext cx="51413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Conditional / intermittent logic:  </a:t>
            </a:r>
            <a:r>
              <a:rPr lang="en-US" sz="2400" dirty="0">
                <a:solidFill>
                  <a:srgbClr val="00B050"/>
                </a:solidFill>
              </a:rPr>
              <a:t>good</a:t>
            </a:r>
          </a:p>
          <a:p>
            <a:r>
              <a:rPr lang="en-US" sz="2400" dirty="0"/>
              <a:t>Use all resources to whatever is needed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20ED0F-1CE6-0FBE-334B-124F9FA3F272}"/>
              </a:ext>
            </a:extLst>
          </p:cNvPr>
          <p:cNvSpPr txBox="1"/>
          <p:nvPr/>
        </p:nvSpPr>
        <p:spPr>
          <a:xfrm>
            <a:off x="6182135" y="4200040"/>
            <a:ext cx="55648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Conditional / intermittent logic:  </a:t>
            </a:r>
            <a:r>
              <a:rPr lang="en-US" sz="2400" dirty="0">
                <a:solidFill>
                  <a:srgbClr val="FF0000"/>
                </a:solidFill>
              </a:rPr>
              <a:t>poorly</a:t>
            </a:r>
          </a:p>
          <a:p>
            <a:r>
              <a:rPr lang="en-US" sz="2400" dirty="0"/>
              <a:t>Need logic for all paths</a:t>
            </a:r>
          </a:p>
          <a:p>
            <a:r>
              <a:rPr lang="en-US" sz="2400" dirty="0"/>
              <a:t>Paths not used are idle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161E8F-0AE4-B344-51C3-D615BCC7F60E}"/>
              </a:ext>
            </a:extLst>
          </p:cNvPr>
          <p:cNvSpPr/>
          <p:nvPr/>
        </p:nvSpPr>
        <p:spPr>
          <a:xfrm>
            <a:off x="1210079" y="2466317"/>
            <a:ext cx="1282948" cy="156674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/>
                </a:solidFill>
              </a:rPr>
              <a:t>If C: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   Do A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else:</a:t>
            </a:r>
          </a:p>
          <a:p>
            <a:r>
              <a:rPr lang="en-US" dirty="0">
                <a:solidFill>
                  <a:schemeClr val="accent1"/>
                </a:solidFill>
              </a:rPr>
              <a:t>   Do B</a:t>
            </a:r>
          </a:p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D74153-1D3A-4AD0-FCEB-962049EE6FE5}"/>
              </a:ext>
            </a:extLst>
          </p:cNvPr>
          <p:cNvSpPr/>
          <p:nvPr/>
        </p:nvSpPr>
        <p:spPr>
          <a:xfrm>
            <a:off x="7447310" y="3079925"/>
            <a:ext cx="936331" cy="9144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20DC0A-10A4-7741-2842-535E3B418C65}"/>
              </a:ext>
            </a:extLst>
          </p:cNvPr>
          <p:cNvSpPr/>
          <p:nvPr/>
        </p:nvSpPr>
        <p:spPr>
          <a:xfrm>
            <a:off x="8703867" y="3079925"/>
            <a:ext cx="936331" cy="91928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CF500CC-90CB-AAC2-EABE-9775783AF07F}"/>
                  </a:ext>
                </a:extLst>
              </p:cNvPr>
              <p:cNvSpPr/>
              <p:nvPr/>
            </p:nvSpPr>
            <p:spPr>
              <a:xfrm>
                <a:off x="6217444" y="2324437"/>
                <a:ext cx="936331" cy="601391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Test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CF500CC-90CB-AAC2-EABE-9775783AF0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444" y="2324437"/>
                <a:ext cx="936331" cy="6013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15136604-3FD3-FD9A-1110-EBB0F1C7714A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7153775" y="2466317"/>
            <a:ext cx="2018258" cy="613608"/>
          </a:xfrm>
          <a:prstGeom prst="bentConnector2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EC175555-17A3-085B-9336-D20BA16CFD28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7145855" y="2715598"/>
            <a:ext cx="769621" cy="364327"/>
          </a:xfrm>
          <a:prstGeom prst="bentConnector2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79029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26701-5D7B-4632-E32E-AD135E6C7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Accelerator:  Filtering in DSP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8F54E-5207-7ACD-BB79-9692E950F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  <p:pic>
        <p:nvPicPr>
          <p:cNvPr id="5" name="Picture 4" descr="Finite Impulse Response (FIR) Filters | Wireless Pi">
            <a:extLst>
              <a:ext uri="{FF2B5EF4-FFF2-40B4-BE49-F238E27FC236}">
                <a16:creationId xmlns:a16="http://schemas.microsoft.com/office/drawing/2014/main" id="{A07F19F6-9F3F-9AAA-4213-591C911A8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867" y="4225940"/>
            <a:ext cx="2018212" cy="1612070"/>
          </a:xfrm>
          <a:prstGeom prst="rect">
            <a:avLst/>
          </a:prstGeom>
        </p:spPr>
      </p:pic>
      <p:pic>
        <p:nvPicPr>
          <p:cNvPr id="7" name="Picture 2" descr="Asic - Free icons">
            <a:extLst>
              <a:ext uri="{FF2B5EF4-FFF2-40B4-BE49-F238E27FC236}">
                <a16:creationId xmlns:a16="http://schemas.microsoft.com/office/drawing/2014/main" id="{1083AFE7-656D-FCB8-AE6D-EA5EA5566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5541" y="4373538"/>
            <a:ext cx="1072840" cy="1072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esktop Computer Icon Computer PNG &amp; SVG Design For T-Shirts">
            <a:extLst>
              <a:ext uri="{FF2B5EF4-FFF2-40B4-BE49-F238E27FC236}">
                <a16:creationId xmlns:a16="http://schemas.microsoft.com/office/drawing/2014/main" id="{6199FD59-C6B8-5F26-7FA9-07B870ED2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4303747"/>
            <a:ext cx="1142631" cy="1142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5623C37-C8CA-9D00-540E-36A9F64BC837}"/>
              </a:ext>
            </a:extLst>
          </p:cNvPr>
          <p:cNvSpPr txBox="1">
            <a:spLocks/>
          </p:cNvSpPr>
          <p:nvPr/>
        </p:nvSpPr>
        <p:spPr>
          <a:xfrm>
            <a:off x="1399773" y="2339577"/>
            <a:ext cx="3926344" cy="14699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CPU / DSP:  </a:t>
            </a:r>
            <a:b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Design taps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Intermittent,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delay insensitive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433DB0E-C8C9-B96C-3E37-389A5E005E67}"/>
              </a:ext>
            </a:extLst>
          </p:cNvPr>
          <p:cNvSpPr txBox="1">
            <a:spLocks/>
          </p:cNvSpPr>
          <p:nvPr/>
        </p:nvSpPr>
        <p:spPr>
          <a:xfrm>
            <a:off x="6598100" y="2402350"/>
            <a:ext cx="3926344" cy="14699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FPGA / ASIC accelerator</a:t>
            </a:r>
            <a:b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Run filter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High-speed, repeated, high-parallelism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13" name="Picture 12" descr="FIR Filter">
            <a:extLst>
              <a:ext uri="{FF2B5EF4-FFF2-40B4-BE49-F238E27FC236}">
                <a16:creationId xmlns:a16="http://schemas.microsoft.com/office/drawing/2014/main" id="{3D764AB5-DAD9-D250-AF72-DB8E4AD867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1682" y="4429292"/>
            <a:ext cx="1984021" cy="1072841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3332B5A1-E5AB-E1CA-F7F5-238C20E6DB22}"/>
              </a:ext>
            </a:extLst>
          </p:cNvPr>
          <p:cNvSpPr/>
          <p:nvPr/>
        </p:nvSpPr>
        <p:spPr>
          <a:xfrm>
            <a:off x="5007155" y="3567199"/>
            <a:ext cx="978408" cy="484632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6470E7E3-B92A-BFED-BAE7-863AD36301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46409" y="1438808"/>
                <a:ext cx="5894983" cy="968688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Wingdings" panose="05000000000000000000" pitchFamily="2" charset="2"/>
                  <a:buChar char="q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6470E7E3-B92A-BFED-BAE7-863AD3630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6409" y="1438808"/>
                <a:ext cx="5894983" cy="9686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4D86AEC0-7440-C72B-4B1E-478FB2FEC9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57962" y="3049040"/>
                <a:ext cx="2807923" cy="968688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Wingdings" panose="05000000000000000000" pitchFamily="2" charset="2"/>
                  <a:buChar char="q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,…, 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4D86AEC0-7440-C72B-4B1E-478FB2FEC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7962" y="3049040"/>
                <a:ext cx="2807923" cy="9686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80216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220A4-5278-111F-CB4E-7533CCDE6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Custom Hardware Good 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B9C39-20BE-4DEA-CA79-2ED845B81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Compute‑intensive kernels</a:t>
            </a:r>
          </a:p>
          <a:p>
            <a:pPr lvl="1"/>
            <a:r>
              <a:rPr lang="en-US" dirty="0"/>
              <a:t>High arithmetic density, many operations per data</a:t>
            </a:r>
          </a:p>
          <a:p>
            <a:r>
              <a:rPr lang="en-US" dirty="0">
                <a:solidFill>
                  <a:schemeClr val="accent1"/>
                </a:solidFill>
              </a:rPr>
              <a:t>Structured, repetitive tasks</a:t>
            </a:r>
          </a:p>
          <a:p>
            <a:pPr lvl="1"/>
            <a:r>
              <a:rPr lang="en-US" dirty="0"/>
              <a:t>Same operation repeated many times</a:t>
            </a:r>
          </a:p>
          <a:p>
            <a:pPr lvl="1"/>
            <a:r>
              <a:rPr lang="en-US" dirty="0"/>
              <a:t>Regular data flow, memory access</a:t>
            </a:r>
          </a:p>
          <a:p>
            <a:r>
              <a:rPr lang="en-US" dirty="0">
                <a:solidFill>
                  <a:schemeClr val="accent1"/>
                </a:solidFill>
              </a:rPr>
              <a:t>Regular dataflow and memory patterns</a:t>
            </a:r>
          </a:p>
          <a:p>
            <a:pPr lvl="1"/>
            <a:r>
              <a:rPr lang="en-US" dirty="0"/>
              <a:t>Tight control of timing, no OS jitter</a:t>
            </a:r>
          </a:p>
          <a:p>
            <a:r>
              <a:rPr lang="en-US" dirty="0">
                <a:solidFill>
                  <a:schemeClr val="accent1"/>
                </a:solidFill>
              </a:rPr>
              <a:t>High throughput with low energy</a:t>
            </a:r>
          </a:p>
          <a:p>
            <a:pPr lvl="1"/>
            <a:r>
              <a:rPr lang="en-US" dirty="0"/>
              <a:t>Custom </a:t>
            </a:r>
            <a:r>
              <a:rPr lang="en-US" dirty="0" err="1"/>
              <a:t>datapaths</a:t>
            </a:r>
            <a:r>
              <a:rPr lang="en-US" dirty="0"/>
              <a:t>, optimized bit-widths, specialized memories</a:t>
            </a:r>
          </a:p>
          <a:p>
            <a:r>
              <a:rPr lang="en-US" dirty="0"/>
              <a:t>Examples: DSP, linear algebra, ML inference, crypto, compression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63905-A312-608F-F735-B32331A6F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13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1138A-E3F9-E909-522B-C4EC2CFD3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AC47E-3C48-5565-5BBE-962813518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 Intel Quick Sync Media Processor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EF26C-BF60-B06F-9BC8-83B954B8F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E677839F-1114-CCCF-BF8A-C54044CCD6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35" r="38798" b="2478"/>
          <a:stretch>
            <a:fillRect/>
          </a:stretch>
        </p:blipFill>
        <p:spPr bwMode="auto">
          <a:xfrm>
            <a:off x="975448" y="1738747"/>
            <a:ext cx="4504023" cy="3849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A8D6D31-5B49-1B5A-2469-860E65A77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7079" y="1628177"/>
            <a:ext cx="5925820" cy="4329817"/>
          </a:xfrm>
        </p:spPr>
        <p:txBody>
          <a:bodyPr>
            <a:normAutofit/>
          </a:bodyPr>
          <a:lstStyle/>
          <a:p>
            <a:r>
              <a:rPr lang="en-US" dirty="0"/>
              <a:t>Intel specialized graphics units</a:t>
            </a:r>
          </a:p>
          <a:p>
            <a:pPr lvl="1"/>
            <a:r>
              <a:rPr lang="en-US" dirty="0"/>
              <a:t>Programmable shaders for parallel math</a:t>
            </a:r>
          </a:p>
          <a:p>
            <a:pPr lvl="1"/>
            <a:r>
              <a:rPr lang="en-US" dirty="0"/>
              <a:t>Fixed‑function blocks (rasterizer, </a:t>
            </a:r>
            <a:r>
              <a:rPr lang="en-US" dirty="0" err="1"/>
              <a:t>tessellator</a:t>
            </a:r>
            <a:r>
              <a:rPr lang="en-US" dirty="0"/>
              <a:t>, texture units)</a:t>
            </a:r>
          </a:p>
          <a:p>
            <a:pPr lvl="1"/>
            <a:r>
              <a:rPr lang="en-US" dirty="0"/>
              <a:t>Media engines for video encode/decode (Quick Sync)</a:t>
            </a:r>
          </a:p>
          <a:p>
            <a:r>
              <a:rPr lang="en-US" dirty="0"/>
              <a:t>Integrated into Core‑i3 / i5 / i7 / i9 processors</a:t>
            </a:r>
          </a:p>
          <a:p>
            <a:pPr lvl="1"/>
            <a:r>
              <a:rPr lang="en-US" dirty="0"/>
              <a:t>Physically part of the CPU die</a:t>
            </a:r>
          </a:p>
          <a:p>
            <a:pPr lvl="1"/>
            <a:r>
              <a:rPr lang="en-US" dirty="0"/>
              <a:t>Shares memory hierarchy with CPU cores</a:t>
            </a:r>
          </a:p>
          <a:p>
            <a:pPr lvl="1"/>
            <a:r>
              <a:rPr lang="en-US" dirty="0"/>
              <a:t>High‑speed on‑chip interfaces</a:t>
            </a:r>
          </a:p>
          <a:p>
            <a:r>
              <a:rPr lang="en-US" dirty="0"/>
              <a:t>Direct access to system memory</a:t>
            </a:r>
          </a:p>
          <a:p>
            <a:pPr lvl="1"/>
            <a:r>
              <a:rPr lang="en-US" dirty="0"/>
              <a:t>High‑bandwidth internal fabric</a:t>
            </a:r>
          </a:p>
          <a:p>
            <a:pPr lvl="1"/>
            <a:r>
              <a:rPr lang="en-US" dirty="0"/>
              <a:t>Connecting CPU, GPU, and media engines</a:t>
            </a:r>
          </a:p>
          <a:p>
            <a:pPr lvl="1"/>
            <a:r>
              <a:rPr lang="en-US" dirty="0"/>
              <a:t>Low‑latency paths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6595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00AE6-2F41-432B-A516-6FCFAA54F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 5G Modem Core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407C1-DF8C-6F6E-34BD-8A9710ADC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30</a:t>
            </a:fld>
            <a:endParaRPr lang="en-US" dirty="0"/>
          </a:p>
        </p:txBody>
      </p:sp>
      <p:pic>
        <p:nvPicPr>
          <p:cNvPr id="5" name="Picture 2" descr="Asic - Free icons">
            <a:extLst>
              <a:ext uri="{FF2B5EF4-FFF2-40B4-BE49-F238E27FC236}">
                <a16:creationId xmlns:a16="http://schemas.microsoft.com/office/drawing/2014/main" id="{6FD48BF5-CE27-38CF-12AF-0BC6447D9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8649" y="1877057"/>
            <a:ext cx="1026051" cy="102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0FEDF7-409B-2849-2219-B3751594F169}"/>
              </a:ext>
            </a:extLst>
          </p:cNvPr>
          <p:cNvSpPr txBox="1"/>
          <p:nvPr/>
        </p:nvSpPr>
        <p:spPr>
          <a:xfrm>
            <a:off x="6767013" y="3081262"/>
            <a:ext cx="1118383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5G HW</a:t>
            </a:r>
            <a:br>
              <a:rPr lang="en-US" dirty="0"/>
            </a:br>
            <a:r>
              <a:rPr lang="en-US" sz="1400" dirty="0"/>
              <a:t>Filtering, </a:t>
            </a:r>
          </a:p>
          <a:p>
            <a:r>
              <a:rPr lang="en-US" sz="1400" dirty="0"/>
              <a:t>Equalization,</a:t>
            </a:r>
            <a:br>
              <a:rPr lang="en-US" sz="1400" dirty="0"/>
            </a:br>
            <a:r>
              <a:rPr lang="en-US" sz="1400" dirty="0"/>
              <a:t>Decoding,</a:t>
            </a:r>
            <a:br>
              <a:rPr lang="en-US" sz="1400" dirty="0"/>
            </a:br>
            <a:r>
              <a:rPr lang="en-US" sz="1400" dirty="0"/>
              <a:t>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0DCD87-AA70-17E0-80EC-C6B7EB92CA3B}"/>
              </a:ext>
            </a:extLst>
          </p:cNvPr>
          <p:cNvSpPr txBox="1"/>
          <p:nvPr/>
        </p:nvSpPr>
        <p:spPr>
          <a:xfrm>
            <a:off x="3503601" y="4896899"/>
            <a:ext cx="1993238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Hexagon DSP</a:t>
            </a:r>
            <a:b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400" dirty="0"/>
              <a:t>Control channels,</a:t>
            </a:r>
            <a:br>
              <a:rPr lang="en-US" sz="1400" dirty="0"/>
            </a:br>
            <a:r>
              <a:rPr lang="en-US" sz="1400" dirty="0"/>
              <a:t>Infrequent, but complex,</a:t>
            </a:r>
            <a:br>
              <a:rPr lang="en-US" sz="1400" dirty="0"/>
            </a:br>
            <a:r>
              <a:rPr lang="en-US" sz="1400" dirty="0"/>
              <a:t>data processing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 	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24EDC5-2A84-07C5-7094-C505E2BE8E98}"/>
              </a:ext>
            </a:extLst>
          </p:cNvPr>
          <p:cNvSpPr txBox="1"/>
          <p:nvPr/>
        </p:nvSpPr>
        <p:spPr>
          <a:xfrm>
            <a:off x="718762" y="3055106"/>
            <a:ext cx="1381251" cy="1709928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ARM Core</a:t>
            </a:r>
            <a:br>
              <a:rPr lang="en-US" sz="1600" dirty="0"/>
            </a:br>
            <a:r>
              <a:rPr lang="en-US" sz="1400" dirty="0"/>
              <a:t>Upper layer SW,</a:t>
            </a:r>
            <a:br>
              <a:rPr lang="en-US" sz="1400" dirty="0"/>
            </a:br>
            <a:r>
              <a:rPr lang="en-US" sz="1400" dirty="0"/>
              <a:t>Configuration,</a:t>
            </a:r>
          </a:p>
          <a:p>
            <a:r>
              <a:rPr lang="en-US" sz="1400" dirty="0"/>
              <a:t>Networking,</a:t>
            </a:r>
          </a:p>
          <a:p>
            <a:r>
              <a:rPr lang="en-US" sz="1400" dirty="0"/>
              <a:t>Packet processing</a:t>
            </a: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391DB9-042B-F939-7798-298C120B1DA5}"/>
              </a:ext>
            </a:extLst>
          </p:cNvPr>
          <p:cNvSpPr txBox="1"/>
          <p:nvPr/>
        </p:nvSpPr>
        <p:spPr>
          <a:xfrm>
            <a:off x="9673307" y="2986856"/>
            <a:ext cx="22448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RFIC</a:t>
            </a:r>
            <a:br>
              <a:rPr lang="en-US" dirty="0"/>
            </a:br>
            <a:r>
              <a:rPr lang="en-US" sz="1400" dirty="0"/>
              <a:t>Antenna interface,</a:t>
            </a:r>
            <a:br>
              <a:rPr lang="en-US" sz="1400" dirty="0"/>
            </a:br>
            <a:r>
              <a:rPr lang="en-US" sz="1400" dirty="0"/>
              <a:t>Radio frequency operations,</a:t>
            </a:r>
            <a:br>
              <a:rPr lang="en-US" sz="1400" dirty="0"/>
            </a:br>
            <a:r>
              <a:rPr lang="en-US" sz="1400" dirty="0"/>
              <a:t>DACs / ADCs</a:t>
            </a:r>
          </a:p>
        </p:txBody>
      </p:sp>
      <p:sp>
        <p:nvSpPr>
          <p:cNvPr id="15" name="Arrow: Left-Right 14">
            <a:extLst>
              <a:ext uri="{FF2B5EF4-FFF2-40B4-BE49-F238E27FC236}">
                <a16:creationId xmlns:a16="http://schemas.microsoft.com/office/drawing/2014/main" id="{DA58526A-C756-B6C2-09C6-12A7D759E23B}"/>
              </a:ext>
            </a:extLst>
          </p:cNvPr>
          <p:cNvSpPr/>
          <p:nvPr/>
        </p:nvSpPr>
        <p:spPr>
          <a:xfrm>
            <a:off x="2321438" y="2275997"/>
            <a:ext cx="3977762" cy="246718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66" name="Picture 2" descr="Qualcomm's Hexagon 685 DSP is a Machine Learning Powerhouse">
            <a:extLst>
              <a:ext uri="{FF2B5EF4-FFF2-40B4-BE49-F238E27FC236}">
                <a16:creationId xmlns:a16="http://schemas.microsoft.com/office/drawing/2014/main" id="{8F067635-8F81-BDC4-96A7-7DC5340D1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9448" y="3347134"/>
            <a:ext cx="1621544" cy="1436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Cpu ARM Icon | Cold Fusion HD Iconpack ...">
            <a:extLst>
              <a:ext uri="{FF2B5EF4-FFF2-40B4-BE49-F238E27FC236}">
                <a16:creationId xmlns:a16="http://schemas.microsoft.com/office/drawing/2014/main" id="{6C9A746E-12FB-67EA-B66C-DEDA82926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260" y="175589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Arrow: Left-Right 16">
            <a:extLst>
              <a:ext uri="{FF2B5EF4-FFF2-40B4-BE49-F238E27FC236}">
                <a16:creationId xmlns:a16="http://schemas.microsoft.com/office/drawing/2014/main" id="{042F6860-699E-3DD7-745B-24601342B0F2}"/>
              </a:ext>
            </a:extLst>
          </p:cNvPr>
          <p:cNvSpPr/>
          <p:nvPr/>
        </p:nvSpPr>
        <p:spPr>
          <a:xfrm rot="2058403" flipV="1">
            <a:off x="2127445" y="3306701"/>
            <a:ext cx="1630968" cy="258694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Left-Right 18">
            <a:extLst>
              <a:ext uri="{FF2B5EF4-FFF2-40B4-BE49-F238E27FC236}">
                <a16:creationId xmlns:a16="http://schemas.microsoft.com/office/drawing/2014/main" id="{C24AD7F1-4E14-1A37-8105-B5E6646AD0B5}"/>
              </a:ext>
            </a:extLst>
          </p:cNvPr>
          <p:cNvSpPr/>
          <p:nvPr/>
        </p:nvSpPr>
        <p:spPr>
          <a:xfrm rot="19115223" flipV="1">
            <a:off x="5136023" y="3236739"/>
            <a:ext cx="1630968" cy="258694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Left-Right 19">
            <a:extLst>
              <a:ext uri="{FF2B5EF4-FFF2-40B4-BE49-F238E27FC236}">
                <a16:creationId xmlns:a16="http://schemas.microsoft.com/office/drawing/2014/main" id="{34F275D8-7603-A015-214A-B72B1AE49F04}"/>
              </a:ext>
            </a:extLst>
          </p:cNvPr>
          <p:cNvSpPr/>
          <p:nvPr/>
        </p:nvSpPr>
        <p:spPr>
          <a:xfrm flipV="1">
            <a:off x="7710871" y="2209833"/>
            <a:ext cx="1692807" cy="258694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70" name="Picture 6" descr="Choosing the Right RFIC Design Partner">
            <a:extLst>
              <a:ext uri="{FF2B5EF4-FFF2-40B4-BE49-F238E27FC236}">
                <a16:creationId xmlns:a16="http://schemas.microsoft.com/office/drawing/2014/main" id="{87C55D30-F153-6C10-805B-9869B273A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3307" y="1877057"/>
            <a:ext cx="1823982" cy="918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7DF7769-D3F0-EE56-88A5-52B8ECB8A87B}"/>
              </a:ext>
            </a:extLst>
          </p:cNvPr>
          <p:cNvSpPr txBox="1"/>
          <p:nvPr/>
        </p:nvSpPr>
        <p:spPr>
          <a:xfrm>
            <a:off x="8068485" y="1843567"/>
            <a:ext cx="1094146" cy="33883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en-US" sz="1600" dirty="0" err="1"/>
              <a:t>Gsamps</a:t>
            </a:r>
            <a:r>
              <a:rPr lang="en-US" sz="1600" dirty="0"/>
              <a:t> / s</a:t>
            </a:r>
          </a:p>
        </p:txBody>
      </p:sp>
    </p:spTree>
    <p:extLst>
      <p:ext uri="{BB962C8B-B14F-4D97-AF65-F5344CB8AC3E}">
        <p14:creationId xmlns:p14="http://schemas.microsoft.com/office/powerpoint/2010/main" val="2901739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5AC84-E245-98CD-8B48-37EFE406E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 </a:t>
            </a:r>
            <a:r>
              <a:rPr lang="en-US" dirty="0" err="1"/>
              <a:t>Robomorphic</a:t>
            </a:r>
            <a:r>
              <a:rPr lang="en-US" dirty="0"/>
              <a:t>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D9C84-B569-36FA-BF09-9F8B6D276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Custom accelerator for robotic computation</a:t>
            </a:r>
          </a:p>
          <a:p>
            <a:r>
              <a:rPr lang="en-US" dirty="0"/>
              <a:t>Performs complex kinematic simulations for:</a:t>
            </a:r>
          </a:p>
          <a:p>
            <a:pPr lvl="1"/>
            <a:r>
              <a:rPr lang="en-US" dirty="0"/>
              <a:t>Model predictive control</a:t>
            </a:r>
          </a:p>
          <a:p>
            <a:pPr lvl="1"/>
            <a:r>
              <a:rPr lang="en-US" dirty="0"/>
              <a:t>Path planning</a:t>
            </a:r>
          </a:p>
          <a:p>
            <a:r>
              <a:rPr lang="en-US" dirty="0"/>
              <a:t>Key challenge:</a:t>
            </a:r>
          </a:p>
          <a:p>
            <a:pPr lvl="1"/>
            <a:r>
              <a:rPr lang="en-US" dirty="0"/>
              <a:t>How do you describe robot morphology?</a:t>
            </a:r>
          </a:p>
          <a:p>
            <a:pPr lvl="1"/>
            <a:r>
              <a:rPr lang="en-US" dirty="0"/>
              <a:t>Need a general structure applicable to many robots</a:t>
            </a:r>
          </a:p>
          <a:p>
            <a:pPr lvl="1"/>
            <a:r>
              <a:rPr lang="en-US" dirty="0"/>
              <a:t>Many algorithms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FB40B-0157-4203-791C-6519DEEEE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9F3710-DFAA-8527-FC92-B0C34895F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334" y="1825373"/>
            <a:ext cx="4172532" cy="36009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CB9A43-6499-6C86-8633-423F1A427A3D}"/>
              </a:ext>
            </a:extLst>
          </p:cNvPr>
          <p:cNvSpPr txBox="1"/>
          <p:nvPr/>
        </p:nvSpPr>
        <p:spPr>
          <a:xfrm>
            <a:off x="736600" y="4985760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Neuman, S. M., Plancher, B., </a:t>
            </a:r>
            <a:r>
              <a:rPr lang="en-US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Bourgeat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T., Tambe, T., Devadas, S., &amp; Reddi, V. J. (2021, April). </a:t>
            </a:r>
            <a:r>
              <a:rPr lang="en-US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Robomorphic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computing: a design methodology for domain-specific accelerators parameterized by robot morphology. In </a:t>
            </a:r>
            <a:r>
              <a:rPr lang="en-US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Proceedings of the 26th ACM International Conference on Architectural Support for Programming Languages and Operating Systems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(pp. 674-686).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967208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EA058-777E-2005-7139-E1069CD1B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vs. ASIC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DB4AD-2F04-29E8-BF6F-B5111D36A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FPGA:  Field‑Programmable Gate Array</a:t>
            </a:r>
          </a:p>
          <a:p>
            <a:pPr lvl="1"/>
            <a:r>
              <a:rPr lang="en-US" dirty="0"/>
              <a:t>Reconfigurable hardware</a:t>
            </a:r>
          </a:p>
          <a:p>
            <a:pPr lvl="1"/>
            <a:r>
              <a:rPr lang="en-US" dirty="0"/>
              <a:t>Great for prototyping and teaching: no fabrication needed</a:t>
            </a:r>
          </a:p>
          <a:p>
            <a:pPr lvl="1"/>
            <a:r>
              <a:rPr lang="en-US" dirty="0"/>
              <a:t>Slower and less power‑efficient than ASICs </a:t>
            </a:r>
          </a:p>
          <a:p>
            <a:pPr lvl="1"/>
            <a:r>
              <a:rPr lang="en-US" dirty="0"/>
              <a:t>Research, rapid development, low‑volume products, networking gear, some accelerators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ASIC:  Application‑Specific Integrated Circuit</a:t>
            </a:r>
          </a:p>
          <a:p>
            <a:pPr lvl="1"/>
            <a:r>
              <a:rPr lang="en-US" dirty="0"/>
              <a:t>Custom hardware chip designed for one purpose (e.g., video codec, 5G modem, ML accelerator)</a:t>
            </a:r>
          </a:p>
          <a:p>
            <a:pPr lvl="1"/>
            <a:r>
              <a:rPr lang="en-US" dirty="0"/>
              <a:t>Much faster and more power‑efficient than FPGAs</a:t>
            </a:r>
          </a:p>
          <a:p>
            <a:pPr lvl="1"/>
            <a:r>
              <a:rPr lang="en-US" dirty="0"/>
              <a:t>Cannot be changed after fabrication — the design is permanent</a:t>
            </a:r>
          </a:p>
          <a:p>
            <a:pPr lvl="1"/>
            <a:r>
              <a:rPr lang="en-US" dirty="0"/>
              <a:t>Manufactured (“fabricated”) at a semiconductor foundry</a:t>
            </a:r>
          </a:p>
          <a:p>
            <a:pPr lvl="1"/>
            <a:r>
              <a:rPr lang="en-US" dirty="0"/>
              <a:t>Ex:  TSMC, </a:t>
            </a:r>
          </a:p>
          <a:p>
            <a:pPr lvl="1"/>
            <a:r>
              <a:rPr lang="en-US" dirty="0"/>
              <a:t>Smartphones, GPUs, Automotive,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13599-48FA-323F-4365-2209B7358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32</a:t>
            </a:fld>
            <a:endParaRPr lang="en-US" dirty="0"/>
          </a:p>
        </p:txBody>
      </p:sp>
      <p:pic>
        <p:nvPicPr>
          <p:cNvPr id="5" name="Picture 4" descr="A Guide to Xilinx FPGA Naming Standards">
            <a:extLst>
              <a:ext uri="{FF2B5EF4-FFF2-40B4-BE49-F238E27FC236}">
                <a16:creationId xmlns:a16="http://schemas.microsoft.com/office/drawing/2014/main" id="{FC46BC06-5C87-443F-C7CD-A4C3B8D7E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4526" y="1326814"/>
            <a:ext cx="1895688" cy="1256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Plot of ASIC layout submitted for ...">
            <a:extLst>
              <a:ext uri="{FF2B5EF4-FFF2-40B4-BE49-F238E27FC236}">
                <a16:creationId xmlns:a16="http://schemas.microsoft.com/office/drawing/2014/main" id="{F22938C4-AFBE-FBCA-9CCB-6588355D3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8766" y="4268160"/>
            <a:ext cx="1608080" cy="1600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89231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D6B1D-AFEE-66FF-281F-2B6E03B3F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Turnaround Time Contrasted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1C5BB-FA82-57C4-2B71-CA4B5E105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600FE8-4C37-8B50-A393-B28A7D46A471}"/>
              </a:ext>
            </a:extLst>
          </p:cNvPr>
          <p:cNvSpPr txBox="1"/>
          <p:nvPr/>
        </p:nvSpPr>
        <p:spPr>
          <a:xfrm>
            <a:off x="350883" y="1919408"/>
            <a:ext cx="13056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Software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14D44D-FA78-E55B-B6C5-42A06DD5D838}"/>
              </a:ext>
            </a:extLst>
          </p:cNvPr>
          <p:cNvSpPr/>
          <p:nvPr/>
        </p:nvSpPr>
        <p:spPr>
          <a:xfrm>
            <a:off x="1926432" y="1666424"/>
            <a:ext cx="914400" cy="914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Write code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E77E14B-972A-DBCA-F65E-4F9047DE0825}"/>
              </a:ext>
            </a:extLst>
          </p:cNvPr>
          <p:cNvSpPr/>
          <p:nvPr/>
        </p:nvSpPr>
        <p:spPr>
          <a:xfrm>
            <a:off x="3226594" y="1666424"/>
            <a:ext cx="1109662" cy="914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Compile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10E108F-8F15-BFFF-4689-232BC52D0521}"/>
              </a:ext>
            </a:extLst>
          </p:cNvPr>
          <p:cNvSpPr/>
          <p:nvPr/>
        </p:nvSpPr>
        <p:spPr>
          <a:xfrm>
            <a:off x="4702969" y="1666424"/>
            <a:ext cx="1109662" cy="914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Run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304D929-9CF4-D76A-FB4B-6D9F5A779047}"/>
              </a:ext>
            </a:extLst>
          </p:cNvPr>
          <p:cNvSpPr/>
          <p:nvPr/>
        </p:nvSpPr>
        <p:spPr>
          <a:xfrm>
            <a:off x="2738438" y="1919408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75FC13E-B236-1732-68EA-35C76159B837}"/>
              </a:ext>
            </a:extLst>
          </p:cNvPr>
          <p:cNvSpPr/>
          <p:nvPr/>
        </p:nvSpPr>
        <p:spPr>
          <a:xfrm>
            <a:off x="4271963" y="1919408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021A27-E29E-8607-EB98-6BA555396F75}"/>
              </a:ext>
            </a:extLst>
          </p:cNvPr>
          <p:cNvSpPr txBox="1"/>
          <p:nvPr/>
        </p:nvSpPr>
        <p:spPr>
          <a:xfrm>
            <a:off x="341757" y="3049600"/>
            <a:ext cx="856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FPGA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2070356-72CB-C945-FFC7-3DF9CFFA9CE8}"/>
              </a:ext>
            </a:extLst>
          </p:cNvPr>
          <p:cNvSpPr/>
          <p:nvPr/>
        </p:nvSpPr>
        <p:spPr>
          <a:xfrm>
            <a:off x="1926432" y="2881954"/>
            <a:ext cx="914400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Design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F0A008D-34F2-9F1A-9681-171419B906E1}"/>
              </a:ext>
            </a:extLst>
          </p:cNvPr>
          <p:cNvSpPr/>
          <p:nvPr/>
        </p:nvSpPr>
        <p:spPr>
          <a:xfrm>
            <a:off x="3226593" y="2881954"/>
            <a:ext cx="1109662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Simulate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7FEBA2B-1FFA-6962-0A7E-326BDD765E9C}"/>
              </a:ext>
            </a:extLst>
          </p:cNvPr>
          <p:cNvSpPr/>
          <p:nvPr/>
        </p:nvSpPr>
        <p:spPr>
          <a:xfrm>
            <a:off x="4686298" y="2872178"/>
            <a:ext cx="1304929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Synthesize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1A6FE64D-FEAE-41C0-477A-0A4754E62A6C}"/>
              </a:ext>
            </a:extLst>
          </p:cNvPr>
          <p:cNvSpPr/>
          <p:nvPr/>
        </p:nvSpPr>
        <p:spPr>
          <a:xfrm>
            <a:off x="2738438" y="3134938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F9431B70-A5A9-F7BC-84AD-C7FB373F894B}"/>
              </a:ext>
            </a:extLst>
          </p:cNvPr>
          <p:cNvSpPr/>
          <p:nvPr/>
        </p:nvSpPr>
        <p:spPr>
          <a:xfrm>
            <a:off x="4271963" y="3154488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80FBF76-21B3-C155-20E8-C601DB71C123}"/>
              </a:ext>
            </a:extLst>
          </p:cNvPr>
          <p:cNvSpPr/>
          <p:nvPr/>
        </p:nvSpPr>
        <p:spPr>
          <a:xfrm>
            <a:off x="6425804" y="2872178"/>
            <a:ext cx="1343026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Generate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Bitstream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3C29A3C-9DE9-F33F-E913-A225029FB128}"/>
              </a:ext>
            </a:extLst>
          </p:cNvPr>
          <p:cNvSpPr/>
          <p:nvPr/>
        </p:nvSpPr>
        <p:spPr>
          <a:xfrm>
            <a:off x="8038701" y="2872178"/>
            <a:ext cx="1343026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Run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68105C4F-3DEF-D81C-A1C6-B7F6F2BDBB55}"/>
              </a:ext>
            </a:extLst>
          </p:cNvPr>
          <p:cNvSpPr/>
          <p:nvPr/>
        </p:nvSpPr>
        <p:spPr>
          <a:xfrm>
            <a:off x="7674367" y="3154117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3577C9-C51B-4430-3FD0-58990CF3EFA6}"/>
              </a:ext>
            </a:extLst>
          </p:cNvPr>
          <p:cNvSpPr txBox="1"/>
          <p:nvPr/>
        </p:nvSpPr>
        <p:spPr>
          <a:xfrm>
            <a:off x="350883" y="4362403"/>
            <a:ext cx="11335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Custom</a:t>
            </a:r>
            <a:br>
              <a:rPr lang="en-US" sz="24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ASIC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90D8329-FF1F-2459-E329-523B01376F3E}"/>
              </a:ext>
            </a:extLst>
          </p:cNvPr>
          <p:cNvSpPr/>
          <p:nvPr/>
        </p:nvSpPr>
        <p:spPr>
          <a:xfrm>
            <a:off x="4651769" y="4226683"/>
            <a:ext cx="1409702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Synthesize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24366EAB-5AC0-8603-89A0-A1564142425B}"/>
              </a:ext>
            </a:extLst>
          </p:cNvPr>
          <p:cNvSpPr/>
          <p:nvPr/>
        </p:nvSpPr>
        <p:spPr>
          <a:xfrm>
            <a:off x="4247018" y="4508622"/>
            <a:ext cx="578644" cy="38888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79A0432-3678-1AD9-5AC4-AF870912E3A5}"/>
              </a:ext>
            </a:extLst>
          </p:cNvPr>
          <p:cNvSpPr/>
          <p:nvPr/>
        </p:nvSpPr>
        <p:spPr>
          <a:xfrm>
            <a:off x="6318712" y="4226683"/>
            <a:ext cx="1343026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Layout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899267F1-C1B8-E6F3-F6F4-4EBD6386A2B7}"/>
              </a:ext>
            </a:extLst>
          </p:cNvPr>
          <p:cNvSpPr/>
          <p:nvPr/>
        </p:nvSpPr>
        <p:spPr>
          <a:xfrm>
            <a:off x="5897163" y="4489442"/>
            <a:ext cx="578644" cy="38888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0874490-5451-2342-5828-941C31A88DF8}"/>
              </a:ext>
            </a:extLst>
          </p:cNvPr>
          <p:cNvSpPr/>
          <p:nvPr/>
        </p:nvSpPr>
        <p:spPr>
          <a:xfrm>
            <a:off x="8110536" y="4233618"/>
            <a:ext cx="1343026" cy="90053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Fabrication</a:t>
            </a:r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4B7CFE6B-0823-717D-44C6-A60F3DDBB1D4}"/>
              </a:ext>
            </a:extLst>
          </p:cNvPr>
          <p:cNvSpPr/>
          <p:nvPr/>
        </p:nvSpPr>
        <p:spPr>
          <a:xfrm>
            <a:off x="7604523" y="4508622"/>
            <a:ext cx="578644" cy="38888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9F69088-E027-C47C-F95A-8209B0B3939A}"/>
              </a:ext>
            </a:extLst>
          </p:cNvPr>
          <p:cNvSpPr/>
          <p:nvPr/>
        </p:nvSpPr>
        <p:spPr>
          <a:xfrm>
            <a:off x="7311225" y="5303072"/>
            <a:ext cx="1343026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Run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ECD5612F-F099-1FF7-761C-2BBC2718AAB5}"/>
              </a:ext>
            </a:extLst>
          </p:cNvPr>
          <p:cNvSpPr/>
          <p:nvPr/>
        </p:nvSpPr>
        <p:spPr>
          <a:xfrm>
            <a:off x="6891829" y="5620550"/>
            <a:ext cx="578644" cy="38888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4A864C2D-327B-045E-6E09-317854438E83}"/>
              </a:ext>
            </a:extLst>
          </p:cNvPr>
          <p:cNvSpPr/>
          <p:nvPr/>
        </p:nvSpPr>
        <p:spPr>
          <a:xfrm>
            <a:off x="5943606" y="3163893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11A08A6-7B6B-4B50-47ED-2130D58690E2}"/>
              </a:ext>
            </a:extLst>
          </p:cNvPr>
          <p:cNvSpPr/>
          <p:nvPr/>
        </p:nvSpPr>
        <p:spPr>
          <a:xfrm>
            <a:off x="1926432" y="4227266"/>
            <a:ext cx="914400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Design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3AA2BC2-0550-E618-08B4-66FE0A10E996}"/>
              </a:ext>
            </a:extLst>
          </p:cNvPr>
          <p:cNvSpPr/>
          <p:nvPr/>
        </p:nvSpPr>
        <p:spPr>
          <a:xfrm>
            <a:off x="3226593" y="4227266"/>
            <a:ext cx="1109662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Simulate</a:t>
            </a: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E1729918-62F7-453C-AAAE-D123536A8784}"/>
              </a:ext>
            </a:extLst>
          </p:cNvPr>
          <p:cNvSpPr/>
          <p:nvPr/>
        </p:nvSpPr>
        <p:spPr>
          <a:xfrm>
            <a:off x="2738438" y="4480250"/>
            <a:ext cx="578644" cy="38888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E3ACF0E-233E-DA3A-AFD3-E7BB123BDC1B}"/>
              </a:ext>
            </a:extLst>
          </p:cNvPr>
          <p:cNvSpPr/>
          <p:nvPr/>
        </p:nvSpPr>
        <p:spPr>
          <a:xfrm>
            <a:off x="3823095" y="5276605"/>
            <a:ext cx="1343026" cy="90053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Package</a:t>
            </a: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18715D37-76AD-A1A3-2C40-8FAD42D6F4CE}"/>
              </a:ext>
            </a:extLst>
          </p:cNvPr>
          <p:cNvSpPr/>
          <p:nvPr/>
        </p:nvSpPr>
        <p:spPr>
          <a:xfrm>
            <a:off x="3317082" y="5551609"/>
            <a:ext cx="578644" cy="38888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BE21E14-568A-C044-5D5F-848695A1957B}"/>
              </a:ext>
            </a:extLst>
          </p:cNvPr>
          <p:cNvSpPr/>
          <p:nvPr/>
        </p:nvSpPr>
        <p:spPr>
          <a:xfrm>
            <a:off x="5551586" y="5295785"/>
            <a:ext cx="1343026" cy="90053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Integrate</a:t>
            </a:r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D84B8D01-9DAB-6575-039D-B0E539DFD101}"/>
              </a:ext>
            </a:extLst>
          </p:cNvPr>
          <p:cNvSpPr/>
          <p:nvPr/>
        </p:nvSpPr>
        <p:spPr>
          <a:xfrm>
            <a:off x="5129407" y="5582813"/>
            <a:ext cx="578644" cy="38888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96DACF9-892E-4725-3FFE-03BCC7E9F086}"/>
              </a:ext>
            </a:extLst>
          </p:cNvPr>
          <p:cNvSpPr/>
          <p:nvPr/>
        </p:nvSpPr>
        <p:spPr>
          <a:xfrm>
            <a:off x="2385917" y="5691188"/>
            <a:ext cx="140443" cy="14355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1948B16-7A72-82F2-5D44-60DAAD9ED97B}"/>
              </a:ext>
            </a:extLst>
          </p:cNvPr>
          <p:cNvSpPr/>
          <p:nvPr/>
        </p:nvSpPr>
        <p:spPr>
          <a:xfrm>
            <a:off x="2637017" y="5691188"/>
            <a:ext cx="140443" cy="14355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D1DBD4D-EEF3-E524-B885-638B54541233}"/>
              </a:ext>
            </a:extLst>
          </p:cNvPr>
          <p:cNvSpPr/>
          <p:nvPr/>
        </p:nvSpPr>
        <p:spPr>
          <a:xfrm>
            <a:off x="2872751" y="5688495"/>
            <a:ext cx="140443" cy="14355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10F3D787-2E95-0D3F-F758-87FE573B849D}"/>
              </a:ext>
            </a:extLst>
          </p:cNvPr>
          <p:cNvSpPr/>
          <p:nvPr/>
        </p:nvSpPr>
        <p:spPr>
          <a:xfrm rot="5400000">
            <a:off x="8641982" y="3281639"/>
            <a:ext cx="3054980" cy="681038"/>
          </a:xfrm>
          <a:prstGeom prst="rightArrow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26000">
                <a:schemeClr val="accent5">
                  <a:lumMod val="20000"/>
                  <a:lumOff val="80000"/>
                </a:schemeClr>
              </a:gs>
              <a:gs pos="64000">
                <a:schemeClr val="accent3">
                  <a:lumMod val="40000"/>
                  <a:lumOff val="6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8" name="Picture 4" descr="Calendar - Free interface icons">
            <a:extLst>
              <a:ext uri="{FF2B5EF4-FFF2-40B4-BE49-F238E27FC236}">
                <a16:creationId xmlns:a16="http://schemas.microsoft.com/office/drawing/2014/main" id="{81EED539-43CD-E4BE-9F1A-2F941146E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8819" y="4082664"/>
            <a:ext cx="1202437" cy="1202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EBE55950-3864-59DD-264C-877992F61EF9}"/>
              </a:ext>
            </a:extLst>
          </p:cNvPr>
          <p:cNvSpPr txBox="1"/>
          <p:nvPr/>
        </p:nvSpPr>
        <p:spPr>
          <a:xfrm>
            <a:off x="10658819" y="926704"/>
            <a:ext cx="10433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Seconds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150" name="Picture 6" descr="73,800+ Stopwatch Icon Stock Illustrations, Royalty-Free ...">
            <a:extLst>
              <a:ext uri="{FF2B5EF4-FFF2-40B4-BE49-F238E27FC236}">
                <a16:creationId xmlns:a16="http://schemas.microsoft.com/office/drawing/2014/main" id="{5C5D2F7D-6164-7491-F05C-41D9D6530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7342" y="1533523"/>
            <a:ext cx="988542" cy="91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352BED29-273F-1174-9C29-71A0B22F8CF4}"/>
              </a:ext>
            </a:extLst>
          </p:cNvPr>
          <p:cNvSpPr txBox="1"/>
          <p:nvPr/>
        </p:nvSpPr>
        <p:spPr>
          <a:xfrm>
            <a:off x="10816409" y="5488440"/>
            <a:ext cx="9934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Months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87840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2BE6B-C965-3B9C-18C9-DBAA35FD7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Three Conceptual Challenges for 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07AB2-745A-70C6-B819-350F0A46A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Concurrency</a:t>
            </a:r>
          </a:p>
          <a:p>
            <a:pPr lvl="1"/>
            <a:r>
              <a:rPr lang="en-US" dirty="0"/>
              <a:t>Hardware modules run in parallel</a:t>
            </a:r>
          </a:p>
          <a:p>
            <a:pPr lvl="1"/>
            <a:r>
              <a:rPr lang="en-US" dirty="0"/>
              <a:t>Like multi-threaded programs</a:t>
            </a:r>
          </a:p>
          <a:p>
            <a:pPr lvl="1"/>
            <a:r>
              <a:rPr lang="en-US" dirty="0"/>
              <a:t>Must consider resource contention, information passing, …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Long turnaround time</a:t>
            </a:r>
          </a:p>
          <a:p>
            <a:pPr lvl="1"/>
            <a:r>
              <a:rPr lang="en-US" dirty="0"/>
              <a:t>Need reliable simulation and test before fabrication</a:t>
            </a:r>
          </a:p>
          <a:p>
            <a:pPr lvl="1"/>
            <a:r>
              <a:rPr lang="en-US" dirty="0"/>
              <a:t>High level of rigor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Need for interface abstraction</a:t>
            </a:r>
          </a:p>
          <a:p>
            <a:pPr lvl="1"/>
            <a:r>
              <a:rPr lang="en-US" dirty="0"/>
              <a:t>Hardware must work over broad range of problems</a:t>
            </a:r>
          </a:p>
          <a:p>
            <a:pPr lvl="1"/>
            <a:r>
              <a:rPr lang="en-US" dirty="0"/>
              <a:t>But provide gains specific to domain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D0E918-5A19-A38F-D474-AC313F052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0437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01BDE-1EC8-9E2C-4B3E-2CFF8C265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 Design Is Getting Easier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452C9-A8E5-0EBF-1169-0AA25817D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  <p:pic>
        <p:nvPicPr>
          <p:cNvPr id="7170" name="Picture 2" descr="Xilinx Vitis HLS introduction - imperix">
            <a:extLst>
              <a:ext uri="{FF2B5EF4-FFF2-40B4-BE49-F238E27FC236}">
                <a16:creationId xmlns:a16="http://schemas.microsoft.com/office/drawing/2014/main" id="{E9953362-CDB4-9784-BBB0-A642D6E2F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4351" y="1624360"/>
            <a:ext cx="1710467" cy="1138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Artificial intelligence AI processor ...">
            <a:extLst>
              <a:ext uri="{FF2B5EF4-FFF2-40B4-BE49-F238E27FC236}">
                <a16:creationId xmlns:a16="http://schemas.microsoft.com/office/drawing/2014/main" id="{2653DE29-5157-A97C-264B-99FA76E2C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4577" y="2971355"/>
            <a:ext cx="1361598" cy="1361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GitHub - Xilinx/PYNQ: Python ...">
            <a:extLst>
              <a:ext uri="{FF2B5EF4-FFF2-40B4-BE49-F238E27FC236}">
                <a16:creationId xmlns:a16="http://schemas.microsoft.com/office/drawing/2014/main" id="{1BF1C071-9E16-91E9-7F0E-4ABD3D83D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0410" y="4332953"/>
            <a:ext cx="2018348" cy="1002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2A612A-32CE-14BE-A036-8A1B3F96D77D}"/>
              </a:ext>
            </a:extLst>
          </p:cNvPr>
          <p:cNvSpPr txBox="1">
            <a:spLocks/>
          </p:cNvSpPr>
          <p:nvPr/>
        </p:nvSpPr>
        <p:spPr>
          <a:xfrm>
            <a:off x="756287" y="2153477"/>
            <a:ext cx="4210844" cy="298465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Traditional view:  HW is Hard</a:t>
            </a:r>
          </a:p>
          <a:p>
            <a:r>
              <a:rPr lang="en-US" dirty="0"/>
              <a:t>Rarely-used languages</a:t>
            </a:r>
          </a:p>
          <a:p>
            <a:r>
              <a:rPr lang="en-US" dirty="0"/>
              <a:t>Small, elite community</a:t>
            </a:r>
          </a:p>
          <a:p>
            <a:r>
              <a:rPr lang="en-US" dirty="0"/>
              <a:t>Complex tool chain</a:t>
            </a:r>
          </a:p>
          <a:p>
            <a:r>
              <a:rPr lang="en-US" dirty="0"/>
              <a:t>Long turnaround time</a:t>
            </a:r>
          </a:p>
          <a:p>
            <a:r>
              <a:rPr lang="en-US" dirty="0"/>
              <a:t>Need to design concurrent systems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0A152F6-384F-4E5B-35A1-CE64C73CFE79}"/>
              </a:ext>
            </a:extLst>
          </p:cNvPr>
          <p:cNvSpPr/>
          <p:nvPr/>
        </p:nvSpPr>
        <p:spPr>
          <a:xfrm>
            <a:off x="4127661" y="2964766"/>
            <a:ext cx="1618133" cy="681038"/>
          </a:xfrm>
          <a:prstGeom prst="rightArrow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26000">
                <a:schemeClr val="accent5">
                  <a:lumMod val="20000"/>
                  <a:lumOff val="80000"/>
                </a:schemeClr>
              </a:gs>
              <a:gs pos="64000">
                <a:schemeClr val="accent3">
                  <a:lumMod val="40000"/>
                  <a:lumOff val="6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72701F6-EE7D-87C0-C6FB-33B030F4F933}"/>
              </a:ext>
            </a:extLst>
          </p:cNvPr>
          <p:cNvSpPr txBox="1">
            <a:spLocks/>
          </p:cNvSpPr>
          <p:nvPr/>
        </p:nvSpPr>
        <p:spPr>
          <a:xfrm>
            <a:off x="6048740" y="2073974"/>
            <a:ext cx="4210844" cy="2984654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New Tools</a:t>
            </a:r>
          </a:p>
          <a:p>
            <a:r>
              <a:rPr lang="en-US" dirty="0"/>
              <a:t>High-Level Synthesis</a:t>
            </a:r>
          </a:p>
          <a:p>
            <a:pPr lvl="1"/>
            <a:r>
              <a:rPr lang="en-US" dirty="0"/>
              <a:t>Program in C/C++/Python</a:t>
            </a:r>
          </a:p>
          <a:p>
            <a:r>
              <a:rPr lang="en-US" dirty="0"/>
              <a:t>AI-assisted design</a:t>
            </a:r>
          </a:p>
          <a:p>
            <a:pPr lvl="1"/>
            <a:r>
              <a:rPr lang="en-US" dirty="0"/>
              <a:t>LLMs are learning HW fast</a:t>
            </a:r>
          </a:p>
          <a:p>
            <a:r>
              <a:rPr lang="en-US" dirty="0"/>
              <a:t>Python-based tool flow</a:t>
            </a:r>
          </a:p>
          <a:p>
            <a:pPr lvl="1"/>
            <a:r>
              <a:rPr lang="en-US" dirty="0"/>
              <a:t>FPGA Python APIs</a:t>
            </a:r>
          </a:p>
          <a:p>
            <a:pPr lvl="1"/>
            <a:r>
              <a:rPr lang="en-US" dirty="0"/>
              <a:t>Python simulation, …</a:t>
            </a:r>
          </a:p>
        </p:txBody>
      </p:sp>
    </p:spTree>
    <p:extLst>
      <p:ext uri="{BB962C8B-B14F-4D97-AF65-F5344CB8AC3E}">
        <p14:creationId xmlns:p14="http://schemas.microsoft.com/office/powerpoint/2010/main" val="26521546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993B4-60E5-1AB4-990F-08E713B90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26C96-B112-221C-D339-07207B326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320" y="4863353"/>
            <a:ext cx="10119360" cy="1005741"/>
          </a:xfrm>
        </p:spPr>
        <p:txBody>
          <a:bodyPr/>
          <a:lstStyle/>
          <a:p>
            <a:r>
              <a:rPr lang="en-US" dirty="0"/>
              <a:t>Break into groups</a:t>
            </a:r>
          </a:p>
          <a:p>
            <a:r>
              <a:rPr lang="en-US" dirty="0"/>
              <a:t>Answer in </a:t>
            </a:r>
            <a:r>
              <a:rPr lang="en-US" dirty="0" err="1"/>
              <a:t>llmgrader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3B9A0F-43B3-68CF-332D-7D08DB325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88EE3A-8D94-35E4-C2B5-BCBE3481E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1289905"/>
            <a:ext cx="9084833" cy="3404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6888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26559-67AE-6048-7BB8-686C1C2C3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B87BF-2C22-7B6F-EA51-D899E7B10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 on LLM Grader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94941-C7D6-9CCA-C90C-DCEBA8FC0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320" y="1927413"/>
            <a:ext cx="10119360" cy="3941682"/>
          </a:xfrm>
        </p:spPr>
        <p:txBody>
          <a:bodyPr/>
          <a:lstStyle/>
          <a:p>
            <a:r>
              <a:rPr lang="en-US" dirty="0"/>
              <a:t>Break into groups</a:t>
            </a:r>
          </a:p>
          <a:p>
            <a:r>
              <a:rPr lang="en-US" dirty="0"/>
              <a:t>Go to: </a:t>
            </a:r>
            <a:r>
              <a:rPr lang="en-US" dirty="0">
                <a:hlinkClick r:id="rId2"/>
              </a:rPr>
              <a:t>https://llmgrader-e6o7.onrender.com/</a:t>
            </a:r>
            <a:endParaRPr lang="en-US" dirty="0"/>
          </a:p>
          <a:p>
            <a:r>
              <a:rPr lang="en-US" dirty="0"/>
              <a:t>Select Unit 0</a:t>
            </a:r>
          </a:p>
          <a:p>
            <a:r>
              <a:rPr lang="en-US" dirty="0"/>
              <a:t>Select Question HW mapping</a:t>
            </a:r>
          </a:p>
          <a:p>
            <a:r>
              <a:rPr lang="en-US" dirty="0"/>
              <a:t>Iterate on your solution with your group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A2126-11D0-7476-1B29-429842CD9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4D3A4A-AFBA-D4C6-EE43-D5B5E7F9B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951" y="1709766"/>
            <a:ext cx="5773485" cy="4274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20061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18029</TotalTime>
  <Words>1975</Words>
  <Application>Microsoft Office PowerPoint</Application>
  <PresentationFormat>Widescreen</PresentationFormat>
  <Paragraphs>411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Aptos</vt:lpstr>
      <vt:lpstr>Arial</vt:lpstr>
      <vt:lpstr>Calibri</vt:lpstr>
      <vt:lpstr>Cambria Math</vt:lpstr>
      <vt:lpstr>Wingdings</vt:lpstr>
      <vt:lpstr>Retrospect</vt:lpstr>
      <vt:lpstr>Unit 0  Course Introduction</vt:lpstr>
      <vt:lpstr>Outline</vt:lpstr>
      <vt:lpstr>Course Details</vt:lpstr>
      <vt:lpstr>Learning Objectives</vt:lpstr>
      <vt:lpstr>Pre-Requisites</vt:lpstr>
      <vt:lpstr>Course Webpage</vt:lpstr>
      <vt:lpstr>WaveFlow</vt:lpstr>
      <vt:lpstr>Software Set-Up:  ECS Server</vt:lpstr>
      <vt:lpstr>Software Set-Up: Local Machine</vt:lpstr>
      <vt:lpstr>FPGA Boards</vt:lpstr>
      <vt:lpstr>Tentative Grading</vt:lpstr>
      <vt:lpstr>AI Autograder</vt:lpstr>
      <vt:lpstr>OpenAI API Keys</vt:lpstr>
      <vt:lpstr>Using AI</vt:lpstr>
      <vt:lpstr>Tentative Syllabus 1</vt:lpstr>
      <vt:lpstr>Tentative Syllabus 2</vt:lpstr>
      <vt:lpstr>Project</vt:lpstr>
      <vt:lpstr>Use AI the Right Way!</vt:lpstr>
      <vt:lpstr>Project Grading</vt:lpstr>
      <vt:lpstr>Outline</vt:lpstr>
      <vt:lpstr>Hardware vs. Software</vt:lpstr>
      <vt:lpstr>Hardware Comes in Many Forms </vt:lpstr>
      <vt:lpstr>General Purpose vs. Custom</vt:lpstr>
      <vt:lpstr>Accelerator or IP Model</vt:lpstr>
      <vt:lpstr>What HW Does Well:  Parallelism</vt:lpstr>
      <vt:lpstr>What is HW is Bad at:  Conditional Logic</vt:lpstr>
      <vt:lpstr>Example Accelerator:  Filtering in DSP </vt:lpstr>
      <vt:lpstr>What is Custom Hardware Good At</vt:lpstr>
      <vt:lpstr>Example:  Intel Quick Sync Media Processor</vt:lpstr>
      <vt:lpstr>Example:  5G Modem Core</vt:lpstr>
      <vt:lpstr>Example:  Robomorphic Computing</vt:lpstr>
      <vt:lpstr>FPGA vs. ASIC</vt:lpstr>
      <vt:lpstr>Turnaround Time Contrasted</vt:lpstr>
      <vt:lpstr>Three Conceptual Challenges for Hardware</vt:lpstr>
      <vt:lpstr>HW Design Is Getting Easier</vt:lpstr>
      <vt:lpstr>In-Class Exercise</vt:lpstr>
      <vt:lpstr>In-Class Exercise on LLM Grader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Sundeep Rangan</cp:lastModifiedBy>
  <cp:revision>476</cp:revision>
  <cp:lastPrinted>2018-09-04T19:00:14Z</cp:lastPrinted>
  <dcterms:created xsi:type="dcterms:W3CDTF">2015-03-22T11:15:32Z</dcterms:created>
  <dcterms:modified xsi:type="dcterms:W3CDTF">2026-09-01T21:40:22Z</dcterms:modified>
</cp:coreProperties>
</file>