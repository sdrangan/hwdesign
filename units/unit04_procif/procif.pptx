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8" r:id="rId2"/>
    <p:sldId id="271" r:id="rId3"/>
    <p:sldId id="297" r:id="rId4"/>
    <p:sldId id="276" r:id="rId5"/>
    <p:sldId id="325" r:id="rId55"/>
    <p:sldId id="326" r:id="rId56"/>
    <p:sldId id="327" r:id="rId57"/>
    <p:sldId id="291" r:id="rId6"/>
    <p:sldId id="277" r:id="rId7"/>
    <p:sldId id="280" r:id="rId8"/>
    <p:sldId id="328" r:id="rId58"/>
    <p:sldId id="329" r:id="rId59"/>
    <p:sldId id="330" r:id="rId60"/>
    <p:sldId id="281" r:id="rId9"/>
    <p:sldId id="278" r:id="rId10"/>
    <p:sldId id="283" r:id="rId11"/>
    <p:sldId id="284" r:id="rId12"/>
    <p:sldId id="285" r:id="rId13"/>
    <p:sldId id="286" r:id="rId14"/>
    <p:sldId id="290" r:id="rId15"/>
    <p:sldId id="288" r:id="rId16"/>
    <p:sldId id="289" r:id="rId17"/>
    <p:sldId id="331" r:id="rId61"/>
    <p:sldId id="332" r:id="rId62"/>
    <p:sldId id="333" r:id="rId63"/>
    <p:sldId id="334" r:id="rId64"/>
    <p:sldId id="298" r:id="rId18"/>
    <p:sldId id="293" r:id="rId19"/>
    <p:sldId id="294" r:id="rId20"/>
    <p:sldId id="295" r:id="rId21"/>
    <p:sldId id="296" r:id="rId22"/>
    <p:sldId id="292" r:id="rId23"/>
    <p:sldId id="300" r:id="rId24"/>
    <p:sldId id="335" r:id="rId65"/>
    <p:sldId id="301" r:id="rId25"/>
    <p:sldId id="302" r:id="rId26"/>
    <p:sldId id="303" r:id="rId27"/>
    <p:sldId id="304" r:id="rId28"/>
    <p:sldId id="305" r:id="rId29"/>
    <p:sldId id="299" r:id="rId30"/>
    <p:sldId id="310" r:id="rId31"/>
    <p:sldId id="306" r:id="rId32"/>
    <p:sldId id="308" r:id="rId33"/>
    <p:sldId id="312" r:id="rId34"/>
    <p:sldId id="307" r:id="rId35"/>
    <p:sldId id="311" r:id="rId36"/>
    <p:sldId id="309" r:id="rId37"/>
    <p:sldId id="336" r:id="rId66"/>
    <p:sldId id="337" r:id="rId67"/>
    <p:sldId id="338" r:id="rId68"/>
    <p:sldId id="340" r:id="rId70"/>
    <p:sldId id="341" r:id="rId71"/>
    <p:sldId id="339" r:id="rId6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2278F"/>
    <a:srgbClr val="E3DFF7"/>
    <a:srgbClr val="EAE5EB"/>
    <a:srgbClr val="DEE6F8"/>
    <a:srgbClr val="E0F8E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75" d="100"/>
          <a:sy n="75" d="100"/>
        </p:scale>
        <p:origin x="328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0" Type="http://schemas.openxmlformats.org/officeDocument/2006/relationships/slide" Target="slides/slide1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  <Relationship Id="rId55" Type="http://schemas.openxmlformats.org/officeDocument/2006/relationships/slide" Target="slides/slide49.xml"/>
  <Relationship Id="rId56" Type="http://schemas.openxmlformats.org/officeDocument/2006/relationships/slide" Target="slides/slide50.xml"/>
  <Relationship Id="rId57" Type="http://schemas.openxmlformats.org/officeDocument/2006/relationships/slide" Target="slides/slide51.xml"/>
  <Relationship Id="rId58" Type="http://schemas.openxmlformats.org/officeDocument/2006/relationships/slide" Target="slides/slide52.xml"/>
  <Relationship Id="rId59" Type="http://schemas.openxmlformats.org/officeDocument/2006/relationships/slide" Target="slides/slide53.xml"/>
  <Relationship Id="rId60" Type="http://schemas.openxmlformats.org/officeDocument/2006/relationships/slide" Target="slides/slide54.xml"/>
  <Relationship Id="rId61" Type="http://schemas.openxmlformats.org/officeDocument/2006/relationships/slide" Target="slides/slide55.xml"/>
  <Relationship Id="rId62" Type="http://schemas.openxmlformats.org/officeDocument/2006/relationships/slide" Target="slides/slide56.xml"/>
  <Relationship Id="rId63" Type="http://schemas.openxmlformats.org/officeDocument/2006/relationships/slide" Target="slides/slide57.xml"/>
  <Relationship Id="rId64" Type="http://schemas.openxmlformats.org/officeDocument/2006/relationships/slide" Target="slides/slide58.xml"/>
  <Relationship Id="rId65" Type="http://schemas.openxmlformats.org/officeDocument/2006/relationships/slide" Target="slides/slide59.xml"/>
  <Relationship Id="rId66" Type="http://schemas.openxmlformats.org/officeDocument/2006/relationships/slide" Target="slides/slide60.xml"/>
  <Relationship Id="rId67" Type="http://schemas.openxmlformats.org/officeDocument/2006/relationships/slide" Target="slides/slide61.xml"/>
  <Relationship Id="rId68" Type="http://schemas.openxmlformats.org/officeDocument/2006/relationships/slide" Target="slides/slide62.xml"/>
  <Relationship Id="rId69" Type="http://schemas.openxmlformats.org/officeDocument/2006/relationships/slide" Target="slides/slide63.xml"/>
  <Relationship Id="rId70" Type="http://schemas.openxmlformats.org/officeDocument/2006/relationships/slide" Target="slides/slide64.xml"/>
  <Relationship Id="rId71" Type="http://schemas.openxmlformats.org/officeDocument/2006/relationships/slide" Target="slides/slide65.xml"/>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4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help/ecoder/xilinxzynq7000ec/ug/communicating-with-the-fpga-ip-core-on-the-xilinx-zynq-7000-platform-using-axi4-lite-protocol.html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1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4 </a:t>
            </a:r>
            <a:br>
              <a:rPr lang="en-US" sz="6600" dirty="0"/>
            </a:br>
            <a:r>
              <a:rPr lang="en-US" sz="6600" dirty="0"/>
              <a:t>Memory and Basic Processor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Size memory for a data stream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data rate, capacity and the number of memories, and choose registers, block memory or external memory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memory addresses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Convert between word and byte addresses, split a global address into a local one, and lay out a register map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Identify bus manager and subordinate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Say which party initiates a transaction, whichever way the data flows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a valid/ready handshake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Work out the cycle a transfer happens on, including when the receiver is busy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Analyze AXI4-Lite transactions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reads and writes across the AW, W, B, AR and R channels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Build an IP with AXI4-Lite registers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Write the Vitis HLS signature and s_axilite pragmas, and state the registers they produce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Determine the limiting resource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Compare the time spent moving data against the time spent computing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440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Each skill is assessed by problems in the LLM grader.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rgbClr val="57068C"/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:  Each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rgbClr val="57068C"/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7360920" y="1965960"/>
          <a:ext cx="3749040" cy="2414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28600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Byte address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4(𝑁−1)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Word 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  <a:latin typeface="Cambria Math"/>
                        </a:rPr>
                        <a:t>𝑁−1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7360920" y="4572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A 32-bit memory,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 xml:space="preserve"> words deep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EDAE-3E47-5581-CB50-54AC3C85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 Random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E04C-E796-9577-582E-43BCBFE2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>
                <a:solidFill>
                  <a:srgbClr val="57068C"/>
                </a:solidFill>
              </a:rPr>
              <a:t>Sequential Access</a:t>
            </a:r>
          </a:p>
          <a:p>
            <a:pPr lvl="1"/>
            <a:r>
              <a:rPr lang="en-US" sz="2000" dirty="0"/>
              <a:t>Access time depends on </a:t>
            </a:r>
            <a:r>
              <a:rPr lang="en-US" sz="2000" i="1" dirty="0"/>
              <a:t>position</a:t>
            </a:r>
            <a:endParaRPr lang="en-US" sz="2000" dirty="0"/>
          </a:p>
          <a:p>
            <a:pPr lvl="1"/>
            <a:r>
              <a:rPr lang="en-US" sz="2000" dirty="0"/>
              <a:t>You must move through data in order</a:t>
            </a:r>
          </a:p>
          <a:p>
            <a:pPr lvl="1"/>
            <a:r>
              <a:rPr lang="en-US" sz="2000" dirty="0"/>
              <a:t>Ex:  Hard disks (seek + rotation)</a:t>
            </a:r>
          </a:p>
          <a:p>
            <a:pPr lvl="1"/>
            <a:r>
              <a:rPr lang="en-US" sz="2000" dirty="0"/>
              <a:t>FIFO queues (logical sequential access)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rgbClr val="57068C"/>
                </a:solidFill>
              </a:rPr>
              <a:t>Random access</a:t>
            </a:r>
          </a:p>
          <a:p>
            <a:pPr lvl="1"/>
            <a:r>
              <a:rPr lang="en-US" sz="2000" dirty="0"/>
              <a:t>Any element can be accessed in constant time</a:t>
            </a:r>
          </a:p>
          <a:p>
            <a:pPr lvl="1"/>
            <a:r>
              <a:rPr lang="en-US" sz="2000" dirty="0"/>
              <a:t>SRAM (on chip block memory, FPGA BRAM)</a:t>
            </a:r>
          </a:p>
          <a:p>
            <a:pPr lvl="1"/>
            <a:r>
              <a:rPr lang="en-US" sz="2000" dirty="0"/>
              <a:t>DRAM (external memory)</a:t>
            </a:r>
          </a:p>
          <a:p>
            <a:pPr lvl="1"/>
            <a:r>
              <a:rPr lang="en-US" sz="2000" dirty="0"/>
              <a:t>Register files (architecturally random access)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79D-E2CD-09A5-736D-5B55C0B5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2F88781-B301-D232-E04A-602EA2C5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035" y="1628886"/>
            <a:ext cx="2009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 descr="Memory ICs - EPROM, EEPROM and RAM">
            <a:extLst>
              <a:ext uri="{FF2B5EF4-FFF2-40B4-BE49-F238E27FC236}">
                <a16:creationId xmlns:a16="http://schemas.microsoft.com/office/drawing/2014/main" id="{9FF35CD7-0315-739E-3D55-D9234F444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350" y="3899498"/>
            <a:ext cx="18478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9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rgbClr val="2F6FA8"/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rgbClr val="57068C"/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857C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rgbClr val="2F6FA8"/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8C29252-EDB7-C199-18FF-5CF93424698B}"/>
              </a:ext>
            </a:extLst>
          </p:cNvPr>
          <p:cNvGrpSpPr/>
          <p:nvPr/>
        </p:nvGrpSpPr>
        <p:grpSpPr>
          <a:xfrm>
            <a:off x="324438" y="1630137"/>
            <a:ext cx="5693185" cy="3421538"/>
            <a:chOff x="324438" y="1630137"/>
            <a:chExt cx="5693185" cy="3421538"/>
          </a:xfrm>
        </p:grpSpPr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F733FA4-307B-C512-F380-F8D34A28BA50}"/>
                </a:ext>
              </a:extLst>
            </p:cNvPr>
            <p:cNvGrpSpPr/>
            <p:nvPr/>
          </p:nvGrpSpPr>
          <p:grpSpPr>
            <a:xfrm>
              <a:off x="3167386" y="2308781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3BE214C-0C61-D9C3-A14A-90EFDFD19676}"/>
                </a:ext>
              </a:extLst>
            </p:cNvPr>
            <p:cNvGrpSpPr/>
            <p:nvPr/>
          </p:nvGrpSpPr>
          <p:grpSpPr>
            <a:xfrm>
              <a:off x="3163502" y="2605830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C15D42-54C0-8F3D-9D02-372FD33F0E9D}"/>
                </a:ext>
              </a:extLst>
            </p:cNvPr>
            <p:cNvGrpSpPr/>
            <p:nvPr/>
          </p:nvGrpSpPr>
          <p:grpSpPr>
            <a:xfrm>
              <a:off x="3150250" y="4652701"/>
              <a:ext cx="2397325" cy="296148"/>
              <a:chOff x="3167386" y="2308781"/>
              <a:chExt cx="2397325" cy="296148"/>
            </a:xfrm>
          </p:grpSpPr>
        </p:grpSp>
        <mc:AlternateContent xmlns:mc="http://schemas.openxmlformats.org/markup-compatibility/2006" xmlns:a14="http://schemas.microsoft.com/office/drawing/2010/main">
          <mc:Choice Requires="a14"/>
          <mc:Fallback xmlns=""/>
        </mc:AlternateContent>
      </p:grpSp>
      <p:sp>
        <p:nvSpPr>
          <p:cNvPr id="2" name="TextBox 2"/>
          <p:cNvSpPr txBox="1"/>
          <p:nvPr/>
        </p:nvSpPr>
        <p:spPr>
          <a:xfrm>
            <a:off x="1097280" y="310896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 input</a:t>
            </a:r>
            <a:endParaRPr lang="en-US" sz="13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log₂(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>) bits</a:t>
            </a:r>
            <a:endParaRPr lang="en-US" sz="1200" dirty="0"/>
          </a:p>
        </p:txBody>
      </p:sp>
      <p:cxnSp>
        <p:nvCxnSpPr>
          <p:cNvPr id="3" name="Connector 3"/>
          <p:cNvCxnSpPr/>
          <p:nvPr/>
        </p:nvCxnSpPr>
        <p:spPr>
          <a:xfrm>
            <a:off x="2377440" y="3474720"/>
            <a:ext cx="36576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sp>
        <p:nvSpPr>
          <p:cNvPr id="4" name="Shape 4"/>
          <p:cNvSpPr/>
          <p:nvPr/>
        </p:nvSpPr>
        <p:spPr>
          <a:xfrm>
            <a:off x="2743200" y="3063240"/>
            <a:ext cx="1143000" cy="82296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2F6FA8"/>
                </a:solidFill>
              </a:rPr>
              <a:t>decoder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5760720" y="1874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4114800" y="2286000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4114800" y="2798064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4114800" y="3310128"/>
            <a:ext cx="1737360" cy="512064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selected word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4114800" y="3822192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1" name="Shape 11"/>
          <p:cNvSpPr/>
          <p:nvPr/>
        </p:nvSpPr>
        <p:spPr>
          <a:xfrm>
            <a:off x="4114800" y="4334256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6035040" y="2286000"/>
            <a:ext cx="548640" cy="25603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3931920" y="2542032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4" name="Connector 14"/>
          <p:cNvCxnSpPr/>
          <p:nvPr/>
        </p:nvCxnSpPr>
        <p:spPr>
          <a:xfrm flipH="1">
            <a:off x="5897880" y="2542032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5" name="Connector 15"/>
          <p:cNvCxnSpPr/>
          <p:nvPr/>
        </p:nvCxnSpPr>
        <p:spPr>
          <a:xfrm>
            <a:off x="3931920" y="3054096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 flipH="1">
            <a:off x="5897880" y="3054096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3931920" y="3566160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5897880" y="3566160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3931920" y="4078224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0" name="Connector 20"/>
          <p:cNvCxnSpPr/>
          <p:nvPr/>
        </p:nvCxnSpPr>
        <p:spPr>
          <a:xfrm flipH="1">
            <a:off x="5897880" y="4078224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21" name="Connector 21"/>
          <p:cNvCxnSpPr/>
          <p:nvPr/>
        </p:nvCxnSpPr>
        <p:spPr>
          <a:xfrm>
            <a:off x="3931920" y="4590288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5897880" y="4590288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sp>
        <p:nvSpPr>
          <p:cNvPr id="23" name="TextBox 23"/>
          <p:cNvSpPr txBox="1"/>
          <p:nvPr/>
        </p:nvSpPr>
        <p:spPr>
          <a:xfrm>
            <a:off x="4114800" y="49560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row per word</a:t>
            </a:r>
            <a:endParaRPr lang="en-US" sz="1200" dirty="0"/>
          </a:p>
        </p:txBody>
      </p:sp>
      <p:sp>
        <p:nvSpPr>
          <p:cNvPr id="24" name="TextBox 24"/>
          <p:cNvSpPr txBox="1"/>
          <p:nvPr/>
        </p:nvSpPr>
        <p:spPr>
          <a:xfrm>
            <a:off x="5760720" y="495604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A1FB-37A4-5A49-792B-9D4C50C6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Bus</a:t>
                </a:r>
                <a:r>
                  <a:rPr lang="en-US" dirty="0"/>
                  <a:t>:  A </a:t>
                </a:r>
                <a:r>
                  <a:rPr lang="en-US" dirty="0">
                    <a:solidFill>
                      <a:srgbClr val="57068C"/>
                    </a:solidFill>
                  </a:rPr>
                  <a:t>shared</a:t>
                </a:r>
                <a:r>
                  <a:rPr lang="en-US" dirty="0"/>
                  <a:t> communication pathway for multiple units</a:t>
                </a:r>
              </a:p>
              <a:p>
                <a:pPr lvl="1"/>
                <a:r>
                  <a:rPr lang="en-US" dirty="0"/>
                  <a:t>Physically a set of wires </a:t>
                </a:r>
              </a:p>
              <a:p>
                <a:pPr lvl="1"/>
                <a:r>
                  <a:rPr lang="en-US" dirty="0"/>
                  <a:t>For data, addresses, and control</a:t>
                </a:r>
              </a:p>
              <a:p>
                <a:pPr lvl="1"/>
                <a:r>
                  <a:rPr lang="en-US" dirty="0"/>
                  <a:t>A shared </a:t>
                </a:r>
                <a:r>
                  <a:rPr lang="en-US" dirty="0">
                    <a:solidFill>
                      <a:srgbClr val="57068C"/>
                    </a:solidFill>
                  </a:rPr>
                  <a:t>protocol</a:t>
                </a:r>
                <a:r>
                  <a:rPr lang="en-US" dirty="0"/>
                  <a:t> so only one unit drives the bus at a time</a:t>
                </a:r>
              </a:p>
              <a:p>
                <a:r>
                  <a:rPr lang="en-US" dirty="0"/>
                  <a:t>Many examples: </a:t>
                </a:r>
              </a:p>
              <a:p>
                <a:pPr lvl="1"/>
                <a:r>
                  <a:rPr lang="en-US" dirty="0"/>
                  <a:t>Multiple memory units connected to a common data bus</a:t>
                </a:r>
              </a:p>
              <a:p>
                <a:pPr lvl="1"/>
                <a:r>
                  <a:rPr lang="en-US" dirty="0"/>
                  <a:t>A processor and multiple memory units sharing address or data</a:t>
                </a:r>
              </a:p>
              <a:p>
                <a:pPr lvl="1"/>
                <a:r>
                  <a:rPr lang="en-US" dirty="0"/>
                  <a:t>Multiple peripherals on an SoC sharing an </a:t>
                </a:r>
                <a:r>
                  <a:rPr lang="en-US" dirty="0">
                    <a:solidFill>
                      <a:srgbClr val="57068C"/>
                    </a:solidFill>
                  </a:rPr>
                  <a:t>AXI bus</a:t>
                </a:r>
              </a:p>
              <a:p>
                <a:pPr lvl="1"/>
                <a:r>
                  <a:rPr lang="en-US" dirty="0"/>
                  <a:t>Multiple devices on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57068C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rgbClr val="57068C"/>
                    </a:solidFill>
                  </a:rPr>
                  <a:t> </a:t>
                </a:r>
                <a:r>
                  <a:rPr lang="en-US" dirty="0"/>
                  <a:t>or </a:t>
                </a:r>
                <a:r>
                  <a:rPr lang="en-US" dirty="0">
                    <a:solidFill>
                      <a:srgbClr val="57068C"/>
                    </a:solidFill>
                  </a:rPr>
                  <a:t>SPI bus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 r="-286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D7-B43C-D0F5-BCA5-90C5EF28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2" name="Shape 2"/>
          <p:cNvSpPr/>
          <p:nvPr/>
        </p:nvSpPr>
        <p:spPr>
          <a:xfrm>
            <a:off x="8138160" y="2103120"/>
            <a:ext cx="365760" cy="301752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7818120" y="17373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9326880" y="233172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8503920" y="261518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9326880" y="342900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03920" y="371246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9326880" y="452628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8503920" y="480974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7589520" y="5349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unit drives the bus at a time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22591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3B9B-E09A-EA03-11C8-9BC5E8C9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Method to share a common bus</a:t>
                </a:r>
              </a:p>
              <a:p>
                <a:pPr lvl="1"/>
                <a:r>
                  <a:rPr lang="en-US" dirty="0"/>
                  <a:t>One unit drives a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on the bus</a:t>
                </a:r>
              </a:p>
              <a:p>
                <a:pPr lvl="1"/>
                <a:r>
                  <a:rPr lang="en-US" dirty="0"/>
                  <a:t>Other units go into a </a:t>
                </a:r>
                <a:r>
                  <a:rPr lang="en-US" dirty="0">
                    <a:solidFill>
                      <a:srgbClr val="57068C"/>
                    </a:solidFill>
                  </a:rPr>
                  <a:t>high-impedance state</a:t>
                </a:r>
                <a:r>
                  <a:rPr lang="en-US" dirty="0"/>
                  <a:t>, denoted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</a:p>
              <a:p>
                <a:pPr lvl="1"/>
                <a:r>
                  <a:rPr lang="en-US" dirty="0"/>
                  <a:t>High impedance units are disconnected</a:t>
                </a:r>
              </a:p>
              <a:p>
                <a:pPr lvl="1"/>
                <a:r>
                  <a:rPr lang="en-US" dirty="0"/>
                  <a:t>Bus value=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Sometimes called </a:t>
                </a:r>
                <a:r>
                  <a:rPr lang="en-US" dirty="0">
                    <a:solidFill>
                      <a:srgbClr val="57068C"/>
                    </a:solidFill>
                  </a:rPr>
                  <a:t>Tri-State</a:t>
                </a:r>
              </a:p>
              <a:p>
                <a:pPr lvl="1"/>
                <a:r>
                  <a:rPr lang="en-US" dirty="0"/>
                  <a:t>Each bit is 0, 1 or Z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  <a:blipFill>
                <a:blip r:embed="rId2"/>
                <a:stretch>
                  <a:fillRect l="-250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3FED2-49B6-B908-8B3D-17CE46E7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197165-257C-FFD5-A176-83C15926E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951106"/>
              </p:ext>
            </p:extLst>
          </p:nvPr>
        </p:nvGraphicFramePr>
        <p:xfrm>
          <a:off x="1211580" y="4009051"/>
          <a:ext cx="75577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570">
                  <a:extLst>
                    <a:ext uri="{9D8B030D-6E8A-4147-A177-3AD203B41FA5}">
                      <a16:colId xmlns:a16="http://schemas.microsoft.com/office/drawing/2014/main" val="1156041786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23274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4007592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62277745"/>
                    </a:ext>
                  </a:extLst>
                </a:gridCol>
                <a:gridCol w="4006850">
                  <a:extLst>
                    <a:ext uri="{9D8B030D-6E8A-4147-A177-3AD203B41FA5}">
                      <a16:colId xmlns:a16="http://schemas.microsoft.com/office/drawing/2014/main" val="2343733387"/>
                    </a:ext>
                  </a:extLst>
                </a:gridCol>
              </a:tblGrid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Bus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031490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383036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915302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driver- no reliable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809493"/>
                  </a:ext>
                </a:extLst>
              </a:tr>
              <a:tr h="56158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Collision of A, B – no reliable value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Protocols will avoid this 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09075"/>
                  </a:ext>
                </a:extLst>
              </a:tr>
            </a:tbl>
          </a:graphicData>
        </a:graphic>
      </p:graphicFrame>
      <p:sp>
        <p:nvSpPr>
          <p:cNvPr id="2" name="Shape 2"/>
          <p:cNvSpPr/>
          <p:nvPr/>
        </p:nvSpPr>
        <p:spPr>
          <a:xfrm>
            <a:off x="9509760" y="2011680"/>
            <a:ext cx="365760" cy="219456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9189720" y="166420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10332720" y="22402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875520" y="25237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10332720" y="29260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9875520" y="32095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10332720" y="36118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9875520" y="38953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841020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57BF-391D-1E04-0C85-233E14127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 on a Data 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Memory read </a:t>
                </a:r>
                <a:r>
                  <a:rPr lang="en-US" dirty="0"/>
                  <a:t>(Tri-State Bus)</a:t>
                </a:r>
              </a:p>
              <a:p>
                <a:pPr lvl="1"/>
                <a:r>
                  <a:rPr lang="en-US" dirty="0"/>
                  <a:t>Selected memory element drives its value</a:t>
                </a:r>
              </a:p>
              <a:p>
                <a:pPr lvl="1"/>
                <a:r>
                  <a:rPr lang="en-US" dirty="0"/>
                  <a:t>Other units go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Data bus value = selected memory element’s value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write </a:t>
                </a:r>
                <a:r>
                  <a:rPr lang="en-US" dirty="0"/>
                  <a:t>(Broadcast + Selective Capture)</a:t>
                </a:r>
              </a:p>
              <a:p>
                <a:pPr lvl="1"/>
                <a:r>
                  <a:rPr lang="en-US" dirty="0"/>
                  <a:t>Data bus value appears at all units</a:t>
                </a:r>
              </a:p>
              <a:p>
                <a:pPr lvl="1"/>
                <a:r>
                  <a:rPr lang="en-US" dirty="0"/>
                  <a:t>Selected element loads value into its storage element</a:t>
                </a:r>
              </a:p>
              <a:p>
                <a:pPr lvl="1"/>
                <a:r>
                  <a:rPr lang="en-US" dirty="0"/>
                  <a:t>Other elements ignore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  <a:blipFill>
                <a:blip r:embed="rId2"/>
                <a:stretch>
                  <a:fillRect l="-241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F2C19-7D1D-22D3-20FF-3E321E18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F6AB511F-4E17-66C5-854E-638563562FB6}"/>
              </a:ext>
            </a:extLst>
          </p:cNvPr>
          <p:cNvGrpSpPr/>
          <p:nvPr/>
        </p:nvGrpSpPr>
        <p:grpSpPr>
          <a:xfrm>
            <a:off x="857877" y="2108967"/>
            <a:ext cx="2397325" cy="296148"/>
            <a:chOff x="3167386" y="2308781"/>
            <a:chExt cx="2397325" cy="296148"/>
          </a:xfrm>
        </p:grpSpPr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BC489C-E5FB-7321-08CA-252B9E079285}"/>
              </a:ext>
            </a:extLst>
          </p:cNvPr>
          <p:cNvGrpSpPr/>
          <p:nvPr/>
        </p:nvGrpSpPr>
        <p:grpSpPr>
          <a:xfrm>
            <a:off x="853993" y="2406016"/>
            <a:ext cx="2397325" cy="296148"/>
            <a:chOff x="3167386" y="2308781"/>
            <a:chExt cx="2397325" cy="296148"/>
          </a:xfrm>
        </p:grpSpPr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9CBE185-74E3-A765-2B39-0F6505D0EC63}"/>
              </a:ext>
            </a:extLst>
          </p:cNvPr>
          <p:cNvGrpSpPr/>
          <p:nvPr/>
        </p:nvGrpSpPr>
        <p:grpSpPr>
          <a:xfrm>
            <a:off x="840741" y="4452887"/>
            <a:ext cx="2397325" cy="296148"/>
            <a:chOff x="3167386" y="2308781"/>
            <a:chExt cx="2397325" cy="296148"/>
          </a:xfrm>
        </p:grpSpPr>
      </p:grp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1463040" y="17830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3" name="TextBox 3"/>
          <p:cNvSpPr txBox="1"/>
          <p:nvPr/>
        </p:nvSpPr>
        <p:spPr>
          <a:xfrm>
            <a:off x="3429000" y="17830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1463040" y="214884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1463040" y="256032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1463040" y="2971800"/>
            <a:ext cx="1737360" cy="41148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drives the bus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1463040" y="338328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1463040" y="379476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3611880" y="2148840"/>
            <a:ext cx="594360" cy="20574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3246120" y="233172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1" name="Connector 11"/>
          <p:cNvCxnSpPr/>
          <p:nvPr/>
        </p:nvCxnSpPr>
        <p:spPr>
          <a:xfrm>
            <a:off x="3246120" y="274320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2" name="Connector 12"/>
          <p:cNvCxnSpPr/>
          <p:nvPr/>
        </p:nvCxnSpPr>
        <p:spPr>
          <a:xfrm>
            <a:off x="3246120" y="3154680"/>
            <a:ext cx="32004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cxnSp>
        <p:nvCxnSpPr>
          <p:cNvPr id="13" name="Connector 13"/>
          <p:cNvCxnSpPr/>
          <p:nvPr/>
        </p:nvCxnSpPr>
        <p:spPr>
          <a:xfrm>
            <a:off x="3246120" y="356616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4" name="Connector 14"/>
          <p:cNvCxnSpPr/>
          <p:nvPr/>
        </p:nvCxnSpPr>
        <p:spPr>
          <a:xfrm>
            <a:off x="3246120" y="397764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sp>
        <p:nvSpPr>
          <p:cNvPr id="15" name="TextBox 15"/>
          <p:cNvSpPr txBox="1"/>
          <p:nvPr/>
        </p:nvSpPr>
        <p:spPr>
          <a:xfrm>
            <a:off x="1463040" y="4297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others go to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𝑍</a:t>
            </a:r>
            <a:endParaRPr lang="en-US" sz="1200" dirty="0"/>
          </a:p>
        </p:txBody>
      </p:sp>
      <p:sp>
        <p:nvSpPr>
          <p:cNvPr id="16" name="TextBox 16"/>
          <p:cNvSpPr txBox="1"/>
          <p:nvPr/>
        </p:nvSpPr>
        <p:spPr>
          <a:xfrm>
            <a:off x="3429000" y="42976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7837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Memory</a:t>
            </a:r>
          </a:p>
        </p:txBody>
      </p:sp>
      <p:sp>
        <p:nvSpPr>
          <p:cNvPr id="3" name="Shape 3"/>
          <p:cNvSpPr/>
          <p:nvPr/>
        </p:nvSpPr>
        <p:spPr>
          <a:xfrm>
            <a:off x="1280160" y="2286000"/>
            <a:ext cx="2651760" cy="13716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330662"/>
                </a:solidFill>
              </a:rPr>
              <a:t>External memory</a:t>
            </a:r>
            <a:endParaRPr lang="en-US" sz="16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DRAM</a:t>
            </a:r>
            <a:endParaRPr lang="en-US" sz="1200" dirty="0"/>
          </a:p>
        </p:txBody>
      </p:sp>
      <p:sp>
        <p:nvSpPr>
          <p:cNvPr id="4" name="TextBox 4"/>
          <p:cNvSpPr txBox="1"/>
          <p:nvPr/>
        </p:nvSpPr>
        <p:spPr>
          <a:xfrm>
            <a:off x="1280160" y="3840480"/>
            <a:ext cx="265176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Off-chip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 capacity (GB)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Reached over an I/O interface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4114800" y="2971800"/>
            <a:ext cx="128016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TextBox 6"/>
          <p:cNvSpPr txBox="1"/>
          <p:nvPr/>
        </p:nvSpPr>
        <p:spPr>
          <a:xfrm>
            <a:off x="4023360" y="26060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I/O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5486400" y="1920240"/>
            <a:ext cx="4846320" cy="2148840"/>
          </a:xfrm>
          <a:prstGeom prst="rect">
            <a:avLst/>
          </a:prstGeom>
          <a:solidFill>
            <a:srgbClr val="FBFAFC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t" rtlCol="0">
            <a:noAutofit/>
          </a:bodyPr>
          <a:lstStyle/>
          <a:p>
            <a:endParaRPr lang="en-US" sz="1000" dirty="0"/>
          </a:p>
        </p:txBody>
      </p:sp>
      <p:sp>
        <p:nvSpPr>
          <p:cNvPr id="8" name="TextBox 8"/>
          <p:cNvSpPr txBox="1"/>
          <p:nvPr/>
        </p:nvSpPr>
        <p:spPr>
          <a:xfrm>
            <a:off x="5623560" y="20116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One chip</a:t>
            </a:r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5806440" y="2423160"/>
            <a:ext cx="2011680" cy="137160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Internal memory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SRAM, BRAM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8092440" y="2423160"/>
            <a:ext cx="2011680" cy="13716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Processing</a:t>
            </a:r>
            <a:endParaRPr lang="en-US" sz="1500" dirty="0"/>
          </a:p>
          <a:p>
            <a:pPr algn="ctr"/>
            <a:r>
              <a:rPr lang="en-US" sz="1500" b="1" dirty="0">
                <a:solidFill>
                  <a:srgbClr val="00857C"/>
                </a:solidFill>
              </a:rPr>
              <a:t>hardware</a:t>
            </a:r>
            <a:endParaRPr lang="en-US" sz="1500" dirty="0"/>
          </a:p>
        </p:txBody>
      </p:sp>
      <p:cxnSp>
        <p:nvCxnSpPr>
          <p:cNvPr id="11" name="Connector 11"/>
          <p:cNvCxnSpPr/>
          <p:nvPr/>
        </p:nvCxnSpPr>
        <p:spPr>
          <a:xfrm>
            <a:off x="7863840" y="3108960"/>
            <a:ext cx="18288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5806440" y="4206240"/>
            <a:ext cx="42976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On-chip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Low capacity (KB–MB)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Direct, low-latency access from the datapath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FC95-1F0D-DB56-A957-3EBE15A7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Compared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73CA-4C9C-E40B-560C-2F768803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2050" name="Picture 2" descr="DRAM cells structure. | Download ...">
            <a:extLst>
              <a:ext uri="{FF2B5EF4-FFF2-40B4-BE49-F238E27FC236}">
                <a16:creationId xmlns:a16="http://schemas.microsoft.com/office/drawing/2014/main" id="{2618FF11-6E0C-3F8D-066C-DB8CF2D5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982" y="4397376"/>
            <a:ext cx="1795462" cy="115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ransistors - SRAM memory cell - what ...">
            <a:extLst>
              <a:ext uri="{FF2B5EF4-FFF2-40B4-BE49-F238E27FC236}">
                <a16:creationId xmlns:a16="http://schemas.microsoft.com/office/drawing/2014/main" id="{747C7916-0D02-2F3E-236E-65DAA4EB1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584" y="1824038"/>
            <a:ext cx="2134258" cy="160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17C22-E701-DCC7-6270-5673A4603CE0}"/>
              </a:ext>
            </a:extLst>
          </p:cNvPr>
          <p:cNvSpPr txBox="1"/>
          <p:nvPr/>
        </p:nvSpPr>
        <p:spPr>
          <a:xfrm>
            <a:off x="9346794" y="1450123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SRAM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C8240-B1AC-AE30-3528-0D9BDB231CBB}"/>
              </a:ext>
            </a:extLst>
          </p:cNvPr>
          <p:cNvSpPr txBox="1"/>
          <p:nvPr/>
        </p:nvSpPr>
        <p:spPr>
          <a:xfrm>
            <a:off x="9443999" y="3825623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DRAM cell</a:t>
            </a:r>
          </a:p>
        </p:txBody>
      </p:sp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78408" y="1481328"/>
          <a:ext cx="6766560" cy="3703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74320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Internal memory (SRAM)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External memory (DRAM)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Location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On-chip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Off-chip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Storage cell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6-T cell (cross-coupled inverters)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Capacitor + access transistor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Density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Small (KB–MB)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Large (GB)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Speed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Very fast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Slower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Higher static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Lower static, higher dynamic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Access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Direct by logic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Through a memory controller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Refresh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No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399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On-Chip Memory Sizes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783080"/>
          <a:ext cx="10058400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/>
                <a:gridCol w="2103120"/>
                <a:gridCol w="1371600"/>
                <a:gridCol w="4023360"/>
              </a:tblGrid>
              <a:tr h="475488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On-chip memory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size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Laptop CPU (Intel Core)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(L1/L2/L3)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20–40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L3 dominates; very fast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NVIDIA A100 GPU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(L2 cache)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~40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HBM2e (40–80 GB) is off-chip, on-package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Xilinx Virtex-7 FPGA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BRAM (36 Kb blocks)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2–6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Distributed across the fabric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Custom ASIC (5 mm², 16 nm)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5–10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Depends on layout and redundancy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2926080" y="4526280"/>
            <a:ext cx="6400800" cy="731520"/>
          </a:xfrm>
          <a:prstGeom prst="roundRect">
            <a:avLst>
              <a:gd name="adj" fmla="val 30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000" b="1" dirty="0">
                <a:solidFill>
                  <a:srgbClr val="57068C"/>
                </a:solidFill>
              </a:rPr>
              <a:t>Lesson: internal memory is limited. Use it judiciously.</a:t>
            </a:r>
            <a:endParaRPr lang="en-US" sz="20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A 16 nm 6-T high-density bitcell is about 0.07 µm² (TSMC 128 Mb SRAM, ISSCC 2014), so 5 mm² of bitcells holds ≈ 70 Mbit — roughly 5–7 MB once decoders and sense amplifiers are counted.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64922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18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600"/>
            </a:lvl2pPr>
          </a:lstStyle>
          <a:p>
            <a:r>
              <a:rPr lang="en-US" dirty="0"/>
              <a:t>A video processor stores 8 frames of raw video</a:t>
            </a:r>
            <a:endParaRPr lang="en-US" dirty="0"/>
          </a:p>
          <a:p>
            <a:pPr lvl="1"/>
            <a:r>
              <a:rPr lang="en-US" dirty="0"/>
              <a:t>512 × 512 pixels, 3 color channels, 8 bits per channel</a:t>
            </a:r>
            <a:endParaRPr lang="en-US" dirty="0"/>
          </a:p>
          <a:p>
            <a:r>
              <a:rPr lang="en-US" dirty="0"/>
              <a:t>Memory capacity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𝐵</a:t>
            </a:r>
            <a:r>
              <a:rPr lang="en-US" dirty="0"/>
              <a:t xml:space="preserve"> = 512 × 512 × 3 × 8 bytes = 3·2</a:t>
            </a:r>
            <a:r>
              <a:rPr lang="en-US" baseline="30000" dirty="0"/>
              <a:t>21</a:t>
            </a:r>
            <a:r>
              <a:rPr lang="en-US" dirty="0"/>
              <a:t xml:space="preserve"> bytes ≈ </a:t>
            </a:r>
            <a:r>
              <a:rPr lang="en-US" b="1" dirty="0">
                <a:solidFill>
                  <a:srgbClr val="57068C"/>
                </a:solidFill>
              </a:rPr>
              <a:t>6.3 MB</a:t>
            </a:r>
            <a:endParaRPr lang="en-US" dirty="0"/>
          </a:p>
          <a:p>
            <a:pPr lvl="1"/>
            <a:r>
              <a:rPr lang="en-US" dirty="0"/>
              <a:t>A sizeable portion of memory, even on a large chip</a:t>
            </a:r>
            <a:endParaRPr lang="en-US" dirty="0"/>
          </a:p>
          <a:p>
            <a:r>
              <a:rPr lang="en-US" dirty="0"/>
              <a:t>Stored as 32-bit words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𝑁</a:t>
            </a:r>
            <a:r>
              <a:rPr lang="en-US" dirty="0"/>
              <a:t xml:space="preserve"> = </a:t>
            </a:r>
            <a:r>
              <a:rPr lang="en-US" dirty="0">
                <a:latin typeface="Cambria Math"/>
              </a:rPr>
              <a:t>𝐵</a:t>
            </a:r>
            <a:r>
              <a:rPr lang="en-US" dirty="0"/>
              <a:t>/4 = 3·2</a:t>
            </a:r>
            <a:r>
              <a:rPr lang="en-US" baseline="30000" dirty="0"/>
              <a:t>19</a:t>
            </a:r>
            <a:r>
              <a:rPr lang="en-US" dirty="0"/>
              <a:t xml:space="preserve"> ≈ 1.57 M words</a:t>
            </a:r>
            <a:endParaRPr lang="en-US" dirty="0"/>
          </a:p>
          <a:p>
            <a:r>
              <a:rPr lang="en-US" dirty="0"/>
              <a:t>Address bits: the smallest K with 2</a:t>
            </a:r>
            <a:r>
              <a:rPr lang="en-US" baseline="30000" dirty="0"/>
              <a:t>K</a:t>
            </a:r>
            <a:r>
              <a:rPr lang="en-US" dirty="0"/>
              <a:t xml:space="preserve"> ≥ the count</a:t>
            </a:r>
            <a:endParaRPr lang="en-US" dirty="0"/>
          </a:p>
          <a:p>
            <a:pPr lvl="1"/>
            <a:r>
              <a:rPr lang="en-US" dirty="0"/>
              <a:t>Byte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21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23</a:t>
            </a:r>
            <a:endParaRPr lang="en-US" dirty="0"/>
          </a:p>
          <a:p>
            <a:pPr lvl="1"/>
            <a:r>
              <a:rPr lang="en-US" dirty="0"/>
              <a:t>Word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19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21</a:t>
            </a:r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8001000" y="178308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Shape 5"/>
          <p:cNvSpPr/>
          <p:nvPr/>
        </p:nvSpPr>
        <p:spPr>
          <a:xfrm>
            <a:off x="8083296" y="186537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6" name="Shape 6"/>
          <p:cNvSpPr/>
          <p:nvPr/>
        </p:nvSpPr>
        <p:spPr>
          <a:xfrm>
            <a:off x="8165592" y="194767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7" name="Shape 7"/>
          <p:cNvSpPr/>
          <p:nvPr/>
        </p:nvSpPr>
        <p:spPr>
          <a:xfrm>
            <a:off x="8247888" y="2029968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8" name="Shape 8"/>
          <p:cNvSpPr/>
          <p:nvPr/>
        </p:nvSpPr>
        <p:spPr>
          <a:xfrm>
            <a:off x="8330184" y="2112264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412480" y="219456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0" name="Shape 10"/>
          <p:cNvSpPr/>
          <p:nvPr/>
        </p:nvSpPr>
        <p:spPr>
          <a:xfrm>
            <a:off x="8494776" y="227685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8577072" y="235915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512 × 512 × 3</a:t>
            </a:r>
            <a:endParaRPr lang="en-US" sz="15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one frame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8001000" y="3749040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8 frames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800100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57068C"/>
                </a:solidFill>
              </a:rPr>
              <a:t>6.3 MB</a:t>
            </a:r>
            <a:endParaRPr lang="en-US" sz="3000" dirty="0"/>
          </a:p>
        </p:txBody>
      </p:sp>
      <p:sp>
        <p:nvSpPr>
          <p:cNvPr id="14" name="TextBox 14"/>
          <p:cNvSpPr txBox="1"/>
          <p:nvPr/>
        </p:nvSpPr>
        <p:spPr>
          <a:xfrm>
            <a:off x="800100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capacity</a:t>
            </a:r>
            <a:endParaRPr lang="en-US" sz="1200" dirty="0"/>
          </a:p>
        </p:txBody>
      </p:sp>
      <p:sp>
        <p:nvSpPr>
          <p:cNvPr id="15" name="TextBox 15"/>
          <p:cNvSpPr txBox="1"/>
          <p:nvPr/>
        </p:nvSpPr>
        <p:spPr>
          <a:xfrm>
            <a:off x="964692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00857C"/>
                </a:solidFill>
              </a:rPr>
              <a:t>23 bits</a:t>
            </a:r>
            <a:endParaRPr lang="en-US" sz="3000" dirty="0"/>
          </a:p>
        </p:txBody>
      </p:sp>
      <p:sp>
        <p:nvSpPr>
          <p:cNvPr id="16" name="TextBox 16"/>
          <p:cNvSpPr txBox="1"/>
          <p:nvPr/>
        </p:nvSpPr>
        <p:spPr>
          <a:xfrm>
            <a:off x="964692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byte address</a:t>
            </a:r>
            <a:endParaRPr lang="en-US" sz="1200" dirty="0"/>
          </a:p>
        </p:txBody>
      </p:sp>
      <p:sp>
        <p:nvSpPr>
          <p:cNvPr id="1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vs. Bulk Storage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97280" y="1627632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dirty="0">
                <a:solidFill>
                  <a:srgbClr val="262626"/>
                </a:solidFill>
              </a:rPr>
              <a:t>Every IP holds a mix. The choice is made per value, not per design.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109728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Registers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Parallel access: many values in the same cycle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Any register value is available to the datapath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Higher area per bit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reads and writes them one at a time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630936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Bulk storage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Typically one word per access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Much higher density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moves data to and from it in bulk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Block RAM on chip, DRAM off chip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1097280" y="4892040"/>
            <a:ext cx="10058400" cy="731520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dirty="0">
                <a:solidFill>
                  <a:srgbClr val="262626"/>
                </a:solidFill>
              </a:rPr>
              <a:t xml:space="preserve">A few values needed at once →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 xml:space="preserve">.     Thousands touched one at a time →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.</a:t>
            </a:r>
            <a:endParaRPr lang="en-US" sz="17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C87FE-43B9-CB2D-926A-02E1676E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Memory-Mapped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1F28A-791D-8E60-69BD-4F5F79122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Registers can also be memory-mapped</a:t>
            </a:r>
          </a:p>
          <a:p>
            <a:pPr lvl="1"/>
            <a:r>
              <a:rPr lang="en-US" dirty="0"/>
              <a:t>Connected to their own address decoder</a:t>
            </a:r>
          </a:p>
          <a:p>
            <a:pPr lvl="1"/>
            <a:r>
              <a:rPr lang="en-US" dirty="0"/>
              <a:t>Determines which register to read/write</a:t>
            </a:r>
          </a:p>
          <a:p>
            <a:endParaRPr lang="en-US" dirty="0"/>
          </a:p>
          <a:p>
            <a:r>
              <a:rPr lang="en-US" dirty="0"/>
              <a:t>Common interface to processor</a:t>
            </a:r>
          </a:p>
          <a:p>
            <a:pPr lvl="1"/>
            <a:r>
              <a:rPr lang="en-US" dirty="0"/>
              <a:t>Processor sees registers and block memory in one address space</a:t>
            </a:r>
          </a:p>
          <a:p>
            <a:pPr lvl="1"/>
            <a:r>
              <a:rPr lang="en-US" dirty="0"/>
              <a:t>Being addressable is independent of what the storage is made of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C3D1A-64AB-C839-848B-F6555E63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Shape 2"/>
          <p:cNvSpPr/>
          <p:nvPr/>
        </p:nvSpPr>
        <p:spPr>
          <a:xfrm>
            <a:off x="7223760" y="2011680"/>
            <a:ext cx="365760" cy="30175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6720840" y="16916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00857C"/>
                </a:solidFill>
              </a:rPr>
              <a:t>Data bus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8183880" y="2011680"/>
            <a:ext cx="365760" cy="301752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TextBox 5"/>
          <p:cNvSpPr txBox="1"/>
          <p:nvPr/>
        </p:nvSpPr>
        <p:spPr>
          <a:xfrm>
            <a:off x="78181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F6FA8"/>
                </a:solidFill>
              </a:rPr>
              <a:t>Address bus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8915400" y="233172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49640" y="260604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8" name="Connector 8"/>
          <p:cNvCxnSpPr/>
          <p:nvPr/>
        </p:nvCxnSpPr>
        <p:spPr>
          <a:xfrm>
            <a:off x="9784080" y="260604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>
            <a:off x="7589520" y="320040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0" name="TextBox 10"/>
          <p:cNvSpPr txBox="1"/>
          <p:nvPr/>
        </p:nvSpPr>
        <p:spPr>
          <a:xfrm>
            <a:off x="10058400" y="19659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10058400" y="224028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2" name="Shape 12"/>
          <p:cNvSpPr/>
          <p:nvPr/>
        </p:nvSpPr>
        <p:spPr>
          <a:xfrm>
            <a:off x="10058400" y="251460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3" name="Shape 13"/>
          <p:cNvSpPr/>
          <p:nvPr/>
        </p:nvSpPr>
        <p:spPr>
          <a:xfrm>
            <a:off x="10058400" y="278892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4" name="Shape 14"/>
          <p:cNvSpPr/>
          <p:nvPr/>
        </p:nvSpPr>
        <p:spPr>
          <a:xfrm>
            <a:off x="8915400" y="388620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15" name="Connector 15"/>
          <p:cNvCxnSpPr/>
          <p:nvPr/>
        </p:nvCxnSpPr>
        <p:spPr>
          <a:xfrm>
            <a:off x="8549640" y="416052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>
            <a:off x="9784080" y="416052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7" name="Connector 17"/>
          <p:cNvCxnSpPr/>
          <p:nvPr/>
        </p:nvCxnSpPr>
        <p:spPr>
          <a:xfrm>
            <a:off x="7589520" y="475488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8" name="TextBox 18"/>
          <p:cNvSpPr txBox="1"/>
          <p:nvPr/>
        </p:nvSpPr>
        <p:spPr>
          <a:xfrm>
            <a:off x="10058400" y="35204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10058400" y="379476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0" name="Shape 20"/>
          <p:cNvSpPr/>
          <p:nvPr/>
        </p:nvSpPr>
        <p:spPr>
          <a:xfrm>
            <a:off x="10058400" y="406908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10058400" y="434340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4189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E129-0CDF-72E1-65F4-FD7AD48A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Cubic IP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 HW module computes a cubic function: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2F6FA8"/>
                    </a:solidFill>
                  </a:rPr>
                  <a:t>Registers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Store 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Four values, all needed in the same cycle</a:t>
                </a:r>
              </a:p>
              <a:p>
                <a:pPr lvl="1"/>
                <a:r>
                  <a:rPr lang="en-US" dirty="0"/>
                  <a:t>Want parallel access</a:t>
                </a:r>
              </a:p>
              <a:p>
                <a:pPr lvl="1"/>
                <a:r>
                  <a:rPr lang="en-US" dirty="0"/>
                  <a:t>Could have control registers, e.g. count, data valid, ready,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Block memory</a:t>
                </a:r>
              </a:p>
              <a:p>
                <a:pPr lvl="1"/>
                <a:r>
                  <a:rPr lang="en-US" dirty="0"/>
                  <a:t>Store input and output data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 values, only one touched per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  <a:blipFill>
                <a:blip r:embed="rId2"/>
                <a:stretch>
                  <a:fillRect l="-190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2F95-B851-E362-6094-B72EDC02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94183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3" name="Shape 3"/>
          <p:cNvSpPr/>
          <p:nvPr/>
        </p:nvSpPr>
        <p:spPr>
          <a:xfrm>
            <a:off x="9418320" y="201168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𝑎[0]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9418320" y="237744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𝑎[1]</a:t>
            </a:r>
            <a:endParaRPr lang="en-US" sz="1300" dirty="0"/>
          </a:p>
        </p:txBody>
      </p:sp>
      <p:sp>
        <p:nvSpPr>
          <p:cNvPr id="5" name="Shape 5"/>
          <p:cNvSpPr/>
          <p:nvPr/>
        </p:nvSpPr>
        <p:spPr>
          <a:xfrm>
            <a:off x="9418320" y="274320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𝑎[2]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9418320" y="310896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𝑎[3]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795528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𝑥[0]</a:t>
            </a:r>
            <a:endParaRPr lang="en-US" sz="1300" dirty="0"/>
          </a:p>
        </p:txBody>
      </p:sp>
      <p:sp>
        <p:nvSpPr>
          <p:cNvPr id="8" name="Shape 8"/>
          <p:cNvSpPr/>
          <p:nvPr/>
        </p:nvSpPr>
        <p:spPr>
          <a:xfrm>
            <a:off x="795528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𝑥[1]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795528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795528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𝑥[𝑛−1]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𝑦[0]</a:t>
            </a:r>
            <a:endParaRPr lang="en-US" sz="1300" dirty="0"/>
          </a:p>
        </p:txBody>
      </p:sp>
      <p:sp>
        <p:nvSpPr>
          <p:cNvPr id="12" name="Shape 12"/>
          <p:cNvSpPr/>
          <p:nvPr/>
        </p:nvSpPr>
        <p:spPr>
          <a:xfrm>
            <a:off x="960120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𝑦[1]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960120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960120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𝑦[𝑛−1]</a:t>
            </a:r>
            <a:endParaRPr lang="en-US" sz="1300" dirty="0"/>
          </a:p>
        </p:txBody>
      </p:sp>
      <p:sp>
        <p:nvSpPr>
          <p:cNvPr id="15" name="TextBox 15"/>
          <p:cNvSpPr txBox="1"/>
          <p:nvPr/>
        </p:nvSpPr>
        <p:spPr>
          <a:xfrm>
            <a:off x="7955280" y="548640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447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B63-B3F4-ACD6-9740-DD1A05C77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DCBF-2DFA-2AAD-1BB7-585AA366D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26BD-F89F-D6C7-72E4-B3E6F9E4F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E0901-AF8F-DC1C-D149-E0DF9740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7FFE26-B288-8DA2-44A2-71E0BB8EACBB}"/>
              </a:ext>
            </a:extLst>
          </p:cNvPr>
          <p:cNvSpPr/>
          <p:nvPr/>
        </p:nvSpPr>
        <p:spPr>
          <a:xfrm>
            <a:off x="396317" y="203650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39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6CF8-2739-9D9B-21E1-C44C7857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0FC1E-8223-98FF-5EDE-863D66D2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ARM Extensible Interface family of protocols</a:t>
            </a:r>
          </a:p>
          <a:p>
            <a:pPr lvl="1"/>
            <a:r>
              <a:rPr lang="en-US" sz="2000" dirty="0"/>
              <a:t>Others we will use in class are AXI4-Full and AXI4-Stream</a:t>
            </a:r>
          </a:p>
          <a:p>
            <a:r>
              <a:rPr lang="en-US" sz="2400" dirty="0"/>
              <a:t>Industry-standard, ubiquitously used</a:t>
            </a:r>
          </a:p>
          <a:p>
            <a:r>
              <a:rPr lang="en-US" sz="2400" dirty="0"/>
              <a:t>AXI4-Lite:</a:t>
            </a:r>
          </a:p>
          <a:p>
            <a:pPr lvl="1"/>
            <a:r>
              <a:rPr lang="en-US" sz="2000" dirty="0"/>
              <a:t>Simple</a:t>
            </a:r>
          </a:p>
          <a:p>
            <a:pPr lvl="1"/>
            <a:r>
              <a:rPr lang="en-US" sz="2000" dirty="0"/>
              <a:t>Ideal for programming registers</a:t>
            </a:r>
          </a:p>
          <a:p>
            <a:pPr lvl="1"/>
            <a:r>
              <a:rPr lang="en-US" sz="2000" dirty="0"/>
              <a:t>Modular enables flexibility in delays and scheduling at both ends</a:t>
            </a:r>
          </a:p>
          <a:p>
            <a:pPr lvl="1"/>
            <a:r>
              <a:rPr lang="en-US" sz="2000" dirty="0"/>
              <a:t>Typical throughput: 1 read / 1 write every 3-5 clock cycles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6E33A-56A5-816D-F87B-941D4D0D7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24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7345A-5E81-6FBB-1397-396D34A7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A381-9BA7-7F84-52A4-8A9393AA9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AXI4-Lite Use Case:  Processor to Hardware 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9207E-69D0-372A-E0FA-0CE9E180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FF4CE-AE0E-9405-FDBF-6313B6880BDD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387AB-E646-8D26-A9C4-E1ED8BE4F8B5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B9D96-F9DD-03AD-9EF0-74D55ED94817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19557-BBBD-650E-3732-D62BFCF1B0B7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3FA11C-B31E-4968-1673-21611F9A0EBE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E6154-C76E-CDEC-5D30-9309AF561A1C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BB87E252-7BCB-307E-1556-D03B1E35E90C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D13DB5-1217-604B-48DD-885FD914755E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B5A790-0B2B-81C5-75AA-9E9FC2077A4A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2A80E85-07E8-87CE-29F3-A6A45436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7660590" cy="1719150"/>
          </a:xfrm>
        </p:spPr>
        <p:txBody>
          <a:bodyPr/>
          <a:lstStyle/>
          <a:p>
            <a:r>
              <a:rPr lang="en-US" dirty="0"/>
              <a:t>Widely-used use case</a:t>
            </a:r>
          </a:p>
          <a:p>
            <a:r>
              <a:rPr lang="en-US" dirty="0"/>
              <a:t>Hardware IP has control registers </a:t>
            </a:r>
          </a:p>
          <a:p>
            <a:r>
              <a:rPr lang="en-US" dirty="0"/>
              <a:t>Need read / write access from an embedded processor</a:t>
            </a:r>
          </a:p>
        </p:txBody>
      </p:sp>
    </p:spTree>
    <p:extLst>
      <p:ext uri="{BB962C8B-B14F-4D97-AF65-F5344CB8AC3E}">
        <p14:creationId xmlns:p14="http://schemas.microsoft.com/office/powerpoint/2010/main" val="1086520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Managers and Subordinates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B16C3-A3B5-30F5-2D33-7ED3B6F183C5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2FF4E4-2AC8-9B91-E2C7-EA9D95096129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909A-F96C-4134-7CD9-450714805AB8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22BF39-5173-989A-8E06-6C8D17BDAAEB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D3A83D-A11D-7BA2-605B-16A9267574D2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735558-3EAD-1B84-ABAE-E5112DFB238F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ADABCC0-029F-E25E-1AE7-EE6EDD0C9F71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7522-CB19-933E-5DAD-4BB371F4E273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495985-6E07-0B48-7F44-549A712AE435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9442384" cy="17191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Called master and slave until AMBA renamed them in 2021, and the port names (S_AXI, s_axilite) still do.   In AXI4-Lite:</a:t>
            </a:r>
          </a:p>
          <a:p>
            <a:r>
              <a:rPr lang="en-US" dirty="0"/>
              <a:t>Each read or write of a single word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transaction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Manager</a:t>
            </a:r>
            <a:r>
              <a:rPr lang="en-US" dirty="0"/>
              <a:t>:  The unit that initiates all transaction (typically the processor in this example)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Subordinate</a:t>
            </a:r>
            <a:r>
              <a:rPr lang="en-US" dirty="0"/>
              <a:t>:  The unit that responds to the transaction (typically the hardware IP)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1919734" y="1368783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018103" y="134779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 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Subordinate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Write response (B channel):</a:t>
                </a:r>
              </a:p>
              <a:p>
                <a:pPr lvl="1"/>
                <a:r>
                  <a:rPr lang="en-US" dirty="0"/>
                  <a:t>After both transfers, the subordinate sets BVALID=1 with the write response</a:t>
                </a:r>
              </a:p>
              <a:p>
                <a:pPr lvl="1"/>
                <a:r>
                  <a:rPr lang="en-US" dirty="0"/>
                  <a:t>The manager sets BREADY=1 to accept it; the response transfers when BVALID=BREADY=1</a:t>
                </a:r>
              </a:p>
              <a:p>
                <a:pPr lvl="1"/>
                <a:r>
                  <a:rPr lang="en-US" dirty="0"/>
                  <a:t>Each channel is free for the next transaction once its own handshake completes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9" y="1626723"/>
            <a:ext cx="8057903" cy="31883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822" y="152412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with </a:t>
            </a:r>
          </a:p>
          <a:p>
            <a:r>
              <a:rPr lang="en-US" dirty="0"/>
              <a:t>Subordinate is ready before manager </a:t>
            </a:r>
          </a:p>
          <a:p>
            <a:r>
              <a:rPr lang="en-US" dirty="0"/>
              <a:t>Address write before data write</a:t>
            </a:r>
          </a:p>
          <a:p>
            <a:r>
              <a:rPr lang="en-US" dirty="0"/>
              <a:t>But either order or together is fine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B72D-C84B-0BD0-5B48-B01620B7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F34BB9-F4A3-0FB3-54ED-BCA94A68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63" y="1859756"/>
            <a:ext cx="7842381" cy="31240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D68D8A-C931-623C-D5C4-4698C95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 With Stall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217BF-E390-B999-67B3-6AE0F521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C18ADDC-BFB6-7E3D-7F72-5A33BDD58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110" y="158394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Manager sets valid </a:t>
            </a:r>
          </a:p>
          <a:p>
            <a:r>
              <a:rPr lang="en-US" dirty="0"/>
              <a:t>Subordinate is not ready</a:t>
            </a:r>
          </a:p>
          <a:p>
            <a:r>
              <a:rPr lang="en-US" dirty="0"/>
              <a:t>Transfer </a:t>
            </a:r>
            <a:r>
              <a:rPr lang="en-US" dirty="0">
                <a:solidFill>
                  <a:srgbClr val="7030A0"/>
                </a:solidFill>
              </a:rPr>
              <a:t>stalls</a:t>
            </a:r>
          </a:p>
          <a:p>
            <a:r>
              <a:rPr lang="en-US" dirty="0">
                <a:solidFill>
                  <a:schemeClr val="tx1"/>
                </a:solidFill>
              </a:rPr>
              <a:t>Provides flow control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Ensures data waits until RX is ready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2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D636C-B761-68A9-24F4-D17796FB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Write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AWVALID=1, AWADDR=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WDATA=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Subordinate is ready: AWREADY=WREADY=1</a:t>
                </a:r>
              </a:p>
              <a:p>
                <a:pPr lvl="1"/>
                <a:r>
                  <a:rPr lang="en-US" dirty="0"/>
                  <a:t>Both address and data are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BVALID=1 signaling transaction complete on subordinate side</a:t>
                </a:r>
              </a:p>
              <a:p>
                <a:pPr lvl="1"/>
                <a:r>
                  <a:rPr lang="en-US" dirty="0"/>
                  <a:t>Subordinate registers 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acknowledges with BREADY=1</a:t>
                </a:r>
              </a:p>
              <a:p>
                <a:pPr lvl="1"/>
                <a:r>
                  <a:rPr lang="en-US" dirty="0"/>
                  <a:t>Manager starts next transaction in same clock cycle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write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minimum latency </a:t>
                </a:r>
                <a:r>
                  <a:rPr lang="en-US" dirty="0"/>
                  <a:t>= 2 clock cycles (manager write + subordinate register)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D798E-4E81-1AD1-578D-2D3A87937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782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1823B-A2A5-26B8-AB2C-CC64039B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AXI4-Lite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85740-F840-51B3-AE57-E6635DC44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Suppose:</a:t>
            </a:r>
          </a:p>
          <a:p>
            <a:pPr lvl="1"/>
            <a:r>
              <a:rPr lang="en-US" dirty="0"/>
              <a:t>Manager sets data and address on cycle 0</a:t>
            </a:r>
          </a:p>
          <a:p>
            <a:pPr lvl="1"/>
            <a:r>
              <a:rPr lang="en-US" dirty="0"/>
              <a:t>Subordinate is ready</a:t>
            </a:r>
          </a:p>
          <a:p>
            <a:r>
              <a:rPr lang="en-US" dirty="0"/>
              <a:t>In most practical register systems:</a:t>
            </a:r>
          </a:p>
          <a:p>
            <a:pPr lvl="1"/>
            <a:r>
              <a:rPr lang="en-US" dirty="0"/>
              <a:t>Subordinate takes 1-2 additional clock cycles for BREADY=1</a:t>
            </a:r>
          </a:p>
          <a:p>
            <a:r>
              <a:rPr lang="en-US" dirty="0"/>
              <a:t>Manager takes at 1-2 additional clock cycles for BVALID=1 and next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D1D8-2584-401C-49FE-5B22E7BC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CDBCF6-EFE2-E175-4B5B-B01F00DB1A28}"/>
              </a:ext>
            </a:extLst>
          </p:cNvPr>
          <p:cNvSpPr/>
          <p:nvPr/>
        </p:nvSpPr>
        <p:spPr>
          <a:xfrm>
            <a:off x="1865225" y="4124923"/>
            <a:ext cx="7481569" cy="11303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throughput with AXI4-Lite:  1 word write per 3-5 clock cycles </a:t>
            </a:r>
          </a:p>
        </p:txBody>
      </p:sp>
    </p:spTree>
    <p:extLst>
      <p:ext uri="{BB962C8B-B14F-4D97-AF65-F5344CB8AC3E}">
        <p14:creationId xmlns:p14="http://schemas.microsoft.com/office/powerpoint/2010/main" val="4234192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4D11-8C98-7997-0AF6-E03FC149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0AE9-1953-E674-09A7-5AF86892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Read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read data from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ARADDR=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Indicates that it wants to read data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accepts the request:</a:t>
                </a:r>
              </a:p>
              <a:p>
                <a:pPr lvl="1"/>
                <a:r>
                  <a:rPr lang="en-US" dirty="0"/>
                  <a:t>Sets ARREADY=1</a:t>
                </a:r>
              </a:p>
              <a:p>
                <a:r>
                  <a:rPr lang="en-US" dirty="0"/>
                  <a:t>When subordinate has fetched data:</a:t>
                </a:r>
              </a:p>
              <a:p>
                <a:pPr lvl="1"/>
                <a:r>
                  <a:rPr lang="en-US" dirty="0"/>
                  <a:t>Sets RVALID=1,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0 to many cycles after ARREADY=1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Manager asserts RREADY=1 when ready to accept data</a:t>
                </a:r>
              </a:p>
              <a:p>
                <a:pPr lvl="1"/>
                <a:r>
                  <a:rPr lang="en-US" dirty="0"/>
                  <a:t>RREADY could be asserted before RVALID=1</a:t>
                </a:r>
              </a:p>
              <a:p>
                <a:pPr lvl="1"/>
                <a:r>
                  <a:rPr lang="en-US" dirty="0"/>
                  <a:t>Transfer completes when RVALID=RREADY=1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398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78258-D3D7-CF5E-5F7E-94A022A8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07DFF-0E3F-18AC-DBC6-1DE80BDF32B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A57C7B-EFC6-712D-4628-80840AA8BA65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6CA9ED-69D7-4DA2-E519-5C0B24BF4636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1E3E7D-2DE5-7F29-AF8B-F0190D83FA11}"/>
              </a:ext>
            </a:extLst>
          </p:cNvPr>
          <p:cNvSpPr txBox="1"/>
          <p:nvPr/>
        </p:nvSpPr>
        <p:spPr>
          <a:xfrm>
            <a:off x="8857564" y="2527239"/>
            <a:ext cx="1060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ARREADY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A26035-FB6A-A1CC-5624-60D8BEC8B52B}"/>
              </a:ext>
            </a:extLst>
          </p:cNvPr>
          <p:cNvCxnSpPr>
            <a:cxnSpLocks/>
          </p:cNvCxnSpPr>
          <p:nvPr/>
        </p:nvCxnSpPr>
        <p:spPr>
          <a:xfrm flipH="1">
            <a:off x="8252937" y="291875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67FC9A-F1B1-B5A4-9914-F311F7E5D27C}"/>
              </a:ext>
            </a:extLst>
          </p:cNvPr>
          <p:cNvSpPr txBox="1"/>
          <p:nvPr/>
        </p:nvSpPr>
        <p:spPr>
          <a:xfrm>
            <a:off x="8419060" y="1838363"/>
            <a:ext cx="190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ARADDR, ARVALID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057CEB-BA7A-9E3F-6364-50986FE7E399}"/>
              </a:ext>
            </a:extLst>
          </p:cNvPr>
          <p:cNvSpPr txBox="1"/>
          <p:nvPr/>
        </p:nvSpPr>
        <p:spPr>
          <a:xfrm>
            <a:off x="8994179" y="4682605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653839-DFAF-6C8B-4AF8-65F35202B553}"/>
              </a:ext>
            </a:extLst>
          </p:cNvPr>
          <p:cNvCxnSpPr>
            <a:cxnSpLocks/>
          </p:cNvCxnSpPr>
          <p:nvPr/>
        </p:nvCxnSpPr>
        <p:spPr>
          <a:xfrm flipH="1">
            <a:off x="8277686" y="505193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75D292-8A57-8F60-F6EE-D97670C608AC}"/>
              </a:ext>
            </a:extLst>
          </p:cNvPr>
          <p:cNvCxnSpPr>
            <a:cxnSpLocks/>
          </p:cNvCxnSpPr>
          <p:nvPr/>
        </p:nvCxnSpPr>
        <p:spPr>
          <a:xfrm>
            <a:off x="8259401" y="434087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FA34F58-22E3-9427-D8C3-27F3790AA37B}"/>
              </a:ext>
            </a:extLst>
          </p:cNvPr>
          <p:cNvSpPr txBox="1"/>
          <p:nvPr/>
        </p:nvSpPr>
        <p:spPr>
          <a:xfrm>
            <a:off x="8924930" y="3971544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2FEEED-AB2F-FEEF-6562-00896A9F3676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C3A48C-ECB6-1261-493F-B441862EB877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BE2C73-0EC5-397D-F215-E2D1F5DAB1FE}"/>
              </a:ext>
            </a:extLst>
          </p:cNvPr>
          <p:cNvCxnSpPr>
            <a:cxnSpLocks/>
          </p:cNvCxnSpPr>
          <p:nvPr/>
        </p:nvCxnSpPr>
        <p:spPr>
          <a:xfrm flipH="1">
            <a:off x="8259401" y="362981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3B7A58-8334-424F-DB8C-833C34C46148}"/>
              </a:ext>
            </a:extLst>
          </p:cNvPr>
          <p:cNvSpPr txBox="1"/>
          <p:nvPr/>
        </p:nvSpPr>
        <p:spPr>
          <a:xfrm>
            <a:off x="8603392" y="3193047"/>
            <a:ext cx="1569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RVALID, RDATA</a:t>
            </a:r>
          </a:p>
        </p:txBody>
      </p:sp>
    </p:spTree>
    <p:extLst>
      <p:ext uri="{BB962C8B-B14F-4D97-AF65-F5344CB8AC3E}">
        <p14:creationId xmlns:p14="http://schemas.microsoft.com/office/powerpoint/2010/main" val="400812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64B0D-771A-D5C6-594F-DFC054BA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Read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1E5A-B440-B4A3-F8E1-3EACA7D08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2555" y="1539277"/>
            <a:ext cx="3220872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this example:</a:t>
            </a:r>
          </a:p>
          <a:p>
            <a:r>
              <a:rPr lang="en-US" dirty="0"/>
              <a:t>Subordinate is initially ready</a:t>
            </a:r>
            <a:br>
              <a:rPr lang="en-US" dirty="0"/>
            </a:br>
            <a:r>
              <a:rPr lang="en-US" dirty="0"/>
              <a:t>   (ARREADY=1)</a:t>
            </a:r>
          </a:p>
          <a:p>
            <a:r>
              <a:rPr lang="en-US" dirty="0"/>
              <a:t>Subordinate immediately accepts </a:t>
            </a:r>
            <a:br>
              <a:rPr lang="en-US" dirty="0"/>
            </a:br>
            <a:r>
              <a:rPr lang="en-US" dirty="0"/>
              <a:t>   request</a:t>
            </a:r>
          </a:p>
          <a:p>
            <a:r>
              <a:rPr lang="en-US" dirty="0"/>
              <a:t>Manager is immediately available for </a:t>
            </a:r>
          </a:p>
          <a:p>
            <a:r>
              <a:rPr lang="en-US" dirty="0"/>
              <a:t> Data valid with two cycle    delay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DC1AD-D857-B948-3AFC-3E4B9424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43C87-8B7A-2091-D657-BBCB534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47" y="2245057"/>
            <a:ext cx="7795784" cy="25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16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310-4585-4E86-07E7-B8DA5DE1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904F-F457-DD1F-B9F9-C766FF26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Read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ARADDR=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Subordinate is ready: ARREADY=1</a:t>
                </a:r>
              </a:p>
              <a:p>
                <a:pPr lvl="1"/>
                <a:r>
                  <a:rPr lang="en-US" dirty="0"/>
                  <a:t>Address is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RVALID=1 with data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Manager is immediately ready, RREADY=1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moves to next read address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read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Practical throughput </a:t>
                </a:r>
                <a:r>
                  <a:rPr lang="en-US" dirty="0"/>
                  <a:t>= 1 word read per 3-5 clock cycles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1F0AF-71AF-668F-FB88-44033736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7041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C04C-9E18-063F-CC87-04193799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66036-A7DA-9928-FBF3-456DBED5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5DEB-8119-61CA-0F89-916C38C34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BF04-821A-B2C8-41F7-2B90C02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9E64F44-20E5-CE3A-8A11-76A3BCB19B05}"/>
              </a:ext>
            </a:extLst>
          </p:cNvPr>
          <p:cNvSpPr/>
          <p:nvPr/>
        </p:nvSpPr>
        <p:spPr>
          <a:xfrm>
            <a:off x="381162" y="25063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79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4E2-F7EA-9339-A6D9-3053DF6E8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B12A-00CD-D1F9-83B4-00F145F2F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Connecting a Simple IP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▪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ReLU + Linear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0}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Identical to Unit 1</a:t>
                </a:r>
              </a:p>
              <a:p>
                <a:r>
                  <a:rPr lang="en-US" dirty="0"/>
                  <a:t>Add an interface to a processor</a:t>
                </a:r>
              </a:p>
              <a:p>
                <a:pPr lvl="1"/>
                <a:r>
                  <a:rPr lang="en-US" dirty="0"/>
                  <a:t>Processor can be an embedded </a:t>
                </a:r>
              </a:p>
              <a:p>
                <a:pPr lvl="1"/>
                <a:r>
                  <a:rPr lang="en-US" dirty="0"/>
                  <a:t>Ex:  ARM Core on </a:t>
                </a:r>
                <a:r>
                  <a:rPr lang="en-US" dirty="0" err="1"/>
                  <a:t>Pynq</a:t>
                </a:r>
                <a:r>
                  <a:rPr lang="en-US" dirty="0"/>
                  <a:t> board</a:t>
                </a:r>
              </a:p>
              <a:p>
                <a:pPr lvl="1"/>
                <a:r>
                  <a:rPr lang="en-US" dirty="0"/>
                  <a:t>Interfaces to the IP over AXI4-Lite</a:t>
                </a:r>
              </a:p>
              <a:p>
                <a:r>
                  <a:rPr lang="en-US" dirty="0"/>
                  <a:t>Add control from host PC</a:t>
                </a:r>
              </a:p>
              <a:p>
                <a:pPr lvl="1"/>
                <a:r>
                  <a:rPr lang="en-US" dirty="0"/>
                  <a:t>Ideally </a:t>
                </a:r>
                <a:r>
                  <a:rPr lang="en-US" dirty="0" err="1"/>
                  <a:t>jupyter</a:t>
                </a:r>
                <a:r>
                  <a:rPr lang="en-US" dirty="0"/>
                  <a:t> notebook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  <a:blipFill>
                <a:blip r:embed="rId2"/>
                <a:stretch>
                  <a:fillRect l="-2297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▪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EF4E-B197-ACBB-2CA1-2C9B3C00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963A9-3648-9674-DFD8-3E4122D8844F}"/>
              </a:ext>
            </a:extLst>
          </p:cNvPr>
          <p:cNvSpPr/>
          <p:nvPr/>
        </p:nvSpPr>
        <p:spPr>
          <a:xfrm>
            <a:off x="10667093" y="354858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2DAD4-B330-0020-0B8C-8B95207020E6}"/>
              </a:ext>
            </a:extLst>
          </p:cNvPr>
          <p:cNvSpPr txBox="1"/>
          <p:nvPr/>
        </p:nvSpPr>
        <p:spPr>
          <a:xfrm>
            <a:off x="10526040" y="486978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/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/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/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/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F64FE1-D0B2-8F4E-69B7-3D7FB13256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9830950" y="368989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BB0E14-F841-D0D3-22E0-A2D29C392F9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830950" y="397413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0278-C621-EA00-AC19-CF9BF0893BA7}"/>
              </a:ext>
            </a:extLst>
          </p:cNvPr>
          <p:cNvCxnSpPr>
            <a:cxnSpLocks/>
          </p:cNvCxnSpPr>
          <p:nvPr/>
        </p:nvCxnSpPr>
        <p:spPr>
          <a:xfrm flipV="1">
            <a:off x="9830950" y="421551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810439-0DA2-6177-98F0-BDC7F99F755E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9830950" y="451911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2700D5-D207-3896-9E01-072C252D9A75}"/>
              </a:ext>
            </a:extLst>
          </p:cNvPr>
          <p:cNvSpPr txBox="1"/>
          <p:nvPr/>
        </p:nvSpPr>
        <p:spPr>
          <a:xfrm>
            <a:off x="8850574" y="479430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F0A5E8-98BB-E301-773B-1A65BD17055D}"/>
              </a:ext>
            </a:extLst>
          </p:cNvPr>
          <p:cNvSpPr/>
          <p:nvPr/>
        </p:nvSpPr>
        <p:spPr>
          <a:xfrm>
            <a:off x="6937405" y="3301114"/>
            <a:ext cx="914400" cy="1638300"/>
          </a:xfrm>
          <a:prstGeom prst="rect">
            <a:avLst/>
          </a:prstGeom>
          <a:solidFill>
            <a:srgbClr val="2F6FA8">
              <a:lumMod val="60000"/>
              <a:lumOff val="40000"/>
            </a:srgbClr>
          </a:solidFill>
          <a:ln>
            <a:solidFill>
              <a:srgbClr val="2F6F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6788417-6A64-2620-2E4C-9714E1FEABA3}"/>
              </a:ext>
            </a:extLst>
          </p:cNvPr>
          <p:cNvSpPr/>
          <p:nvPr/>
        </p:nvSpPr>
        <p:spPr>
          <a:xfrm>
            <a:off x="7878114" y="3987945"/>
            <a:ext cx="946150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74AD0-5B41-EB44-8F3D-14CFEF5796F6}"/>
              </a:ext>
            </a:extLst>
          </p:cNvPr>
          <p:cNvSpPr txBox="1"/>
          <p:nvPr/>
        </p:nvSpPr>
        <p:spPr>
          <a:xfrm>
            <a:off x="6856005" y="4939414"/>
            <a:ext cx="12339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Processor</a:t>
            </a:r>
            <a:br>
              <a:rPr lang="en-US" dirty="0"/>
            </a:br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(e.g., ARM)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42FE8-B983-2BF4-4F78-B52BD09C3B54}"/>
              </a:ext>
            </a:extLst>
          </p:cNvPr>
          <p:cNvSpPr txBox="1"/>
          <p:nvPr/>
        </p:nvSpPr>
        <p:spPr>
          <a:xfrm>
            <a:off x="7844690" y="354044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70BACE1A-4BA6-7A00-E99D-DE363F4B3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98" y="357249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D9A2029-4BD8-1325-8852-676BDC8CAB0F}"/>
              </a:ext>
            </a:extLst>
          </p:cNvPr>
          <p:cNvSpPr txBox="1"/>
          <p:nvPr/>
        </p:nvSpPr>
        <p:spPr>
          <a:xfrm>
            <a:off x="5183205" y="525245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15726E8C-C744-E4A6-6B3E-E2C913443D21}"/>
              </a:ext>
            </a:extLst>
          </p:cNvPr>
          <p:cNvSpPr/>
          <p:nvPr/>
        </p:nvSpPr>
        <p:spPr>
          <a:xfrm>
            <a:off x="6367075" y="3966149"/>
            <a:ext cx="557176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A65BD00D-56E6-79FE-EBBD-FD2A899F5532}"/>
              </a:ext>
            </a:extLst>
          </p:cNvPr>
          <p:cNvSpPr/>
          <p:nvPr/>
        </p:nvSpPr>
        <p:spPr>
          <a:xfrm rot="5400000">
            <a:off x="8927061" y="398263"/>
            <a:ext cx="408802" cy="48599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EF6B7-9F7B-45B7-76AC-609D2C978611}"/>
              </a:ext>
            </a:extLst>
          </p:cNvPr>
          <p:cNvSpPr txBox="1"/>
          <p:nvPr/>
        </p:nvSpPr>
        <p:spPr>
          <a:xfrm>
            <a:off x="8616022" y="2197809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FPGA board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CF4EB3-5A30-ADB9-E794-8E043EC425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1328" y="2633516"/>
            <a:ext cx="1027308" cy="102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97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6DCBE-017A-2D20-1A2E-80B827B2F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6C4DC-EA63-C1AE-66E5-7E45955A9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6484051" cy="4049481"/>
          </a:xfrm>
        </p:spPr>
        <p:txBody>
          <a:bodyPr>
            <a:normAutofit lnSpcReduction="10000"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RTL: Register Transfer Language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Use specialized languages (e.g., </a:t>
            </a:r>
            <a:r>
              <a:rPr lang="en-US" dirty="0" err="1">
                <a:solidFill>
                  <a:schemeClr val="tx1"/>
                </a:solidFill>
              </a:rPr>
              <a:t>SystemVerilog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Manually schedule action in each clock cycle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Interfaces designed from scratch</a:t>
            </a:r>
          </a:p>
          <a:p>
            <a:pPr lvl="1"/>
            <a:r>
              <a:rPr lang="en-US" dirty="0"/>
              <a:t>High control, supports custom interfaces</a:t>
            </a:r>
          </a:p>
          <a:p>
            <a:pPr lvl="1"/>
            <a:r>
              <a:rPr lang="en-US" dirty="0"/>
              <a:t>But time-consuming, difficult to maintain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HLS:  High-Level Synthesis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Write in general purpose languages (e.g., C++)</a:t>
            </a:r>
          </a:p>
          <a:p>
            <a:pPr lvl="1"/>
            <a:r>
              <a:rPr lang="en-US" dirty="0"/>
              <a:t>Clock-level schedule determined automatically by compiler</a:t>
            </a:r>
          </a:p>
          <a:p>
            <a:pPr lvl="1"/>
            <a:r>
              <a:rPr lang="en-US" dirty="0"/>
              <a:t>API support for common interfaces (e.g., AXI)</a:t>
            </a:r>
          </a:p>
          <a:p>
            <a:pPr lvl="1"/>
            <a:r>
              <a:rPr lang="en-US" dirty="0"/>
              <a:t>Sacrifice some performance and flexibility</a:t>
            </a:r>
          </a:p>
          <a:p>
            <a:pPr lvl="1"/>
            <a:r>
              <a:rPr lang="en-US" dirty="0"/>
              <a:t>But enables rapid development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41509-EEE1-4DD7-6915-99914D6B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B6D1C-45EA-A34F-2214-5F65D6BB1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273" y="1126836"/>
            <a:ext cx="2657110" cy="1962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94BD8F-D771-FB12-37E4-DBDC887B1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273" y="4085347"/>
            <a:ext cx="3172268" cy="1362265"/>
          </a:xfrm>
          <a:prstGeom prst="rect">
            <a:avLst/>
          </a:prstGeom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B02B2037-F555-C091-B2B7-6A3458076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5260754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2C45185E-8095-BB51-5D6B-5C0DC28BD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79" y="2667000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7448EC3D-7C91-6845-3651-B23C5312D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2995004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B50B1A3-24C7-6B17-07AD-9BD671397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4932749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569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 Design Flow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240" y="148132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57068C"/>
                </a:solidFill>
              </a:rPr>
              <a:t>Traditional RTL — you write the hardware description</a:t>
            </a:r>
            <a:endParaRPr lang="en-US" sz="14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 l="18038" t="-28" r="17239" b="23451"/>
          <a:stretch>
            <a:fillRect/>
          </a:stretch>
        </p:blipFill>
        <p:spPr>
          <a:xfrm>
            <a:off x="822960" y="1847088"/>
            <a:ext cx="1106424" cy="1078992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6928" y="2944368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you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1722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SystemVerilog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written by hand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80010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RTL Simulation</a:t>
            </a:r>
            <a:endParaRPr lang="en-US" sz="1300" dirty="0"/>
          </a:p>
        </p:txBody>
      </p:sp>
      <p:cxnSp>
        <p:nvCxnSpPr>
          <p:cNvPr id="8" name="Connector 8"/>
          <p:cNvCxnSpPr/>
          <p:nvPr/>
        </p:nvCxnSpPr>
        <p:spPr>
          <a:xfrm>
            <a:off x="7754112" y="2395728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9" name="Shape 9"/>
          <p:cNvSpPr/>
          <p:nvPr/>
        </p:nvSpPr>
        <p:spPr>
          <a:xfrm>
            <a:off x="98298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Package</a:t>
            </a:r>
            <a:endParaRPr lang="en-US" sz="13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9582912" y="2395728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cxnSp>
        <p:nvCxnSpPr>
          <p:cNvPr id="11" name="Connector 11"/>
          <p:cNvCxnSpPr/>
          <p:nvPr/>
        </p:nvCxnSpPr>
        <p:spPr>
          <a:xfrm>
            <a:off x="2011680" y="2395728"/>
            <a:ext cx="4114800" cy="0"/>
          </a:xfrm>
          <a:prstGeom prst="straightConnector1">
            <a:avLst/>
          </a:prstGeom>
          <a:ln w="22225">
            <a:solidFill>
              <a:srgbClr val="00857C"/>
            </a:solidFill>
            <a:prstDash val="dash"/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2103120" y="2011680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no high-level model to simulate — the first thing you write is hardware</a:t>
            </a:r>
            <a:endParaRPr lang="en-US" sz="12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777240" y="3310128"/>
            <a:ext cx="10607040" cy="0"/>
          </a:xfrm>
          <a:prstGeom prst="straightConnector1">
            <a:avLst/>
          </a:prstGeom>
          <a:ln w="12700">
            <a:solidFill>
              <a:srgbClr val="BFBFBF"/>
            </a:solidFill>
          </a:ln>
        </p:spPr>
      </p:cxnSp>
      <p:sp>
        <p:nvSpPr>
          <p:cNvPr id="14" name="TextBox 14"/>
          <p:cNvSpPr txBox="1"/>
          <p:nvPr/>
        </p:nvSpPr>
        <p:spPr>
          <a:xfrm>
            <a:off x="777240" y="345643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00857C"/>
                </a:solidFill>
              </a:rPr>
              <a:t>HLS — you write behaviour, the tool writes the hardware</a:t>
            </a:r>
            <a:endParaRPr lang="en-US" sz="1400" dirty="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/>
          <a:srcRect l="18038" t="-28" r="17239" b="23451"/>
          <a:stretch>
            <a:fillRect/>
          </a:stretch>
        </p:blipFill>
        <p:spPr>
          <a:xfrm>
            <a:off x="822960" y="3822192"/>
            <a:ext cx="1106424" cy="1078992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566928" y="4919472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you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25146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C / C++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written by hand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3434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C Simulation</a:t>
            </a:r>
            <a:endParaRPr lang="en-US" sz="1300" dirty="0"/>
          </a:p>
        </p:txBody>
      </p:sp>
      <p:cxnSp>
        <p:nvCxnSpPr>
          <p:cNvPr id="19" name="Connector 19"/>
          <p:cNvCxnSpPr/>
          <p:nvPr/>
        </p:nvCxnSpPr>
        <p:spPr>
          <a:xfrm>
            <a:off x="40965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0" name="Shape 20"/>
          <p:cNvSpPr/>
          <p:nvPr/>
        </p:nvSpPr>
        <p:spPr>
          <a:xfrm>
            <a:off x="61722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C Synthesis</a:t>
            </a:r>
            <a:endParaRPr lang="en-US" sz="1300" dirty="0"/>
          </a:p>
        </p:txBody>
      </p:sp>
      <p:cxnSp>
        <p:nvCxnSpPr>
          <p:cNvPr id="21" name="Connector 21"/>
          <p:cNvCxnSpPr/>
          <p:nvPr/>
        </p:nvCxnSpPr>
        <p:spPr>
          <a:xfrm>
            <a:off x="59253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80010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RTL Simulation</a:t>
            </a:r>
            <a:endParaRPr lang="en-US" sz="1300" dirty="0"/>
          </a:p>
        </p:txBody>
      </p:sp>
      <p:cxnSp>
        <p:nvCxnSpPr>
          <p:cNvPr id="23" name="Connector 23"/>
          <p:cNvCxnSpPr/>
          <p:nvPr/>
        </p:nvCxnSpPr>
        <p:spPr>
          <a:xfrm>
            <a:off x="77541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4" name="Shape 24"/>
          <p:cNvSpPr/>
          <p:nvPr/>
        </p:nvSpPr>
        <p:spPr>
          <a:xfrm>
            <a:off x="98298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Package</a:t>
            </a:r>
            <a:endParaRPr lang="en-US" sz="1300" dirty="0"/>
          </a:p>
        </p:txBody>
      </p:sp>
      <p:cxnSp>
        <p:nvCxnSpPr>
          <p:cNvPr id="25" name="Connector 25"/>
          <p:cNvCxnSpPr/>
          <p:nvPr/>
        </p:nvCxnSpPr>
        <p:spPr>
          <a:xfrm>
            <a:off x="95829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cxnSp>
        <p:nvCxnSpPr>
          <p:cNvPr id="26" name="Connector 26"/>
          <p:cNvCxnSpPr/>
          <p:nvPr/>
        </p:nvCxnSpPr>
        <p:spPr>
          <a:xfrm>
            <a:off x="2011680" y="4370832"/>
            <a:ext cx="45720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6035040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b="1" dirty="0">
                <a:solidFill>
                  <a:srgbClr val="57068C"/>
                </a:solidFill>
              </a:rPr>
              <a:t>RTL generated here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777240" y="5303520"/>
            <a:ext cx="10607040" cy="566928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262626"/>
                </a:solidFill>
              </a:rPr>
              <a:t>One flow, two front ends</a:t>
            </a:r>
            <a:r>
              <a:rPr lang="en-US" sz="1400" dirty="0">
                <a:solidFill>
                  <a:srgbClr val="262626"/>
                </a:solidFill>
              </a:rPr>
              <a:t xml:space="preserve"> — the last stages are identical.  HLS changes what you write, not what the FPGA gets.</a:t>
            </a:r>
            <a:endParaRPr lang="en-US" sz="1400" dirty="0"/>
          </a:p>
        </p:txBody>
      </p:sp>
      <p:sp>
        <p:nvSpPr>
          <p:cNvPr id="29" name="Slide Number Placeholder 2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vs. Good HLS Code</a:t>
            </a:r>
          </a:p>
        </p:txBody>
      </p:sp>
      <p:sp>
        <p:nvSpPr>
          <p:cNvPr id="3" name="Shape 3"/>
          <p:cNvSpPr/>
          <p:nvPr/>
        </p:nvSpPr>
        <p:spPr>
          <a:xfrm>
            <a:off x="777240" y="1572768"/>
            <a:ext cx="1170432" cy="384048"/>
          </a:xfrm>
          <a:prstGeom prst="roundRect">
            <a:avLst>
              <a:gd name="adj" fmla="val 40000"/>
            </a:avLst>
          </a:prstGeom>
          <a:solidFill>
            <a:srgbClr val="B4530F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AVOID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2103120" y="1591056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B4530F"/>
                </a:solidFill>
              </a:rPr>
              <a:t>Treat the tool as a black box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2103120" y="2048256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5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You get RTL you cannot judge</a:t>
            </a:r>
            <a:endParaRPr lang="en-US" sz="1400" dirty="0"/>
          </a:p>
          <a:p>
            <a:pPr marL="237744" indent="-237744">
              <a:spcBef>
                <a:spcPts val="5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Poor performance, and no idea why</a:t>
            </a:r>
            <a:endParaRPr lang="en-US" sz="1400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 l="18038" t="-28" r="17239" b="23451"/>
          <a:stretch>
            <a:fillRect/>
          </a:stretch>
        </p:blipFill>
        <p:spPr>
          <a:xfrm>
            <a:off x="7269480" y="1901952"/>
            <a:ext cx="1106424" cy="107899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8778240" y="2075688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CEEE3"/>
          </a:solidFill>
          <a:ln w="15875">
            <a:solidFill>
              <a:srgbClr val="E7C3A6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HLS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8" name="Connector 8"/>
          <p:cNvCxnSpPr/>
          <p:nvPr/>
        </p:nvCxnSpPr>
        <p:spPr>
          <a:xfrm>
            <a:off x="8430768" y="2441448"/>
            <a:ext cx="292608" cy="0"/>
          </a:xfrm>
          <a:prstGeom prst="straightConnector1">
            <a:avLst/>
          </a:prstGeom>
          <a:ln w="22225">
            <a:solidFill>
              <a:srgbClr val="B4530F"/>
            </a:solidFill>
            <a:tailEnd type="triangle" w="med" len="med"/>
          </a:ln>
        </p:spPr>
      </p:cxnSp>
      <p:sp>
        <p:nvSpPr>
          <p:cNvPr id="9" name="Shape 9"/>
          <p:cNvSpPr/>
          <p:nvPr/>
        </p:nvSpPr>
        <p:spPr>
          <a:xfrm>
            <a:off x="10351008" y="2075688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CEEE3"/>
          </a:solidFill>
          <a:ln w="15875">
            <a:solidFill>
              <a:srgbClr val="E7C3A6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RTL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10021824" y="2441448"/>
            <a:ext cx="274320" cy="0"/>
          </a:xfrm>
          <a:prstGeom prst="straightConnector1">
            <a:avLst/>
          </a:prstGeom>
          <a:ln w="22225">
            <a:solidFill>
              <a:srgbClr val="B4530F"/>
            </a:solidFill>
            <a:tailEnd type="triangle" w="med" len="med"/>
          </a:ln>
        </p:spPr>
      </p:cxnSp>
      <p:sp>
        <p:nvSpPr>
          <p:cNvPr id="11" name="Shape 11"/>
          <p:cNvSpPr/>
          <p:nvPr/>
        </p:nvSpPr>
        <p:spPr>
          <a:xfrm>
            <a:off x="777240" y="3840480"/>
            <a:ext cx="1170432" cy="384048"/>
          </a:xfrm>
          <a:prstGeom prst="roundRect">
            <a:avLst>
              <a:gd name="adj" fmla="val 40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AIM FOR</a:t>
            </a:r>
            <a:endParaRPr lang="en-US" sz="1300" dirty="0"/>
          </a:p>
        </p:txBody>
      </p:sp>
      <p:sp>
        <p:nvSpPr>
          <p:cNvPr id="12" name="TextBox 12"/>
          <p:cNvSpPr txBox="1"/>
          <p:nvPr/>
        </p:nvSpPr>
        <p:spPr>
          <a:xfrm>
            <a:off x="2103120" y="3858768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00857C"/>
                </a:solidFill>
              </a:rPr>
              <a:t>Keep a mental model of the RTL</a:t>
            </a:r>
            <a:endParaRPr lang="en-US" sz="1700" dirty="0"/>
          </a:p>
        </p:txBody>
      </p:sp>
      <p:sp>
        <p:nvSpPr>
          <p:cNvPr id="13" name="TextBox 13"/>
          <p:cNvSpPr txBox="1"/>
          <p:nvPr/>
        </p:nvSpPr>
        <p:spPr>
          <a:xfrm>
            <a:off x="2103120" y="4315968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5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What should happen on each clock cycle?</a:t>
            </a:r>
            <a:endParaRPr lang="en-US" sz="1400" dirty="0"/>
          </a:p>
          <a:p>
            <a:pPr marL="237744" indent="-237744">
              <a:spcBef>
                <a:spcPts val="5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What resources should it use?</a:t>
            </a:r>
            <a:endParaRPr lang="en-US" sz="1400" dirty="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/>
          <a:srcRect l="18038" t="-28" r="17239" b="23451"/>
          <a:stretch>
            <a:fillRect/>
          </a:stretch>
        </p:blipFill>
        <p:spPr>
          <a:xfrm>
            <a:off x="7269480" y="4169664"/>
            <a:ext cx="1106424" cy="1078992"/>
          </a:xfrm>
          <a:prstGeom prst="rect">
            <a:avLst/>
          </a:prstGeom>
        </p:spPr>
      </p:pic>
      <p:sp>
        <p:nvSpPr>
          <p:cNvPr id="15" name="Shape 15"/>
          <p:cNvSpPr/>
          <p:nvPr/>
        </p:nvSpPr>
        <p:spPr>
          <a:xfrm>
            <a:off x="8778240" y="43434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HLS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6" name="Connector 16"/>
          <p:cNvCxnSpPr/>
          <p:nvPr/>
        </p:nvCxnSpPr>
        <p:spPr>
          <a:xfrm>
            <a:off x="8430768" y="4709160"/>
            <a:ext cx="292608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7" name="Shape 17"/>
          <p:cNvSpPr/>
          <p:nvPr/>
        </p:nvSpPr>
        <p:spPr>
          <a:xfrm>
            <a:off x="10351008" y="43434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RTL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8" name="Connector 18"/>
          <p:cNvCxnSpPr/>
          <p:nvPr/>
        </p:nvCxnSpPr>
        <p:spPr>
          <a:xfrm>
            <a:off x="10021824" y="4709160"/>
            <a:ext cx="27432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6995160" y="3364992"/>
            <a:ext cx="2148840" cy="713232"/>
          </a:xfrm>
          <a:prstGeom prst="wedgeRoundRectCallout">
            <a:avLst/>
          </a:prstGeom>
          <a:solidFill>
            <a:srgbClr val="FFFFFF"/>
          </a:solidFill>
          <a:ln w="15875">
            <a:solidFill>
              <a:srgbClr val="00857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what should the RTL look like?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777240" y="5486400"/>
            <a:ext cx="10607040" cy="5029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>The tool schedules the cycles — but only you can tell whether what it produced is any good.</a:t>
            </a:r>
            <a:endParaRPr lang="en-US" sz="14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48F8-C48B-B6A3-3D5A-B7F2A07E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F1EC-6539-1A86-1043-30C8BBE3A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Developed by Xilinx (now AMD)</a:t>
            </a:r>
          </a:p>
          <a:p>
            <a:pPr lvl="1"/>
            <a:r>
              <a:rPr lang="en-US" dirty="0"/>
              <a:t>Evolved from </a:t>
            </a:r>
            <a:r>
              <a:rPr lang="en-US" dirty="0" err="1"/>
              <a:t>Vivado</a:t>
            </a:r>
            <a:r>
              <a:rPr lang="en-US" dirty="0"/>
              <a:t> HLS </a:t>
            </a:r>
          </a:p>
          <a:p>
            <a:r>
              <a:rPr lang="en-US" dirty="0"/>
              <a:t>Supports C / C++</a:t>
            </a:r>
          </a:p>
          <a:p>
            <a:pPr lvl="1"/>
            <a:r>
              <a:rPr lang="en-US" dirty="0"/>
              <a:t>Simple, common development </a:t>
            </a:r>
          </a:p>
          <a:p>
            <a:r>
              <a:rPr lang="en-US" dirty="0"/>
              <a:t>Some python support for testbenches</a:t>
            </a:r>
          </a:p>
          <a:p>
            <a:r>
              <a:rPr lang="en-US" dirty="0"/>
              <a:t>Ships with Vitis IDE</a:t>
            </a:r>
          </a:p>
          <a:p>
            <a:r>
              <a:rPr lang="en-US" dirty="0"/>
              <a:t>Native support for AXI protocols</a:t>
            </a:r>
          </a:p>
          <a:p>
            <a:pPr lvl="1"/>
            <a:r>
              <a:rPr lang="en-US" dirty="0"/>
              <a:t>No need to build handshake from scratch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3ABE0-5A9F-4CAD-19C8-CF0A3C5F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Xilinx Vitis HLS introduction - imperix">
            <a:extLst>
              <a:ext uri="{FF2B5EF4-FFF2-40B4-BE49-F238E27FC236}">
                <a16:creationId xmlns:a16="http://schemas.microsoft.com/office/drawing/2014/main" id="{A4ECFD25-23A4-D0BC-58E9-F3DDCC008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88576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576598-DEAE-160E-8B78-F1229E723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429" y="1631950"/>
            <a:ext cx="6004882" cy="400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29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E8B9D-0034-401B-1D7D-AA6E381A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29B0-8410-A491-D94D-5A189BE60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We target a design on a real FPGA board</a:t>
            </a:r>
          </a:p>
          <a:p>
            <a:r>
              <a:rPr lang="en-US" dirty="0"/>
              <a:t>Boards have three components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Processing system (PS)</a:t>
            </a:r>
          </a:p>
          <a:p>
            <a:pPr lvl="1"/>
            <a:r>
              <a:rPr lang="en-US" dirty="0"/>
              <a:t>A lightweight processor</a:t>
            </a:r>
          </a:p>
          <a:p>
            <a:pPr lvl="1"/>
            <a:r>
              <a:rPr lang="en-US" dirty="0"/>
              <a:t>Often an ARM core</a:t>
            </a:r>
          </a:p>
          <a:p>
            <a:pPr lvl="1"/>
            <a:r>
              <a:rPr lang="en-US" dirty="0"/>
              <a:t>E.g., ARM A9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Programmable logic (PL)</a:t>
            </a:r>
          </a:p>
          <a:p>
            <a:pPr lvl="1"/>
            <a:r>
              <a:rPr lang="en-US" dirty="0"/>
              <a:t>The programmable fabric</a:t>
            </a:r>
          </a:p>
          <a:p>
            <a:pPr lvl="1"/>
            <a:r>
              <a:rPr lang="en-US" dirty="0"/>
              <a:t>This is where your IP will reside</a:t>
            </a:r>
          </a:p>
          <a:p>
            <a:pPr lvl="1"/>
            <a:r>
              <a:rPr lang="en-US" dirty="0"/>
              <a:t>Also contains the registers and internal memory</a:t>
            </a:r>
          </a:p>
          <a:p>
            <a:r>
              <a:rPr lang="en-US" dirty="0"/>
              <a:t>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AXI4 interface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AE4B8-3778-3A78-7A19-E818D5CF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B657F65-47BE-0EA1-6784-8FB1C179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325" y="1712439"/>
            <a:ext cx="47244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EB41C-6F1D-0FD1-4603-EB467CA34FF6}"/>
              </a:ext>
            </a:extLst>
          </p:cNvPr>
          <p:cNvSpPr txBox="1"/>
          <p:nvPr/>
        </p:nvSpPr>
        <p:spPr>
          <a:xfrm>
            <a:off x="6892119" y="4499230"/>
            <a:ext cx="4724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from MathWorks </a:t>
            </a:r>
            <a:r>
              <a:rPr lang="en-US" dirty="0">
                <a:hlinkClick r:id="rId3"/>
              </a:rPr>
              <a:t>page</a:t>
            </a:r>
            <a:r>
              <a:rPr lang="en-US" dirty="0"/>
              <a:t> on embedded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68F51-7D3F-092B-95B1-F3C693C2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844" y="4981700"/>
            <a:ext cx="1436417" cy="115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53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C44D72-71B2-6A46-4E6E-8F159F853802}"/>
              </a:ext>
            </a:extLst>
          </p:cNvPr>
          <p:cNvSpPr/>
          <p:nvPr/>
        </p:nvSpPr>
        <p:spPr>
          <a:xfrm>
            <a:off x="3133392" y="2701098"/>
            <a:ext cx="4912330" cy="1838980"/>
          </a:xfrm>
          <a:prstGeom prst="roundRect">
            <a:avLst/>
          </a:prstGeom>
          <a:solidFill>
            <a:srgbClr val="E3EDF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273B2-B8C1-403F-8FFA-1CFDC3D2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Target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9EA86-1648-7505-7EDD-634A573D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0DB9C-199F-91B7-4F35-5AEAF74D3CD1}"/>
              </a:ext>
            </a:extLst>
          </p:cNvPr>
          <p:cNvSpPr/>
          <p:nvPr/>
        </p:nvSpPr>
        <p:spPr>
          <a:xfrm>
            <a:off x="6978015" y="321887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3678E-E18C-B4EF-7B93-FE9D8A3544BF}"/>
              </a:ext>
            </a:extLst>
          </p:cNvPr>
          <p:cNvSpPr txBox="1"/>
          <p:nvPr/>
        </p:nvSpPr>
        <p:spPr>
          <a:xfrm>
            <a:off x="6836962" y="454007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/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/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/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/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911DD-96C0-B29A-8ED5-C4A88AED8EA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141872" y="336018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262BE6-936F-F51C-9FA7-0D1BC2D2EE7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41872" y="364442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B9E3F-F280-E83D-9352-D568009E6C09}"/>
              </a:ext>
            </a:extLst>
          </p:cNvPr>
          <p:cNvCxnSpPr>
            <a:cxnSpLocks/>
          </p:cNvCxnSpPr>
          <p:nvPr/>
        </p:nvCxnSpPr>
        <p:spPr>
          <a:xfrm flipV="1">
            <a:off x="6141872" y="388580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2E4270-8566-92F0-3750-232C3E72BFB3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6141872" y="418940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515FC1-4593-44A0-BB65-933C6A1062C4}"/>
              </a:ext>
            </a:extLst>
          </p:cNvPr>
          <p:cNvSpPr txBox="1"/>
          <p:nvPr/>
        </p:nvSpPr>
        <p:spPr>
          <a:xfrm>
            <a:off x="5161496" y="446459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80FF17-29A2-AA94-49C1-26D325FC5BD6}"/>
              </a:ext>
            </a:extLst>
          </p:cNvPr>
          <p:cNvSpPr/>
          <p:nvPr/>
        </p:nvSpPr>
        <p:spPr>
          <a:xfrm>
            <a:off x="3248327" y="2971404"/>
            <a:ext cx="914400" cy="1421201"/>
          </a:xfrm>
          <a:prstGeom prst="rect">
            <a:avLst/>
          </a:prstGeom>
          <a:solidFill>
            <a:srgbClr val="2F6FA8">
              <a:lumMod val="60000"/>
              <a:lumOff val="40000"/>
            </a:srgbClr>
          </a:solidFill>
          <a:ln>
            <a:solidFill>
              <a:srgbClr val="2F6F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D135608A-B42F-79E6-11EE-05BB6E442E67}"/>
              </a:ext>
            </a:extLst>
          </p:cNvPr>
          <p:cNvSpPr/>
          <p:nvPr/>
        </p:nvSpPr>
        <p:spPr>
          <a:xfrm>
            <a:off x="4189036" y="3658235"/>
            <a:ext cx="946150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97342B-F5DC-5FFA-BB15-6A316F5D7192}"/>
              </a:ext>
            </a:extLst>
          </p:cNvPr>
          <p:cNvSpPr txBox="1"/>
          <p:nvPr/>
        </p:nvSpPr>
        <p:spPr>
          <a:xfrm>
            <a:off x="3500984" y="466018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0841E-6387-25DA-F6E2-7EEE776E5BBB}"/>
              </a:ext>
            </a:extLst>
          </p:cNvPr>
          <p:cNvSpPr txBox="1"/>
          <p:nvPr/>
        </p:nvSpPr>
        <p:spPr>
          <a:xfrm>
            <a:off x="4155612" y="321073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62DCDB0-15AE-65CE-FE0E-9AB6BCCB1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546" y="2188847"/>
            <a:ext cx="1308100" cy="1308100"/>
          </a:xfrm>
          <a:prstGeom prst="rect">
            <a:avLst/>
          </a:prstGeom>
        </p:spPr>
      </p:pic>
      <p:pic>
        <p:nvPicPr>
          <p:cNvPr id="3078" name="Picture 6" descr="PYNQ | Python Productivity for AMD Adaptive Computing platforms">
            <a:extLst>
              <a:ext uri="{FF2B5EF4-FFF2-40B4-BE49-F238E27FC236}">
                <a16:creationId xmlns:a16="http://schemas.microsoft.com/office/drawing/2014/main" id="{1C126EF6-8B50-C9A6-AC0A-D46D7C131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392" y="2300354"/>
            <a:ext cx="1144270" cy="55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9D2D9F6D-0538-0C2B-F90B-E2C7E7F1E0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324278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EC9C2AA-EDD4-6DB7-50F1-1BC24F40EDFD}"/>
              </a:ext>
            </a:extLst>
          </p:cNvPr>
          <p:cNvSpPr txBox="1"/>
          <p:nvPr/>
        </p:nvSpPr>
        <p:spPr>
          <a:xfrm>
            <a:off x="1494127" y="492274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A8200BA3-EADC-06C1-D271-47CD213F4B29}"/>
              </a:ext>
            </a:extLst>
          </p:cNvPr>
          <p:cNvSpPr/>
          <p:nvPr/>
        </p:nvSpPr>
        <p:spPr>
          <a:xfrm>
            <a:off x="2677997" y="3636439"/>
            <a:ext cx="557176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B7D95A3-7D25-DF92-46C1-BCF554448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0657" y="1326814"/>
            <a:ext cx="1436417" cy="115505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73E6AF3-0D96-BEE6-B1B0-91C5EDD3D64C}"/>
              </a:ext>
            </a:extLst>
          </p:cNvPr>
          <p:cNvSpPr txBox="1"/>
          <p:nvPr/>
        </p:nvSpPr>
        <p:spPr>
          <a:xfrm>
            <a:off x="4923321" y="1554266"/>
            <a:ext cx="1535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Pynq</a:t>
            </a:r>
            <a:r>
              <a:rPr lang="en-US" dirty="0"/>
              <a:t> Z2 board</a:t>
            </a: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6B096EFB-C66D-7222-5443-D15DCE633E69}"/>
              </a:ext>
            </a:extLst>
          </p:cNvPr>
          <p:cNvSpPr/>
          <p:nvPr/>
        </p:nvSpPr>
        <p:spPr>
          <a:xfrm rot="16200000">
            <a:off x="6517193" y="3798468"/>
            <a:ext cx="408802" cy="3292856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15B7C-0D45-C55B-1D60-312CFCC14585}"/>
              </a:ext>
            </a:extLst>
          </p:cNvPr>
          <p:cNvSpPr txBox="1"/>
          <p:nvPr/>
        </p:nvSpPr>
        <p:spPr>
          <a:xfrm>
            <a:off x="6521058" y="566674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PL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2C435DA-FD57-DCE7-673B-567EB7F3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468" y="1554266"/>
            <a:ext cx="2870426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We will rapidly build</a:t>
            </a:r>
          </a:p>
          <a:p>
            <a:r>
              <a:rPr lang="en-US" dirty="0">
                <a:solidFill>
                  <a:schemeClr val="tx1"/>
                </a:solidFill>
              </a:rPr>
              <a:t>Complete AXI4-Lite I/F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 done automatically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No need to code any handshaking</a:t>
            </a:r>
          </a:p>
          <a:p>
            <a:r>
              <a:rPr lang="en-US" dirty="0">
                <a:solidFill>
                  <a:schemeClr val="tx1"/>
                </a:solidFill>
              </a:rPr>
              <a:t>Control through host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Simple python </a:t>
            </a:r>
            <a:r>
              <a:rPr lang="en-US" dirty="0" err="1">
                <a:solidFill>
                  <a:schemeClr val="tx1"/>
                </a:solidFill>
              </a:rPr>
              <a:t>jupyter</a:t>
            </a:r>
            <a:r>
              <a:rPr lang="en-US" dirty="0">
                <a:solidFill>
                  <a:schemeClr val="tx1"/>
                </a:solidFill>
              </a:rPr>
              <a:t> notebook</a:t>
            </a:r>
          </a:p>
          <a:p>
            <a:r>
              <a:rPr lang="en-US" dirty="0">
                <a:solidFill>
                  <a:schemeClr val="tx1"/>
                </a:solidFill>
              </a:rPr>
              <a:t>Deploy to a real FPGA!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040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vs. Word Addressing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Word address</a:t>
            </a:r>
            <a:r>
              <a:rPr lang="en-US" dirty="0"/>
              <a:t>: counts words: 0, 1, 2, …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Byte address</a:t>
            </a:r>
            <a:r>
              <a:rPr lang="en-US" dirty="0"/>
              <a:t>: counts bytes</a:t>
            </a:r>
            <a:endParaRPr lang="en-US" dirty="0"/>
          </a:p>
          <a:p>
            <a:pPr lvl="1"/>
            <a:r>
              <a:rPr lang="en-US" dirty="0"/>
              <a:t xml:space="preserve">A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 xml:space="preserve">-bit word spans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 byte addresses</a:t>
            </a:r>
            <a:endParaRPr lang="en-US" dirty="0"/>
          </a:p>
          <a:p>
            <a:pPr lvl="1"/>
            <a:r>
              <a:rPr lang="en-US" dirty="0"/>
              <a:t xml:space="preserve">Word </a:t>
            </a:r>
            <a:r>
              <a:rPr lang="en-US" dirty="0">
                <a:latin typeface="Cambria Math"/>
              </a:rPr>
              <a:t>𝑘</a:t>
            </a:r>
            <a:r>
              <a:rPr lang="en-US" dirty="0"/>
              <a:t xml:space="preserve"> starts at byte </a:t>
            </a:r>
            <a:r>
              <a:rPr lang="en-US" dirty="0">
                <a:latin typeface="Cambria Math"/>
              </a:rPr>
              <a:t>4𝑘</a:t>
            </a:r>
            <a:r>
              <a:rPr lang="en-US" dirty="0"/>
              <a:t xml:space="preserve"> (32-bit) or </a:t>
            </a:r>
            <a:r>
              <a:rPr lang="en-US" dirty="0">
                <a:latin typeface="Cambria Math"/>
              </a:rPr>
              <a:t>8𝑘</a:t>
            </a:r>
            <a:r>
              <a:rPr lang="en-US" dirty="0"/>
              <a:t xml:space="preserve"> (64-bit)</a:t>
            </a:r>
            <a:endParaRPr lang="en-US" dirty="0"/>
          </a:p>
          <a:p>
            <a:r>
              <a:rPr lang="en-US" dirty="0"/>
              <a:t>A byte address splits into two fields</a:t>
            </a:r>
            <a:endParaRPr lang="en-US" dirty="0"/>
          </a:p>
          <a:p>
            <a:pPr lvl="1"/>
            <a:r>
              <a:rPr lang="en-US" dirty="0"/>
              <a:t>Low log₂(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/8) bits: the byte within the word</a:t>
            </a:r>
            <a:endParaRPr lang="en-US" dirty="0"/>
          </a:p>
          <a:p>
            <a:pPr lvl="1"/>
            <a:r>
              <a:rPr lang="en-US" dirty="0"/>
              <a:t>Remaining bits: the word index</a:t>
            </a:r>
            <a:endParaRPr lang="en-US" dirty="0"/>
          </a:p>
          <a:p>
            <a:r>
              <a:rPr lang="en-US" dirty="0"/>
              <a:t xml:space="preserve">Processor buses, including AXI, use </a:t>
            </a:r>
            <a:r>
              <a:rPr lang="en-US" b="1" dirty="0">
                <a:solidFill>
                  <a:srgbClr val="57068C"/>
                </a:solidFill>
              </a:rPr>
              <a:t>byte addresses</a:t>
            </a:r>
            <a:endParaRPr lang="en-US" dirty="0"/>
          </a:p>
          <a:p>
            <a:pPr lvl="1"/>
            <a:r>
              <a:rPr lang="en-US" dirty="0"/>
              <a:t>even when every access is a whole word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7223760" y="162763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32-bit memory, byte-addressable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7223760" y="1938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Word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8092440" y="193852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Byte addresses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7223760" y="22402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092440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8659368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9226296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793224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300" dirty="0"/>
          </a:p>
        </p:txBody>
      </p:sp>
      <p:sp>
        <p:nvSpPr>
          <p:cNvPr id="12" name="TextBox 12"/>
          <p:cNvSpPr txBox="1"/>
          <p:nvPr/>
        </p:nvSpPr>
        <p:spPr>
          <a:xfrm>
            <a:off x="7223760" y="26974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400" dirty="0"/>
          </a:p>
        </p:txBody>
      </p:sp>
      <p:sp>
        <p:nvSpPr>
          <p:cNvPr id="13" name="Shape 13"/>
          <p:cNvSpPr/>
          <p:nvPr/>
        </p:nvSpPr>
        <p:spPr>
          <a:xfrm>
            <a:off x="8092440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8659368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300" dirty="0"/>
          </a:p>
        </p:txBody>
      </p:sp>
      <p:sp>
        <p:nvSpPr>
          <p:cNvPr id="15" name="Shape 15"/>
          <p:cNvSpPr/>
          <p:nvPr/>
        </p:nvSpPr>
        <p:spPr>
          <a:xfrm>
            <a:off x="9226296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9793224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300" dirty="0"/>
          </a:p>
        </p:txBody>
      </p:sp>
      <p:sp>
        <p:nvSpPr>
          <p:cNvPr id="17" name="TextBox 17"/>
          <p:cNvSpPr txBox="1"/>
          <p:nvPr/>
        </p:nvSpPr>
        <p:spPr>
          <a:xfrm>
            <a:off x="7223760" y="31546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400" dirty="0"/>
          </a:p>
        </p:txBody>
      </p:sp>
      <p:sp>
        <p:nvSpPr>
          <p:cNvPr id="18" name="Shape 18"/>
          <p:cNvSpPr/>
          <p:nvPr/>
        </p:nvSpPr>
        <p:spPr>
          <a:xfrm>
            <a:off x="8092440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8659368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300" dirty="0"/>
          </a:p>
        </p:txBody>
      </p:sp>
      <p:sp>
        <p:nvSpPr>
          <p:cNvPr id="20" name="Shape 20"/>
          <p:cNvSpPr/>
          <p:nvPr/>
        </p:nvSpPr>
        <p:spPr>
          <a:xfrm>
            <a:off x="9226296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300" dirty="0"/>
          </a:p>
        </p:txBody>
      </p:sp>
      <p:sp>
        <p:nvSpPr>
          <p:cNvPr id="21" name="Shape 21"/>
          <p:cNvSpPr/>
          <p:nvPr/>
        </p:nvSpPr>
        <p:spPr>
          <a:xfrm>
            <a:off x="9793224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300" dirty="0"/>
          </a:p>
        </p:txBody>
      </p:sp>
      <p:sp>
        <p:nvSpPr>
          <p:cNvPr id="22" name="TextBox 22"/>
          <p:cNvSpPr txBox="1"/>
          <p:nvPr/>
        </p:nvSpPr>
        <p:spPr>
          <a:xfrm>
            <a:off x="8092440" y="3584448"/>
            <a:ext cx="226771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3" name="TextBox 23"/>
          <p:cNvSpPr txBox="1"/>
          <p:nvPr/>
        </p:nvSpPr>
        <p:spPr>
          <a:xfrm>
            <a:off x="7223760" y="393192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ambria Math"/>
              </a:rPr>
              <a:t>𝑘</a:t>
            </a:r>
            <a:endParaRPr lang="en-US" sz="1400" dirty="0"/>
          </a:p>
        </p:txBody>
      </p:sp>
      <p:sp>
        <p:nvSpPr>
          <p:cNvPr id="24" name="Shape 24"/>
          <p:cNvSpPr/>
          <p:nvPr/>
        </p:nvSpPr>
        <p:spPr>
          <a:xfrm>
            <a:off x="8092440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</a:t>
            </a:r>
            <a:endParaRPr lang="en-US" sz="1100" dirty="0"/>
          </a:p>
        </p:txBody>
      </p:sp>
      <p:sp>
        <p:nvSpPr>
          <p:cNvPr id="25" name="Shape 25"/>
          <p:cNvSpPr/>
          <p:nvPr/>
        </p:nvSpPr>
        <p:spPr>
          <a:xfrm>
            <a:off x="8659368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4𝑘+1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9226296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4𝑘+2</a:t>
            </a:r>
            <a:endParaRPr lang="en-US" sz="1100" dirty="0"/>
          </a:p>
        </p:txBody>
      </p:sp>
      <p:sp>
        <p:nvSpPr>
          <p:cNvPr id="27" name="Shape 27"/>
          <p:cNvSpPr/>
          <p:nvPr/>
        </p:nvSpPr>
        <p:spPr>
          <a:xfrm>
            <a:off x="9793224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4𝑘+3</a:t>
            </a:r>
            <a:endParaRPr lang="en-US" sz="1100" dirty="0"/>
          </a:p>
        </p:txBody>
      </p:sp>
      <p:sp>
        <p:nvSpPr>
          <p:cNvPr id="28" name="TextBox 28"/>
          <p:cNvSpPr txBox="1"/>
          <p:nvPr/>
        </p:nvSpPr>
        <p:spPr>
          <a:xfrm>
            <a:off x="8092440" y="4553712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32-bit byte address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8092440" y="4828032"/>
            <a:ext cx="19202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31–2</a:t>
            </a:r>
            <a:endParaRPr lang="en-US" sz="1100" dirty="0"/>
          </a:p>
        </p:txBody>
      </p:sp>
      <p:sp>
        <p:nvSpPr>
          <p:cNvPr id="30" name="Shape 30"/>
          <p:cNvSpPr/>
          <p:nvPr/>
        </p:nvSpPr>
        <p:spPr>
          <a:xfrm>
            <a:off x="10012680" y="4828032"/>
            <a:ext cx="82296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1–0</a:t>
            </a:r>
            <a:endParaRPr lang="en-US" sz="1100" dirty="0"/>
          </a:p>
        </p:txBody>
      </p:sp>
      <p:sp>
        <p:nvSpPr>
          <p:cNvPr id="31" name="TextBox 31"/>
          <p:cNvSpPr txBox="1"/>
          <p:nvPr/>
        </p:nvSpPr>
        <p:spPr>
          <a:xfrm>
            <a:off x="8092440" y="54406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 xml:space="preserve">e.g. </a:t>
            </a: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0x14</a:t>
            </a:r>
            <a:r>
              <a:rPr lang="en-US" sz="1300" dirty="0">
                <a:solidFill>
                  <a:srgbClr val="262626"/>
                </a:solidFill>
              </a:rPr>
              <a:t xml:space="preserve"> → word 5, byte 0</a:t>
            </a:r>
            <a:endParaRPr lang="en-US" sz="1300" dirty="0"/>
          </a:p>
        </p:txBody>
      </p:sp>
      <p:sp>
        <p:nvSpPr>
          <p:cNvPr id="32" name="Slide Number Placeholder 3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262626"/>
                </a:solidFill>
              </a:rPr>
              <a:t>A memory stores 64-bit words and is byte-addressable: byte address 0 is the first byte of word 0, and each word occupies consecutive byte addresses.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What is the byte address of word 13? Give it in decimal and in hexadecimal.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Which word contains byte address </a:t>
            </a:r>
            <a:r>
              <a:rPr lang="en-US" sz="18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800" dirty="0">
                <a:solidFill>
                  <a:srgbClr val="262626"/>
                </a:solidFill>
              </a:rPr>
              <a:t>, and at which byte offset within that word?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The memory has a depth of 4096 words. How many address bits are needed with byte addressing? How many with word addressing?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64-bit words: 8 bytes each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589520" y="20574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813816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851306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100" dirty="0"/>
          </a:p>
        </p:txBody>
      </p:sp>
      <p:sp>
        <p:nvSpPr>
          <p:cNvPr id="9" name="Shape 9"/>
          <p:cNvSpPr/>
          <p:nvPr/>
        </p:nvSpPr>
        <p:spPr>
          <a:xfrm>
            <a:off x="888796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100" dirty="0"/>
          </a:p>
        </p:txBody>
      </p:sp>
      <p:sp>
        <p:nvSpPr>
          <p:cNvPr id="10" name="Shape 10"/>
          <p:cNvSpPr/>
          <p:nvPr/>
        </p:nvSpPr>
        <p:spPr>
          <a:xfrm>
            <a:off x="9262872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9637776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1001268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1038758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100" dirty="0"/>
          </a:p>
        </p:txBody>
      </p:sp>
      <p:sp>
        <p:nvSpPr>
          <p:cNvPr id="14" name="Shape 14"/>
          <p:cNvSpPr/>
          <p:nvPr/>
        </p:nvSpPr>
        <p:spPr>
          <a:xfrm>
            <a:off x="1076248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100" dirty="0"/>
          </a:p>
        </p:txBody>
      </p:sp>
      <p:sp>
        <p:nvSpPr>
          <p:cNvPr id="15" name="TextBox 15"/>
          <p:cNvSpPr txBox="1"/>
          <p:nvPr/>
        </p:nvSpPr>
        <p:spPr>
          <a:xfrm>
            <a:off x="7589520" y="25146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813816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851306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888796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9262872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9637776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12</a:t>
            </a:r>
            <a:endParaRPr lang="en-US" sz="1100" dirty="0"/>
          </a:p>
        </p:txBody>
      </p:sp>
      <p:sp>
        <p:nvSpPr>
          <p:cNvPr id="21" name="Shape 21"/>
          <p:cNvSpPr/>
          <p:nvPr/>
        </p:nvSpPr>
        <p:spPr>
          <a:xfrm>
            <a:off x="1001268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13</a:t>
            </a:r>
            <a:endParaRPr lang="en-US" sz="1100" dirty="0"/>
          </a:p>
        </p:txBody>
      </p:sp>
      <p:sp>
        <p:nvSpPr>
          <p:cNvPr id="22" name="Shape 22"/>
          <p:cNvSpPr/>
          <p:nvPr/>
        </p:nvSpPr>
        <p:spPr>
          <a:xfrm>
            <a:off x="1038758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14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1076248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15</a:t>
            </a:r>
            <a:endParaRPr lang="en-US" sz="1100" dirty="0"/>
          </a:p>
        </p:txBody>
      </p:sp>
      <p:sp>
        <p:nvSpPr>
          <p:cNvPr id="24" name="TextBox 24"/>
          <p:cNvSpPr txBox="1"/>
          <p:nvPr/>
        </p:nvSpPr>
        <p:spPr>
          <a:xfrm>
            <a:off x="8138160" y="2944368"/>
            <a:ext cx="299923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5" name="TextBox 25"/>
          <p:cNvSpPr txBox="1"/>
          <p:nvPr/>
        </p:nvSpPr>
        <p:spPr>
          <a:xfrm>
            <a:off x="7589520" y="3429000"/>
            <a:ext cx="356616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b="1" dirty="0">
                <a:solidFill>
                  <a:srgbClr val="57068C"/>
                </a:solidFill>
              </a:rPr>
              <a:t>Word 13 starts at byte ?</a:t>
            </a:r>
            <a:endParaRPr lang="en-US" sz="1500" dirty="0"/>
          </a:p>
        </p:txBody>
      </p:sp>
      <p:sp>
        <p:nvSpPr>
          <p:cNvPr id="26" name="TextBox 26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27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21792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8 bytes per word, so word 13 starts at 13 × 8 = </a:t>
            </a:r>
            <a:r>
              <a:rPr lang="en-US" sz="1700" b="1" dirty="0">
                <a:solidFill>
                  <a:srgbClr val="00857C"/>
                </a:solidFill>
              </a:rPr>
              <a:t>104</a:t>
            </a:r>
            <a:r>
              <a:rPr lang="en-US" sz="1700" dirty="0">
                <a:solidFill>
                  <a:srgbClr val="262626"/>
                </a:solidFill>
              </a:rPr>
              <a:t xml:space="preserve"> = </a:t>
            </a:r>
            <a:r>
              <a:rPr lang="en-US" sz="1700" b="1" dirty="0">
                <a:solidFill>
                  <a:srgbClr val="00857C"/>
                </a:solidFill>
                <a:latin typeface="Consolas"/>
                <a:cs typeface="Consolas"/>
              </a:rPr>
              <a:t>0x68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700" dirty="0">
                <a:solidFill>
                  <a:srgbClr val="262626"/>
                </a:solidFill>
              </a:rPr>
              <a:t xml:space="preserve"> = 92 = 8 × 11 + 4 → </a:t>
            </a:r>
            <a:r>
              <a:rPr lang="en-US" sz="1700" b="1" dirty="0">
                <a:solidFill>
                  <a:srgbClr val="00857C"/>
                </a:solidFill>
              </a:rPr>
              <a:t>word 11</a:t>
            </a:r>
            <a:r>
              <a:rPr lang="en-US" sz="1700" dirty="0">
                <a:solidFill>
                  <a:srgbClr val="262626"/>
                </a:solidFill>
              </a:rPr>
              <a:t xml:space="preserve">, </a:t>
            </a:r>
            <a:r>
              <a:rPr lang="en-US" sz="1700" b="1" dirty="0">
                <a:solidFill>
                  <a:srgbClr val="00857C"/>
                </a:solidFill>
              </a:rPr>
              <a:t>byte 4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 xml:space="preserve">word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&gt;&gt; 3</a:t>
            </a:r>
            <a:r>
              <a:rPr lang="en-US" sz="1500" dirty="0">
                <a:solidFill>
                  <a:srgbClr val="6E6E6E"/>
                </a:solidFill>
              </a:rPr>
              <a:t xml:space="preserve">     byte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&amp; 0x7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Word addressing: 4096 = 2</a:t>
            </a:r>
            <a:r>
              <a:rPr lang="en-US" sz="1700" baseline="30000" dirty="0">
                <a:solidFill>
                  <a:srgbClr val="262626"/>
                </a:solidFill>
              </a:rPr>
              <a:t>12</a:t>
            </a:r>
            <a:r>
              <a:rPr lang="en-US" sz="1700" dirty="0">
                <a:solidFill>
                  <a:srgbClr val="262626"/>
                </a:solidFill>
              </a:rPr>
              <a:t xml:space="preserve"> words → </a:t>
            </a:r>
            <a:r>
              <a:rPr lang="en-US" sz="1700" b="1" dirty="0">
                <a:solidFill>
                  <a:srgbClr val="00857C"/>
                </a:solidFill>
              </a:rPr>
              <a:t>12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700" dirty="0">
                <a:solidFill>
                  <a:srgbClr val="262626"/>
                </a:solidFill>
              </a:rPr>
              <a:t>Byte addressing: 4096 × 8 = 2</a:t>
            </a:r>
            <a:r>
              <a:rPr lang="en-US" sz="1700" baseline="30000" dirty="0">
                <a:solidFill>
                  <a:srgbClr val="262626"/>
                </a:solidFill>
              </a:rPr>
              <a:t>15</a:t>
            </a:r>
            <a:r>
              <a:rPr lang="en-US" sz="1700" dirty="0">
                <a:solidFill>
                  <a:srgbClr val="262626"/>
                </a:solidFill>
              </a:rPr>
              <a:t xml:space="preserve"> bytes → </a:t>
            </a:r>
            <a:r>
              <a:rPr lang="en-US" sz="1700" b="1" dirty="0">
                <a:solidFill>
                  <a:srgbClr val="00857C"/>
                </a:solidFill>
              </a:rPr>
              <a:t>15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>The extra 3 bits select the byte within the word</a:t>
            </a:r>
            <a:endParaRPr lang="en-US" sz="15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byte address, 64-bit words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589520" y="1993392"/>
            <a:ext cx="23774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14–3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966960" y="1993392"/>
            <a:ext cx="118872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2–0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7589520" y="3017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r>
              <a:rPr lang="en-US" sz="1500" dirty="0">
                <a:solidFill>
                  <a:srgbClr val="262626"/>
                </a:solidFill>
              </a:rPr>
              <a:t>Using 4 bytes per word, the 32-bit habit, gives 52, word 23 and 14 bits.</a:t>
            </a:r>
            <a:endParaRPr lang="en-US" sz="1500" dirty="0"/>
          </a:p>
        </p:txBody>
      </p:sp>
      <p:sp>
        <p:nvSpPr>
          <p:cNvPr id="9" name="TextBox 9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393192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dirty="0"/>
              <a:t xml:space="preserve">Modules on a shared bus share one </a:t>
            </a:r>
            <a:r>
              <a:rPr lang="en-US" b="1" dirty="0">
                <a:solidFill>
                  <a:srgbClr val="57068C"/>
                </a:solidFill>
              </a:rPr>
              <a:t>global address space</a:t>
            </a:r>
            <a:endParaRPr lang="en-US" dirty="0"/>
          </a:p>
          <a:p>
            <a:r>
              <a:rPr lang="en-US" dirty="0"/>
              <a:t xml:space="preserve">Each module gets a </a:t>
            </a:r>
            <a:r>
              <a:rPr lang="en-US" b="1" dirty="0">
                <a:solidFill>
                  <a:srgbClr val="57068C"/>
                </a:solidFill>
              </a:rPr>
              <a:t>base address</a:t>
            </a:r>
            <a:r>
              <a:rPr lang="en-US" dirty="0"/>
              <a:t xml:space="preserve"> and a size</a:t>
            </a:r>
            <a:endParaRPr lang="en-US" dirty="0"/>
          </a:p>
          <a:p>
            <a:pPr lvl="1"/>
            <a:r>
              <a:rPr lang="en-US" dirty="0"/>
              <a:t>Size a power of two; base aligned to the size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Local address</a:t>
            </a:r>
            <a:r>
              <a:rPr lang="en-US" dirty="0"/>
              <a:t>: the offset within a module</a:t>
            </a:r>
            <a:endParaRPr lang="en-US" dirty="0"/>
          </a:p>
          <a:p>
            <a:pPr lvl="1"/>
            <a:r>
              <a:rPr lang="en-US" dirty="0"/>
              <a:t>Global address = base + local address</a:t>
            </a:r>
            <a:endParaRPr lang="en-US" dirty="0"/>
          </a:p>
          <a:p>
            <a:pPr lvl="1"/>
            <a:r>
              <a:rPr lang="en-US" dirty="0"/>
              <a:t>The module's decoder sees only the local address</a:t>
            </a:r>
            <a:endParaRPr lang="en-US" dirty="0"/>
          </a:p>
          <a:p>
            <a:r>
              <a:rPr lang="en-US" dirty="0"/>
              <a:t>Decoding a global address</a:t>
            </a:r>
            <a:endParaRPr lang="en-US" dirty="0"/>
          </a:p>
          <a:p>
            <a:pPr lvl="1"/>
            <a:r>
              <a:rPr lang="en-US" dirty="0"/>
              <a:t>Upper bits select the module</a:t>
            </a:r>
            <a:endParaRPr lang="en-US" dirty="0"/>
          </a:p>
          <a:p>
            <a:pPr lvl="1"/>
            <a:r>
              <a:rPr lang="en-US" dirty="0"/>
              <a:t>Lower bits are the local address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553212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Vitis also says “global memory” for off-chip DDR, a different meaning.</a:t>
            </a:r>
            <a:endParaRPr lang="en-US" sz="1200" dirty="0"/>
          </a:p>
        </p:txBody>
      </p:sp>
      <p:sp>
        <p:nvSpPr>
          <p:cNvPr id="5" name="TextBox 5"/>
          <p:cNvSpPr txBox="1"/>
          <p:nvPr/>
        </p:nvSpPr>
        <p:spPr>
          <a:xfrm>
            <a:off x="7132320" y="16276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 address map (not to scale)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9189720" y="1965960"/>
            <a:ext cx="196596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DDR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1 GB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9189720" y="3154680"/>
            <a:ext cx="1965960" cy="6858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BRAM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8 KB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9189720" y="4069080"/>
            <a:ext cx="1965960" cy="6858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IP registers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4 KB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7086600" y="19659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200" dirty="0"/>
          </a:p>
        </p:txBody>
      </p:sp>
      <p:sp>
        <p:nvSpPr>
          <p:cNvPr id="10" name="TextBox 10"/>
          <p:cNvSpPr txBox="1"/>
          <p:nvPr/>
        </p:nvSpPr>
        <p:spPr>
          <a:xfrm>
            <a:off x="7086600" y="26700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0x3FFF_FFFF</a:t>
            </a:r>
            <a:endParaRPr lang="en-US" sz="1200" dirty="0"/>
          </a:p>
        </p:txBody>
      </p:sp>
      <p:sp>
        <p:nvSpPr>
          <p:cNvPr id="11" name="TextBox 11"/>
          <p:cNvSpPr txBox="1"/>
          <p:nvPr/>
        </p:nvSpPr>
        <p:spPr>
          <a:xfrm>
            <a:off x="7086600" y="31546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endParaRPr lang="en-US" sz="1200" dirty="0"/>
          </a:p>
        </p:txBody>
      </p:sp>
      <p:sp>
        <p:nvSpPr>
          <p:cNvPr id="12" name="TextBox 12"/>
          <p:cNvSpPr txBox="1"/>
          <p:nvPr/>
        </p:nvSpPr>
        <p:spPr>
          <a:xfrm>
            <a:off x="7086600" y="35935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0x4000_1FFF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7086600" y="40690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0x4001_0000</a:t>
            </a:r>
            <a:endParaRPr lang="en-US" sz="1200" dirty="0"/>
          </a:p>
        </p:txBody>
      </p:sp>
      <p:sp>
        <p:nvSpPr>
          <p:cNvPr id="14" name="TextBox 14"/>
          <p:cNvSpPr txBox="1"/>
          <p:nvPr/>
        </p:nvSpPr>
        <p:spPr>
          <a:xfrm>
            <a:off x="7086600" y="45079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0x4001_0FFF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7132320" y="4937760"/>
            <a:ext cx="4023360" cy="777240"/>
          </a:xfrm>
          <a:prstGeom prst="roundRect">
            <a:avLst>
              <a:gd name="adj" fmla="val 12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Global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400" dirty="0">
                <a:solidFill>
                  <a:srgbClr val="262626"/>
                </a:solidFill>
              </a:rPr>
              <a:t xml:space="preserve"> → </a:t>
            </a:r>
            <a:r>
              <a:rPr lang="en-US" sz="1400" b="1" dirty="0">
                <a:solidFill>
                  <a:srgbClr val="57068C"/>
                </a:solidFill>
              </a:rPr>
              <a:t>BRAM</a:t>
            </a:r>
            <a:endParaRPr lang="en-US" sz="14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local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200" dirty="0">
                <a:solidFill>
                  <a:srgbClr val="6E6E6E"/>
                </a:solidFill>
              </a:rPr>
              <a:t xml:space="preserve"> −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200" dirty="0">
                <a:solidFill>
                  <a:srgbClr val="6E6E6E"/>
                </a:solidFill>
              </a:rPr>
              <a:t xml:space="preserve">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0x104</a:t>
            </a:r>
            <a:endParaRPr lang="en-US" sz="12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262626"/>
                </a:solidFill>
              </a:rPr>
              <a:t>A processor bus uses 32-bit byte addresses. Three modules share it, each occupying a contiguous range of the global address space that starts at its base address.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global address does the processor use to access word 100 of Memory B?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The processor reads global address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0x0000_2A0C</a:t>
            </a:r>
            <a:r>
              <a:rPr lang="en-US" sz="1600" dirty="0">
                <a:solidFill>
                  <a:srgbClr val="262626"/>
                </a:solidFill>
              </a:rPr>
              <a:t>. Which module responds? What is the local byte address, and which local word is it?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What is the highest global address that belongs to Memory B? How many bits does Memory B need for its local byte address?</a:t>
            </a:r>
            <a:endParaRPr lang="en-US" sz="16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7498080" y="1737360"/>
          <a:ext cx="361188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34440"/>
                <a:gridCol w="1508760"/>
                <a:gridCol w="86868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Module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Base address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0x0000_0000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0x0001_0000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64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IP registers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0x0002_0000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256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498080" y="3429000"/>
            <a:ext cx="3611880" cy="146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>Both memories store 32-bit words.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262626"/>
                </a:solidFill>
              </a:rPr>
              <a:t>1 KB = 1024 bytes.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Local address</a:t>
            </a:r>
            <a:r>
              <a:rPr lang="en-US" sz="1300" dirty="0">
                <a:solidFill>
                  <a:srgbClr val="262626"/>
                </a:solidFill>
              </a:rPr>
              <a:t>: offset from the module's base address</a:t>
            </a:r>
            <a:endParaRPr lang="en-US" sz="1300" dirty="0"/>
          </a:p>
          <a:p>
            <a:r>
              <a:rPr lang="en-US" sz="1300" b="1" dirty="0">
                <a:solidFill>
                  <a:srgbClr val="57068C"/>
                </a:solidFill>
              </a:rPr>
              <a:t>Global address</a:t>
            </a:r>
            <a:r>
              <a:rPr lang="en-US" sz="1300" dirty="0">
                <a:solidFill>
                  <a:srgbClr val="262626"/>
                </a:solidFill>
              </a:rPr>
              <a:t xml:space="preserve"> = base + local address</a:t>
            </a:r>
            <a:endParaRPr lang="en-US" sz="13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Word 100 → local byte 100 × 4 = 400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Global: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0x0001_0190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Memory A spans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r>
              <a:rPr lang="en-US" sz="1600" dirty="0">
                <a:solidFill>
                  <a:srgbClr val="262626"/>
                </a:solidFill>
              </a:rPr>
              <a:t xml:space="preserve"> (16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</a:t>
            </a:r>
            <a:r>
              <a:rPr lang="en-US" sz="1600" dirty="0">
                <a:solidFill>
                  <a:srgbClr val="262626"/>
                </a:solidFill>
              </a:rPr>
              <a:t>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falls inside → </a:t>
            </a:r>
            <a:r>
              <a:rPr lang="en-US" sz="1600" b="1" dirty="0">
                <a:solidFill>
                  <a:srgbClr val="00857C"/>
                </a:solidFill>
              </a:rPr>
              <a:t>Memory A</a:t>
            </a:r>
            <a:r>
              <a:rPr lang="en-US" sz="1600" dirty="0">
                <a:solidFill>
                  <a:srgbClr val="262626"/>
                </a:solidFill>
              </a:rPr>
              <a:t xml:space="preserve">, local byte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(10764)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word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/ 4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0xA83</a:t>
            </a:r>
            <a:r>
              <a:rPr lang="en-US" sz="1600" b="1" dirty="0">
                <a:solidFill>
                  <a:srgbClr val="00857C"/>
                </a:solidFill>
              </a:rPr>
              <a:t xml:space="preserve"> = 2691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64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0x1_0000</a:t>
            </a:r>
            <a:r>
              <a:rPr lang="en-US" sz="1600" dirty="0">
                <a:solidFill>
                  <a:srgbClr val="262626"/>
                </a:solidFill>
              </a:rPr>
              <a:t xml:space="preserve"> bytes → B ends at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0x0001_FFFF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byte addresses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0xFFFF</a:t>
            </a:r>
            <a:r>
              <a:rPr lang="en-US" sz="1600" dirty="0">
                <a:solidFill>
                  <a:srgbClr val="262626"/>
                </a:solidFill>
              </a:rPr>
              <a:t xml:space="preserve"> → </a:t>
            </a:r>
            <a:r>
              <a:rPr lang="en-US" sz="1600" b="1" dirty="0">
                <a:solidFill>
                  <a:srgbClr val="00857C"/>
                </a:solidFill>
              </a:rPr>
              <a:t>16 bits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9144000" y="1783080"/>
            <a:ext cx="201168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A · 16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100" dirty="0">
                <a:solidFill>
                  <a:srgbClr val="00857C"/>
                </a:solidFill>
              </a:rPr>
              <a:t xml:space="preserve"> is here</a:t>
            </a:r>
            <a:endParaRPr lang="en-US" sz="1100" dirty="0"/>
          </a:p>
        </p:txBody>
      </p:sp>
      <p:sp>
        <p:nvSpPr>
          <p:cNvPr id="6" name="Shape 6"/>
          <p:cNvSpPr/>
          <p:nvPr/>
        </p:nvSpPr>
        <p:spPr>
          <a:xfrm>
            <a:off x="9144000" y="2971800"/>
            <a:ext cx="2011680" cy="128016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B · 64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 xml:space="preserve">word 100 at local </a:t>
            </a: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144000" y="4480560"/>
            <a:ext cx="2011680" cy="4572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</a:rPr>
              <a:t>IP registers · 256 B</a:t>
            </a:r>
            <a:endParaRPr lang="en-US" sz="1200" dirty="0"/>
          </a:p>
        </p:txBody>
      </p:sp>
      <p:sp>
        <p:nvSpPr>
          <p:cNvPr id="8" name="TextBox 8"/>
          <p:cNvSpPr txBox="1"/>
          <p:nvPr/>
        </p:nvSpPr>
        <p:spPr>
          <a:xfrm>
            <a:off x="7452360" y="178308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7452360" y="2487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7452360" y="297180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7452360" y="399592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0x0001_FFFF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7452360" y="448056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0x0002_0000</a:t>
            </a:r>
            <a:endParaRPr lang="en-US" sz="1100" dirty="0"/>
          </a:p>
        </p:txBody>
      </p:sp>
      <p:sp>
        <p:nvSpPr>
          <p:cNvPr id="13" name="TextBox 13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14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25780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Register map</a:t>
            </a:r>
            <a:r>
              <a:rPr lang="en-US" dirty="0"/>
              <a:t>: where each field lives</a:t>
            </a:r>
            <a:endParaRPr lang="en-US" dirty="0"/>
          </a:p>
          <a:p>
            <a:pPr lvl="1"/>
            <a:r>
              <a:rPr lang="en-US" dirty="0"/>
              <a:t>Offset from the IP's base, name, field bits, access</a:t>
            </a:r>
            <a:endParaRPr lang="en-US" dirty="0"/>
          </a:p>
          <a:p>
            <a:r>
              <a:rPr lang="en-US" dirty="0"/>
              <a:t>For now: no field spans two registers</a:t>
            </a:r>
            <a:endParaRPr lang="en-US" dirty="0"/>
          </a:p>
          <a:p>
            <a:pPr lvl="1"/>
            <a:r>
              <a:rPr lang="en-US" dirty="0"/>
              <a:t>Each field fits inside one 32-bit register</a:t>
            </a:r>
            <a:endParaRPr lang="en-US" dirty="0"/>
          </a:p>
          <a:p>
            <a:pPr lvl="1"/>
            <a:r>
              <a:rPr lang="en-US" dirty="0"/>
              <a:t>Tight packing comes later, with serialization</a:t>
            </a:r>
            <a:endParaRPr lang="en-US" dirty="0"/>
          </a:p>
          <a:p>
            <a:r>
              <a:rPr lang="en-US" dirty="0"/>
              <a:t xml:space="preserve">Unused upper bits are </a:t>
            </a:r>
            <a:r>
              <a:rPr lang="en-US" b="1" dirty="0">
                <a:solidFill>
                  <a:srgbClr val="57068C"/>
                </a:solidFill>
              </a:rPr>
              <a:t>zero padding</a:t>
            </a:r>
            <a:endParaRPr lang="en-US" dirty="0"/>
          </a:p>
          <a:p>
            <a:pPr lvl="1"/>
            <a:r>
              <a:rPr lang="en-US" dirty="0"/>
              <a:t>Read back as 0; ignored by the hardware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6675120" y="162763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Example: a vector-scaling IP</a:t>
            </a:r>
            <a:endParaRPr lang="en-US" sz="1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675120" y="1920240"/>
          <a:ext cx="448056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1005840"/>
                <a:gridCol w="169164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GAIN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LEN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9:0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SUM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675120" y="40690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LEN</a:t>
            </a:r>
            <a:r>
              <a:rPr lang="en-US" sz="1200" dirty="0">
                <a:solidFill>
                  <a:srgbClr val="6E6E6E"/>
                </a:solidFill>
              </a:rPr>
              <a:t xml:space="preserve"> register: 32 bits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6675120" y="4370832"/>
            <a:ext cx="3108960" cy="54864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</a:rPr>
              <a:t>zero padding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22 bits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9784080" y="4370832"/>
            <a:ext cx="1371600" cy="54864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LEN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57068C"/>
                </a:solidFill>
              </a:rPr>
              <a:t>10 bits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66751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31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9208008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98755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1069848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80644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200"/>
              </a:spcAft>
            </a:pPr>
            <a:r>
              <a:rPr lang="en-US" sz="1500" dirty="0">
                <a:solidFill>
                  <a:srgbClr val="262626"/>
                </a:solidFill>
              </a:rPr>
              <a:t xml:space="preserve">The cubic IP computes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𝑦[𝑖] = 𝑎₀ + 𝑎₁𝑥[𝑖] + 𝑎₂𝑥[𝑖]² + 𝑎₃𝑥[𝑖]³</a:t>
            </a:r>
            <a:r>
              <a:rPr lang="en-US" sz="1500" dirty="0">
                <a:solidFill>
                  <a:srgbClr val="262626"/>
                </a:solidFill>
              </a:rPr>
              <a:t xml:space="preserve"> over a vector of length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𝑛</a:t>
            </a:r>
            <a:r>
              <a:rPr lang="en-US" sz="1500" dirty="0">
                <a:solidFill>
                  <a:srgbClr val="262626"/>
                </a:solidFill>
              </a:rPr>
              <a:t>. Its registers hold: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start</a:t>
            </a:r>
            <a:r>
              <a:rPr lang="en-US" sz="1500" dirty="0">
                <a:solidFill>
                  <a:srgbClr val="262626"/>
                </a:solidFill>
              </a:rPr>
              <a:t xml:space="preserve">,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done</a:t>
            </a:r>
            <a:r>
              <a:rPr lang="en-US" sz="1500" dirty="0">
                <a:solidFill>
                  <a:srgbClr val="262626"/>
                </a:solidFill>
              </a:rPr>
              <a:t xml:space="preserve">: 1 bit each, sharing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500" dirty="0">
                <a:solidFill>
                  <a:srgbClr val="262626"/>
                </a:solidFill>
              </a:rPr>
              <a:t xml:space="preserve"> (start = bit 0, done = bit 1)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500" dirty="0">
                <a:solidFill>
                  <a:srgbClr val="262626"/>
                </a:solidFill>
              </a:rPr>
              <a:t>–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500" dirty="0">
                <a:solidFill>
                  <a:srgbClr val="262626"/>
                </a:solidFill>
              </a:rPr>
              <a:t>: 16-bit signed coefficients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r>
              <a:rPr lang="en-US" sz="1500" dirty="0">
                <a:solidFill>
                  <a:srgbClr val="262626"/>
                </a:solidFill>
              </a:rPr>
              <a:t>: 12-bit unsigned vector length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(a)</a:t>
            </a:r>
            <a:r>
              <a:rPr lang="en-US" sz="1500" dirty="0">
                <a:solidFill>
                  <a:srgbClr val="262626"/>
                </a:solidFill>
              </a:rPr>
              <a:t xml:space="preserve">	Write the register map: offset, field(s) and zero-padding bits for each register.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(b)</a:t>
            </a:r>
            <a:r>
              <a:rPr lang="en-US" sz="1500" dirty="0">
                <a:solidFill>
                  <a:srgbClr val="262626"/>
                </a:solidFill>
              </a:rPr>
              <a:t xml:space="preserve">	The IP is mapped at base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500" dirty="0">
                <a:solidFill>
                  <a:srgbClr val="262626"/>
                </a:solidFill>
              </a:rPr>
              <a:t xml:space="preserve">. What global address does the processor write to set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500" dirty="0">
                <a:solidFill>
                  <a:srgbClr val="262626"/>
                </a:solidFill>
              </a:rPr>
              <a:t>?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(c)</a:t>
            </a:r>
            <a:r>
              <a:rPr lang="en-US" sz="1500" dirty="0">
                <a:solidFill>
                  <a:srgbClr val="262626"/>
                </a:solidFill>
              </a:rPr>
              <a:t xml:space="preserve">	The processor writes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𝑎₂</a:t>
            </a:r>
            <a:r>
              <a:rPr lang="en-US" sz="1500" dirty="0">
                <a:solidFill>
                  <a:srgbClr val="262626"/>
                </a:solidFill>
              </a:rPr>
              <a:t xml:space="preserve"> = −3. What 32-bit value reads back, in hex? What number does code get if it treats that as a signed 32-bit integer?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7178040" y="1691640"/>
            <a:ext cx="3977640" cy="105156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28016" tIns="64008" rIns="128016" bIns="64008" anchor="t" rtlCol="0">
            <a:noAutofit/>
          </a:bodyPr>
          <a:lstStyle/>
          <a:p>
            <a:pPr>
              <a:spcAft>
                <a:spcPts val="3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Layout rules</a:t>
            </a:r>
            <a:endParaRPr lang="en-US" sz="1300" dirty="0"/>
          </a:p>
          <a:p>
            <a:r>
              <a:rPr lang="en-US" sz="1200" dirty="0">
                <a:solidFill>
                  <a:srgbClr val="262626"/>
                </a:solidFill>
              </a:rPr>
              <a:t>32-bit registers, one field each (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 holds both bits)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>Fields in the low bits, zero padding above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 xml:space="preserve">Order from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</a:t>
            </a:r>
            <a:r>
              <a:rPr lang="en-US" sz="1200" dirty="0">
                <a:solidFill>
                  <a:srgbClr val="262626"/>
                </a:solidFill>
              </a:rPr>
              <a:t xml:space="preserve">: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a1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178040" y="2926080"/>
          <a:ext cx="3977640" cy="2112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/>
                <a:gridCol w="1051560"/>
                <a:gridCol w="1097280"/>
                <a:gridCol w="914400"/>
              </a:tblGrid>
              <a:tr h="301752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39496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See the table: registers sit 4 bytes apart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0x0C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0x4000_000C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−3 in 16-bit two's complement is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Zero padding → reads back as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0x0000_FFFD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As a signed 32-bit integer: </a:t>
            </a:r>
            <a:r>
              <a:rPr lang="en-US" sz="1600" b="1" dirty="0">
                <a:solidFill>
                  <a:srgbClr val="00857C"/>
                </a:solidFill>
              </a:rPr>
              <a:t>65533</a:t>
            </a:r>
            <a:r>
              <a:rPr lang="en-US" sz="1600" dirty="0">
                <a:solidFill>
                  <a:srgbClr val="262626"/>
                </a:solidFill>
              </a:rPr>
              <a:t>, not −3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1097280" y="4526280"/>
            <a:ext cx="5394960" cy="960120"/>
          </a:xfrm>
          <a:prstGeom prst="roundRect">
            <a:avLst>
              <a:gd name="adj" fmla="val 10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ctr" rtlCol="0">
            <a:noAutofit/>
          </a:bodyPr>
          <a:lstStyle/>
          <a:p>
            <a:r>
              <a:rPr lang="en-US" sz="1400" b="1" dirty="0">
                <a:solidFill>
                  <a:srgbClr val="B4530F"/>
                </a:solidFill>
              </a:rPr>
              <a:t>Watch out:</a:t>
            </a:r>
            <a:r>
              <a:rPr lang="en-US" sz="1400" dirty="0">
                <a:solidFill>
                  <a:srgbClr val="262626"/>
                </a:solidFill>
              </a:rPr>
              <a:t xml:space="preserve"> zero padding does not sign-extend.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>Software must sign-extend a padded signed field itself.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6675120" y="1737360"/>
          <a:ext cx="448056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2960"/>
                <a:gridCol w="914400"/>
                <a:gridCol w="1783080"/>
                <a:gridCol w="960120"/>
              </a:tblGrid>
              <a:tr h="329184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11:0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675120" y="42976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6E6E6E"/>
                </a:solidFill>
              </a:rPr>
              <a:t xml:space="preserve"> register after writing −3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6675120" y="4572000"/>
            <a:ext cx="2240280" cy="566928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0000 0000 0000 0000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bits 31–16: padding</a:t>
            </a:r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915400" y="4572000"/>
            <a:ext cx="224028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  <a:latin typeface="Consolas"/>
                <a:cs typeface="Consolas"/>
              </a:rPr>
              <a:t>1111 1111 1111 1101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57068C"/>
                </a:solidFill>
              </a:rPr>
              <a:t>bits 15–0: −3</a:t>
            </a:r>
            <a:endParaRPr lang="en-US" sz="1000" dirty="0"/>
          </a:p>
        </p:txBody>
      </p:sp>
      <p:sp>
        <p:nvSpPr>
          <p:cNvPr id="10" name="TextBox 10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Each Value Live?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700" dirty="0">
                <a:solidFill>
                  <a:srgbClr val="262626"/>
                </a:solidFill>
              </a:rPr>
              <a:t>Pick a computation that interests you: filtering in video processing, encryption, a neural-network layer, a matrix product. It must take at least one array, image or stream.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List the inputs and outputs, with a size or a rate for each.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(d)</a:t>
            </a:r>
            <a:r>
              <a:rPr lang="en-US" sz="1700" dirty="0">
                <a:solidFill>
                  <a:srgbClr val="262626"/>
                </a:solidFill>
              </a:rPr>
              <a:t xml:space="preserve">	Choose a problem size. Give the register map, and the size of the bulk storage in words.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7680960" y="1691640"/>
            <a:ext cx="3474720" cy="160020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57068C"/>
                </a:solidFill>
              </a:rPr>
              <a:t>Decide per value</a:t>
            </a:r>
            <a:endParaRPr lang="en-US" sz="1500" dirty="0"/>
          </a:p>
          <a:p>
            <a:pPr>
              <a:spcAft>
                <a:spcPts val="500"/>
              </a:spcAft>
            </a:pPr>
            <a:r>
              <a:rPr lang="en-US" sz="1300" dirty="0">
                <a:solidFill>
                  <a:srgbClr val="262626"/>
                </a:solidFill>
              </a:rPr>
              <a:t>Registers: parallel access, available to the datapath, higher area per bit</a:t>
            </a:r>
            <a:endParaRPr lang="en-US" sz="1300" dirty="0"/>
          </a:p>
          <a:p>
            <a:r>
              <a:rPr lang="en-US" sz="1300" dirty="0">
                <a:solidFill>
                  <a:srgbClr val="262626"/>
                </a:solidFill>
              </a:rPr>
              <a:t>Bulk storage: one word per access, much higher density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680960" y="35204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How the data crosses into the IP is the next section, and units 5 and 9.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Storage partitioning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Timing Diagram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800" dirty="0">
                <a:solidFill>
                  <a:srgbClr val="262626"/>
                </a:solidFill>
              </a:rPr>
              <a:t>Using the write-with-a-stall diagram on the previous slide: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2240280"/>
            <a:ext cx="9692640" cy="3108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address transfer on the AW channel? How do you know?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data transfer on the W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response transfer on the B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(d)</a:t>
            </a:r>
            <a:r>
              <a:rPr lang="en-US" sz="1800" dirty="0">
                <a:solidFill>
                  <a:srgbClr val="262626"/>
                </a:solidFill>
              </a:rPr>
              <a:t xml:space="preserve">	The hatched region marks a wait. Which side is waiting, what is it waiting for, and for how many cycles?</a:t>
            </a:r>
            <a:endParaRPr lang="en-US" sz="1800" dirty="0"/>
          </a:p>
        </p:txBody>
      </p:sp>
      <p:sp>
        <p:nvSpPr>
          <p:cNvPr id="6" name="Shape 6"/>
          <p:cNvSpPr/>
          <p:nvPr/>
        </p:nvSpPr>
        <p:spPr>
          <a:xfrm>
            <a:off x="1097280" y="5029200"/>
            <a:ext cx="9692640" cy="640080"/>
          </a:xfrm>
          <a:prstGeom prst="roundRect">
            <a:avLst>
              <a:gd name="adj" fmla="val 22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dirty="0">
                <a:solidFill>
                  <a:srgbClr val="262626"/>
                </a:solidFill>
              </a:rPr>
              <a:t xml:space="preserve">A transfer happens on the first cycle where </a:t>
            </a:r>
            <a:r>
              <a:rPr lang="en-US" sz="1600" b="1" dirty="0">
                <a:solidFill>
                  <a:srgbClr val="57068C"/>
                </a:solidFill>
              </a:rPr>
              <a:t>VALID</a:t>
            </a:r>
            <a:r>
              <a:rPr lang="en-US" sz="1600" dirty="0">
                <a:solidFill>
                  <a:srgbClr val="262626"/>
                </a:solidFill>
              </a:rPr>
              <a:t xml:space="preserve"> and </a:t>
            </a:r>
            <a:r>
              <a:rPr lang="en-US" sz="1600" b="1" dirty="0">
                <a:solidFill>
                  <a:srgbClr val="57068C"/>
                </a:solidFill>
              </a:rPr>
              <a:t>READY</a:t>
            </a:r>
            <a:r>
              <a:rPr lang="en-US" sz="1600" dirty="0">
                <a:solidFill>
                  <a:srgbClr val="262626"/>
                </a:solidFill>
              </a:rPr>
              <a:t xml:space="preserve"> are both high.</a:t>
            </a:r>
            <a:endParaRPr lang="en-US" sz="16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Reading a write timing diagram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Kernel Types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481328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6E6E6E"/>
                </a:solidFill>
              </a:rPr>
              <a:t>Vitis kernels come in two shapes.  The difference is who decides when the kernel runs.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68580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Host-Activated</a:t>
            </a:r>
            <a:endParaRPr lang="en-US" sz="1900" dirty="0"/>
          </a:p>
        </p:txBody>
      </p:sp>
      <p:sp>
        <p:nvSpPr>
          <p:cNvPr id="5" name="Shape 5"/>
          <p:cNvSpPr/>
          <p:nvPr/>
        </p:nvSpPr>
        <p:spPr>
          <a:xfrm>
            <a:off x="685800" y="2395728"/>
            <a:ext cx="5212080" cy="3547872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6" name="TextBox 6"/>
          <p:cNvSpPr txBox="1"/>
          <p:nvPr/>
        </p:nvSpPr>
        <p:spPr>
          <a:xfrm>
            <a:off x="99669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s_axilite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ap_ctrl_hs</a:t>
            </a:r>
            <a:r>
              <a:rPr lang="en-US" sz="1200" dirty="0">
                <a:solidFill>
                  <a:srgbClr val="6E6E6E"/>
                </a:solidFill>
              </a:rPr>
              <a:t xml:space="preserve">  — the default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Explicitly started by the processor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Signals completion with a status bit, and can raise an interrupt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closest thing to a </a:t>
            </a:r>
            <a:r>
              <a:rPr lang="en-US" sz="1500" b="1" dirty="0">
                <a:solidFill>
                  <a:srgbClr val="262626"/>
                </a:solidFill>
              </a:rPr>
              <a:t>function call</a:t>
            </a:r>
            <a:r>
              <a:rPr lang="en-US" sz="1500" dirty="0">
                <a:solidFill>
                  <a:srgbClr val="262626"/>
                </a:solidFill>
              </a:rPr>
              <a:t xml:space="preserve"> in hardware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But the processor writes every input and reads every output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Not how most production designs move data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57068C"/>
                </a:solidFill>
              </a:rPr>
              <a:t>Our focus — it is the easiest to reason about, and every idea in it carries over.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626364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Free-Running Task</a:t>
            </a:r>
            <a:endParaRPr lang="en-US" sz="1900" dirty="0"/>
          </a:p>
        </p:txBody>
      </p:sp>
      <p:sp>
        <p:nvSpPr>
          <p:cNvPr id="8" name="Shape 8"/>
          <p:cNvSpPr/>
          <p:nvPr/>
        </p:nvSpPr>
        <p:spPr>
          <a:xfrm>
            <a:off x="6263640" y="2395728"/>
            <a:ext cx="5212080" cy="3547872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9" name="TextBox 9"/>
          <p:cNvSpPr txBox="1"/>
          <p:nvPr/>
        </p:nvSpPr>
        <p:spPr>
          <a:xfrm>
            <a:off x="657453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ap_ctrl_none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ap_ctrl_none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Runs continuously, waiting on data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Operates without the processor once started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Enables far greater </a:t>
            </a:r>
            <a:r>
              <a:rPr lang="en-US" sz="1500" b="1" dirty="0">
                <a:solidFill>
                  <a:srgbClr val="262626"/>
                </a:solidFill>
              </a:rPr>
              <a:t>concurrency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Data arrives on a stream, not in registers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How real accelerators are built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00857C"/>
                </a:solidFill>
              </a:rPr>
              <a:t>Examined in the advanced course — and glimpsed next lecture, with AXI4-Stream.</a:t>
            </a:r>
            <a:endParaRPr lang="en-US" sz="13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Host-Activated Execution Model</a:t>
            </a:r>
          </a:p>
        </p:txBody>
      </p:sp>
      <p:sp>
        <p:nvSpPr>
          <p:cNvPr id="3" name="Shape 3"/>
          <p:cNvSpPr/>
          <p:nvPr/>
        </p:nvSpPr>
        <p:spPr>
          <a:xfrm>
            <a:off x="1188720" y="1572768"/>
            <a:ext cx="2286000" cy="420624"/>
          </a:xfrm>
          <a:prstGeom prst="roundRect">
            <a:avLst>
              <a:gd name="adj" fmla="val 14000"/>
            </a:avLst>
          </a:prstGeom>
          <a:solidFill>
            <a:srgbClr val="2F6FA8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Processor (PS)</a:t>
            </a:r>
            <a:endParaRPr lang="en-US" sz="1500" dirty="0"/>
          </a:p>
        </p:txBody>
      </p:sp>
      <p:sp>
        <p:nvSpPr>
          <p:cNvPr id="4" name="Shape 4"/>
          <p:cNvSpPr/>
          <p:nvPr/>
        </p:nvSpPr>
        <p:spPr>
          <a:xfrm>
            <a:off x="7223760" y="1572768"/>
            <a:ext cx="2286000" cy="420624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Vitis IP (PL)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2331720" y="1993392"/>
            <a:ext cx="0" cy="344728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6" name="Connector 6"/>
          <p:cNvCxnSpPr/>
          <p:nvPr/>
        </p:nvCxnSpPr>
        <p:spPr>
          <a:xfrm>
            <a:off x="8366760" y="1993392"/>
            <a:ext cx="0" cy="344728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7" name="Connector 7"/>
          <p:cNvCxnSpPr/>
          <p:nvPr/>
        </p:nvCxnSpPr>
        <p:spPr>
          <a:xfrm>
            <a:off x="2331720" y="2395728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8" name="TextBox 8"/>
          <p:cNvSpPr txBox="1"/>
          <p:nvPr/>
        </p:nvSpPr>
        <p:spPr>
          <a:xfrm>
            <a:off x="2468880" y="2029968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x, w, b</a:t>
            </a:r>
            <a:r>
              <a:rPr lang="en-US" sz="1100" dirty="0">
                <a:solidFill>
                  <a:srgbClr val="6E6E6E"/>
                </a:solidFill>
              </a:rPr>
              <a:t xml:space="preserve">   ·   0x10, 0x18, 0x20</a:t>
            </a:r>
            <a:endParaRPr lang="en-US" sz="1300" dirty="0"/>
          </a:p>
        </p:txBody>
      </p:sp>
      <p:cxnSp>
        <p:nvCxnSpPr>
          <p:cNvPr id="9" name="Connector 9"/>
          <p:cNvCxnSpPr/>
          <p:nvPr/>
        </p:nvCxnSpPr>
        <p:spPr>
          <a:xfrm>
            <a:off x="2331720" y="2907792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2468880" y="2542032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1 to CTRL  — ap_start</a:t>
            </a:r>
            <a:r>
              <a:rPr lang="en-US" sz="1100" dirty="0">
                <a:solidFill>
                  <a:srgbClr val="6E6E6E"/>
                </a:solidFill>
              </a:rPr>
              <a:t xml:space="preserve">   ·   0x00</a:t>
            </a:r>
            <a:endParaRPr lang="en-US" sz="1300" dirty="0"/>
          </a:p>
        </p:txBody>
      </p:sp>
      <p:cxnSp>
        <p:nvCxnSpPr>
          <p:cNvPr id="11" name="Connector 11"/>
          <p:cNvCxnSpPr/>
          <p:nvPr/>
        </p:nvCxnSpPr>
        <p:spPr>
          <a:xfrm flipH="1">
            <a:off x="2331720" y="4078224"/>
            <a:ext cx="6035040" cy="0"/>
          </a:xfrm>
          <a:prstGeom prst="straightConnector1">
            <a:avLst/>
          </a:prstGeom>
          <a:ln w="25400">
            <a:solidFill>
              <a:srgbClr val="57068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2468880" y="3712464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ap_done set in CTRL</a:t>
            </a:r>
            <a:r>
              <a:rPr lang="en-US" sz="1100" dirty="0">
                <a:solidFill>
                  <a:srgbClr val="6E6E6E"/>
                </a:solidFill>
              </a:rPr>
              <a:t xml:space="preserve">   ·   optionally an interrupt</a:t>
            </a:r>
            <a:endParaRPr lang="en-US" sz="13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2331720" y="4572000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4" name="TextBox 14"/>
          <p:cNvSpPr txBox="1"/>
          <p:nvPr/>
        </p:nvSpPr>
        <p:spPr>
          <a:xfrm>
            <a:off x="2468880" y="4206240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read CTRL — poll for done</a:t>
            </a:r>
            <a:r>
              <a:rPr lang="en-US" sz="1100" dirty="0">
                <a:solidFill>
                  <a:srgbClr val="6E6E6E"/>
                </a:solidFill>
              </a:rPr>
              <a:t xml:space="preserve">   ·   0x00</a:t>
            </a:r>
            <a:endParaRPr lang="en-US" sz="1300" dirty="0"/>
          </a:p>
        </p:txBody>
      </p:sp>
      <p:cxnSp>
        <p:nvCxnSpPr>
          <p:cNvPr id="15" name="Connector 15"/>
          <p:cNvCxnSpPr/>
          <p:nvPr/>
        </p:nvCxnSpPr>
        <p:spPr>
          <a:xfrm flipH="1">
            <a:off x="2331720" y="5084064"/>
            <a:ext cx="6035040" cy="0"/>
          </a:xfrm>
          <a:prstGeom prst="straightConnector1">
            <a:avLst/>
          </a:prstGeom>
          <a:ln w="25400">
            <a:solidFill>
              <a:srgbClr val="57068C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2468880" y="4718304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return y</a:t>
            </a:r>
            <a:r>
              <a:rPr lang="en-US" sz="1100" dirty="0">
                <a:solidFill>
                  <a:srgbClr val="6E6E6E"/>
                </a:solidFill>
              </a:rPr>
              <a:t xml:space="preserve">   ·   0x28</a:t>
            </a:r>
            <a:endParaRPr lang="en-US" sz="1300" dirty="0"/>
          </a:p>
        </p:txBody>
      </p:sp>
      <p:sp>
        <p:nvSpPr>
          <p:cNvPr id="17" name="Shape 17"/>
          <p:cNvSpPr/>
          <p:nvPr/>
        </p:nvSpPr>
        <p:spPr>
          <a:xfrm>
            <a:off x="8257032" y="3200400"/>
            <a:ext cx="1874520" cy="658368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kernel runs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5 cycles</a:t>
            </a:r>
            <a:endParaRPr lang="en-US" sz="1100" dirty="0"/>
          </a:p>
        </p:txBody>
      </p:sp>
      <p:sp>
        <p:nvSpPr>
          <p:cNvPr id="18" name="TextBox 18"/>
          <p:cNvSpPr txBox="1"/>
          <p:nvPr/>
        </p:nvSpPr>
        <p:spPr>
          <a:xfrm>
            <a:off x="91440" y="325526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6E6E6E"/>
                </a:solidFill>
              </a:rPr>
              <a:t>processor waits,
or does something else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685800" y="5541264"/>
            <a:ext cx="10789920" cy="420624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Measured on the bus: </a:t>
            </a:r>
            <a:r>
              <a:rPr lang="en-US" sz="1400" b="1" dirty="0">
                <a:solidFill>
                  <a:srgbClr val="262626"/>
                </a:solidFill>
              </a:rPr>
              <a:t>4 writes and 2 reads</a:t>
            </a:r>
            <a:r>
              <a:rPr lang="en-US" sz="1400" dirty="0">
                <a:solidFill>
                  <a:srgbClr val="262626"/>
                </a:solidFill>
              </a:rPr>
              <a:t xml:space="preserve"> per call, </a:t>
            </a:r>
            <a:r>
              <a:rPr lang="en-US" sz="1400" b="1" dirty="0">
                <a:solidFill>
                  <a:srgbClr val="262626"/>
                </a:solidFill>
              </a:rPr>
              <a:t>22 cycles</a:t>
            </a:r>
            <a:r>
              <a:rPr lang="en-US" sz="1400" dirty="0">
                <a:solidFill>
                  <a:srgbClr val="262626"/>
                </a:solidFill>
              </a:rPr>
              <a:t xml:space="preserve"> of traffic for </a:t>
            </a:r>
            <a:r>
              <a:rPr lang="en-US" sz="1400" b="1" dirty="0">
                <a:solidFill>
                  <a:srgbClr val="262626"/>
                </a:solidFill>
              </a:rPr>
              <a:t>5 cycles</a:t>
            </a:r>
            <a:r>
              <a:rPr lang="en-US" sz="1400" dirty="0">
                <a:solidFill>
                  <a:srgbClr val="262626"/>
                </a:solidFill>
              </a:rPr>
              <a:t xml:space="preserve"> of computation.</a:t>
            </a:r>
            <a:endParaRPr lang="en-US" sz="14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a Scalar Function IP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sdrangan.github.io/hwdesign   —   Demos › Bus Basics and Memory-Mapped Interfaces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78308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demos/scalar_fun/scalar_fun_vitis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--through verify_csim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--through report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355080" y="25237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Each step </a:t>
            </a:r>
            <a:r>
              <a:rPr lang="en-US" sz="1500" b="1" dirty="0">
                <a:solidFill>
                  <a:srgbClr val="262626"/>
                </a:solidFill>
              </a:rPr>
              <a:t>declares what it needs</a:t>
            </a:r>
            <a:r>
              <a:rPr lang="en-US" sz="1500" dirty="0">
                <a:solidFill>
                  <a:srgbClr val="262626"/>
                </a:solidFill>
              </a:rPr>
              <a:t xml:space="preserve"> — the order is derived, not written down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 step whose inputs have not changed is </a:t>
            </a:r>
            <a:r>
              <a:rPr lang="en-US" sz="1500" b="1" dirty="0">
                <a:solidFill>
                  <a:srgbClr val="262626"/>
                </a:solidFill>
              </a:rPr>
              <a:t>skipped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build </a:t>
            </a:r>
            <a:r>
              <a:rPr lang="en-US" sz="1500" b="1" dirty="0">
                <a:solidFill>
                  <a:srgbClr val="262626"/>
                </a:solidFill>
              </a:rPr>
              <a:t>refuses to synthesize</a:t>
            </a:r>
            <a:r>
              <a:rPr lang="en-US" sz="1500" dirty="0">
                <a:solidFill>
                  <a:srgbClr val="262626"/>
                </a:solidFill>
              </a:rPr>
              <a:t xml:space="preserve"> code that failed its checks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Results are checked twice: after C simulation, and again against the </a:t>
            </a:r>
            <a:r>
              <a:rPr lang="en-US" sz="1500" b="1" dirty="0">
                <a:solidFill>
                  <a:srgbClr val="262626"/>
                </a:solidFill>
              </a:rPr>
              <a:t>synthesized RTL</a:t>
            </a:r>
            <a:endParaRPr lang="en-US" sz="1500" dirty="0"/>
          </a:p>
        </p:txBody>
      </p:sp>
      <p:sp>
        <p:nvSpPr>
          <p:cNvPr id="8" name="Shape 8"/>
          <p:cNvSpPr/>
          <p:nvPr/>
        </p:nvSpPr>
        <p:spPr>
          <a:xfrm>
            <a:off x="685800" y="4590288"/>
            <a:ext cx="10789920" cy="13716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>The demo ends with a timing diagram decoded from a real co-simulation — the processor writing x, w and b, starting the IP, polling for done, and reading y back.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Everything on the next slide was measured from it.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AXI4-Lite for Data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A8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2F6FA8"/>
                </a:solidFill>
              </a:rPr>
              <a:t>22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bus traffic
per call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4315968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7068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57068C"/>
                </a:solidFill>
              </a:rPr>
              <a:t>5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actual
computation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7946136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4530F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B4530F"/>
                </a:solidFill>
              </a:rPr>
              <a:t>3.7 M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calls/s — one DSP
does 100 M MAC/s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27432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IT IS SLOW TO MOVE EACH VALUE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054096"/>
            <a:ext cx="5394960" cy="1920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b="1" dirty="0">
                <a:solidFill>
                  <a:srgbClr val="262626"/>
                </a:solidFill>
              </a:rPr>
              <a:t>Four writes and two reads</a:t>
            </a:r>
            <a:r>
              <a:rPr lang="en-US" sz="1500" dirty="0">
                <a:solidFill>
                  <a:srgbClr val="262626"/>
                </a:solidFill>
              </a:rPr>
              <a:t xml:space="preserve"> to deliver 3 values and collect 1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About </a:t>
            </a:r>
            <a:r>
              <a:rPr lang="en-US" sz="1500" b="1" dirty="0">
                <a:solidFill>
                  <a:srgbClr val="262626"/>
                </a:solidFill>
              </a:rPr>
              <a:t>3 cycles</a:t>
            </a:r>
            <a:r>
              <a:rPr lang="en-US" sz="1500" dirty="0">
                <a:solidFill>
                  <a:srgbClr val="262626"/>
                </a:solidFill>
              </a:rPr>
              <a:t xml:space="preserve"> per register transfer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bus cost does </a:t>
            </a:r>
            <a:r>
              <a:rPr lang="en-US" sz="1500" b="1" dirty="0">
                <a:solidFill>
                  <a:srgbClr val="262626"/>
                </a:solidFill>
              </a:rPr>
              <a:t>not shrink</a:t>
            </a:r>
            <a:r>
              <a:rPr lang="en-US" sz="1500" dirty="0">
                <a:solidFill>
                  <a:srgbClr val="262626"/>
                </a:solidFill>
              </a:rPr>
              <a:t xml:space="preserve"> if the kernel gets cleverer — here the interface dominates completely</a:t>
            </a:r>
            <a:endParaRPr lang="en-US" sz="1500" dirty="0"/>
          </a:p>
        </p:txBody>
      </p:sp>
      <p:sp>
        <p:nvSpPr>
          <p:cNvPr id="8" name="TextBox 8"/>
          <p:cNvSpPr txBox="1"/>
          <p:nvPr/>
        </p:nvSpPr>
        <p:spPr>
          <a:xfrm>
            <a:off x="6355080" y="27432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THE PROCESSOR MUST POLL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6355080" y="3054096"/>
            <a:ext cx="5120640" cy="1920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host cannot know when the IP is done — it </a:t>
            </a:r>
            <a:r>
              <a:rPr lang="en-US" sz="1500" b="1" dirty="0">
                <a:solidFill>
                  <a:srgbClr val="262626"/>
                </a:solidFill>
              </a:rPr>
              <a:t>asks, repeatedly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Each poll is a full AXI4-Lite read transaction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Interrupts avoid the spinning, but cost a context switch — more than a 5-cycle kernel is worth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5102352"/>
            <a:ext cx="10789920" cy="86868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AXI4-Lite is not the problem — using a </a:t>
            </a:r>
            <a:r>
              <a:rPr lang="en-US" sz="1500" b="1" dirty="0">
                <a:solidFill>
                  <a:srgbClr val="262626"/>
                </a:solidFill>
              </a:rPr>
              <a:t>control</a:t>
            </a:r>
            <a:r>
              <a:rPr lang="en-US" sz="1500" dirty="0">
                <a:solidFill>
                  <a:srgbClr val="262626"/>
                </a:solidFill>
              </a:rPr>
              <a:t xml:space="preserve"> interface as a </a:t>
            </a:r>
            <a:r>
              <a:rPr lang="en-US" sz="1500" b="1" dirty="0">
                <a:solidFill>
                  <a:srgbClr val="262626"/>
                </a:solidFill>
              </a:rPr>
              <a:t>data</a:t>
            </a:r>
            <a:r>
              <a:rPr lang="en-US" sz="1500" dirty="0">
                <a:solidFill>
                  <a:srgbClr val="262626"/>
                </a:solidFill>
              </a:rPr>
              <a:t xml:space="preserve"> interface is.</a:t>
            </a:r>
            <a:endParaRPr lang="en-US" sz="1500" dirty="0"/>
          </a:p>
          <a:p>
            <a:pPr algn="ctr">
              <a:spcBef>
                <a:spcPts val="600"/>
              </a:spcBef>
            </a:pPr>
            <a:r>
              <a:rPr lang="en-US" sz="1500" b="1" dirty="0">
                <a:solidFill>
                  <a:srgbClr val="57068C"/>
                </a:solidFill>
              </a:rPr>
              <a:t>Next: AXI4-Stream — one transfer per cycle, no addresses, and the processor out of the inner loop.</a:t>
            </a:r>
            <a:endParaRPr lang="en-US" sz="15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Waveflow: a Python Model First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44475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“From waveform to silicon — in Python.”  Describe the datapath once, simulate it fast and bit-exact, and generate the hardware from the same source.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868680" y="1901952"/>
            <a:ext cx="1874520" cy="640080"/>
          </a:xfrm>
          <a:prstGeom prst="roundRect">
            <a:avLst>
              <a:gd name="adj" fmla="val 12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HLS codegen</a:t>
            </a:r>
            <a:endParaRPr lang="en-US" sz="13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typed · generated</a:t>
            </a:r>
            <a:endParaRPr lang="en-US" sz="1000" dirty="0"/>
          </a:p>
        </p:txBody>
      </p:sp>
      <p:sp>
        <p:nvSpPr>
          <p:cNvPr id="5" name="Shape 5"/>
          <p:cNvSpPr/>
          <p:nvPr/>
        </p:nvSpPr>
        <p:spPr>
          <a:xfrm>
            <a:off x="3383280" y="1901952"/>
            <a:ext cx="1874520" cy="640080"/>
          </a:xfrm>
          <a:prstGeom prst="roundRect">
            <a:avLst>
              <a:gd name="adj" fmla="val 12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RTL synth / sim</a:t>
            </a:r>
            <a:endParaRPr lang="en-US" sz="13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slow · cycle-exact</a:t>
            </a:r>
            <a:endParaRPr lang="en-US" sz="1000" dirty="0"/>
          </a:p>
        </p:txBody>
      </p:sp>
      <p:sp>
        <p:nvSpPr>
          <p:cNvPr id="6" name="Shape 6"/>
          <p:cNvSpPr/>
          <p:nvPr/>
        </p:nvSpPr>
        <p:spPr>
          <a:xfrm>
            <a:off x="868680" y="3090672"/>
            <a:ext cx="1874520" cy="64008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Python model</a:t>
            </a:r>
            <a:endParaRPr lang="en-US" sz="13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architecture · algorithm</a:t>
            </a:r>
            <a:endParaRPr lang="en-US" sz="1000" dirty="0"/>
          </a:p>
        </p:txBody>
      </p:sp>
      <p:sp>
        <p:nvSpPr>
          <p:cNvPr id="7" name="Shape 7"/>
          <p:cNvSpPr/>
          <p:nvPr/>
        </p:nvSpPr>
        <p:spPr>
          <a:xfrm>
            <a:off x="3383280" y="3090672"/>
            <a:ext cx="1874520" cy="64008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Python sim</a:t>
            </a:r>
            <a:endParaRPr lang="en-US" sz="13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fast · bit-exact</a:t>
            </a:r>
            <a:endParaRPr lang="en-US" sz="1000" dirty="0"/>
          </a:p>
        </p:txBody>
      </p:sp>
      <p:cxnSp>
        <p:nvCxnSpPr>
          <p:cNvPr id="8" name="Connector 8"/>
          <p:cNvCxnSpPr/>
          <p:nvPr/>
        </p:nvCxnSpPr>
        <p:spPr>
          <a:xfrm flipV="1">
            <a:off x="1805940" y="2578608"/>
            <a:ext cx="0" cy="475488"/>
          </a:xfrm>
          <a:prstGeom prst="straightConnector1">
            <a:avLst/>
          </a:prstGeom>
          <a:ln w="22225">
            <a:solidFill>
              <a:srgbClr val="57068C"/>
            </a:solidFill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>
            <a:off x="2779776" y="2221992"/>
            <a:ext cx="566928" cy="0"/>
          </a:xfrm>
          <a:prstGeom prst="straightConnector1">
            <a:avLst/>
          </a:prstGeom>
          <a:ln w="22225">
            <a:solidFill>
              <a:srgbClr val="57068C"/>
            </a:solidFill>
            <a:tailEnd type="triangle" w="med" len="med"/>
          </a:ln>
        </p:spPr>
      </p:cxnSp>
      <p:cxnSp>
        <p:nvCxnSpPr>
          <p:cNvPr id="10" name="Connector 10"/>
          <p:cNvCxnSpPr/>
          <p:nvPr/>
        </p:nvCxnSpPr>
        <p:spPr>
          <a:xfrm>
            <a:off x="2779776" y="3410712"/>
            <a:ext cx="566928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1" name="Connector 11"/>
          <p:cNvCxnSpPr/>
          <p:nvPr/>
        </p:nvCxnSpPr>
        <p:spPr>
          <a:xfrm>
            <a:off x="4320540" y="3767328"/>
            <a:ext cx="0" cy="475488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4375404" y="382219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000" dirty="0">
                <a:solidFill>
                  <a:srgbClr val="00857C"/>
                </a:solidFill>
              </a:rPr>
              <a:t>fast loop</a:t>
            </a:r>
            <a:endParaRPr lang="en-US" sz="10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5641848" y="2221992"/>
            <a:ext cx="0" cy="2020824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14" name="TextBox 14"/>
          <p:cNvSpPr txBox="1"/>
          <p:nvPr/>
        </p:nvSpPr>
        <p:spPr>
          <a:xfrm>
            <a:off x="5696712" y="28163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000" dirty="0">
                <a:solidFill>
                  <a:srgbClr val="2F6FA8"/>
                </a:solidFill>
              </a:rPr>
              <a:t>slow loop</a:t>
            </a:r>
            <a:endParaRPr lang="en-US" sz="1000" dirty="0"/>
          </a:p>
        </p:txBody>
      </p:sp>
      <p:cxnSp>
        <p:nvCxnSpPr>
          <p:cNvPr id="15" name="Connector 15"/>
          <p:cNvCxnSpPr/>
          <p:nvPr/>
        </p:nvCxnSpPr>
        <p:spPr>
          <a:xfrm flipV="1">
            <a:off x="1805940" y="3767328"/>
            <a:ext cx="0" cy="475488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6" name="Shape 16"/>
          <p:cNvSpPr/>
          <p:nvPr/>
        </p:nvSpPr>
        <p:spPr>
          <a:xfrm>
            <a:off x="868680" y="4279392"/>
            <a:ext cx="4974336" cy="420624"/>
          </a:xfrm>
          <a:prstGeom prst="roundRect">
            <a:avLst>
              <a:gd name="adj" fmla="val 30000"/>
            </a:avLst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design · verify · calibrate · iterate</a:t>
            </a:r>
            <a:endParaRPr lang="en-US" sz="1200" dirty="0"/>
          </a:p>
        </p:txBody>
      </p:sp>
      <p:sp>
        <p:nvSpPr>
          <p:cNvPr id="17" name="TextBox 17"/>
          <p:cNvSpPr txBox="1"/>
          <p:nvPr/>
        </p:nvSpPr>
        <p:spPr>
          <a:xfrm>
            <a:off x="6720840" y="184708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b="1" dirty="0">
                <a:solidFill>
                  <a:srgbClr val="6E6E6E"/>
                </a:solidFill>
              </a:rPr>
              <a:t>THE FLOW, FOR THIS SAME IP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6720840" y="2176272"/>
            <a:ext cx="310896" cy="310896"/>
          </a:xfrm>
          <a:prstGeom prst="ellipse">
            <a:avLst/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Box 19"/>
          <p:cNvSpPr txBox="1"/>
          <p:nvPr/>
        </p:nvSpPr>
        <p:spPr>
          <a:xfrm>
            <a:off x="7150608" y="2139696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Model it in Python</a:t>
            </a:r>
            <a:endParaRPr lang="en-US" sz="1300" dirty="0"/>
          </a:p>
          <a:p>
            <a:r>
              <a:rPr lang="en-US" sz="1100" dirty="0">
                <a:solidFill>
                  <a:srgbClr val="6E6E6E"/>
                </a:solidFill>
              </a:rPr>
              <a:t xml:space="preserve">the kernel, and its registers as a </a:t>
            </a: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VitisRegMap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6720840" y="2743200"/>
            <a:ext cx="310896" cy="310896"/>
          </a:xfrm>
          <a:prstGeom prst="ellipse">
            <a:avLst/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Box 21"/>
          <p:cNvSpPr txBox="1"/>
          <p:nvPr/>
        </p:nvSpPr>
        <p:spPr>
          <a:xfrm>
            <a:off x="7150608" y="2706624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Simulate in Python</a:t>
            </a:r>
            <a:endParaRPr lang="en-US" sz="1300" dirty="0"/>
          </a:p>
          <a:p>
            <a:r>
              <a:rPr lang="en-US" sz="1100" dirty="0">
                <a:solidFill>
                  <a:srgbClr val="6E6E6E"/>
                </a:solidFill>
              </a:rPr>
              <a:t xml:space="preserve">function, and </a:t>
            </a:r>
            <a:r>
              <a:rPr lang="en-US" sz="1100" b="1" dirty="0">
                <a:solidFill>
                  <a:srgbClr val="6E6E6E"/>
                </a:solidFill>
              </a:rPr>
              <a:t>cycle-approximate</a:t>
            </a:r>
            <a:r>
              <a:rPr lang="en-US" sz="1100" dirty="0">
                <a:solidFill>
                  <a:srgbClr val="6E6E6E"/>
                </a:solidFill>
              </a:rPr>
              <a:t xml:space="preserve"> timing</a:t>
            </a:r>
            <a:endParaRPr lang="en-US" sz="1100" dirty="0"/>
          </a:p>
        </p:txBody>
      </p:sp>
      <p:sp>
        <p:nvSpPr>
          <p:cNvPr id="22" name="Shape 22"/>
          <p:cNvSpPr/>
          <p:nvPr/>
        </p:nvSpPr>
        <p:spPr>
          <a:xfrm>
            <a:off x="6720840" y="3310128"/>
            <a:ext cx="310896" cy="310896"/>
          </a:xfrm>
          <a:prstGeom prst="ellipse">
            <a:avLst/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TextBox 23"/>
          <p:cNvSpPr txBox="1"/>
          <p:nvPr/>
        </p:nvSpPr>
        <p:spPr>
          <a:xfrm>
            <a:off x="7150608" y="3273552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Generate the Vitis C++</a:t>
            </a:r>
            <a:endParaRPr lang="en-US" sz="1300" dirty="0"/>
          </a:p>
          <a:p>
            <a:r>
              <a:rPr lang="en-US" sz="1100" dirty="0">
                <a:solidFill>
                  <a:srgbClr val="6E6E6E"/>
                </a:solidFill>
              </a:rPr>
              <a:t>kernel and testbench; you keep the compute hook</a:t>
            </a:r>
            <a:endParaRPr lang="en-US" sz="1100" dirty="0"/>
          </a:p>
        </p:txBody>
      </p:sp>
      <p:sp>
        <p:nvSpPr>
          <p:cNvPr id="24" name="Shape 24"/>
          <p:cNvSpPr/>
          <p:nvPr/>
        </p:nvSpPr>
        <p:spPr>
          <a:xfrm>
            <a:off x="6720840" y="3877056"/>
            <a:ext cx="310896" cy="310896"/>
          </a:xfrm>
          <a:prstGeom prst="ellipse">
            <a:avLst/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5" name="TextBox 25"/>
          <p:cNvSpPr txBox="1"/>
          <p:nvPr/>
        </p:nvSpPr>
        <p:spPr>
          <a:xfrm>
            <a:off x="7150608" y="384048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 xml:space="preserve">C-simulation checks </a:t>
            </a:r>
            <a:r>
              <a:rPr lang="en-US" sz="1300" b="1" dirty="0">
                <a:solidFill>
                  <a:srgbClr val="262626"/>
                </a:solidFill>
              </a:rPr>
              <a:t>function</a:t>
            </a:r>
            <a:endParaRPr lang="en-US" sz="1300" dirty="0"/>
          </a:p>
          <a:p>
            <a:r>
              <a:rPr lang="en-US" sz="1100" dirty="0">
                <a:solidFill>
                  <a:srgbClr val="6E6E6E"/>
                </a:solidFill>
              </a:rPr>
              <a:t>against the Python result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6720840" y="4443984"/>
            <a:ext cx="310896" cy="310896"/>
          </a:xfrm>
          <a:prstGeom prst="ellipse">
            <a:avLst/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Box 27"/>
          <p:cNvSpPr txBox="1"/>
          <p:nvPr/>
        </p:nvSpPr>
        <p:spPr>
          <a:xfrm>
            <a:off x="7150608" y="440740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 xml:space="preserve">Co-simulation checks </a:t>
            </a:r>
            <a:r>
              <a:rPr lang="en-US" sz="1300" b="1" dirty="0">
                <a:solidFill>
                  <a:srgbClr val="262626"/>
                </a:solidFill>
              </a:rPr>
              <a:t>timing</a:t>
            </a:r>
            <a:endParaRPr lang="en-US" sz="1300" dirty="0"/>
          </a:p>
          <a:p>
            <a:r>
              <a:rPr lang="en-US" sz="1100" dirty="0">
                <a:solidFill>
                  <a:srgbClr val="6E6E6E"/>
                </a:solidFill>
              </a:rPr>
              <a:t>against the Python estimate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685800" y="5230368"/>
            <a:ext cx="10698480" cy="566928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You have already run part of it: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scalar_fun_build.py</a:t>
            </a:r>
            <a:r>
              <a:rPr lang="en-US" sz="1400" dirty="0">
                <a:solidFill>
                  <a:srgbClr val="262626"/>
                </a:solidFill>
              </a:rPr>
              <a:t xml:space="preserve"> </a:t>
            </a:r>
            <a:r>
              <a:rPr lang="en-US" sz="1400" b="1" dirty="0">
                <a:solidFill>
                  <a:srgbClr val="262626"/>
                </a:solidFill>
              </a:rPr>
              <a:t>is</a:t>
            </a:r>
            <a:r>
              <a:rPr lang="en-US" sz="1400" dirty="0">
                <a:solidFill>
                  <a:srgbClr val="262626"/>
                </a:solidFill>
              </a:rPr>
              <a:t xml:space="preserve"> a Waveflow build graph.  What is new above is the modelling layer.</a:t>
            </a:r>
            <a:endParaRPr lang="en-US" sz="1400" dirty="0"/>
          </a:p>
        </p:txBody>
      </p:sp>
      <p:sp>
        <p:nvSpPr>
          <p:cNvPr id="29" name="Slide Number Placeholder 2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Waveflow vs. Native Vitis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517904"/>
            <a:ext cx="5212080" cy="512064"/>
          </a:xfrm>
          <a:prstGeom prst="roundRect">
            <a:avLst>
              <a:gd name="adj" fmla="val 14000"/>
            </a:avLst>
          </a:prstGeom>
          <a:solidFill>
            <a:srgbClr val="B4530F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</a:rPr>
              <a:t>What it costs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685800" y="2029968"/>
            <a:ext cx="5212080" cy="3017520"/>
          </a:xfrm>
          <a:prstGeom prst="rect">
            <a:avLst/>
          </a:prstGeom>
          <a:solidFill>
            <a:srgbClr val="FCEEE3"/>
          </a:solidFill>
          <a:ln w="12700">
            <a:solidFill>
              <a:srgbClr val="E7C3A6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5" name="TextBox 5"/>
          <p:cNvSpPr txBox="1"/>
          <p:nvPr/>
        </p:nvSpPr>
        <p:spPr>
          <a:xfrm>
            <a:off x="996696" y="2212848"/>
            <a:ext cx="4590288" cy="2651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A </a:t>
            </a:r>
            <a:r>
              <a:rPr lang="en-US" sz="1400" b="1" dirty="0">
                <a:solidFill>
                  <a:srgbClr val="262626"/>
                </a:solidFill>
              </a:rPr>
              <a:t>Python layer</a:t>
            </a:r>
            <a:r>
              <a:rPr lang="en-US" sz="1400" dirty="0">
                <a:solidFill>
                  <a:srgbClr val="262626"/>
                </a:solidFill>
              </a:rPr>
              <a:t xml:space="preserve"> between you and the tool — one more thing to learn, and to debug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Its own vocabulary —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VitisRegMap</a:t>
            </a:r>
            <a:r>
              <a:rPr lang="en-US" sz="1400" dirty="0">
                <a:solidFill>
                  <a:srgbClr val="262626"/>
                </a:solidFill>
              </a:rPr>
              <a:t xml:space="preserve">,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HostActivated</a:t>
            </a:r>
            <a:r>
              <a:rPr lang="en-US" sz="1400" dirty="0">
                <a:solidFill>
                  <a:srgbClr val="262626"/>
                </a:solidFill>
              </a:rPr>
              <a:t xml:space="preserve">,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SeqTB</a:t>
            </a:r>
            <a:r>
              <a:rPr lang="en-US" sz="1400" dirty="0">
                <a:solidFill>
                  <a:srgbClr val="262626"/>
                </a:solidFill>
              </a:rPr>
              <a:t xml:space="preserve"> — before you see any hardware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b="1" dirty="0">
                <a:solidFill>
                  <a:srgbClr val="262626"/>
                </a:solidFill>
              </a:rPr>
              <a:t>Early-stage research software</a:t>
            </a:r>
            <a:r>
              <a:rPr lang="en-US" sz="1400" dirty="0">
                <a:solidFill>
                  <a:srgbClr val="262626"/>
                </a:solidFill>
              </a:rPr>
              <a:t>, by its own description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Only the </a:t>
            </a:r>
            <a:r>
              <a:rPr lang="en-US" sz="1400" b="1" dirty="0">
                <a:solidFill>
                  <a:srgbClr val="262626"/>
                </a:solidFill>
              </a:rPr>
              <a:t>sequential</a:t>
            </a:r>
            <a:r>
              <a:rPr lang="en-US" sz="1400" dirty="0">
                <a:solidFill>
                  <a:srgbClr val="262626"/>
                </a:solidFill>
              </a:rPr>
              <a:t xml:space="preserve"> testbench lowers to Vitis: a C++ testbench is one straight-line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main()</a:t>
            </a:r>
            <a:r>
              <a:rPr lang="en-US" sz="1400" dirty="0">
                <a:solidFill>
                  <a:srgbClr val="262626"/>
                </a:solidFill>
              </a:rPr>
              <a:t>, so a concurrent model has nothing to lower onto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6263640" y="1517904"/>
            <a:ext cx="5212080" cy="512064"/>
          </a:xfrm>
          <a:prstGeom prst="roundRect">
            <a:avLst>
              <a:gd name="adj" fmla="val 14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</a:rPr>
              <a:t>What it buys</a:t>
            </a:r>
            <a:endParaRPr lang="en-US" sz="1700" dirty="0"/>
          </a:p>
        </p:txBody>
      </p:sp>
      <p:sp>
        <p:nvSpPr>
          <p:cNvPr id="7" name="Shape 7"/>
          <p:cNvSpPr/>
          <p:nvPr/>
        </p:nvSpPr>
        <p:spPr>
          <a:xfrm>
            <a:off x="6263640" y="2029968"/>
            <a:ext cx="5212080" cy="30175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8" name="TextBox 8"/>
          <p:cNvSpPr txBox="1"/>
          <p:nvPr/>
        </p:nvSpPr>
        <p:spPr>
          <a:xfrm>
            <a:off x="6574536" y="2212848"/>
            <a:ext cx="4590288" cy="2651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b="1" dirty="0">
                <a:solidFill>
                  <a:srgbClr val="262626"/>
                </a:solidFill>
              </a:rPr>
              <a:t>One source of truth</a:t>
            </a:r>
            <a:r>
              <a:rPr lang="en-US" sz="1400" dirty="0">
                <a:solidFill>
                  <a:srgbClr val="262626"/>
                </a:solidFill>
              </a:rPr>
              <a:t xml:space="preserve"> — simulation, generated C++ and the register map all come from the same Python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A model you can </a:t>
            </a:r>
            <a:r>
              <a:rPr lang="en-US" sz="1400" b="1" dirty="0">
                <a:solidFill>
                  <a:srgbClr val="262626"/>
                </a:solidFill>
              </a:rPr>
              <a:t>explore in seconds</a:t>
            </a:r>
            <a:r>
              <a:rPr lang="en-US" sz="1400" dirty="0">
                <a:solidFill>
                  <a:srgbClr val="262626"/>
                </a:solidFill>
              </a:rPr>
              <a:t>, instead of minutes of synthesis per idea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The build </a:t>
            </a:r>
            <a:r>
              <a:rPr lang="en-US" sz="1400" b="1" dirty="0">
                <a:solidFill>
                  <a:srgbClr val="262626"/>
                </a:solidFill>
              </a:rPr>
              <a:t>checks itself</a:t>
            </a:r>
            <a:r>
              <a:rPr lang="en-US" sz="1400" dirty="0">
                <a:solidFill>
                  <a:srgbClr val="262626"/>
                </a:solidFill>
              </a:rPr>
              <a:t>: the Python result is the golden the C-simulation is graded against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Timing you can </a:t>
            </a:r>
            <a:r>
              <a:rPr lang="en-US" sz="1400" b="1" dirty="0">
                <a:solidFill>
                  <a:srgbClr val="262626"/>
                </a:solidFill>
              </a:rPr>
              <a:t>trust before synthesis</a:t>
            </a:r>
            <a:r>
              <a:rPr lang="en-US" sz="1400" dirty="0">
                <a:solidFill>
                  <a:srgbClr val="262626"/>
                </a:solidFill>
              </a:rPr>
              <a:t>, because the estimate is checked against measured cycles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685800" y="5138928"/>
            <a:ext cx="10789920" cy="841248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For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scalar_fun</a:t>
            </a:r>
            <a:r>
              <a:rPr lang="en-US" sz="1500" dirty="0">
                <a:solidFill>
                  <a:srgbClr val="262626"/>
                </a:solidFill>
              </a:rPr>
              <a:t xml:space="preserve">, </a:t>
            </a:r>
            <a:r>
              <a:rPr lang="en-US" sz="1500" b="1" dirty="0">
                <a:solidFill>
                  <a:srgbClr val="262626"/>
                </a:solidFill>
              </a:rPr>
              <a:t>nothing</a:t>
            </a:r>
            <a:r>
              <a:rPr lang="en-US" sz="1500" dirty="0">
                <a:solidFill>
                  <a:srgbClr val="262626"/>
                </a:solidFill>
              </a:rPr>
              <a:t xml:space="preserve"> — the kernel is four lines, and a model of it is pure overhead.</a:t>
            </a:r>
            <a:endParaRPr lang="en-US" sz="1500" dirty="0"/>
          </a:p>
          <a:p>
            <a:pPr algn="ctr">
              <a:spcBef>
                <a:spcPts val="600"/>
              </a:spcBef>
            </a:pPr>
            <a:r>
              <a:rPr lang="en-US" sz="1400" b="1" dirty="0">
                <a:solidFill>
                  <a:srgbClr val="57068C"/>
                </a:solidFill>
              </a:rPr>
              <a:t>The payoff starts when the algorithm is worth exploring before it is worth synthesizing.  sdrangan.github.io/waveflow</a:t>
            </a:r>
            <a:endParaRPr lang="en-US" sz="14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14629</TotalTime>
  <Words>2804</Words>
  <Application>Microsoft Office PowerPoint</Application>
  <PresentationFormat>Widescreen</PresentationFormat>
  <Paragraphs>626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Wingdings</vt:lpstr>
      <vt:lpstr>Retrospect</vt:lpstr>
      <vt:lpstr>Unit 4  Memory and Basic Processor Interfaces</vt:lpstr>
      <vt:lpstr>Learning Objectives</vt:lpstr>
      <vt:lpstr>Outline</vt:lpstr>
      <vt:lpstr>Addressable Memory</vt:lpstr>
      <vt:lpstr>Sequential vs Random Access</vt:lpstr>
      <vt:lpstr>Typical RAM Architecture</vt:lpstr>
      <vt:lpstr>Bus</vt:lpstr>
      <vt:lpstr>High Impedance</vt:lpstr>
      <vt:lpstr>High Impedance on a Data Bus</vt:lpstr>
      <vt:lpstr>External vs. Internal Memory</vt:lpstr>
      <vt:lpstr>External vs. Internal Compared</vt:lpstr>
      <vt:lpstr>Example Memory Internal Sizes</vt:lpstr>
      <vt:lpstr>Example:  Video</vt:lpstr>
      <vt:lpstr>Registers vs. Block Memory</vt:lpstr>
      <vt:lpstr>Memory Mapped Registers</vt:lpstr>
      <vt:lpstr>Example</vt:lpstr>
      <vt:lpstr>Outline</vt:lpstr>
      <vt:lpstr>AXI4-Lite Protocol</vt:lpstr>
      <vt:lpstr>AXI4-Lite Use Case:  Processor to Hardware IP</vt:lpstr>
      <vt:lpstr>Master-Slave and Transactions</vt:lpstr>
      <vt:lpstr>Review:  AXI4-Lite Write Protocol</vt:lpstr>
      <vt:lpstr>Example AXI4-Lite Write</vt:lpstr>
      <vt:lpstr>Example AXI4-Lite Write With Stall</vt:lpstr>
      <vt:lpstr>Theoretical Optimal Write Throughput</vt:lpstr>
      <vt:lpstr>Practical AXI4-Lite Latency</vt:lpstr>
      <vt:lpstr>AXI4-Lite Read Protocol</vt:lpstr>
      <vt:lpstr>Example Read Timing</vt:lpstr>
      <vt:lpstr>Theoretical Optimal Read Throughput</vt:lpstr>
      <vt:lpstr>Outline</vt:lpstr>
      <vt:lpstr>Example:  Connecting a Simple IP </vt:lpstr>
      <vt:lpstr>HLS vs. RTL</vt:lpstr>
      <vt:lpstr>HLS vs. RTL FPGA Design Flow</vt:lpstr>
      <vt:lpstr>Bad vs. Good HLS Code Write</vt:lpstr>
      <vt:lpstr>Vitis HLS</vt:lpstr>
      <vt:lpstr>FPGA Board Components</vt:lpstr>
      <vt:lpstr>Target Architecture</vt:lpstr>
      <vt:lpstr>IP Source Code</vt:lpstr>
      <vt:lpstr>Module Declaration</vt:lpstr>
      <vt:lpstr>Module Declaration</vt:lpstr>
      <vt:lpstr>Module Declaration</vt:lpstr>
      <vt:lpstr>Vitis HLS Testbench</vt:lpstr>
      <vt:lpstr>Vitis HLS Flow Described in Flow Panel</vt:lpstr>
      <vt:lpstr>Synthesis Output</vt:lpstr>
      <vt:lpstr>Synthesis Report</vt:lpstr>
      <vt:lpstr>RTL Simulation</vt:lpstr>
      <vt:lpstr>RTL Simulation over Multiple Interactions</vt:lpstr>
      <vt:lpstr>Execution Model</vt:lpstr>
      <vt:lpstr>Deploying on an FPGA Board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537</cp:revision>
  <cp:lastPrinted>2018-09-04T19:00:14Z</cp:lastPrinted>
  <dcterms:created xsi:type="dcterms:W3CDTF">2015-03-22T11:15:32Z</dcterms:created>
  <dcterms:modified xsi:type="dcterms:W3CDTF">2026-09-22T15:13:01Z</dcterms:modified>
</cp:coreProperties>
</file>