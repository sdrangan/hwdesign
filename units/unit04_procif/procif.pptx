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8" r:id="rId2"/>
    <p:sldId id="271" r:id="rId3"/>
    <p:sldId id="297" r:id="rId4"/>
    <p:sldId id="276" r:id="rId5"/>
    <p:sldId id="325" r:id="rId6"/>
    <p:sldId id="326" r:id="rId7"/>
    <p:sldId id="327" r:id="rId8"/>
    <p:sldId id="291" r:id="rId9"/>
    <p:sldId id="277" r:id="rId10"/>
    <p:sldId id="280" r:id="rId11"/>
    <p:sldId id="328" r:id="rId12"/>
    <p:sldId id="329" r:id="rId13"/>
    <p:sldId id="330" r:id="rId14"/>
    <p:sldId id="281" r:id="rId15"/>
    <p:sldId id="278" r:id="rId16"/>
    <p:sldId id="283" r:id="rId17"/>
    <p:sldId id="284" r:id="rId18"/>
    <p:sldId id="285" r:id="rId19"/>
    <p:sldId id="286" r:id="rId20"/>
    <p:sldId id="290" r:id="rId21"/>
    <p:sldId id="288" r:id="rId22"/>
    <p:sldId id="289" r:id="rId23"/>
    <p:sldId id="331" r:id="rId24"/>
    <p:sldId id="332" r:id="rId25"/>
    <p:sldId id="333" r:id="rId26"/>
    <p:sldId id="334" r:id="rId27"/>
    <p:sldId id="298" r:id="rId28"/>
    <p:sldId id="293" r:id="rId29"/>
    <p:sldId id="294" r:id="rId30"/>
    <p:sldId id="295" r:id="rId31"/>
    <p:sldId id="296" r:id="rId32"/>
    <p:sldId id="292" r:id="rId33"/>
    <p:sldId id="300" r:id="rId34"/>
    <p:sldId id="335" r:id="rId35"/>
    <p:sldId id="301" r:id="rId36"/>
    <p:sldId id="302" r:id="rId37"/>
    <p:sldId id="303" r:id="rId38"/>
    <p:sldId id="304" r:id="rId39"/>
    <p:sldId id="305" r:id="rId40"/>
    <p:sldId id="299" r:id="rId41"/>
    <p:sldId id="310" r:id="rId42"/>
    <p:sldId id="306" r:id="rId43"/>
    <p:sldId id="308" r:id="rId44"/>
    <p:sldId id="312" r:id="rId45"/>
    <p:sldId id="307" r:id="rId46"/>
    <p:sldId id="311" r:id="rId47"/>
    <p:sldId id="309" r:id="rId48"/>
    <p:sldId id="336" r:id="rId49"/>
    <p:sldId id="337" r:id="rId50"/>
    <p:sldId id="338" r:id="rId51"/>
    <p:sldId id="340" r:id="rId52"/>
    <p:sldId id="341" r:id="rId53"/>
    <p:sldId id="339" r:id="rId54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2278F"/>
    <a:srgbClr val="E3DFF7"/>
    <a:srgbClr val="EAE5EB"/>
    <a:srgbClr val="DEE6F8"/>
    <a:srgbClr val="E0F8E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39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7.png"/><Relationship Id="rId7" Type="http://schemas.openxmlformats.org/officeDocument/2006/relationships/image" Target="../media/image1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ecoder/xilinxzynq7000ec/ug/communicating-with-the-fpga-ip-core-on-the-xilinx-zynq-7000-platform-using-axi4-lite-protocol.html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4.png"/><Relationship Id="rId7" Type="http://schemas.openxmlformats.org/officeDocument/2006/relationships/image" Target="../media/image2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4 </a:t>
            </a:r>
            <a:br>
              <a:rPr lang="en-US" sz="6600" dirty="0"/>
            </a:br>
            <a:r>
              <a:rPr lang="en-US" sz="6600" dirty="0"/>
              <a:t>Memory and Basic Processor Interfaces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ECE-GY 6463:  Advanced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97280" y="1645920"/>
          <a:ext cx="1005840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Skill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You will be able to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Size memory for a data stream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Compute data rate, capacity and the number of memories, and choose registers, block memory or external memory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Compute memory addresses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Convert between word and byte addresses, split a global address into a local one, and lay out a register map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Identify bus manager and subordinate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Say which party initiates a transaction, whichever way the data flows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Time a valid/ready handshake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Work out the cycle a transfer happens on, including when the receiver is busy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Analyze AXI4-Lite transactions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Time reads and writes across the AW, W, B, AR and R channels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Build an IP with AXI4-Lite registers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Write the Vitis HLS signature and s_axilite pragmas, and state the registers they produce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Determine the limiting resource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Compare the time spent moving data against the time spent computing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97280" y="5440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Each skill is assessed by problems in the LLM grader.</a:t>
            </a:r>
            <a:endParaRPr lang="en-US" sz="12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AXI4-Lite</a:t>
            </a:r>
          </a:p>
          <a:p>
            <a:r>
              <a:rPr lang="en-US" sz="2400" dirty="0"/>
              <a:t>Implementing AXI4-Lite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1287-0232-9A94-C28C-74572E22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Addressable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An array of </a:t>
                </a:r>
                <a:r>
                  <a:rPr lang="en-US" dirty="0">
                    <a:solidFill>
                      <a:srgbClr val="57068C"/>
                    </a:solidFill>
                  </a:rPr>
                  <a:t>elements</a:t>
                </a:r>
                <a:r>
                  <a:rPr lang="en-US" dirty="0"/>
                  <a:t> in storage</a:t>
                </a:r>
              </a:p>
              <a:p>
                <a:pPr lvl="1"/>
                <a:r>
                  <a:rPr lang="en-US" dirty="0"/>
                  <a:t>Use for vectors, matrices, packets, data, …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Word</a:t>
                </a:r>
                <a:r>
                  <a:rPr lang="en-US" dirty="0"/>
                  <a:t>:  Each data element</a:t>
                </a:r>
              </a:p>
              <a:p>
                <a:pPr lvl="1"/>
                <a:r>
                  <a:rPr lang="en-US" dirty="0"/>
                  <a:t>Typically, has </a:t>
                </a:r>
                <a:r>
                  <a:rPr lang="en-US" dirty="0">
                    <a:solidFill>
                      <a:srgbClr val="57068C"/>
                    </a:solidFill>
                  </a:rPr>
                  <a:t>word</a:t>
                </a:r>
                <a:r>
                  <a:rPr lang="en-US" dirty="0"/>
                  <a:t> / </a:t>
                </a:r>
                <a:r>
                  <a:rPr lang="en-US" dirty="0">
                    <a:solidFill>
                      <a:srgbClr val="57068C"/>
                    </a:solidFill>
                  </a:rPr>
                  <a:t>data width </a:t>
                </a:r>
                <a:r>
                  <a:rPr lang="en-US" dirty="0"/>
                  <a:t>= 32 or 64 bits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Memory depth</a:t>
                </a:r>
                <a:r>
                  <a:rPr lang="en-US" dirty="0"/>
                  <a:t> = number of words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Memory size</a:t>
                </a:r>
                <a:r>
                  <a:rPr lang="en-US" dirty="0"/>
                  <a:t>=depth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word width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Address</a:t>
                </a:r>
                <a:r>
                  <a:rPr lang="en-US" dirty="0"/>
                  <a:t>:  A location of a word</a:t>
                </a:r>
              </a:p>
              <a:p>
                <a:pPr lvl="1"/>
                <a:r>
                  <a:rPr lang="en-US" dirty="0"/>
                  <a:t>Often byte-addressable</a:t>
                </a:r>
              </a:p>
              <a:p>
                <a:pPr lvl="1"/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byte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when word width=32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  <a:blipFill>
                <a:blip r:embed="rId2"/>
                <a:stretch>
                  <a:fillRect l="-2685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A085-3885-EAA3-78DD-905AF0DC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5" name="Table 2"/>
          <p:cNvGraphicFramePr>
            <a:graphicFrameLocks noGrp="1"/>
          </p:cNvGraphicFramePr>
          <p:nvPr/>
        </p:nvGraphicFramePr>
        <p:xfrm>
          <a:off x="7360920" y="1965960"/>
          <a:ext cx="3749040" cy="24140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Byte address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Data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Word 0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Word 1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Word 2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⋮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⋮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4(𝑁−1)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Word 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  <a:latin typeface="Cambria Math"/>
                        </a:rPr>
                        <a:t>𝑁−1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3"/>
          <p:cNvSpPr txBox="1"/>
          <p:nvPr/>
        </p:nvSpPr>
        <p:spPr>
          <a:xfrm>
            <a:off x="7360920" y="457200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A 32-bit memory, </a:t>
            </a:r>
            <a:r>
              <a:rPr lang="en-US" sz="1200" dirty="0">
                <a:solidFill>
                  <a:srgbClr val="6E6E6E"/>
                </a:solidFill>
                <a:latin typeface="Cambria Math"/>
              </a:rPr>
              <a:t>𝑁</a:t>
            </a:r>
            <a:r>
              <a:rPr lang="en-US" sz="1200" dirty="0">
                <a:solidFill>
                  <a:srgbClr val="6E6E6E"/>
                </a:solidFill>
              </a:rPr>
              <a:t> words deep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5274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vs. Word Addressing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097280" y="1600200"/>
            <a:ext cx="5806440" cy="4206240"/>
          </a:xfrm>
        </p:spPr>
        <p:txBody>
          <a:bodyPr>
            <a:noAutofit/>
          </a:bodyPr>
          <a:lstStyle>
            <a:lvl1pPr marL="274320" indent="-274320">
              <a:spcBef>
                <a:spcPts val="1400"/>
              </a:spcBef>
              <a:buClr>
                <a:srgbClr val="57068C"/>
              </a:buClr>
              <a:buSzPct val="70000"/>
              <a:buFont typeface="Arial"/>
              <a:buChar char="■"/>
              <a:defRPr sz="2000"/>
            </a:lvl1pPr>
            <a:lvl2pPr marL="621792" indent="-228600">
              <a:spcBef>
                <a:spcPts val="400"/>
              </a:spcBef>
              <a:buClr>
                <a:srgbClr val="999999"/>
              </a:buClr>
              <a:buSzPct val="100000"/>
              <a:buFont typeface="Arial"/>
              <a:buChar char="–"/>
              <a:defRPr sz="1700"/>
            </a:lvl2pPr>
          </a:lstStyle>
          <a:p>
            <a:r>
              <a:rPr lang="en-US" b="1" dirty="0">
                <a:solidFill>
                  <a:srgbClr val="57068C"/>
                </a:solidFill>
              </a:rPr>
              <a:t>Word address</a:t>
            </a:r>
            <a:r>
              <a:rPr lang="en-US" dirty="0"/>
              <a:t>: counts words: 0, 1, 2, …</a:t>
            </a:r>
          </a:p>
          <a:p>
            <a:r>
              <a:rPr lang="en-US" b="1" dirty="0">
                <a:solidFill>
                  <a:srgbClr val="57068C"/>
                </a:solidFill>
              </a:rPr>
              <a:t>Byte address</a:t>
            </a:r>
            <a:r>
              <a:rPr lang="en-US" dirty="0"/>
              <a:t>: counts bytes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latin typeface="Cambria Math"/>
              </a:rPr>
              <a:t>𝑊</a:t>
            </a:r>
            <a:r>
              <a:rPr lang="en-US" dirty="0"/>
              <a:t>-bit word spans </a:t>
            </a:r>
            <a:r>
              <a:rPr lang="en-US" dirty="0">
                <a:latin typeface="Cambria Math"/>
              </a:rPr>
              <a:t>𝑊</a:t>
            </a:r>
            <a:r>
              <a:rPr lang="en-US" dirty="0"/>
              <a:t>/8 byte addresses</a:t>
            </a:r>
          </a:p>
          <a:p>
            <a:pPr lvl="1"/>
            <a:r>
              <a:rPr lang="en-US" dirty="0"/>
              <a:t>Word </a:t>
            </a:r>
            <a:r>
              <a:rPr lang="en-US" dirty="0">
                <a:latin typeface="Cambria Math"/>
              </a:rPr>
              <a:t>𝑘</a:t>
            </a:r>
            <a:r>
              <a:rPr lang="en-US" dirty="0"/>
              <a:t> starts at byte </a:t>
            </a:r>
            <a:r>
              <a:rPr lang="en-US" dirty="0">
                <a:latin typeface="Cambria Math"/>
              </a:rPr>
              <a:t>4𝑘</a:t>
            </a:r>
            <a:r>
              <a:rPr lang="en-US" dirty="0"/>
              <a:t> (32-bit) or </a:t>
            </a:r>
            <a:r>
              <a:rPr lang="en-US" dirty="0">
                <a:latin typeface="Cambria Math"/>
              </a:rPr>
              <a:t>8𝑘</a:t>
            </a:r>
            <a:r>
              <a:rPr lang="en-US" dirty="0"/>
              <a:t> (64-bit)</a:t>
            </a:r>
          </a:p>
          <a:p>
            <a:r>
              <a:rPr lang="en-US" dirty="0"/>
              <a:t>A byte address splits into two fields</a:t>
            </a:r>
          </a:p>
          <a:p>
            <a:pPr lvl="1"/>
            <a:r>
              <a:rPr lang="en-US" dirty="0"/>
              <a:t>Low log₂(</a:t>
            </a:r>
            <a:r>
              <a:rPr lang="en-US" dirty="0">
                <a:latin typeface="Cambria Math"/>
              </a:rPr>
              <a:t>𝑊</a:t>
            </a:r>
            <a:r>
              <a:rPr lang="en-US" dirty="0"/>
              <a:t>/8) bits: the byte within the word</a:t>
            </a:r>
          </a:p>
          <a:p>
            <a:pPr lvl="1"/>
            <a:r>
              <a:rPr lang="en-US" dirty="0"/>
              <a:t>Remaining bits: the word index</a:t>
            </a:r>
          </a:p>
          <a:p>
            <a:r>
              <a:rPr lang="en-US" dirty="0"/>
              <a:t>Processor buses, including AXI, use </a:t>
            </a:r>
            <a:r>
              <a:rPr lang="en-US" b="1" dirty="0">
                <a:solidFill>
                  <a:srgbClr val="57068C"/>
                </a:solidFill>
              </a:rPr>
              <a:t>byte addresses</a:t>
            </a:r>
            <a:endParaRPr lang="en-US" dirty="0"/>
          </a:p>
          <a:p>
            <a:pPr lvl="1"/>
            <a:r>
              <a:rPr lang="en-US" dirty="0"/>
              <a:t>even when every access is a whole word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23760" y="16276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300" dirty="0">
                <a:solidFill>
                  <a:srgbClr val="6E6E6E"/>
                </a:solidFill>
              </a:rPr>
              <a:t>32-bit memory, byte-addressable</a:t>
            </a:r>
            <a:endParaRPr lang="en-US" sz="1300" dirty="0"/>
          </a:p>
        </p:txBody>
      </p:sp>
      <p:sp>
        <p:nvSpPr>
          <p:cNvPr id="5" name="TextBox 5"/>
          <p:cNvSpPr txBox="1"/>
          <p:nvPr/>
        </p:nvSpPr>
        <p:spPr>
          <a:xfrm>
            <a:off x="7223760" y="1938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Word</a:t>
            </a:r>
            <a:endParaRPr lang="en-US" sz="1200" dirty="0"/>
          </a:p>
        </p:txBody>
      </p:sp>
      <p:sp>
        <p:nvSpPr>
          <p:cNvPr id="6" name="TextBox 6"/>
          <p:cNvSpPr txBox="1"/>
          <p:nvPr/>
        </p:nvSpPr>
        <p:spPr>
          <a:xfrm>
            <a:off x="8092440" y="19385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Byte addresses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7223760" y="224028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400" dirty="0"/>
          </a:p>
        </p:txBody>
      </p:sp>
      <p:sp>
        <p:nvSpPr>
          <p:cNvPr id="8" name="Shape 8"/>
          <p:cNvSpPr/>
          <p:nvPr/>
        </p:nvSpPr>
        <p:spPr>
          <a:xfrm>
            <a:off x="8092440" y="22402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300" dirty="0"/>
          </a:p>
        </p:txBody>
      </p:sp>
      <p:sp>
        <p:nvSpPr>
          <p:cNvPr id="9" name="Shape 9"/>
          <p:cNvSpPr/>
          <p:nvPr/>
        </p:nvSpPr>
        <p:spPr>
          <a:xfrm>
            <a:off x="8659368" y="22402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1</a:t>
            </a:r>
            <a:endParaRPr lang="en-US" sz="1300" dirty="0"/>
          </a:p>
        </p:txBody>
      </p:sp>
      <p:sp>
        <p:nvSpPr>
          <p:cNvPr id="10" name="Shape 10"/>
          <p:cNvSpPr/>
          <p:nvPr/>
        </p:nvSpPr>
        <p:spPr>
          <a:xfrm>
            <a:off x="9226296" y="22402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2</a:t>
            </a:r>
            <a:endParaRPr lang="en-US" sz="1300" dirty="0"/>
          </a:p>
        </p:txBody>
      </p:sp>
      <p:sp>
        <p:nvSpPr>
          <p:cNvPr id="11" name="Shape 11"/>
          <p:cNvSpPr/>
          <p:nvPr/>
        </p:nvSpPr>
        <p:spPr>
          <a:xfrm>
            <a:off x="9793224" y="22402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3</a:t>
            </a:r>
            <a:endParaRPr lang="en-US" sz="1300" dirty="0"/>
          </a:p>
        </p:txBody>
      </p:sp>
      <p:sp>
        <p:nvSpPr>
          <p:cNvPr id="12" name="TextBox 12"/>
          <p:cNvSpPr txBox="1"/>
          <p:nvPr/>
        </p:nvSpPr>
        <p:spPr>
          <a:xfrm>
            <a:off x="7223760" y="269748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1</a:t>
            </a:r>
            <a:endParaRPr lang="en-US" sz="1400" dirty="0"/>
          </a:p>
        </p:txBody>
      </p:sp>
      <p:sp>
        <p:nvSpPr>
          <p:cNvPr id="13" name="Shape 13"/>
          <p:cNvSpPr/>
          <p:nvPr/>
        </p:nvSpPr>
        <p:spPr>
          <a:xfrm>
            <a:off x="8092440" y="26974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4</a:t>
            </a:r>
            <a:endParaRPr lang="en-US" sz="1300" dirty="0"/>
          </a:p>
        </p:txBody>
      </p:sp>
      <p:sp>
        <p:nvSpPr>
          <p:cNvPr id="14" name="Shape 14"/>
          <p:cNvSpPr/>
          <p:nvPr/>
        </p:nvSpPr>
        <p:spPr>
          <a:xfrm>
            <a:off x="8659368" y="26974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5</a:t>
            </a:r>
            <a:endParaRPr lang="en-US" sz="1300" dirty="0"/>
          </a:p>
        </p:txBody>
      </p:sp>
      <p:sp>
        <p:nvSpPr>
          <p:cNvPr id="15" name="Shape 15"/>
          <p:cNvSpPr/>
          <p:nvPr/>
        </p:nvSpPr>
        <p:spPr>
          <a:xfrm>
            <a:off x="9226296" y="26974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6</a:t>
            </a:r>
            <a:endParaRPr lang="en-US" sz="1300" dirty="0"/>
          </a:p>
        </p:txBody>
      </p:sp>
      <p:sp>
        <p:nvSpPr>
          <p:cNvPr id="16" name="Shape 16"/>
          <p:cNvSpPr/>
          <p:nvPr/>
        </p:nvSpPr>
        <p:spPr>
          <a:xfrm>
            <a:off x="9793224" y="26974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7</a:t>
            </a:r>
            <a:endParaRPr lang="en-US" sz="1300" dirty="0"/>
          </a:p>
        </p:txBody>
      </p:sp>
      <p:sp>
        <p:nvSpPr>
          <p:cNvPr id="17" name="TextBox 17"/>
          <p:cNvSpPr txBox="1"/>
          <p:nvPr/>
        </p:nvSpPr>
        <p:spPr>
          <a:xfrm>
            <a:off x="7223760" y="315468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2</a:t>
            </a:r>
            <a:endParaRPr lang="en-US" sz="1400" dirty="0"/>
          </a:p>
        </p:txBody>
      </p:sp>
      <p:sp>
        <p:nvSpPr>
          <p:cNvPr id="18" name="Shape 18"/>
          <p:cNvSpPr/>
          <p:nvPr/>
        </p:nvSpPr>
        <p:spPr>
          <a:xfrm>
            <a:off x="8092440" y="31546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8</a:t>
            </a:r>
            <a:endParaRPr lang="en-US" sz="1300" dirty="0"/>
          </a:p>
        </p:txBody>
      </p:sp>
      <p:sp>
        <p:nvSpPr>
          <p:cNvPr id="19" name="Shape 19"/>
          <p:cNvSpPr/>
          <p:nvPr/>
        </p:nvSpPr>
        <p:spPr>
          <a:xfrm>
            <a:off x="8659368" y="31546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9</a:t>
            </a:r>
            <a:endParaRPr lang="en-US" sz="1300" dirty="0"/>
          </a:p>
        </p:txBody>
      </p:sp>
      <p:sp>
        <p:nvSpPr>
          <p:cNvPr id="20" name="Shape 20"/>
          <p:cNvSpPr/>
          <p:nvPr/>
        </p:nvSpPr>
        <p:spPr>
          <a:xfrm>
            <a:off x="9226296" y="31546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10</a:t>
            </a:r>
            <a:endParaRPr lang="en-US" sz="1300" dirty="0"/>
          </a:p>
        </p:txBody>
      </p:sp>
      <p:sp>
        <p:nvSpPr>
          <p:cNvPr id="21" name="Shape 21"/>
          <p:cNvSpPr/>
          <p:nvPr/>
        </p:nvSpPr>
        <p:spPr>
          <a:xfrm>
            <a:off x="9793224" y="31546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11</a:t>
            </a:r>
            <a:endParaRPr lang="en-US" sz="1300" dirty="0"/>
          </a:p>
        </p:txBody>
      </p:sp>
      <p:sp>
        <p:nvSpPr>
          <p:cNvPr id="22" name="TextBox 22"/>
          <p:cNvSpPr txBox="1"/>
          <p:nvPr/>
        </p:nvSpPr>
        <p:spPr>
          <a:xfrm>
            <a:off x="8092440" y="3584448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600" dirty="0">
                <a:solidFill>
                  <a:srgbClr val="6E6E6E"/>
                </a:solidFill>
              </a:rPr>
              <a:t>⋮</a:t>
            </a:r>
            <a:endParaRPr lang="en-US" sz="1600" dirty="0"/>
          </a:p>
        </p:txBody>
      </p:sp>
      <p:sp>
        <p:nvSpPr>
          <p:cNvPr id="23" name="TextBox 23"/>
          <p:cNvSpPr txBox="1"/>
          <p:nvPr/>
        </p:nvSpPr>
        <p:spPr>
          <a:xfrm>
            <a:off x="7223760" y="393192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  <a:latin typeface="Cambria Math"/>
              </a:rPr>
              <a:t>𝑘</a:t>
            </a:r>
            <a:endParaRPr lang="en-US" sz="1400" dirty="0"/>
          </a:p>
        </p:txBody>
      </p:sp>
      <p:sp>
        <p:nvSpPr>
          <p:cNvPr id="24" name="Shape 24"/>
          <p:cNvSpPr/>
          <p:nvPr/>
        </p:nvSpPr>
        <p:spPr>
          <a:xfrm>
            <a:off x="8092440" y="393192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ambria Math"/>
              </a:rPr>
              <a:t>4𝑘</a:t>
            </a:r>
            <a:endParaRPr lang="en-US" sz="1100" dirty="0"/>
          </a:p>
        </p:txBody>
      </p:sp>
      <p:sp>
        <p:nvSpPr>
          <p:cNvPr id="25" name="Shape 25"/>
          <p:cNvSpPr/>
          <p:nvPr/>
        </p:nvSpPr>
        <p:spPr>
          <a:xfrm>
            <a:off x="8659368" y="393192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ambria Math"/>
              </a:rPr>
              <a:t>4𝑘+1</a:t>
            </a:r>
            <a:endParaRPr lang="en-US" sz="1100" dirty="0"/>
          </a:p>
        </p:txBody>
      </p:sp>
      <p:sp>
        <p:nvSpPr>
          <p:cNvPr id="26" name="Shape 26"/>
          <p:cNvSpPr/>
          <p:nvPr/>
        </p:nvSpPr>
        <p:spPr>
          <a:xfrm>
            <a:off x="9226296" y="393192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ambria Math"/>
              </a:rPr>
              <a:t>4𝑘+2</a:t>
            </a:r>
            <a:endParaRPr lang="en-US" sz="1100" dirty="0"/>
          </a:p>
        </p:txBody>
      </p:sp>
      <p:sp>
        <p:nvSpPr>
          <p:cNvPr id="27" name="Shape 27"/>
          <p:cNvSpPr/>
          <p:nvPr/>
        </p:nvSpPr>
        <p:spPr>
          <a:xfrm>
            <a:off x="9793224" y="393192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ambria Math"/>
              </a:rPr>
              <a:t>4𝑘+3</a:t>
            </a:r>
            <a:endParaRPr lang="en-US" sz="1100" dirty="0"/>
          </a:p>
        </p:txBody>
      </p:sp>
      <p:sp>
        <p:nvSpPr>
          <p:cNvPr id="28" name="TextBox 28"/>
          <p:cNvSpPr txBox="1"/>
          <p:nvPr/>
        </p:nvSpPr>
        <p:spPr>
          <a:xfrm>
            <a:off x="8092440" y="45537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 32-bit byte address</a:t>
            </a:r>
            <a:endParaRPr lang="en-US" sz="1200" dirty="0"/>
          </a:p>
        </p:txBody>
      </p:sp>
      <p:sp>
        <p:nvSpPr>
          <p:cNvPr id="29" name="Shape 29"/>
          <p:cNvSpPr/>
          <p:nvPr/>
        </p:nvSpPr>
        <p:spPr>
          <a:xfrm>
            <a:off x="8092440" y="4828032"/>
            <a:ext cx="1920240" cy="56692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word index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330662"/>
                </a:solidFill>
              </a:rPr>
              <a:t>bits 31–2</a:t>
            </a:r>
            <a:endParaRPr lang="en-US" sz="1100" dirty="0"/>
          </a:p>
        </p:txBody>
      </p:sp>
      <p:sp>
        <p:nvSpPr>
          <p:cNvPr id="30" name="Shape 30"/>
          <p:cNvSpPr/>
          <p:nvPr/>
        </p:nvSpPr>
        <p:spPr>
          <a:xfrm>
            <a:off x="10012680" y="4828032"/>
            <a:ext cx="822960" cy="566928"/>
          </a:xfrm>
          <a:prstGeom prst="rect">
            <a:avLst/>
          </a:prstGeom>
          <a:solidFill>
            <a:srgbClr val="DCEFE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00857C"/>
                </a:solidFill>
              </a:rPr>
              <a:t>byte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00857C"/>
                </a:solidFill>
              </a:rPr>
              <a:t>1–0</a:t>
            </a:r>
            <a:endParaRPr lang="en-US" sz="1100" dirty="0"/>
          </a:p>
        </p:txBody>
      </p:sp>
      <p:sp>
        <p:nvSpPr>
          <p:cNvPr id="31" name="TextBox 31"/>
          <p:cNvSpPr txBox="1"/>
          <p:nvPr/>
        </p:nvSpPr>
        <p:spPr>
          <a:xfrm>
            <a:off x="8092440" y="54406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>e.g. </a:t>
            </a:r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0x14</a:t>
            </a:r>
            <a:r>
              <a:rPr lang="en-US" sz="1300" dirty="0">
                <a:solidFill>
                  <a:srgbClr val="262626"/>
                </a:solidFill>
              </a:rPr>
              <a:t> → word 5, byte 0</a:t>
            </a:r>
            <a:endParaRPr lang="en-US" sz="1300" dirty="0"/>
          </a:p>
        </p:txBody>
      </p:sp>
      <p:sp>
        <p:nvSpPr>
          <p:cNvPr id="32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and Word Addresses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126480" cy="3931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262626"/>
                </a:solidFill>
              </a:rPr>
              <a:t>A memory stores 64-bit words and is byte-addressable: byte address 0 is the first byte of word 0, and each word occupies consecutive byte addresses.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(a)</a:t>
            </a:r>
            <a:r>
              <a:rPr lang="en-US" sz="1800" dirty="0">
                <a:solidFill>
                  <a:srgbClr val="262626"/>
                </a:solidFill>
              </a:rPr>
              <a:t>	What is the byte address of word 13? Give it in decimal and in hexadecimal.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(b)</a:t>
            </a:r>
            <a:r>
              <a:rPr lang="en-US" sz="1800" dirty="0">
                <a:solidFill>
                  <a:srgbClr val="262626"/>
                </a:solidFill>
              </a:rPr>
              <a:t>	Which word contains byte address </a:t>
            </a:r>
            <a:r>
              <a:rPr lang="en-US" sz="1800" dirty="0">
                <a:solidFill>
                  <a:srgbClr val="330662"/>
                </a:solidFill>
                <a:latin typeface="Consolas"/>
                <a:cs typeface="Consolas"/>
              </a:rPr>
              <a:t>0x5C</a:t>
            </a:r>
            <a:r>
              <a:rPr lang="en-US" sz="1800" dirty="0">
                <a:solidFill>
                  <a:srgbClr val="262626"/>
                </a:solidFill>
              </a:rPr>
              <a:t>, and at which byte offset within that word?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(c)</a:t>
            </a:r>
            <a:r>
              <a:rPr lang="en-US" sz="1800" dirty="0">
                <a:solidFill>
                  <a:srgbClr val="262626"/>
                </a:solidFill>
              </a:rPr>
              <a:t>	The memory has a depth of 4096 words. How many address bits are needed with byte addressing? How many with word addressing?</a:t>
            </a:r>
            <a:endParaRPr lang="en-US" sz="1800" dirty="0"/>
          </a:p>
        </p:txBody>
      </p:sp>
      <p:sp>
        <p:nvSpPr>
          <p:cNvPr id="5" name="TextBox 5"/>
          <p:cNvSpPr txBox="1"/>
          <p:nvPr/>
        </p:nvSpPr>
        <p:spPr>
          <a:xfrm>
            <a:off x="7589520" y="1691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300" dirty="0">
                <a:solidFill>
                  <a:srgbClr val="6E6E6E"/>
                </a:solidFill>
              </a:rPr>
              <a:t>64-bit words: 8 bytes each</a:t>
            </a:r>
            <a:endParaRPr lang="en-US" sz="1300" dirty="0"/>
          </a:p>
        </p:txBody>
      </p:sp>
      <p:sp>
        <p:nvSpPr>
          <p:cNvPr id="6" name="TextBox 6"/>
          <p:cNvSpPr txBox="1"/>
          <p:nvPr/>
        </p:nvSpPr>
        <p:spPr>
          <a:xfrm>
            <a:off x="7589520" y="205740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8138160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8513064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</a:t>
            </a:r>
            <a:endParaRPr lang="en-US" sz="1100" dirty="0"/>
          </a:p>
        </p:txBody>
      </p:sp>
      <p:sp>
        <p:nvSpPr>
          <p:cNvPr id="9" name="Shape 9"/>
          <p:cNvSpPr/>
          <p:nvPr/>
        </p:nvSpPr>
        <p:spPr>
          <a:xfrm>
            <a:off x="8887968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2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9262872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3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9637776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4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10012680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5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10387584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6</a:t>
            </a:r>
            <a:endParaRPr lang="en-US" sz="1100" dirty="0"/>
          </a:p>
        </p:txBody>
      </p:sp>
      <p:sp>
        <p:nvSpPr>
          <p:cNvPr id="14" name="Shape 14"/>
          <p:cNvSpPr/>
          <p:nvPr/>
        </p:nvSpPr>
        <p:spPr>
          <a:xfrm>
            <a:off x="10762488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7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7589520" y="251460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1</a:t>
            </a:r>
            <a:endParaRPr lang="en-US" sz="1300" dirty="0"/>
          </a:p>
        </p:txBody>
      </p:sp>
      <p:sp>
        <p:nvSpPr>
          <p:cNvPr id="16" name="Shape 16"/>
          <p:cNvSpPr/>
          <p:nvPr/>
        </p:nvSpPr>
        <p:spPr>
          <a:xfrm>
            <a:off x="8138160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8</a:t>
            </a:r>
            <a:endParaRPr lang="en-US" sz="1100" dirty="0"/>
          </a:p>
        </p:txBody>
      </p:sp>
      <p:sp>
        <p:nvSpPr>
          <p:cNvPr id="17" name="Shape 17"/>
          <p:cNvSpPr/>
          <p:nvPr/>
        </p:nvSpPr>
        <p:spPr>
          <a:xfrm>
            <a:off x="8513064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9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8887968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10</a:t>
            </a:r>
            <a:endParaRPr lang="en-US" sz="1100" dirty="0"/>
          </a:p>
        </p:txBody>
      </p:sp>
      <p:sp>
        <p:nvSpPr>
          <p:cNvPr id="19" name="Shape 19"/>
          <p:cNvSpPr/>
          <p:nvPr/>
        </p:nvSpPr>
        <p:spPr>
          <a:xfrm>
            <a:off x="9262872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11</a:t>
            </a:r>
            <a:endParaRPr lang="en-US" sz="1100" dirty="0"/>
          </a:p>
        </p:txBody>
      </p:sp>
      <p:sp>
        <p:nvSpPr>
          <p:cNvPr id="20" name="Shape 20"/>
          <p:cNvSpPr/>
          <p:nvPr/>
        </p:nvSpPr>
        <p:spPr>
          <a:xfrm>
            <a:off x="9637776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12</a:t>
            </a:r>
            <a:endParaRPr lang="en-US" sz="1100" dirty="0"/>
          </a:p>
        </p:txBody>
      </p:sp>
      <p:sp>
        <p:nvSpPr>
          <p:cNvPr id="21" name="Shape 21"/>
          <p:cNvSpPr/>
          <p:nvPr/>
        </p:nvSpPr>
        <p:spPr>
          <a:xfrm>
            <a:off x="10012680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13</a:t>
            </a:r>
            <a:endParaRPr lang="en-US" sz="1100" dirty="0"/>
          </a:p>
        </p:txBody>
      </p:sp>
      <p:sp>
        <p:nvSpPr>
          <p:cNvPr id="22" name="Shape 22"/>
          <p:cNvSpPr/>
          <p:nvPr/>
        </p:nvSpPr>
        <p:spPr>
          <a:xfrm>
            <a:off x="10387584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14</a:t>
            </a:r>
            <a:endParaRPr lang="en-US" sz="1100" dirty="0"/>
          </a:p>
        </p:txBody>
      </p:sp>
      <p:sp>
        <p:nvSpPr>
          <p:cNvPr id="23" name="Shape 23"/>
          <p:cNvSpPr/>
          <p:nvPr/>
        </p:nvSpPr>
        <p:spPr>
          <a:xfrm>
            <a:off x="10762488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15</a:t>
            </a:r>
            <a:endParaRPr lang="en-US" sz="1100" dirty="0"/>
          </a:p>
        </p:txBody>
      </p:sp>
      <p:sp>
        <p:nvSpPr>
          <p:cNvPr id="24" name="TextBox 24"/>
          <p:cNvSpPr txBox="1"/>
          <p:nvPr/>
        </p:nvSpPr>
        <p:spPr>
          <a:xfrm>
            <a:off x="8138160" y="2944368"/>
            <a:ext cx="2999232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600" dirty="0">
                <a:solidFill>
                  <a:srgbClr val="6E6E6E"/>
                </a:solidFill>
              </a:rPr>
              <a:t>⋮</a:t>
            </a:r>
            <a:endParaRPr lang="en-US" sz="1600" dirty="0"/>
          </a:p>
        </p:txBody>
      </p:sp>
      <p:sp>
        <p:nvSpPr>
          <p:cNvPr id="25" name="TextBox 25"/>
          <p:cNvSpPr txBox="1"/>
          <p:nvPr/>
        </p:nvSpPr>
        <p:spPr>
          <a:xfrm>
            <a:off x="7589520" y="342900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500" b="1" dirty="0">
                <a:solidFill>
                  <a:srgbClr val="57068C"/>
                </a:solidFill>
              </a:rPr>
              <a:t>Word 13 starts at byte ?</a:t>
            </a:r>
            <a:endParaRPr lang="en-US" sz="1500" dirty="0"/>
          </a:p>
        </p:txBody>
      </p:sp>
      <p:sp>
        <p:nvSpPr>
          <p:cNvPr id="26" name="TextBox 26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Byte and word addresses</a:t>
            </a:r>
            <a:endParaRPr lang="en-US" sz="1200" dirty="0"/>
          </a:p>
        </p:txBody>
      </p:sp>
      <p:sp>
        <p:nvSpPr>
          <p:cNvPr id="27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and Word Addresses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217920" cy="3931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(a)</a:t>
            </a:r>
            <a:r>
              <a:rPr lang="en-US" sz="1700" dirty="0">
                <a:solidFill>
                  <a:srgbClr val="262626"/>
                </a:solidFill>
              </a:rPr>
              <a:t>	8 bytes per word, so word 13 starts at 13 × 8 = </a:t>
            </a:r>
            <a:r>
              <a:rPr lang="en-US" sz="1700" b="1" dirty="0">
                <a:solidFill>
                  <a:srgbClr val="00857C"/>
                </a:solidFill>
              </a:rPr>
              <a:t>104</a:t>
            </a:r>
            <a:r>
              <a:rPr lang="en-US" sz="1700" dirty="0">
                <a:solidFill>
                  <a:srgbClr val="262626"/>
                </a:solidFill>
              </a:rPr>
              <a:t> = </a:t>
            </a:r>
            <a:r>
              <a:rPr lang="en-US" sz="1700" b="1" dirty="0">
                <a:solidFill>
                  <a:srgbClr val="00857C"/>
                </a:solidFill>
                <a:latin typeface="Consolas"/>
                <a:cs typeface="Consolas"/>
              </a:rPr>
              <a:t>0x68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(b)</a:t>
            </a:r>
            <a:r>
              <a:rPr lang="en-US" sz="1700" dirty="0">
                <a:solidFill>
                  <a:srgbClr val="262626"/>
                </a:solidFill>
              </a:rPr>
              <a:t>	</a:t>
            </a:r>
            <a:r>
              <a:rPr lang="en-US" sz="1700" dirty="0">
                <a:solidFill>
                  <a:srgbClr val="330662"/>
                </a:solidFill>
                <a:latin typeface="Consolas"/>
                <a:cs typeface="Consolas"/>
              </a:rPr>
              <a:t>0x5C</a:t>
            </a:r>
            <a:r>
              <a:rPr lang="en-US" sz="1700" dirty="0">
                <a:solidFill>
                  <a:srgbClr val="262626"/>
                </a:solidFill>
              </a:rPr>
              <a:t> = 92 = 8 × 11 + 4 → </a:t>
            </a:r>
            <a:r>
              <a:rPr lang="en-US" sz="1700" b="1" dirty="0">
                <a:solidFill>
                  <a:srgbClr val="00857C"/>
                </a:solidFill>
              </a:rPr>
              <a:t>word 11</a:t>
            </a:r>
            <a:r>
              <a:rPr lang="en-US" sz="1700" dirty="0">
                <a:solidFill>
                  <a:srgbClr val="262626"/>
                </a:solidFill>
              </a:rPr>
              <a:t>, </a:t>
            </a:r>
            <a:r>
              <a:rPr lang="en-US" sz="1700" b="1" dirty="0">
                <a:solidFill>
                  <a:srgbClr val="00857C"/>
                </a:solidFill>
              </a:rPr>
              <a:t>byte 4</a:t>
            </a:r>
            <a:endParaRPr lang="en-US" sz="1700" dirty="0"/>
          </a:p>
          <a:p>
            <a:pPr marL="411480" indent="0">
              <a:spcBef>
                <a:spcPts val="200"/>
              </a:spcBef>
            </a:pPr>
            <a:r>
              <a:rPr lang="en-US" sz="1500" dirty="0">
                <a:solidFill>
                  <a:srgbClr val="6E6E6E"/>
                </a:solidFill>
              </a:rPr>
              <a:t>word =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addr &gt;&gt; 3</a:t>
            </a:r>
            <a:r>
              <a:rPr lang="en-US" sz="1500" dirty="0">
                <a:solidFill>
                  <a:srgbClr val="6E6E6E"/>
                </a:solidFill>
              </a:rPr>
              <a:t>     byte =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addr &amp; 0x7</a:t>
            </a:r>
            <a:endParaRPr lang="en-US" sz="15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(c)</a:t>
            </a:r>
            <a:r>
              <a:rPr lang="en-US" sz="1700" dirty="0">
                <a:solidFill>
                  <a:srgbClr val="262626"/>
                </a:solidFill>
              </a:rPr>
              <a:t>	Word addressing: 4096 = 2</a:t>
            </a:r>
            <a:r>
              <a:rPr lang="en-US" sz="1700" baseline="30000" dirty="0">
                <a:solidFill>
                  <a:srgbClr val="262626"/>
                </a:solidFill>
              </a:rPr>
              <a:t>12</a:t>
            </a:r>
            <a:r>
              <a:rPr lang="en-US" sz="1700" dirty="0">
                <a:solidFill>
                  <a:srgbClr val="262626"/>
                </a:solidFill>
              </a:rPr>
              <a:t> words → </a:t>
            </a:r>
            <a:r>
              <a:rPr lang="en-US" sz="1700" b="1" dirty="0">
                <a:solidFill>
                  <a:srgbClr val="00857C"/>
                </a:solidFill>
              </a:rPr>
              <a:t>12 bits</a:t>
            </a:r>
            <a:endParaRPr lang="en-US" sz="1700" dirty="0"/>
          </a:p>
          <a:p>
            <a:pPr marL="411480" indent="0">
              <a:spcBef>
                <a:spcPts val="200"/>
              </a:spcBef>
            </a:pPr>
            <a:r>
              <a:rPr lang="en-US" sz="1700" dirty="0">
                <a:solidFill>
                  <a:srgbClr val="262626"/>
                </a:solidFill>
              </a:rPr>
              <a:t>Byte addressing: 4096 × 8 = 2</a:t>
            </a:r>
            <a:r>
              <a:rPr lang="en-US" sz="1700" baseline="30000" dirty="0">
                <a:solidFill>
                  <a:srgbClr val="262626"/>
                </a:solidFill>
              </a:rPr>
              <a:t>15</a:t>
            </a:r>
            <a:r>
              <a:rPr lang="en-US" sz="1700" dirty="0">
                <a:solidFill>
                  <a:srgbClr val="262626"/>
                </a:solidFill>
              </a:rPr>
              <a:t> bytes → </a:t>
            </a:r>
            <a:r>
              <a:rPr lang="en-US" sz="1700" b="1" dirty="0">
                <a:solidFill>
                  <a:srgbClr val="00857C"/>
                </a:solidFill>
              </a:rPr>
              <a:t>15 bits</a:t>
            </a:r>
            <a:endParaRPr lang="en-US" sz="1700" dirty="0"/>
          </a:p>
          <a:p>
            <a:pPr marL="411480" indent="0">
              <a:spcBef>
                <a:spcPts val="200"/>
              </a:spcBef>
            </a:pPr>
            <a:r>
              <a:rPr lang="en-US" sz="1500" dirty="0">
                <a:solidFill>
                  <a:srgbClr val="6E6E6E"/>
                </a:solidFill>
              </a:rPr>
              <a:t>The extra 3 bits select the byte within the word</a:t>
            </a:r>
            <a:endParaRPr lang="en-US" sz="1500" dirty="0"/>
          </a:p>
        </p:txBody>
      </p:sp>
      <p:sp>
        <p:nvSpPr>
          <p:cNvPr id="5" name="TextBox 5"/>
          <p:cNvSpPr txBox="1"/>
          <p:nvPr/>
        </p:nvSpPr>
        <p:spPr>
          <a:xfrm>
            <a:off x="7589520" y="1691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 byte address, 64-bit words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7589520" y="1993392"/>
            <a:ext cx="2377440" cy="56692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word index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330662"/>
                </a:solidFill>
              </a:rPr>
              <a:t>bits 14–3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9966960" y="1993392"/>
            <a:ext cx="1188720" cy="566928"/>
          </a:xfrm>
          <a:prstGeom prst="rect">
            <a:avLst/>
          </a:prstGeom>
          <a:solidFill>
            <a:srgbClr val="DCEFE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00857C"/>
                </a:solidFill>
              </a:rPr>
              <a:t>byte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00857C"/>
                </a:solidFill>
              </a:rPr>
              <a:t>2–0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7589520" y="301752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B4530F"/>
                </a:solidFill>
              </a:rPr>
              <a:t>Common error</a:t>
            </a:r>
            <a:endParaRPr lang="en-US" sz="1500" dirty="0"/>
          </a:p>
          <a:p>
            <a:r>
              <a:rPr lang="en-US" sz="1500" dirty="0">
                <a:solidFill>
                  <a:srgbClr val="262626"/>
                </a:solidFill>
              </a:rPr>
              <a:t>Using 4 bytes per word, the 32-bit habit, gives 52, word 23 and 14 bits.</a:t>
            </a:r>
            <a:endParaRPr lang="en-US" sz="1500" dirty="0"/>
          </a:p>
        </p:txBody>
      </p:sp>
      <p:sp>
        <p:nvSpPr>
          <p:cNvPr id="9" name="TextBox 9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Byte and word addresses</a:t>
            </a:r>
            <a:endParaRPr lang="en-US" sz="1200" dirty="0"/>
          </a:p>
        </p:txBody>
      </p:sp>
      <p:sp>
        <p:nvSpPr>
          <p:cNvPr id="10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EDAE-3E47-5581-CB50-54AC3C85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vs Random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5E04C-E796-9577-582E-43BCBFE2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>
                <a:solidFill>
                  <a:srgbClr val="57068C"/>
                </a:solidFill>
              </a:rPr>
              <a:t>Sequential Access</a:t>
            </a:r>
          </a:p>
          <a:p>
            <a:pPr lvl="1"/>
            <a:r>
              <a:rPr lang="en-US" sz="2000" dirty="0"/>
              <a:t>Access time depends on </a:t>
            </a:r>
            <a:r>
              <a:rPr lang="en-US" sz="2000" i="1" dirty="0"/>
              <a:t>position</a:t>
            </a:r>
            <a:endParaRPr lang="en-US" sz="2000" dirty="0"/>
          </a:p>
          <a:p>
            <a:pPr lvl="1"/>
            <a:r>
              <a:rPr lang="en-US" sz="2000" dirty="0"/>
              <a:t>You must move through data in order</a:t>
            </a:r>
          </a:p>
          <a:p>
            <a:pPr lvl="1"/>
            <a:r>
              <a:rPr lang="en-US" sz="2000" dirty="0"/>
              <a:t>Ex:  Hard disks (seek + rotation)</a:t>
            </a:r>
          </a:p>
          <a:p>
            <a:pPr lvl="1"/>
            <a:r>
              <a:rPr lang="en-US" sz="2000" dirty="0"/>
              <a:t>FIFO queues (logical sequential access)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rgbClr val="57068C"/>
                </a:solidFill>
              </a:rPr>
              <a:t>Random access</a:t>
            </a:r>
          </a:p>
          <a:p>
            <a:pPr lvl="1"/>
            <a:r>
              <a:rPr lang="en-US" sz="2000" dirty="0"/>
              <a:t>Any element can be accessed in constant time</a:t>
            </a:r>
          </a:p>
          <a:p>
            <a:pPr lvl="1"/>
            <a:r>
              <a:rPr lang="en-US" sz="2000" dirty="0"/>
              <a:t>SRAM (on chip block memory, FPGA BRAM)</a:t>
            </a:r>
          </a:p>
          <a:p>
            <a:pPr lvl="1"/>
            <a:r>
              <a:rPr lang="en-US" sz="2000" dirty="0"/>
              <a:t>DRAM (external memory)</a:t>
            </a:r>
          </a:p>
          <a:p>
            <a:pPr lvl="1"/>
            <a:r>
              <a:rPr lang="en-US" sz="2000" dirty="0"/>
              <a:t>Register files (architecturally random access)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0C79D-E2CD-09A5-736D-5B55C0B5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2F88781-B301-D232-E04A-602EA2C54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035" y="1628886"/>
            <a:ext cx="20097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Memory ICs - EPROM, EEPROM and RAM">
            <a:extLst>
              <a:ext uri="{FF2B5EF4-FFF2-40B4-BE49-F238E27FC236}">
                <a16:creationId xmlns:a16="http://schemas.microsoft.com/office/drawing/2014/main" id="{9FF35CD7-0315-739E-3D55-D9234F444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350" y="3899498"/>
            <a:ext cx="18478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9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6F91-FD9F-631E-2A33-E5131BB3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RAM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Three interface signals:</a:t>
                </a:r>
              </a:p>
              <a:p>
                <a:pPr lvl="1"/>
                <a:r>
                  <a:rPr lang="en-US" dirty="0">
                    <a:solidFill>
                      <a:srgbClr val="2F6FA8"/>
                    </a:solidFill>
                  </a:rPr>
                  <a:t>Address</a:t>
                </a:r>
                <a:r>
                  <a:rPr lang="en-US" dirty="0"/>
                  <a:t> input:  Which word to select</a:t>
                </a:r>
              </a:p>
              <a:p>
                <a:pPr lvl="1"/>
                <a:r>
                  <a:rPr lang="en-US" dirty="0">
                    <a:solidFill>
                      <a:srgbClr val="57068C"/>
                    </a:solidFill>
                  </a:rPr>
                  <a:t>Read/Write</a:t>
                </a:r>
                <a:r>
                  <a:rPr lang="en-US" dirty="0"/>
                  <a:t>:  Which direction of transfer</a:t>
                </a:r>
              </a:p>
              <a:p>
                <a:pPr lvl="1"/>
                <a:r>
                  <a:rPr lang="en-US" dirty="0">
                    <a:solidFill>
                      <a:srgbClr val="00857C"/>
                    </a:solidFill>
                  </a:rPr>
                  <a:t>Data</a:t>
                </a:r>
                <a:r>
                  <a:rPr lang="en-US" dirty="0"/>
                  <a:t>:  Value to read or write</a:t>
                </a:r>
              </a:p>
              <a:p>
                <a:r>
                  <a:rPr lang="en-US" dirty="0"/>
                  <a:t>Address input: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bits to select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words</a:t>
                </a:r>
              </a:p>
              <a:p>
                <a:pPr lvl="1"/>
                <a:r>
                  <a:rPr lang="en-US" dirty="0"/>
                  <a:t>Each word has a </a:t>
                </a:r>
                <a:r>
                  <a:rPr lang="en-US" dirty="0" err="1"/>
                  <a:t>wordline</a:t>
                </a:r>
                <a:r>
                  <a:rPr lang="en-US" dirty="0"/>
                  <a:t> select</a:t>
                </a:r>
              </a:p>
              <a:p>
                <a:pPr lvl="1"/>
                <a:r>
                  <a:rPr lang="en-US" dirty="0"/>
                  <a:t>Selection determined by </a:t>
                </a:r>
                <a:r>
                  <a:rPr lang="en-US" dirty="0">
                    <a:solidFill>
                      <a:srgbClr val="2F6FA8"/>
                    </a:solidFill>
                  </a:rPr>
                  <a:t>address decoder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  <a:blipFill>
                <a:blip r:embed="rId2"/>
                <a:stretch>
                  <a:fillRect l="-3166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81D9-985C-08C7-AEB5-1EB08710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8C29252-EDB7-C199-18FF-5CF93424698B}"/>
              </a:ext>
            </a:extLst>
          </p:cNvPr>
          <p:cNvGrpSpPr/>
          <p:nvPr/>
        </p:nvGrpSpPr>
        <p:grpSpPr>
          <a:xfrm>
            <a:off x="324438" y="1630137"/>
            <a:ext cx="5693185" cy="3421538"/>
            <a:chOff x="324438" y="1630137"/>
            <a:chExt cx="5693185" cy="342153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F733FA4-307B-C512-F380-F8D34A28BA50}"/>
                </a:ext>
              </a:extLst>
            </p:cNvPr>
            <p:cNvGrpSpPr/>
            <p:nvPr/>
          </p:nvGrpSpPr>
          <p:grpSpPr>
            <a:xfrm>
              <a:off x="3167386" y="2308781"/>
              <a:ext cx="2397325" cy="296148"/>
              <a:chOff x="3167386" y="2308781"/>
              <a:chExt cx="2397325" cy="296148"/>
            </a:xfrm>
          </p:grpSpPr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3BE214C-0C61-D9C3-A14A-90EFDFD19676}"/>
                </a:ext>
              </a:extLst>
            </p:cNvPr>
            <p:cNvGrpSpPr/>
            <p:nvPr/>
          </p:nvGrpSpPr>
          <p:grpSpPr>
            <a:xfrm>
              <a:off x="3163502" y="2605830"/>
              <a:ext cx="2397325" cy="296148"/>
              <a:chOff x="3167386" y="2308781"/>
              <a:chExt cx="2397325" cy="296148"/>
            </a:xfrm>
          </p:grpSpPr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3C15D42-54C0-8F3D-9D02-372FD33F0E9D}"/>
                </a:ext>
              </a:extLst>
            </p:cNvPr>
            <p:cNvGrpSpPr/>
            <p:nvPr/>
          </p:nvGrpSpPr>
          <p:grpSpPr>
            <a:xfrm>
              <a:off x="3150250" y="4652701"/>
              <a:ext cx="2397325" cy="296148"/>
              <a:chOff x="3167386" y="2308781"/>
              <a:chExt cx="2397325" cy="296148"/>
            </a:xfrm>
          </p:grpSpPr>
        </p:grpSp>
      </p:grpSp>
      <p:sp>
        <p:nvSpPr>
          <p:cNvPr id="25" name="TextBox 2"/>
          <p:cNvSpPr txBox="1"/>
          <p:nvPr/>
        </p:nvSpPr>
        <p:spPr>
          <a:xfrm>
            <a:off x="1097280" y="310896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Address input</a:t>
            </a:r>
            <a:endParaRPr lang="en-US" sz="13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log₂(</a:t>
            </a:r>
            <a:r>
              <a:rPr lang="en-US" sz="1200" dirty="0">
                <a:solidFill>
                  <a:srgbClr val="6E6E6E"/>
                </a:solidFill>
                <a:latin typeface="Cambria Math"/>
              </a:rPr>
              <a:t>𝑁</a:t>
            </a:r>
            <a:r>
              <a:rPr lang="en-US" sz="1200" dirty="0">
                <a:solidFill>
                  <a:srgbClr val="6E6E6E"/>
                </a:solidFill>
              </a:rPr>
              <a:t>) bits</a:t>
            </a:r>
            <a:endParaRPr lang="en-US" sz="1200" dirty="0"/>
          </a:p>
        </p:txBody>
      </p:sp>
      <p:cxnSp>
        <p:nvCxnSpPr>
          <p:cNvPr id="26" name="Connector 3"/>
          <p:cNvCxnSpPr/>
          <p:nvPr/>
        </p:nvCxnSpPr>
        <p:spPr>
          <a:xfrm>
            <a:off x="2377440" y="3474720"/>
            <a:ext cx="365760" cy="0"/>
          </a:xfrm>
          <a:prstGeom prst="straightConnector1">
            <a:avLst/>
          </a:prstGeom>
          <a:ln w="15875">
            <a:solidFill>
              <a:srgbClr val="2F6FA8"/>
            </a:solidFill>
            <a:tailEnd type="triangle" w="med" len="med"/>
          </a:ln>
        </p:spPr>
      </p:cxnSp>
      <p:sp>
        <p:nvSpPr>
          <p:cNvPr id="27" name="Shape 4"/>
          <p:cNvSpPr/>
          <p:nvPr/>
        </p:nvSpPr>
        <p:spPr>
          <a:xfrm>
            <a:off x="2743200" y="3063240"/>
            <a:ext cx="1143000" cy="822960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Address</a:t>
            </a:r>
            <a:endParaRPr lang="en-US" sz="1300" dirty="0"/>
          </a:p>
          <a:p>
            <a:pPr algn="ctr"/>
            <a:r>
              <a:rPr lang="en-US" sz="1300" b="1" dirty="0">
                <a:solidFill>
                  <a:srgbClr val="2F6FA8"/>
                </a:solidFill>
              </a:rPr>
              <a:t>decoder</a:t>
            </a:r>
            <a:endParaRPr lang="en-US" sz="1300" dirty="0"/>
          </a:p>
        </p:txBody>
      </p:sp>
      <p:sp>
        <p:nvSpPr>
          <p:cNvPr id="5" name="TextBox 5"/>
          <p:cNvSpPr txBox="1"/>
          <p:nvPr/>
        </p:nvSpPr>
        <p:spPr>
          <a:xfrm>
            <a:off x="4114800" y="18745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dirty="0">
                <a:solidFill>
                  <a:srgbClr val="6E6E6E"/>
                </a:solidFill>
                <a:latin typeface="Cambria Math"/>
              </a:rPr>
              <a:t>𝑁</a:t>
            </a:r>
            <a:r>
              <a:rPr lang="en-US" sz="1300" dirty="0">
                <a:solidFill>
                  <a:srgbClr val="6E6E6E"/>
                </a:solidFill>
              </a:rPr>
              <a:t> data words</a:t>
            </a:r>
            <a:endParaRPr lang="en-US" sz="1300" dirty="0"/>
          </a:p>
        </p:txBody>
      </p:sp>
      <p:sp>
        <p:nvSpPr>
          <p:cNvPr id="6" name="TextBox 6"/>
          <p:cNvSpPr txBox="1"/>
          <p:nvPr/>
        </p:nvSpPr>
        <p:spPr>
          <a:xfrm>
            <a:off x="5760720" y="1874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dirty="0">
                <a:solidFill>
                  <a:srgbClr val="00857C"/>
                </a:solidFill>
              </a:rPr>
              <a:t>Data bus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4114800" y="2286000"/>
            <a:ext cx="1737360" cy="512064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4114800" y="2798064"/>
            <a:ext cx="1737360" cy="512064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28" name="Shape 9"/>
          <p:cNvSpPr/>
          <p:nvPr/>
        </p:nvSpPr>
        <p:spPr>
          <a:xfrm>
            <a:off x="4114800" y="3310128"/>
            <a:ext cx="1737360" cy="512064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selected word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4114800" y="3822192"/>
            <a:ext cx="1737360" cy="512064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11" name="Shape 11"/>
          <p:cNvSpPr/>
          <p:nvPr/>
        </p:nvSpPr>
        <p:spPr>
          <a:xfrm>
            <a:off x="4114800" y="4334256"/>
            <a:ext cx="1737360" cy="512064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6035040" y="2286000"/>
            <a:ext cx="548640" cy="256032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cxnSp>
        <p:nvCxnSpPr>
          <p:cNvPr id="13" name="Connector 13"/>
          <p:cNvCxnSpPr/>
          <p:nvPr/>
        </p:nvCxnSpPr>
        <p:spPr>
          <a:xfrm>
            <a:off x="3931920" y="2542032"/>
            <a:ext cx="137160" cy="0"/>
          </a:xfrm>
          <a:prstGeom prst="straightConnector1">
            <a:avLst/>
          </a:prstGeom>
          <a:ln w="12700">
            <a:solidFill>
              <a:srgbClr val="2F6FA8"/>
            </a:solidFill>
            <a:tailEnd type="triangle" w="med" len="med"/>
          </a:ln>
        </p:spPr>
      </p:cxnSp>
      <p:cxnSp>
        <p:nvCxnSpPr>
          <p:cNvPr id="14" name="Connector 14"/>
          <p:cNvCxnSpPr/>
          <p:nvPr/>
        </p:nvCxnSpPr>
        <p:spPr>
          <a:xfrm flipH="1">
            <a:off x="5897880" y="2542032"/>
            <a:ext cx="182880" cy="0"/>
          </a:xfrm>
          <a:prstGeom prst="straightConnector1">
            <a:avLst/>
          </a:prstGeom>
          <a:ln w="12700">
            <a:solidFill>
              <a:srgbClr val="00857C"/>
            </a:solidFill>
          </a:ln>
        </p:spPr>
      </p:cxnSp>
      <p:cxnSp>
        <p:nvCxnSpPr>
          <p:cNvPr id="15" name="Connector 15"/>
          <p:cNvCxnSpPr/>
          <p:nvPr/>
        </p:nvCxnSpPr>
        <p:spPr>
          <a:xfrm>
            <a:off x="3931920" y="3054096"/>
            <a:ext cx="137160" cy="0"/>
          </a:xfrm>
          <a:prstGeom prst="straightConnector1">
            <a:avLst/>
          </a:prstGeom>
          <a:ln w="12700">
            <a:solidFill>
              <a:srgbClr val="2F6FA8"/>
            </a:solidFill>
            <a:tailEnd type="triangle" w="med" len="med"/>
          </a:ln>
        </p:spPr>
      </p:cxnSp>
      <p:cxnSp>
        <p:nvCxnSpPr>
          <p:cNvPr id="16" name="Connector 16"/>
          <p:cNvCxnSpPr/>
          <p:nvPr/>
        </p:nvCxnSpPr>
        <p:spPr>
          <a:xfrm flipH="1">
            <a:off x="5897880" y="3054096"/>
            <a:ext cx="182880" cy="0"/>
          </a:xfrm>
          <a:prstGeom prst="straightConnector1">
            <a:avLst/>
          </a:prstGeom>
          <a:ln w="12700">
            <a:solidFill>
              <a:srgbClr val="00857C"/>
            </a:solidFill>
          </a:ln>
        </p:spPr>
      </p:cxnSp>
      <p:cxnSp>
        <p:nvCxnSpPr>
          <p:cNvPr id="17" name="Connector 17"/>
          <p:cNvCxnSpPr/>
          <p:nvPr/>
        </p:nvCxnSpPr>
        <p:spPr>
          <a:xfrm>
            <a:off x="3931920" y="3566160"/>
            <a:ext cx="137160" cy="0"/>
          </a:xfrm>
          <a:prstGeom prst="straightConnector1">
            <a:avLst/>
          </a:prstGeom>
          <a:ln w="12700">
            <a:solidFill>
              <a:srgbClr val="2F6FA8"/>
            </a:solidFill>
            <a:tailEnd type="triangle" w="med" len="med"/>
          </a:ln>
        </p:spPr>
      </p:cxnSp>
      <p:cxnSp>
        <p:nvCxnSpPr>
          <p:cNvPr id="18" name="Connector 18"/>
          <p:cNvCxnSpPr/>
          <p:nvPr/>
        </p:nvCxnSpPr>
        <p:spPr>
          <a:xfrm flipH="1">
            <a:off x="5897880" y="3566160"/>
            <a:ext cx="182880" cy="0"/>
          </a:xfrm>
          <a:prstGeom prst="straightConnector1">
            <a:avLst/>
          </a:prstGeom>
          <a:ln w="12700">
            <a:solidFill>
              <a:srgbClr val="00857C"/>
            </a:solidFill>
          </a:ln>
        </p:spPr>
      </p:cxnSp>
      <p:cxnSp>
        <p:nvCxnSpPr>
          <p:cNvPr id="19" name="Connector 19"/>
          <p:cNvCxnSpPr/>
          <p:nvPr/>
        </p:nvCxnSpPr>
        <p:spPr>
          <a:xfrm>
            <a:off x="3931920" y="4078224"/>
            <a:ext cx="137160" cy="0"/>
          </a:xfrm>
          <a:prstGeom prst="straightConnector1">
            <a:avLst/>
          </a:prstGeom>
          <a:ln w="12700">
            <a:solidFill>
              <a:srgbClr val="2F6FA8"/>
            </a:solidFill>
            <a:tailEnd type="triangle" w="med" len="med"/>
          </a:ln>
        </p:spPr>
      </p:cxnSp>
      <p:cxnSp>
        <p:nvCxnSpPr>
          <p:cNvPr id="20" name="Connector 20"/>
          <p:cNvCxnSpPr/>
          <p:nvPr/>
        </p:nvCxnSpPr>
        <p:spPr>
          <a:xfrm flipH="1">
            <a:off x="5897880" y="4078224"/>
            <a:ext cx="182880" cy="0"/>
          </a:xfrm>
          <a:prstGeom prst="straightConnector1">
            <a:avLst/>
          </a:prstGeom>
          <a:ln w="12700">
            <a:solidFill>
              <a:srgbClr val="00857C"/>
            </a:solidFill>
          </a:ln>
        </p:spPr>
      </p:cxnSp>
      <p:cxnSp>
        <p:nvCxnSpPr>
          <p:cNvPr id="21" name="Connector 21"/>
          <p:cNvCxnSpPr/>
          <p:nvPr/>
        </p:nvCxnSpPr>
        <p:spPr>
          <a:xfrm>
            <a:off x="3931920" y="4590288"/>
            <a:ext cx="137160" cy="0"/>
          </a:xfrm>
          <a:prstGeom prst="straightConnector1">
            <a:avLst/>
          </a:prstGeom>
          <a:ln w="12700">
            <a:solidFill>
              <a:srgbClr val="2F6FA8"/>
            </a:solidFill>
            <a:tailEnd type="triangle" w="med" len="med"/>
          </a:ln>
        </p:spPr>
      </p:cxnSp>
      <p:cxnSp>
        <p:nvCxnSpPr>
          <p:cNvPr id="22" name="Connector 22"/>
          <p:cNvCxnSpPr/>
          <p:nvPr/>
        </p:nvCxnSpPr>
        <p:spPr>
          <a:xfrm flipH="1">
            <a:off x="5897880" y="4590288"/>
            <a:ext cx="182880" cy="0"/>
          </a:xfrm>
          <a:prstGeom prst="straightConnector1">
            <a:avLst/>
          </a:prstGeom>
          <a:ln w="12700">
            <a:solidFill>
              <a:srgbClr val="00857C"/>
            </a:solidFill>
          </a:ln>
        </p:spPr>
      </p:cxnSp>
      <p:sp>
        <p:nvSpPr>
          <p:cNvPr id="23" name="TextBox 23"/>
          <p:cNvSpPr txBox="1"/>
          <p:nvPr/>
        </p:nvSpPr>
        <p:spPr>
          <a:xfrm>
            <a:off x="4114800" y="49560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one row per word</a:t>
            </a:r>
            <a:endParaRPr lang="en-US" sz="1200" dirty="0"/>
          </a:p>
        </p:txBody>
      </p:sp>
      <p:sp>
        <p:nvSpPr>
          <p:cNvPr id="24" name="TextBox 24"/>
          <p:cNvSpPr txBox="1"/>
          <p:nvPr/>
        </p:nvSpPr>
        <p:spPr>
          <a:xfrm>
            <a:off x="5760720" y="49560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262626"/>
                </a:solidFill>
              </a:rPr>
              <a:t>R/W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24753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A1FB-37A4-5A49-792B-9D4C50C6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5CCBB-9E49-9D87-05AC-A5E3351341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>
                    <a:solidFill>
                      <a:srgbClr val="57068C"/>
                    </a:solidFill>
                  </a:rPr>
                  <a:t>Bus</a:t>
                </a:r>
                <a:r>
                  <a:rPr lang="en-US" dirty="0"/>
                  <a:t>:  A </a:t>
                </a:r>
                <a:r>
                  <a:rPr lang="en-US" dirty="0">
                    <a:solidFill>
                      <a:srgbClr val="57068C"/>
                    </a:solidFill>
                  </a:rPr>
                  <a:t>shared</a:t>
                </a:r>
                <a:r>
                  <a:rPr lang="en-US" dirty="0"/>
                  <a:t> communication pathway for multiple units</a:t>
                </a:r>
              </a:p>
              <a:p>
                <a:pPr lvl="1"/>
                <a:r>
                  <a:rPr lang="en-US" dirty="0"/>
                  <a:t>Physically a set of wires </a:t>
                </a:r>
              </a:p>
              <a:p>
                <a:pPr lvl="1"/>
                <a:r>
                  <a:rPr lang="en-US" dirty="0"/>
                  <a:t>For data, addresses, and control</a:t>
                </a:r>
              </a:p>
              <a:p>
                <a:pPr lvl="1"/>
                <a:r>
                  <a:rPr lang="en-US" dirty="0"/>
                  <a:t>A shared </a:t>
                </a:r>
                <a:r>
                  <a:rPr lang="en-US" dirty="0">
                    <a:solidFill>
                      <a:srgbClr val="57068C"/>
                    </a:solidFill>
                  </a:rPr>
                  <a:t>protocol</a:t>
                </a:r>
                <a:r>
                  <a:rPr lang="en-US" dirty="0"/>
                  <a:t> so only one unit drives the bus at a time</a:t>
                </a:r>
              </a:p>
              <a:p>
                <a:r>
                  <a:rPr lang="en-US" dirty="0"/>
                  <a:t>Many examples: </a:t>
                </a:r>
              </a:p>
              <a:p>
                <a:pPr lvl="1"/>
                <a:r>
                  <a:rPr lang="en-US" dirty="0"/>
                  <a:t>Multiple memory units connected to a common data bus</a:t>
                </a:r>
              </a:p>
              <a:p>
                <a:pPr lvl="1"/>
                <a:r>
                  <a:rPr lang="en-US" dirty="0"/>
                  <a:t>A processor and multiple memory units sharing address or data</a:t>
                </a:r>
              </a:p>
              <a:p>
                <a:pPr lvl="1"/>
                <a:r>
                  <a:rPr lang="en-US" dirty="0"/>
                  <a:t>Multiple peripherals on an SoC sharing an </a:t>
                </a:r>
                <a:r>
                  <a:rPr lang="en-US" dirty="0">
                    <a:solidFill>
                      <a:srgbClr val="57068C"/>
                    </a:solidFill>
                  </a:rPr>
                  <a:t>AXI bus</a:t>
                </a:r>
              </a:p>
              <a:p>
                <a:pPr lvl="1"/>
                <a:r>
                  <a:rPr lang="en-US" dirty="0"/>
                  <a:t>Multiple devices on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57068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57068C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57068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57068C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rgbClr val="57068C"/>
                    </a:solidFill>
                  </a:rPr>
                  <a:t> </a:t>
                </a:r>
                <a:r>
                  <a:rPr lang="en-US" dirty="0"/>
                  <a:t>or </a:t>
                </a:r>
                <a:r>
                  <a:rPr lang="en-US" dirty="0">
                    <a:solidFill>
                      <a:srgbClr val="57068C"/>
                    </a:solidFill>
                  </a:rPr>
                  <a:t>SPI bus</a:t>
                </a:r>
              </a:p>
              <a:p>
                <a:pPr lvl="1"/>
                <a:r>
                  <a:rPr lang="en-US" dirty="0"/>
                  <a:t>…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5CCBB-9E49-9D87-05AC-A5E3351341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  <a:blipFill>
                <a:blip r:embed="rId2"/>
                <a:stretch>
                  <a:fillRect l="-2286" t="-1549" r="-286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B8CD7-B43C-D0F5-BCA5-90C5EF28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11" name="Shape 2"/>
          <p:cNvSpPr/>
          <p:nvPr/>
        </p:nvSpPr>
        <p:spPr>
          <a:xfrm>
            <a:off x="8138160" y="2103120"/>
            <a:ext cx="365760" cy="301752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12" name="TextBox 3"/>
          <p:cNvSpPr txBox="1"/>
          <p:nvPr/>
        </p:nvSpPr>
        <p:spPr>
          <a:xfrm>
            <a:off x="7818120" y="173736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400" b="1" dirty="0">
                <a:solidFill>
                  <a:srgbClr val="57068C"/>
                </a:solidFill>
              </a:rPr>
              <a:t>Bus</a:t>
            </a:r>
            <a:endParaRPr lang="en-US" sz="1400" dirty="0"/>
          </a:p>
        </p:txBody>
      </p:sp>
      <p:sp>
        <p:nvSpPr>
          <p:cNvPr id="13" name="Shape 4"/>
          <p:cNvSpPr/>
          <p:nvPr/>
        </p:nvSpPr>
        <p:spPr>
          <a:xfrm>
            <a:off x="9326880" y="2331720"/>
            <a:ext cx="1737360" cy="566928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</a:rPr>
              <a:t>Unit A</a:t>
            </a:r>
            <a:endParaRPr lang="en-US" sz="1400" dirty="0"/>
          </a:p>
        </p:txBody>
      </p:sp>
      <p:cxnSp>
        <p:nvCxnSpPr>
          <p:cNvPr id="5" name="Connector 5"/>
          <p:cNvCxnSpPr/>
          <p:nvPr/>
        </p:nvCxnSpPr>
        <p:spPr>
          <a:xfrm>
            <a:off x="8503920" y="2615184"/>
            <a:ext cx="82296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  <p:sp>
        <p:nvSpPr>
          <p:cNvPr id="6" name="Shape 6"/>
          <p:cNvSpPr/>
          <p:nvPr/>
        </p:nvSpPr>
        <p:spPr>
          <a:xfrm>
            <a:off x="9326880" y="3429000"/>
            <a:ext cx="1737360" cy="566928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</a:rPr>
              <a:t>Unit B</a:t>
            </a:r>
            <a:endParaRPr lang="en-US" sz="1400" dirty="0"/>
          </a:p>
        </p:txBody>
      </p:sp>
      <p:cxnSp>
        <p:nvCxnSpPr>
          <p:cNvPr id="7" name="Connector 7"/>
          <p:cNvCxnSpPr/>
          <p:nvPr/>
        </p:nvCxnSpPr>
        <p:spPr>
          <a:xfrm>
            <a:off x="8503920" y="3712464"/>
            <a:ext cx="82296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  <p:sp>
        <p:nvSpPr>
          <p:cNvPr id="8" name="Shape 8"/>
          <p:cNvSpPr/>
          <p:nvPr/>
        </p:nvSpPr>
        <p:spPr>
          <a:xfrm>
            <a:off x="9326880" y="4526280"/>
            <a:ext cx="1737360" cy="566928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</a:rPr>
              <a:t>Unit C</a:t>
            </a:r>
            <a:endParaRPr lang="en-US" sz="1400" dirty="0"/>
          </a:p>
        </p:txBody>
      </p:sp>
      <p:cxnSp>
        <p:nvCxnSpPr>
          <p:cNvPr id="9" name="Connector 9"/>
          <p:cNvCxnSpPr/>
          <p:nvPr/>
        </p:nvCxnSpPr>
        <p:spPr>
          <a:xfrm>
            <a:off x="8503920" y="4809744"/>
            <a:ext cx="82296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  <p:sp>
        <p:nvSpPr>
          <p:cNvPr id="10" name="TextBox 10"/>
          <p:cNvSpPr txBox="1"/>
          <p:nvPr/>
        </p:nvSpPr>
        <p:spPr>
          <a:xfrm>
            <a:off x="7589520" y="53492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One unit drives the bus at a time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22591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Maps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097280" y="1600200"/>
            <a:ext cx="5806440" cy="3931920"/>
          </a:xfrm>
        </p:spPr>
        <p:txBody>
          <a:bodyPr>
            <a:noAutofit/>
          </a:bodyPr>
          <a:lstStyle>
            <a:lvl1pPr marL="274320" indent="-274320">
              <a:spcBef>
                <a:spcPts val="1400"/>
              </a:spcBef>
              <a:buClr>
                <a:srgbClr val="57068C"/>
              </a:buClr>
              <a:buSzPct val="70000"/>
              <a:buFont typeface="Arial"/>
              <a:buChar char="■"/>
              <a:defRPr sz="2000"/>
            </a:lvl1pPr>
            <a:lvl2pPr marL="621792" indent="-228600">
              <a:spcBef>
                <a:spcPts val="400"/>
              </a:spcBef>
              <a:buClr>
                <a:srgbClr val="999999"/>
              </a:buClr>
              <a:buSzPct val="100000"/>
              <a:buFont typeface="Arial"/>
              <a:buChar char="–"/>
              <a:defRPr sz="1700"/>
            </a:lvl2pPr>
          </a:lstStyle>
          <a:p>
            <a:r>
              <a:rPr lang="en-US" dirty="0"/>
              <a:t>Modules on a shared bus share one </a:t>
            </a:r>
            <a:r>
              <a:rPr lang="en-US" b="1" dirty="0">
                <a:solidFill>
                  <a:srgbClr val="57068C"/>
                </a:solidFill>
              </a:rPr>
              <a:t>global address space</a:t>
            </a:r>
            <a:endParaRPr lang="en-US" dirty="0"/>
          </a:p>
          <a:p>
            <a:r>
              <a:rPr lang="en-US" dirty="0"/>
              <a:t>Each module gets a </a:t>
            </a:r>
            <a:r>
              <a:rPr lang="en-US" b="1" dirty="0">
                <a:solidFill>
                  <a:srgbClr val="57068C"/>
                </a:solidFill>
              </a:rPr>
              <a:t>base address</a:t>
            </a:r>
            <a:r>
              <a:rPr lang="en-US" dirty="0"/>
              <a:t> and a size</a:t>
            </a:r>
          </a:p>
          <a:p>
            <a:pPr lvl="1"/>
            <a:r>
              <a:rPr lang="en-US" dirty="0"/>
              <a:t>Size a power of two; base aligned to the size</a:t>
            </a:r>
          </a:p>
          <a:p>
            <a:r>
              <a:rPr lang="en-US" b="1" dirty="0">
                <a:solidFill>
                  <a:srgbClr val="57068C"/>
                </a:solidFill>
              </a:rPr>
              <a:t>Local address</a:t>
            </a:r>
            <a:r>
              <a:rPr lang="en-US" dirty="0"/>
              <a:t>: the offset within a module</a:t>
            </a:r>
          </a:p>
          <a:p>
            <a:pPr lvl="1"/>
            <a:r>
              <a:rPr lang="en-US" dirty="0"/>
              <a:t>Global address = base + local address</a:t>
            </a:r>
          </a:p>
          <a:p>
            <a:pPr lvl="1"/>
            <a:r>
              <a:rPr lang="en-US" dirty="0"/>
              <a:t>The module's decoder sees only the local address</a:t>
            </a:r>
          </a:p>
          <a:p>
            <a:r>
              <a:rPr lang="en-US" dirty="0"/>
              <a:t>Decoding a global address</a:t>
            </a:r>
          </a:p>
          <a:p>
            <a:pPr lvl="1"/>
            <a:r>
              <a:rPr lang="en-US" dirty="0"/>
              <a:t>Upper bits select the module</a:t>
            </a:r>
          </a:p>
          <a:p>
            <a:pPr lvl="1"/>
            <a:r>
              <a:rPr lang="en-US" dirty="0"/>
              <a:t>Lower bits are the local address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7280" y="553212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Vitis also says “global memory” for off-chip DDR, a different meaning.</a:t>
            </a:r>
            <a:endParaRPr lang="en-US" sz="1200" dirty="0"/>
          </a:p>
        </p:txBody>
      </p:sp>
      <p:sp>
        <p:nvSpPr>
          <p:cNvPr id="5" name="TextBox 5"/>
          <p:cNvSpPr txBox="1"/>
          <p:nvPr/>
        </p:nvSpPr>
        <p:spPr>
          <a:xfrm>
            <a:off x="7132320" y="162763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Example address map (not to scale)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9189720" y="1965960"/>
            <a:ext cx="1965960" cy="96012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330662"/>
                </a:solidFill>
              </a:rPr>
              <a:t>DDR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1 GB</a:t>
            </a:r>
            <a:endParaRPr lang="en-US" sz="1200" dirty="0"/>
          </a:p>
        </p:txBody>
      </p:sp>
      <p:sp>
        <p:nvSpPr>
          <p:cNvPr id="7" name="Shape 7"/>
          <p:cNvSpPr/>
          <p:nvPr/>
        </p:nvSpPr>
        <p:spPr>
          <a:xfrm>
            <a:off x="9189720" y="3154680"/>
            <a:ext cx="1965960" cy="68580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00857C"/>
                </a:solidFill>
              </a:rPr>
              <a:t>BRAM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8 KB</a:t>
            </a:r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9189720" y="4069080"/>
            <a:ext cx="1965960" cy="68580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330662"/>
                </a:solidFill>
              </a:rPr>
              <a:t>IP registers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4 KB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7086600" y="196596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0x0000_0000</a:t>
            </a:r>
            <a:endParaRPr lang="en-US" sz="1200" dirty="0"/>
          </a:p>
        </p:txBody>
      </p:sp>
      <p:sp>
        <p:nvSpPr>
          <p:cNvPr id="10" name="TextBox 10"/>
          <p:cNvSpPr txBox="1"/>
          <p:nvPr/>
        </p:nvSpPr>
        <p:spPr>
          <a:xfrm>
            <a:off x="7086600" y="26700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0x3FFF_FFFF</a:t>
            </a:r>
            <a:endParaRPr lang="en-US" sz="1200" dirty="0"/>
          </a:p>
        </p:txBody>
      </p:sp>
      <p:sp>
        <p:nvSpPr>
          <p:cNvPr id="11" name="TextBox 11"/>
          <p:cNvSpPr txBox="1"/>
          <p:nvPr/>
        </p:nvSpPr>
        <p:spPr>
          <a:xfrm>
            <a:off x="7086600" y="31546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0x4000_0000</a:t>
            </a:r>
            <a:endParaRPr lang="en-US" sz="1200" dirty="0"/>
          </a:p>
        </p:txBody>
      </p:sp>
      <p:sp>
        <p:nvSpPr>
          <p:cNvPr id="12" name="TextBox 12"/>
          <p:cNvSpPr txBox="1"/>
          <p:nvPr/>
        </p:nvSpPr>
        <p:spPr>
          <a:xfrm>
            <a:off x="7086600" y="35935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0x4000_1FFF</a:t>
            </a:r>
            <a:endParaRPr lang="en-US" sz="1200" dirty="0"/>
          </a:p>
        </p:txBody>
      </p:sp>
      <p:sp>
        <p:nvSpPr>
          <p:cNvPr id="13" name="TextBox 13"/>
          <p:cNvSpPr txBox="1"/>
          <p:nvPr/>
        </p:nvSpPr>
        <p:spPr>
          <a:xfrm>
            <a:off x="7086600" y="40690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0x4001_0000</a:t>
            </a:r>
            <a:endParaRPr lang="en-US" sz="1200" dirty="0"/>
          </a:p>
        </p:txBody>
      </p:sp>
      <p:sp>
        <p:nvSpPr>
          <p:cNvPr id="14" name="TextBox 14"/>
          <p:cNvSpPr txBox="1"/>
          <p:nvPr/>
        </p:nvSpPr>
        <p:spPr>
          <a:xfrm>
            <a:off x="7086600" y="45079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0x4001_0FFF</a:t>
            </a:r>
            <a:endParaRPr lang="en-US" sz="1200" dirty="0"/>
          </a:p>
        </p:txBody>
      </p:sp>
      <p:sp>
        <p:nvSpPr>
          <p:cNvPr id="15" name="Shape 15"/>
          <p:cNvSpPr/>
          <p:nvPr/>
        </p:nvSpPr>
        <p:spPr>
          <a:xfrm>
            <a:off x="7132320" y="4937760"/>
            <a:ext cx="4023360" cy="777240"/>
          </a:xfrm>
          <a:prstGeom prst="roundRect">
            <a:avLst>
              <a:gd name="adj" fmla="val 12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262626"/>
                </a:solidFill>
              </a:rPr>
              <a:t>Global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0x4000_0104</a:t>
            </a:r>
            <a:r>
              <a:rPr lang="en-US" sz="1400" dirty="0">
                <a:solidFill>
                  <a:srgbClr val="262626"/>
                </a:solidFill>
              </a:rPr>
              <a:t> → </a:t>
            </a:r>
            <a:r>
              <a:rPr lang="en-US" sz="1400" b="1" dirty="0">
                <a:solidFill>
                  <a:srgbClr val="57068C"/>
                </a:solidFill>
              </a:rPr>
              <a:t>BRAM</a:t>
            </a:r>
            <a:endParaRPr lang="en-US" sz="14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local =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0x4000_0104</a:t>
            </a:r>
            <a:r>
              <a:rPr lang="en-US" sz="1200" dirty="0">
                <a:solidFill>
                  <a:srgbClr val="6E6E6E"/>
                </a:solidFill>
              </a:rPr>
              <a:t> −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0x4000_0000</a:t>
            </a:r>
            <a:r>
              <a:rPr lang="en-US" sz="1200" dirty="0">
                <a:solidFill>
                  <a:srgbClr val="6E6E6E"/>
                </a:solidFill>
              </a:rPr>
              <a:t> =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0x104</a:t>
            </a:r>
            <a:endParaRPr lang="en-US" sz="1200" dirty="0"/>
          </a:p>
        </p:txBody>
      </p:sp>
      <p:sp>
        <p:nvSpPr>
          <p:cNvPr id="16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and Local Addresses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126480" cy="3977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262626"/>
                </a:solidFill>
              </a:rPr>
              <a:t>A processor bus uses 32-bit byte addresses. Three modules share it, each occupying a contiguous range of the global address space that starts at its base address.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>	What global address does the processor use to access word 100 of Memory B?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>	The processor reads global address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0x0000_2A0C</a:t>
            </a:r>
            <a:r>
              <a:rPr lang="en-US" sz="1600" dirty="0">
                <a:solidFill>
                  <a:srgbClr val="262626"/>
                </a:solidFill>
              </a:rPr>
              <a:t>. Which module responds? What is the local byte address, and which local word is it?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>	What is the highest global address that belongs to Memory B? How many bits does Memory B need for its local byte address?</a:t>
            </a:r>
            <a:endParaRPr lang="en-US" sz="1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498080" y="1737360"/>
          <a:ext cx="361188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Base address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Memory A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0x0000_0000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 KB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Memory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0x0001_0000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64 KB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IP registers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0x0002_0000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256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7498080" y="3429000"/>
            <a:ext cx="361188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>Both memories store 32-bit words.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262626"/>
                </a:solidFill>
              </a:rPr>
              <a:t>1 KB = 1024 bytes.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57068C"/>
                </a:solidFill>
              </a:rPr>
              <a:t>Local address</a:t>
            </a:r>
            <a:r>
              <a:rPr lang="en-US" sz="1300" dirty="0">
                <a:solidFill>
                  <a:srgbClr val="262626"/>
                </a:solidFill>
              </a:rPr>
              <a:t>: offset from the module's base address</a:t>
            </a:r>
            <a:endParaRPr lang="en-US" sz="1300" dirty="0"/>
          </a:p>
          <a:p>
            <a:r>
              <a:rPr lang="en-US" sz="1300" b="1" dirty="0">
                <a:solidFill>
                  <a:srgbClr val="57068C"/>
                </a:solidFill>
              </a:rPr>
              <a:t>Global address</a:t>
            </a:r>
            <a:r>
              <a:rPr lang="en-US" sz="1300" dirty="0">
                <a:solidFill>
                  <a:srgbClr val="262626"/>
                </a:solidFill>
              </a:rPr>
              <a:t> = base + local address</a:t>
            </a:r>
            <a:endParaRPr lang="en-US" sz="1300" dirty="0"/>
          </a:p>
        </p:txBody>
      </p:sp>
      <p:sp>
        <p:nvSpPr>
          <p:cNvPr id="7" name="TextBox 7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Global and local addresses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and Local Addresses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309360" cy="3977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>	Word 100 → local byte 100 × 4 = 400 =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0x190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>Global: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0x0001_0000</a:t>
            </a:r>
            <a:r>
              <a:rPr lang="en-US" sz="1600" dirty="0">
                <a:solidFill>
                  <a:srgbClr val="262626"/>
                </a:solidFill>
              </a:rPr>
              <a:t> +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0x190</a:t>
            </a:r>
            <a:r>
              <a:rPr lang="en-US" sz="1600" dirty="0">
                <a:solidFill>
                  <a:srgbClr val="262626"/>
                </a:solidFill>
              </a:rPr>
              <a:t> =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0x0001_0190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>	Memory A spans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0x0000_0000</a:t>
            </a:r>
            <a:r>
              <a:rPr lang="en-US" sz="1600" dirty="0">
                <a:solidFill>
                  <a:srgbClr val="262626"/>
                </a:solidFill>
              </a:rPr>
              <a:t>–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0x0000_3FFF</a:t>
            </a:r>
            <a:r>
              <a:rPr lang="en-US" sz="1600" dirty="0">
                <a:solidFill>
                  <a:srgbClr val="262626"/>
                </a:solidFill>
              </a:rPr>
              <a:t> (16 KB =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0x4000</a:t>
            </a:r>
            <a:r>
              <a:rPr lang="en-US" sz="1600" dirty="0">
                <a:solidFill>
                  <a:srgbClr val="262626"/>
                </a:solidFill>
              </a:rPr>
              <a:t>)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0x2A0C</a:t>
            </a:r>
            <a:r>
              <a:rPr lang="en-US" sz="1600" dirty="0">
                <a:solidFill>
                  <a:srgbClr val="262626"/>
                </a:solidFill>
              </a:rPr>
              <a:t> falls inside → </a:t>
            </a:r>
            <a:r>
              <a:rPr lang="en-US" sz="1600" b="1" dirty="0">
                <a:solidFill>
                  <a:srgbClr val="00857C"/>
                </a:solidFill>
              </a:rPr>
              <a:t>Memory A</a:t>
            </a:r>
            <a:r>
              <a:rPr lang="en-US" sz="1600" dirty="0">
                <a:solidFill>
                  <a:srgbClr val="262626"/>
                </a:solidFill>
              </a:rPr>
              <a:t>, local byte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0x2A0C</a:t>
            </a:r>
            <a:r>
              <a:rPr lang="en-US" sz="1600" dirty="0">
                <a:solidFill>
                  <a:srgbClr val="262626"/>
                </a:solidFill>
              </a:rPr>
              <a:t> (10764)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>Local word =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0x2A0C</a:t>
            </a:r>
            <a:r>
              <a:rPr lang="en-US" sz="1600" dirty="0">
                <a:solidFill>
                  <a:srgbClr val="262626"/>
                </a:solidFill>
              </a:rPr>
              <a:t> / 4 =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0xA83</a:t>
            </a:r>
            <a:r>
              <a:rPr lang="en-US" sz="1600" b="1" dirty="0">
                <a:solidFill>
                  <a:srgbClr val="00857C"/>
                </a:solidFill>
              </a:rPr>
              <a:t> = 2691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>	64 KB =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0x1_0000</a:t>
            </a:r>
            <a:r>
              <a:rPr lang="en-US" sz="1600" dirty="0">
                <a:solidFill>
                  <a:srgbClr val="262626"/>
                </a:solidFill>
              </a:rPr>
              <a:t> bytes → B ends at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0x0001_FFFF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>Local byte addresses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0x0000</a:t>
            </a:r>
            <a:r>
              <a:rPr lang="en-US" sz="1600" dirty="0">
                <a:solidFill>
                  <a:srgbClr val="262626"/>
                </a:solidFill>
              </a:rPr>
              <a:t>–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0xFFFF</a:t>
            </a:r>
            <a:r>
              <a:rPr lang="en-US" sz="1600" dirty="0">
                <a:solidFill>
                  <a:srgbClr val="262626"/>
                </a:solidFill>
              </a:rPr>
              <a:t> → </a:t>
            </a:r>
            <a:r>
              <a:rPr lang="en-US" sz="1600" b="1" dirty="0">
                <a:solidFill>
                  <a:srgbClr val="00857C"/>
                </a:solidFill>
              </a:rPr>
              <a:t>16 bits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9144000" y="1783080"/>
            <a:ext cx="2011680" cy="96012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Memory A · 16 KB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0x2A0C</a:t>
            </a:r>
            <a:r>
              <a:rPr lang="en-US" sz="1100" dirty="0">
                <a:solidFill>
                  <a:srgbClr val="00857C"/>
                </a:solidFill>
              </a:rPr>
              <a:t> is here</a:t>
            </a:r>
            <a:endParaRPr lang="en-US" sz="1100" dirty="0"/>
          </a:p>
        </p:txBody>
      </p:sp>
      <p:sp>
        <p:nvSpPr>
          <p:cNvPr id="6" name="Shape 6"/>
          <p:cNvSpPr/>
          <p:nvPr/>
        </p:nvSpPr>
        <p:spPr>
          <a:xfrm>
            <a:off x="9144000" y="2971800"/>
            <a:ext cx="2011680" cy="128016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Memory B · 64 KB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00857C"/>
                </a:solidFill>
              </a:rPr>
              <a:t>word 100 at local </a:t>
            </a:r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0x190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9144000" y="4480560"/>
            <a:ext cx="2011680" cy="45720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330662"/>
                </a:solidFill>
              </a:rPr>
              <a:t>IP registers · 256 B</a:t>
            </a:r>
            <a:endParaRPr lang="en-US" sz="1200" dirty="0"/>
          </a:p>
        </p:txBody>
      </p:sp>
      <p:sp>
        <p:nvSpPr>
          <p:cNvPr id="8" name="TextBox 8"/>
          <p:cNvSpPr txBox="1"/>
          <p:nvPr/>
        </p:nvSpPr>
        <p:spPr>
          <a:xfrm>
            <a:off x="7452360" y="1783080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0x0000_0000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7452360" y="2487168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0x0000_3FFF</a:t>
            </a: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7452360" y="2971800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0x0001_0000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7452360" y="3995928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0x0001_FFFF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7452360" y="4480560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0x0002_0000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Global and local addresses</a:t>
            </a:r>
            <a:endParaRPr lang="en-US" sz="1200" dirty="0"/>
          </a:p>
        </p:txBody>
      </p:sp>
      <p:sp>
        <p:nvSpPr>
          <p:cNvPr id="14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3B9B-E09A-EA03-11C8-9BC5E8C9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Impedance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38595-AF86-6AE6-472C-D2417F214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836920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Method to share a common bus</a:t>
                </a:r>
              </a:p>
              <a:p>
                <a:pPr lvl="1"/>
                <a:r>
                  <a:rPr lang="en-US" dirty="0"/>
                  <a:t>One unit drives a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on the bus</a:t>
                </a:r>
              </a:p>
              <a:p>
                <a:pPr lvl="1"/>
                <a:r>
                  <a:rPr lang="en-US" dirty="0"/>
                  <a:t>Other units go into a </a:t>
                </a:r>
                <a:r>
                  <a:rPr lang="en-US" dirty="0">
                    <a:solidFill>
                      <a:srgbClr val="57068C"/>
                    </a:solidFill>
                  </a:rPr>
                  <a:t>high-impedance state</a:t>
                </a:r>
                <a:r>
                  <a:rPr lang="en-US" dirty="0"/>
                  <a:t>, 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High impedance units are disconnected</a:t>
                </a:r>
              </a:p>
              <a:p>
                <a:pPr lvl="1"/>
                <a:r>
                  <a:rPr lang="en-US" dirty="0"/>
                  <a:t>Bus value=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Sometimes called </a:t>
                </a:r>
                <a:r>
                  <a:rPr lang="en-US" dirty="0">
                    <a:solidFill>
                      <a:srgbClr val="57068C"/>
                    </a:solidFill>
                  </a:rPr>
                  <a:t>Tri-State</a:t>
                </a:r>
              </a:p>
              <a:p>
                <a:pPr lvl="1"/>
                <a:r>
                  <a:rPr lang="en-US" dirty="0"/>
                  <a:t>Each bit is 0, 1 or Z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38595-AF86-6AE6-472C-D2417F214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836920" cy="4329817"/>
              </a:xfrm>
              <a:blipFill>
                <a:blip r:embed="rId2"/>
                <a:stretch>
                  <a:fillRect l="-2505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3FED2-49B6-B908-8B3D-17CE46E7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197165-257C-FFD5-A176-83C15926E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951106"/>
              </p:ext>
            </p:extLst>
          </p:nvPr>
        </p:nvGraphicFramePr>
        <p:xfrm>
          <a:off x="1211580" y="4009051"/>
          <a:ext cx="755777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570">
                  <a:extLst>
                    <a:ext uri="{9D8B030D-6E8A-4147-A177-3AD203B41FA5}">
                      <a16:colId xmlns:a16="http://schemas.microsoft.com/office/drawing/2014/main" val="1156041786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45723274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24007592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62277745"/>
                    </a:ext>
                  </a:extLst>
                </a:gridCol>
                <a:gridCol w="4006850">
                  <a:extLst>
                    <a:ext uri="{9D8B030D-6E8A-4147-A177-3AD203B41FA5}">
                      <a16:colId xmlns:a16="http://schemas.microsoft.com/office/drawing/2014/main" val="2343733387"/>
                    </a:ext>
                  </a:extLst>
                </a:gridCol>
              </a:tblGrid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Bus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031490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 drives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383036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drives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15302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driver- no reliable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809493"/>
                  </a:ext>
                </a:extLst>
              </a:tr>
              <a:tr h="56158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Collision of A, B – no reliable value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Protocols will avoid this condition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909075"/>
                  </a:ext>
                </a:extLst>
              </a:tr>
            </a:tbl>
          </a:graphicData>
        </a:graphic>
      </p:graphicFrame>
      <p:sp>
        <p:nvSpPr>
          <p:cNvPr id="10" name="Shape 2"/>
          <p:cNvSpPr/>
          <p:nvPr/>
        </p:nvSpPr>
        <p:spPr>
          <a:xfrm>
            <a:off x="9509760" y="2011680"/>
            <a:ext cx="365760" cy="219456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11" name="TextBox 3"/>
          <p:cNvSpPr txBox="1"/>
          <p:nvPr/>
        </p:nvSpPr>
        <p:spPr>
          <a:xfrm>
            <a:off x="9189720" y="166420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400" b="1" dirty="0">
                <a:solidFill>
                  <a:srgbClr val="57068C"/>
                </a:solidFill>
              </a:rPr>
              <a:t>Bus</a:t>
            </a:r>
            <a:endParaRPr lang="en-US" sz="1400" dirty="0"/>
          </a:p>
        </p:txBody>
      </p:sp>
      <p:sp>
        <p:nvSpPr>
          <p:cNvPr id="12" name="Shape 4"/>
          <p:cNvSpPr/>
          <p:nvPr/>
        </p:nvSpPr>
        <p:spPr>
          <a:xfrm>
            <a:off x="10332720" y="2240280"/>
            <a:ext cx="868680" cy="566928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</a:rPr>
              <a:t>A</a:t>
            </a:r>
            <a:endParaRPr lang="en-US" sz="1400" dirty="0"/>
          </a:p>
        </p:txBody>
      </p:sp>
      <p:cxnSp>
        <p:nvCxnSpPr>
          <p:cNvPr id="5" name="Connector 5"/>
          <p:cNvCxnSpPr/>
          <p:nvPr/>
        </p:nvCxnSpPr>
        <p:spPr>
          <a:xfrm>
            <a:off x="9875520" y="2523744"/>
            <a:ext cx="45720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  <p:sp>
        <p:nvSpPr>
          <p:cNvPr id="6" name="Shape 6"/>
          <p:cNvSpPr/>
          <p:nvPr/>
        </p:nvSpPr>
        <p:spPr>
          <a:xfrm>
            <a:off x="10332720" y="2926080"/>
            <a:ext cx="868680" cy="566928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</a:rPr>
              <a:t>B</a:t>
            </a:r>
            <a:endParaRPr lang="en-US" sz="1400" dirty="0"/>
          </a:p>
        </p:txBody>
      </p:sp>
      <p:cxnSp>
        <p:nvCxnSpPr>
          <p:cNvPr id="7" name="Connector 7"/>
          <p:cNvCxnSpPr/>
          <p:nvPr/>
        </p:nvCxnSpPr>
        <p:spPr>
          <a:xfrm>
            <a:off x="9875520" y="3209544"/>
            <a:ext cx="45720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  <p:sp>
        <p:nvSpPr>
          <p:cNvPr id="8" name="Shape 8"/>
          <p:cNvSpPr/>
          <p:nvPr/>
        </p:nvSpPr>
        <p:spPr>
          <a:xfrm>
            <a:off x="10332720" y="3611880"/>
            <a:ext cx="868680" cy="566928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</a:rPr>
              <a:t>C</a:t>
            </a:r>
            <a:endParaRPr lang="en-US" sz="1400" dirty="0"/>
          </a:p>
        </p:txBody>
      </p:sp>
      <p:cxnSp>
        <p:nvCxnSpPr>
          <p:cNvPr id="9" name="Connector 9"/>
          <p:cNvCxnSpPr/>
          <p:nvPr/>
        </p:nvCxnSpPr>
        <p:spPr>
          <a:xfrm>
            <a:off x="9875520" y="3895344"/>
            <a:ext cx="45720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841020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57BF-391D-1E04-0C85-233E14127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Impedance on a Data 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00028-2CDF-4220-8748-1D922A8D01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09472" y="1539277"/>
                <a:ext cx="6046207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>
                    <a:solidFill>
                      <a:srgbClr val="57068C"/>
                    </a:solidFill>
                  </a:rPr>
                  <a:t>Memory read </a:t>
                </a:r>
                <a:r>
                  <a:rPr lang="en-US" dirty="0"/>
                  <a:t>(Tri-State Bus)</a:t>
                </a:r>
              </a:p>
              <a:p>
                <a:pPr lvl="1"/>
                <a:r>
                  <a:rPr lang="en-US" dirty="0"/>
                  <a:t>Selected memory element drives its value</a:t>
                </a:r>
              </a:p>
              <a:p>
                <a:pPr lvl="1"/>
                <a:r>
                  <a:rPr lang="en-US" dirty="0"/>
                  <a:t>Other units go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Data bus value = selected memory element’s value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Memory write </a:t>
                </a:r>
                <a:r>
                  <a:rPr lang="en-US" dirty="0"/>
                  <a:t>(Broadcast + Selective Capture)</a:t>
                </a:r>
              </a:p>
              <a:p>
                <a:pPr lvl="1"/>
                <a:r>
                  <a:rPr lang="en-US" dirty="0"/>
                  <a:t>Data bus value appears at all units</a:t>
                </a:r>
              </a:p>
              <a:p>
                <a:pPr lvl="1"/>
                <a:r>
                  <a:rPr lang="en-US" dirty="0"/>
                  <a:t>Selected element loads value into its storage element</a:t>
                </a:r>
              </a:p>
              <a:p>
                <a:pPr lvl="1"/>
                <a:r>
                  <a:rPr lang="en-US" dirty="0"/>
                  <a:t>Other elements ignore 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00028-2CDF-4220-8748-1D922A8D0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9472" y="1539277"/>
                <a:ext cx="6046207" cy="4329817"/>
              </a:xfrm>
              <a:blipFill>
                <a:blip r:embed="rId2"/>
                <a:stretch>
                  <a:fillRect l="-2419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F2C19-7D1D-22D3-20FF-3E321E18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AB511F-4E17-66C5-854E-638563562FB6}"/>
              </a:ext>
            </a:extLst>
          </p:cNvPr>
          <p:cNvGrpSpPr/>
          <p:nvPr/>
        </p:nvGrpSpPr>
        <p:grpSpPr>
          <a:xfrm>
            <a:off x="857877" y="2108967"/>
            <a:ext cx="2397325" cy="296148"/>
            <a:chOff x="3167386" y="2308781"/>
            <a:chExt cx="2397325" cy="296148"/>
          </a:xfrm>
        </p:grpSpPr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BC489C-E5FB-7321-08CA-252B9E079285}"/>
              </a:ext>
            </a:extLst>
          </p:cNvPr>
          <p:cNvGrpSpPr/>
          <p:nvPr/>
        </p:nvGrpSpPr>
        <p:grpSpPr>
          <a:xfrm>
            <a:off x="853993" y="2406016"/>
            <a:ext cx="2397325" cy="296148"/>
            <a:chOff x="3167386" y="2308781"/>
            <a:chExt cx="2397325" cy="296148"/>
          </a:xfrm>
        </p:grpSpPr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9CBE185-74E3-A765-2B39-0F6505D0EC63}"/>
              </a:ext>
            </a:extLst>
          </p:cNvPr>
          <p:cNvGrpSpPr/>
          <p:nvPr/>
        </p:nvGrpSpPr>
        <p:grpSpPr>
          <a:xfrm>
            <a:off x="840741" y="4452887"/>
            <a:ext cx="2397325" cy="296148"/>
            <a:chOff x="3167386" y="2308781"/>
            <a:chExt cx="2397325" cy="296148"/>
          </a:xfrm>
        </p:grpSpPr>
      </p:grpSp>
      <p:sp>
        <p:nvSpPr>
          <p:cNvPr id="17" name="TextBox 2"/>
          <p:cNvSpPr txBox="1"/>
          <p:nvPr/>
        </p:nvSpPr>
        <p:spPr>
          <a:xfrm>
            <a:off x="1463040" y="17830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dirty="0">
                <a:solidFill>
                  <a:srgbClr val="6E6E6E"/>
                </a:solidFill>
                <a:latin typeface="Cambria Math"/>
              </a:rPr>
              <a:t>𝑁</a:t>
            </a:r>
            <a:r>
              <a:rPr lang="en-US" sz="1300" dirty="0">
                <a:solidFill>
                  <a:srgbClr val="6E6E6E"/>
                </a:solidFill>
              </a:rPr>
              <a:t> data words</a:t>
            </a:r>
            <a:endParaRPr lang="en-US" sz="1300" dirty="0"/>
          </a:p>
        </p:txBody>
      </p:sp>
      <p:sp>
        <p:nvSpPr>
          <p:cNvPr id="18" name="TextBox 3"/>
          <p:cNvSpPr txBox="1"/>
          <p:nvPr/>
        </p:nvSpPr>
        <p:spPr>
          <a:xfrm>
            <a:off x="3429000" y="178308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dirty="0">
                <a:solidFill>
                  <a:srgbClr val="00857C"/>
                </a:solidFill>
              </a:rPr>
              <a:t>Data bus</a:t>
            </a:r>
            <a:endParaRPr lang="en-US" sz="1300" dirty="0"/>
          </a:p>
        </p:txBody>
      </p:sp>
      <p:sp>
        <p:nvSpPr>
          <p:cNvPr id="19" name="Shape 4"/>
          <p:cNvSpPr/>
          <p:nvPr/>
        </p:nvSpPr>
        <p:spPr>
          <a:xfrm>
            <a:off x="1463040" y="2148840"/>
            <a:ext cx="1737360" cy="4114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1463040" y="2560320"/>
            <a:ext cx="1737360" cy="4114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1463040" y="2971800"/>
            <a:ext cx="1737360" cy="411480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drives the bus</a:t>
            </a:r>
            <a:endParaRPr lang="en-US" sz="1200" dirty="0"/>
          </a:p>
        </p:txBody>
      </p:sp>
      <p:sp>
        <p:nvSpPr>
          <p:cNvPr id="7" name="Shape 7"/>
          <p:cNvSpPr/>
          <p:nvPr/>
        </p:nvSpPr>
        <p:spPr>
          <a:xfrm>
            <a:off x="1463040" y="3383280"/>
            <a:ext cx="1737360" cy="4114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1463040" y="3794760"/>
            <a:ext cx="1737360" cy="4114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9" name="Shape 9"/>
          <p:cNvSpPr/>
          <p:nvPr/>
        </p:nvSpPr>
        <p:spPr>
          <a:xfrm>
            <a:off x="3611880" y="2148840"/>
            <a:ext cx="594360" cy="205740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cxnSp>
        <p:nvCxnSpPr>
          <p:cNvPr id="10" name="Connector 10"/>
          <p:cNvCxnSpPr/>
          <p:nvPr/>
        </p:nvCxnSpPr>
        <p:spPr>
          <a:xfrm>
            <a:off x="3246120" y="2331720"/>
            <a:ext cx="320040" cy="0"/>
          </a:xfrm>
          <a:prstGeom prst="straightConnector1">
            <a:avLst/>
          </a:prstGeom>
          <a:ln w="15875">
            <a:solidFill>
              <a:srgbClr val="BFBFBF"/>
            </a:solidFill>
          </a:ln>
        </p:spPr>
      </p:cxnSp>
      <p:cxnSp>
        <p:nvCxnSpPr>
          <p:cNvPr id="11" name="Connector 11"/>
          <p:cNvCxnSpPr/>
          <p:nvPr/>
        </p:nvCxnSpPr>
        <p:spPr>
          <a:xfrm>
            <a:off x="3246120" y="2743200"/>
            <a:ext cx="320040" cy="0"/>
          </a:xfrm>
          <a:prstGeom prst="straightConnector1">
            <a:avLst/>
          </a:prstGeom>
          <a:ln w="15875">
            <a:solidFill>
              <a:srgbClr val="BFBFBF"/>
            </a:solidFill>
          </a:ln>
        </p:spPr>
      </p:cxnSp>
      <p:cxnSp>
        <p:nvCxnSpPr>
          <p:cNvPr id="12" name="Connector 12"/>
          <p:cNvCxnSpPr/>
          <p:nvPr/>
        </p:nvCxnSpPr>
        <p:spPr>
          <a:xfrm>
            <a:off x="3246120" y="3154680"/>
            <a:ext cx="32004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  <p:cxnSp>
        <p:nvCxnSpPr>
          <p:cNvPr id="13" name="Connector 13"/>
          <p:cNvCxnSpPr/>
          <p:nvPr/>
        </p:nvCxnSpPr>
        <p:spPr>
          <a:xfrm>
            <a:off x="3246120" y="3566160"/>
            <a:ext cx="320040" cy="0"/>
          </a:xfrm>
          <a:prstGeom prst="straightConnector1">
            <a:avLst/>
          </a:prstGeom>
          <a:ln w="15875">
            <a:solidFill>
              <a:srgbClr val="BFBFBF"/>
            </a:solidFill>
          </a:ln>
        </p:spPr>
      </p:cxnSp>
      <p:cxnSp>
        <p:nvCxnSpPr>
          <p:cNvPr id="14" name="Connector 14"/>
          <p:cNvCxnSpPr/>
          <p:nvPr/>
        </p:nvCxnSpPr>
        <p:spPr>
          <a:xfrm>
            <a:off x="3246120" y="3977640"/>
            <a:ext cx="320040" cy="0"/>
          </a:xfrm>
          <a:prstGeom prst="straightConnector1">
            <a:avLst/>
          </a:prstGeom>
          <a:ln w="15875">
            <a:solidFill>
              <a:srgbClr val="BFBFBF"/>
            </a:solidFill>
          </a:ln>
        </p:spPr>
      </p:cxnSp>
      <p:sp>
        <p:nvSpPr>
          <p:cNvPr id="15" name="TextBox 15"/>
          <p:cNvSpPr txBox="1"/>
          <p:nvPr/>
        </p:nvSpPr>
        <p:spPr>
          <a:xfrm>
            <a:off x="1463040" y="4297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others go to </a:t>
            </a:r>
            <a:r>
              <a:rPr lang="en-US" sz="1200" dirty="0">
                <a:solidFill>
                  <a:srgbClr val="6E6E6E"/>
                </a:solidFill>
                <a:latin typeface="Cambria Math"/>
              </a:rPr>
              <a:t>𝑍</a:t>
            </a:r>
            <a:endParaRPr lang="en-US" sz="1200" dirty="0"/>
          </a:p>
        </p:txBody>
      </p:sp>
      <p:sp>
        <p:nvSpPr>
          <p:cNvPr id="16" name="TextBox 16"/>
          <p:cNvSpPr txBox="1"/>
          <p:nvPr/>
        </p:nvSpPr>
        <p:spPr>
          <a:xfrm>
            <a:off x="3429000" y="429768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262626"/>
                </a:solidFill>
              </a:rPr>
              <a:t>R/W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78370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Memory</a:t>
            </a:r>
          </a:p>
        </p:txBody>
      </p:sp>
      <p:sp>
        <p:nvSpPr>
          <p:cNvPr id="3" name="Shape 3"/>
          <p:cNvSpPr/>
          <p:nvPr/>
        </p:nvSpPr>
        <p:spPr>
          <a:xfrm>
            <a:off x="1280160" y="2286000"/>
            <a:ext cx="2651760" cy="137160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330662"/>
                </a:solidFill>
              </a:rPr>
              <a:t>External memory</a:t>
            </a:r>
            <a:endParaRPr lang="en-US" sz="16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DRAM</a:t>
            </a:r>
            <a:endParaRPr lang="en-US" sz="1200" dirty="0"/>
          </a:p>
        </p:txBody>
      </p:sp>
      <p:sp>
        <p:nvSpPr>
          <p:cNvPr id="4" name="TextBox 4"/>
          <p:cNvSpPr txBox="1"/>
          <p:nvPr/>
        </p:nvSpPr>
        <p:spPr>
          <a:xfrm>
            <a:off x="1280160" y="3840480"/>
            <a:ext cx="265176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Off-chip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High capacity (GB)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Reached over an I/O interface</a:t>
            </a:r>
            <a:endParaRPr lang="en-US" sz="14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114800" y="2971800"/>
            <a:ext cx="1280160" cy="0"/>
          </a:xfrm>
          <a:prstGeom prst="straightConnector1">
            <a:avLst/>
          </a:prstGeom>
          <a:ln w="25400">
            <a:solidFill>
              <a:srgbClr val="2F6FA8"/>
            </a:solidFill>
            <a:tailEnd type="triangle" w="med" len="med"/>
          </a:ln>
        </p:spPr>
      </p:cxnSp>
      <p:sp>
        <p:nvSpPr>
          <p:cNvPr id="6" name="TextBox 6"/>
          <p:cNvSpPr txBox="1"/>
          <p:nvPr/>
        </p:nvSpPr>
        <p:spPr>
          <a:xfrm>
            <a:off x="4023360" y="26060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I/O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5486400" y="1920240"/>
            <a:ext cx="4846320" cy="2148840"/>
          </a:xfrm>
          <a:prstGeom prst="rect">
            <a:avLst/>
          </a:prstGeom>
          <a:solidFill>
            <a:srgbClr val="FBFAFC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t">
            <a:noAutofit/>
          </a:bodyPr>
          <a:lstStyle/>
          <a:p>
            <a:endParaRPr lang="en-US" sz="1000" dirty="0"/>
          </a:p>
        </p:txBody>
      </p:sp>
      <p:sp>
        <p:nvSpPr>
          <p:cNvPr id="8" name="TextBox 8"/>
          <p:cNvSpPr txBox="1"/>
          <p:nvPr/>
        </p:nvSpPr>
        <p:spPr>
          <a:xfrm>
            <a:off x="5623560" y="2011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One chip</a:t>
            </a:r>
            <a:endParaRPr lang="en-US" sz="1200" dirty="0"/>
          </a:p>
        </p:txBody>
      </p:sp>
      <p:sp>
        <p:nvSpPr>
          <p:cNvPr id="9" name="Shape 9"/>
          <p:cNvSpPr/>
          <p:nvPr/>
        </p:nvSpPr>
        <p:spPr>
          <a:xfrm>
            <a:off x="5806440" y="2423160"/>
            <a:ext cx="2011680" cy="1371600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F6FA8"/>
                </a:solidFill>
              </a:rPr>
              <a:t>Internal memory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SRAM, BRAM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8092440" y="2423160"/>
            <a:ext cx="2011680" cy="137160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00857C"/>
                </a:solidFill>
              </a:rPr>
              <a:t>Processing</a:t>
            </a:r>
            <a:endParaRPr lang="en-US" sz="1500" dirty="0"/>
          </a:p>
          <a:p>
            <a:pPr algn="ctr"/>
            <a:r>
              <a:rPr lang="en-US" sz="1500" b="1" dirty="0">
                <a:solidFill>
                  <a:srgbClr val="00857C"/>
                </a:solidFill>
              </a:rPr>
              <a:t>hardware</a:t>
            </a:r>
            <a:endParaRPr lang="en-US" sz="1500" dirty="0"/>
          </a:p>
        </p:txBody>
      </p:sp>
      <p:cxnSp>
        <p:nvCxnSpPr>
          <p:cNvPr id="11" name="Connector 11"/>
          <p:cNvCxnSpPr/>
          <p:nvPr/>
        </p:nvCxnSpPr>
        <p:spPr>
          <a:xfrm>
            <a:off x="7863840" y="3108960"/>
            <a:ext cx="182880" cy="0"/>
          </a:xfrm>
          <a:prstGeom prst="straightConnector1">
            <a:avLst/>
          </a:prstGeom>
          <a:ln w="25400">
            <a:solidFill>
              <a:srgbClr val="00857C"/>
            </a:solidFill>
            <a:tailEnd type="triangle" w="med" len="med"/>
          </a:ln>
        </p:spPr>
      </p:cxnSp>
      <p:sp>
        <p:nvSpPr>
          <p:cNvPr id="12" name="TextBox 12"/>
          <p:cNvSpPr txBox="1"/>
          <p:nvPr/>
        </p:nvSpPr>
        <p:spPr>
          <a:xfrm>
            <a:off x="5806440" y="4206240"/>
            <a:ext cx="429768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On-chip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Low capacity (KB–MB)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Direct, low-latency access from the datapath</a:t>
            </a:r>
            <a:endParaRPr lang="en-US" sz="1400" dirty="0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FC95-1F0D-DB56-A957-3EBE15A74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C73CA-4C9C-E40B-560C-2F768803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2050" name="Picture 2" descr="DRAM cells structure. | Download ...">
            <a:extLst>
              <a:ext uri="{FF2B5EF4-FFF2-40B4-BE49-F238E27FC236}">
                <a16:creationId xmlns:a16="http://schemas.microsoft.com/office/drawing/2014/main" id="{2618FF11-6E0C-3F8D-066C-DB8CF2D5D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982" y="4397376"/>
            <a:ext cx="1795462" cy="115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ransistors - SRAM memory cell - what ...">
            <a:extLst>
              <a:ext uri="{FF2B5EF4-FFF2-40B4-BE49-F238E27FC236}">
                <a16:creationId xmlns:a16="http://schemas.microsoft.com/office/drawing/2014/main" id="{747C7916-0D02-2F3E-236E-65DAA4EB1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584" y="1824038"/>
            <a:ext cx="2134258" cy="160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017C22-E701-DCC7-6270-5673A4603CE0}"/>
              </a:ext>
            </a:extLst>
          </p:cNvPr>
          <p:cNvSpPr txBox="1"/>
          <p:nvPr/>
        </p:nvSpPr>
        <p:spPr>
          <a:xfrm>
            <a:off x="9346794" y="1450123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7068C"/>
                </a:solidFill>
              </a:rPr>
              <a:t>SRAM cell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C8240-B1AC-AE30-3528-0D9BDB231CBB}"/>
              </a:ext>
            </a:extLst>
          </p:cNvPr>
          <p:cNvSpPr txBox="1"/>
          <p:nvPr/>
        </p:nvSpPr>
        <p:spPr>
          <a:xfrm>
            <a:off x="9443999" y="3825623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7068C"/>
                </a:solidFill>
              </a:rPr>
              <a:t>DRAM cell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78408" y="1481328"/>
          <a:ext cx="6766560" cy="370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Internal memory (SRAM)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External memory (DRAM)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Location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On-chip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Off-chip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Storage cell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6-T cell (cross-coupled inverters)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Capacitor + access transistor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Density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Capacity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Small (KB–MB)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Large (GB)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Speed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Very fast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Slower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Power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Higher static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Lower static, higher dynamic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Access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Direct by logic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Through a memory controller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Refresh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997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On-Chip Memory Sizes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97280" y="1783080"/>
          <a:ext cx="10058400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On-chip memory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Typical size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Laptop CPU (Intel Core)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SRAM (L1/L2/L3)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20–40 MB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L3 dominates; very fast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NVIDIA A100 GPU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SRAM (L2 cache)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~40 MB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HBM2e (40–80 GB) is off-chip, on-package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Xilinx Virtex-7 FPGA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BRAM (36 Kb blocks)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2–6 MB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Distributed across the fabric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Custom ASIC (5 mm², 16 nm)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SRAM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5–10 MB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Depends on layout and redundancy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4"/>
          <p:cNvSpPr/>
          <p:nvPr/>
        </p:nvSpPr>
        <p:spPr>
          <a:xfrm>
            <a:off x="2926080" y="4526280"/>
            <a:ext cx="6400800" cy="731520"/>
          </a:xfrm>
          <a:prstGeom prst="roundRect">
            <a:avLst>
              <a:gd name="adj" fmla="val 30000"/>
            </a:avLst>
          </a:prstGeom>
          <a:solidFill>
            <a:srgbClr val="EEE6F3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57068C"/>
                </a:solidFill>
              </a:rPr>
              <a:t>Lesson: internal memory is limited. Use it judiciously.</a:t>
            </a:r>
            <a:endParaRPr lang="en-US" sz="2000" dirty="0"/>
          </a:p>
        </p:txBody>
      </p:sp>
      <p:sp>
        <p:nvSpPr>
          <p:cNvPr id="5" name="TextBox 5"/>
          <p:cNvSpPr txBox="1"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100" dirty="0">
                <a:solidFill>
                  <a:srgbClr val="6E6E6E"/>
                </a:solidFill>
              </a:rPr>
              <a:t>A 16 nm 6-T high-density bitcell is about 0.07 µm² (TSMC 128 Mb SRAM, ISSCC 2014), so 5 mm² of bitcells holds ≈ 70 Mbit — roughly 5–7 MB once decoders and sense amplifiers are counted.</a:t>
            </a:r>
            <a:endParaRPr lang="en-US" sz="11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Video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097280" y="1600200"/>
            <a:ext cx="6492240" cy="4206240"/>
          </a:xfrm>
        </p:spPr>
        <p:txBody>
          <a:bodyPr>
            <a:noAutofit/>
          </a:bodyPr>
          <a:lstStyle>
            <a:lvl1pPr marL="274320" indent="-274320">
              <a:spcBef>
                <a:spcPts val="1400"/>
              </a:spcBef>
              <a:buClr>
                <a:srgbClr val="57068C"/>
              </a:buClr>
              <a:buSzPct val="70000"/>
              <a:buFont typeface="Arial"/>
              <a:buChar char="■"/>
              <a:defRPr sz="1800"/>
            </a:lvl1pPr>
            <a:lvl2pPr marL="621792" indent="-228600">
              <a:spcBef>
                <a:spcPts val="400"/>
              </a:spcBef>
              <a:buClr>
                <a:srgbClr val="999999"/>
              </a:buClr>
              <a:buSzPct val="100000"/>
              <a:buFont typeface="Arial"/>
              <a:buChar char="–"/>
              <a:defRPr sz="1600"/>
            </a:lvl2pPr>
          </a:lstStyle>
          <a:p>
            <a:r>
              <a:rPr lang="en-US" dirty="0"/>
              <a:t>A video processor stores 8 frames of raw video</a:t>
            </a:r>
          </a:p>
          <a:p>
            <a:pPr lvl="1"/>
            <a:r>
              <a:rPr lang="en-US" dirty="0"/>
              <a:t>512 × 512 pixels, 3 color channels, 8 bits per channel</a:t>
            </a:r>
          </a:p>
          <a:p>
            <a:r>
              <a:rPr lang="en-US" dirty="0"/>
              <a:t>Memory capacity</a:t>
            </a:r>
          </a:p>
          <a:p>
            <a:pPr lvl="1"/>
            <a:r>
              <a:rPr lang="en-US" dirty="0">
                <a:latin typeface="Cambria Math"/>
              </a:rPr>
              <a:t>𝐵</a:t>
            </a:r>
            <a:r>
              <a:rPr lang="en-US" dirty="0"/>
              <a:t> = 512 × 512 × 3 × 8 bytes = 3·2</a:t>
            </a:r>
            <a:r>
              <a:rPr lang="en-US" baseline="30000" dirty="0"/>
              <a:t>21</a:t>
            </a:r>
            <a:r>
              <a:rPr lang="en-US" dirty="0"/>
              <a:t> bytes ≈ </a:t>
            </a:r>
            <a:r>
              <a:rPr lang="en-US" b="1" dirty="0">
                <a:solidFill>
                  <a:srgbClr val="57068C"/>
                </a:solidFill>
              </a:rPr>
              <a:t>6.3 MB</a:t>
            </a:r>
            <a:endParaRPr lang="en-US" dirty="0"/>
          </a:p>
          <a:p>
            <a:pPr lvl="1"/>
            <a:r>
              <a:rPr lang="en-US" dirty="0"/>
              <a:t>A sizeable portion of memory, even on a large chip</a:t>
            </a:r>
          </a:p>
          <a:p>
            <a:r>
              <a:rPr lang="en-US" dirty="0"/>
              <a:t>Stored as 32-bit words</a:t>
            </a:r>
          </a:p>
          <a:p>
            <a:pPr lvl="1"/>
            <a:r>
              <a:rPr lang="en-US" dirty="0">
                <a:latin typeface="Cambria Math"/>
              </a:rPr>
              <a:t>𝑁</a:t>
            </a:r>
            <a:r>
              <a:rPr lang="en-US" dirty="0"/>
              <a:t> = </a:t>
            </a:r>
            <a:r>
              <a:rPr lang="en-US" dirty="0">
                <a:latin typeface="Cambria Math"/>
              </a:rPr>
              <a:t>𝐵</a:t>
            </a:r>
            <a:r>
              <a:rPr lang="en-US" dirty="0"/>
              <a:t>/4 = 3·2</a:t>
            </a:r>
            <a:r>
              <a:rPr lang="en-US" baseline="30000" dirty="0"/>
              <a:t>19</a:t>
            </a:r>
            <a:r>
              <a:rPr lang="en-US" dirty="0"/>
              <a:t> ≈ 1.57 M words</a:t>
            </a:r>
          </a:p>
          <a:p>
            <a:r>
              <a:rPr lang="en-US" dirty="0"/>
              <a:t>Address bits: the smallest K with 2</a:t>
            </a:r>
            <a:r>
              <a:rPr lang="en-US" baseline="30000" dirty="0"/>
              <a:t>K</a:t>
            </a:r>
            <a:r>
              <a:rPr lang="en-US" dirty="0"/>
              <a:t> ≥ the count</a:t>
            </a:r>
          </a:p>
          <a:p>
            <a:pPr lvl="1"/>
            <a:r>
              <a:rPr lang="en-US" dirty="0"/>
              <a:t>Byte addressing: 2</a:t>
            </a:r>
            <a:r>
              <a:rPr lang="en-US" baseline="30000" dirty="0"/>
              <a:t>K</a:t>
            </a:r>
            <a:r>
              <a:rPr lang="en-US" dirty="0"/>
              <a:t> ≥ 3·2</a:t>
            </a:r>
            <a:r>
              <a:rPr lang="en-US" baseline="30000" dirty="0"/>
              <a:t>21</a:t>
            </a:r>
            <a:r>
              <a:rPr lang="en-US" dirty="0"/>
              <a:t> → </a:t>
            </a:r>
            <a:r>
              <a:rPr lang="en-US" b="1" dirty="0">
                <a:solidFill>
                  <a:srgbClr val="57068C"/>
                </a:solidFill>
              </a:rPr>
              <a:t>K = 23</a:t>
            </a:r>
            <a:endParaRPr lang="en-US" dirty="0"/>
          </a:p>
          <a:p>
            <a:pPr lvl="1"/>
            <a:r>
              <a:rPr lang="en-US" dirty="0"/>
              <a:t>Word addressing: 2</a:t>
            </a:r>
            <a:r>
              <a:rPr lang="en-US" baseline="30000" dirty="0"/>
              <a:t>K</a:t>
            </a:r>
            <a:r>
              <a:rPr lang="en-US" dirty="0"/>
              <a:t> ≥ 3·2</a:t>
            </a:r>
            <a:r>
              <a:rPr lang="en-US" baseline="30000" dirty="0"/>
              <a:t>19</a:t>
            </a:r>
            <a:r>
              <a:rPr lang="en-US" dirty="0"/>
              <a:t> → </a:t>
            </a:r>
            <a:r>
              <a:rPr lang="en-US" b="1" dirty="0">
                <a:solidFill>
                  <a:srgbClr val="57068C"/>
                </a:solidFill>
              </a:rPr>
              <a:t>K = 21</a:t>
            </a:r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8001000" y="1783080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5" name="Shape 5"/>
          <p:cNvSpPr/>
          <p:nvPr/>
        </p:nvSpPr>
        <p:spPr>
          <a:xfrm>
            <a:off x="8083296" y="1865376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8165592" y="1947672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8247888" y="2029968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8" name="Shape 8"/>
          <p:cNvSpPr/>
          <p:nvPr/>
        </p:nvSpPr>
        <p:spPr>
          <a:xfrm>
            <a:off x="8330184" y="2112264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8412480" y="2194560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10" name="Shape 10"/>
          <p:cNvSpPr/>
          <p:nvPr/>
        </p:nvSpPr>
        <p:spPr>
          <a:xfrm>
            <a:off x="8494776" y="2276856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8577072" y="2359152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330662"/>
                </a:solidFill>
              </a:rPr>
              <a:t>512 × 512 × 3</a:t>
            </a:r>
            <a:endParaRPr lang="en-US" sz="15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one frame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8001000" y="3749040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8 frames</a:t>
            </a:r>
            <a:endParaRPr lang="en-US" sz="1200" dirty="0"/>
          </a:p>
        </p:txBody>
      </p:sp>
      <p:sp>
        <p:nvSpPr>
          <p:cNvPr id="13" name="TextBox 13"/>
          <p:cNvSpPr txBox="1"/>
          <p:nvPr/>
        </p:nvSpPr>
        <p:spPr>
          <a:xfrm>
            <a:off x="8001000" y="416052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3000" b="1" dirty="0">
                <a:solidFill>
                  <a:srgbClr val="57068C"/>
                </a:solidFill>
              </a:rPr>
              <a:t>6.3 MB</a:t>
            </a:r>
            <a:endParaRPr lang="en-US" sz="3000" dirty="0"/>
          </a:p>
        </p:txBody>
      </p:sp>
      <p:sp>
        <p:nvSpPr>
          <p:cNvPr id="14" name="TextBox 14"/>
          <p:cNvSpPr txBox="1"/>
          <p:nvPr/>
        </p:nvSpPr>
        <p:spPr>
          <a:xfrm>
            <a:off x="8001000" y="47548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capacity</a:t>
            </a:r>
            <a:endParaRPr lang="en-US" sz="1200" dirty="0"/>
          </a:p>
        </p:txBody>
      </p:sp>
      <p:sp>
        <p:nvSpPr>
          <p:cNvPr id="15" name="TextBox 15"/>
          <p:cNvSpPr txBox="1"/>
          <p:nvPr/>
        </p:nvSpPr>
        <p:spPr>
          <a:xfrm>
            <a:off x="9646920" y="416052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3000" b="1" dirty="0">
                <a:solidFill>
                  <a:srgbClr val="00857C"/>
                </a:solidFill>
              </a:rPr>
              <a:t>23 bits</a:t>
            </a:r>
            <a:endParaRPr lang="en-US" sz="3000" dirty="0"/>
          </a:p>
        </p:txBody>
      </p:sp>
      <p:sp>
        <p:nvSpPr>
          <p:cNvPr id="16" name="TextBox 16"/>
          <p:cNvSpPr txBox="1"/>
          <p:nvPr/>
        </p:nvSpPr>
        <p:spPr>
          <a:xfrm>
            <a:off x="9646920" y="47548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byte address</a:t>
            </a:r>
            <a:endParaRPr lang="en-US" sz="1200" dirty="0"/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 vs. Bulk Storage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97280" y="16276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700" dirty="0">
                <a:solidFill>
                  <a:srgbClr val="262626"/>
                </a:solidFill>
              </a:rPr>
              <a:t>Every IP holds a mix. The choice is made per value, not per design.</a:t>
            </a:r>
            <a:endParaRPr lang="en-US" sz="1700" dirty="0"/>
          </a:p>
        </p:txBody>
      </p:sp>
      <p:sp>
        <p:nvSpPr>
          <p:cNvPr id="4" name="Shape 4"/>
          <p:cNvSpPr/>
          <p:nvPr/>
        </p:nvSpPr>
        <p:spPr>
          <a:xfrm>
            <a:off x="1097280" y="2103120"/>
            <a:ext cx="4846320" cy="2514600"/>
          </a:xfrm>
          <a:prstGeom prst="roundRect">
            <a:avLst>
              <a:gd name="adj" fmla="val 6000"/>
            </a:avLst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164592" tIns="82296" rIns="164592" bIns="82296" rtlCol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900" b="1" dirty="0">
                <a:solidFill>
                  <a:srgbClr val="57068C"/>
                </a:solidFill>
              </a:rPr>
              <a:t>Registers</a:t>
            </a:r>
            <a:endParaRPr lang="en-US" sz="19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Parallel access: many values in the same cycle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Any register value is available to the datapath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Higher area per bit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A host reads and writes them one at a time</a:t>
            </a:r>
            <a:endParaRPr lang="en-US" sz="1400" dirty="0"/>
          </a:p>
        </p:txBody>
      </p:sp>
      <p:sp>
        <p:nvSpPr>
          <p:cNvPr id="5" name="Shape 5"/>
          <p:cNvSpPr/>
          <p:nvPr/>
        </p:nvSpPr>
        <p:spPr>
          <a:xfrm>
            <a:off x="6309360" y="2103120"/>
            <a:ext cx="4846320" cy="25146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164592" tIns="82296" rIns="164592" bIns="82296" rtlCol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900" b="1" dirty="0">
                <a:solidFill>
                  <a:srgbClr val="57068C"/>
                </a:solidFill>
              </a:rPr>
              <a:t>Bulk storage</a:t>
            </a:r>
            <a:endParaRPr lang="en-US" sz="19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Typically one word per access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Much higher density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A host moves data to and from it in bulk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Block RAM on chip, DRAM off chip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1097280" y="4892040"/>
            <a:ext cx="10058400" cy="731520"/>
          </a:xfrm>
          <a:prstGeom prst="roundRect">
            <a:avLst>
              <a:gd name="adj" fmla="val 20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700" dirty="0">
                <a:solidFill>
                  <a:srgbClr val="262626"/>
                </a:solidFill>
              </a:rPr>
              <a:t>A few values needed at once → </a:t>
            </a:r>
            <a:r>
              <a:rPr lang="en-US" sz="1700" b="1" dirty="0">
                <a:solidFill>
                  <a:srgbClr val="57068C"/>
                </a:solidFill>
              </a:rPr>
              <a:t>registers</a:t>
            </a:r>
            <a:r>
              <a:rPr lang="en-US" sz="1700" dirty="0">
                <a:solidFill>
                  <a:srgbClr val="262626"/>
                </a:solidFill>
              </a:rPr>
              <a:t>.     Thousands touched one at a time → </a:t>
            </a:r>
            <a:r>
              <a:rPr lang="en-US" sz="1700" b="1" dirty="0">
                <a:solidFill>
                  <a:srgbClr val="57068C"/>
                </a:solidFill>
              </a:rPr>
              <a:t>bulk storage</a:t>
            </a:r>
            <a:r>
              <a:rPr lang="en-US" sz="1700" dirty="0">
                <a:solidFill>
                  <a:srgbClr val="262626"/>
                </a:solidFill>
              </a:rPr>
              <a:t>.</a:t>
            </a:r>
            <a:endParaRPr lang="en-US" sz="1700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87FE-43B9-CB2D-926A-02E1676E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Memory-Mapped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1F28A-791D-8E60-69BD-4F5F79122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399213" cy="4329817"/>
          </a:xfrm>
        </p:spPr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Registers can also be memory-mapped</a:t>
            </a:r>
          </a:p>
          <a:p>
            <a:pPr lvl="1"/>
            <a:r>
              <a:rPr lang="en-US" dirty="0"/>
              <a:t>Connected to their own address decoder</a:t>
            </a:r>
          </a:p>
          <a:p>
            <a:pPr lvl="1"/>
            <a:r>
              <a:rPr lang="en-US" dirty="0"/>
              <a:t>Determines which register to read/write</a:t>
            </a:r>
          </a:p>
          <a:p>
            <a:endParaRPr lang="en-US" dirty="0"/>
          </a:p>
          <a:p>
            <a:r>
              <a:rPr lang="en-US" dirty="0"/>
              <a:t>Common interface to processor</a:t>
            </a:r>
          </a:p>
          <a:p>
            <a:pPr lvl="1"/>
            <a:r>
              <a:rPr lang="en-US" dirty="0"/>
              <a:t>Processor sees registers and block memory in one address space</a:t>
            </a:r>
          </a:p>
          <a:p>
            <a:pPr lvl="1"/>
            <a:r>
              <a:rPr lang="en-US" dirty="0"/>
              <a:t>Being addressable is independent of what the storage is made of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C3D1A-64AB-C839-848B-F6555E63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22" name="Shape 2"/>
          <p:cNvSpPr/>
          <p:nvPr/>
        </p:nvSpPr>
        <p:spPr>
          <a:xfrm>
            <a:off x="7223760" y="2011680"/>
            <a:ext cx="365760" cy="301752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23" name="TextBox 3"/>
          <p:cNvSpPr txBox="1"/>
          <p:nvPr/>
        </p:nvSpPr>
        <p:spPr>
          <a:xfrm>
            <a:off x="6720840" y="1691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00857C"/>
                </a:solidFill>
              </a:rPr>
              <a:t>Data bus</a:t>
            </a:r>
            <a:endParaRPr lang="en-US" sz="1200" dirty="0"/>
          </a:p>
        </p:txBody>
      </p:sp>
      <p:sp>
        <p:nvSpPr>
          <p:cNvPr id="24" name="Shape 4"/>
          <p:cNvSpPr/>
          <p:nvPr/>
        </p:nvSpPr>
        <p:spPr>
          <a:xfrm>
            <a:off x="8183880" y="2011680"/>
            <a:ext cx="365760" cy="3017520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5" name="TextBox 5"/>
          <p:cNvSpPr txBox="1"/>
          <p:nvPr/>
        </p:nvSpPr>
        <p:spPr>
          <a:xfrm>
            <a:off x="7818120" y="16916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2F6FA8"/>
                </a:solidFill>
              </a:rPr>
              <a:t>Address bus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8915400" y="2331720"/>
            <a:ext cx="868680" cy="548640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2F6FA8"/>
                </a:solidFill>
              </a:rPr>
              <a:t>decoder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>
            <a:off x="8549640" y="2606040"/>
            <a:ext cx="320040" cy="0"/>
          </a:xfrm>
          <a:prstGeom prst="straightConnector1">
            <a:avLst/>
          </a:prstGeom>
          <a:ln w="15875">
            <a:solidFill>
              <a:srgbClr val="2F6FA8"/>
            </a:solidFill>
            <a:tailEnd type="triangle" w="med" len="med"/>
          </a:ln>
        </p:spPr>
      </p:cxnSp>
      <p:cxnSp>
        <p:nvCxnSpPr>
          <p:cNvPr id="8" name="Connector 8"/>
          <p:cNvCxnSpPr/>
          <p:nvPr/>
        </p:nvCxnSpPr>
        <p:spPr>
          <a:xfrm>
            <a:off x="9784080" y="2606040"/>
            <a:ext cx="274320" cy="0"/>
          </a:xfrm>
          <a:prstGeom prst="straightConnector1">
            <a:avLst/>
          </a:prstGeom>
          <a:ln w="15875">
            <a:solidFill>
              <a:srgbClr val="2F6FA8"/>
            </a:solidFill>
            <a:tailEnd type="triangle" w="med" len="med"/>
          </a:ln>
        </p:spPr>
      </p:cxnSp>
      <p:cxnSp>
        <p:nvCxnSpPr>
          <p:cNvPr id="9" name="Connector 9"/>
          <p:cNvCxnSpPr/>
          <p:nvPr/>
        </p:nvCxnSpPr>
        <p:spPr>
          <a:xfrm>
            <a:off x="7589520" y="3200400"/>
            <a:ext cx="2468880" cy="0"/>
          </a:xfrm>
          <a:prstGeom prst="straightConnector1">
            <a:avLst/>
          </a:prstGeom>
          <a:ln w="15875">
            <a:solidFill>
              <a:srgbClr val="00857C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10058400" y="196596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Registers</a:t>
            </a:r>
            <a:endParaRPr lang="en-US" sz="1300" dirty="0"/>
          </a:p>
        </p:txBody>
      </p:sp>
      <p:sp>
        <p:nvSpPr>
          <p:cNvPr id="11" name="Shape 11"/>
          <p:cNvSpPr/>
          <p:nvPr/>
        </p:nvSpPr>
        <p:spPr>
          <a:xfrm>
            <a:off x="10058400" y="2240280"/>
            <a:ext cx="1097280" cy="27432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000" dirty="0"/>
          </a:p>
        </p:txBody>
      </p:sp>
      <p:sp>
        <p:nvSpPr>
          <p:cNvPr id="12" name="Shape 12"/>
          <p:cNvSpPr/>
          <p:nvPr/>
        </p:nvSpPr>
        <p:spPr>
          <a:xfrm>
            <a:off x="10058400" y="2514600"/>
            <a:ext cx="1097280" cy="27432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000" dirty="0"/>
          </a:p>
        </p:txBody>
      </p:sp>
      <p:sp>
        <p:nvSpPr>
          <p:cNvPr id="13" name="Shape 13"/>
          <p:cNvSpPr/>
          <p:nvPr/>
        </p:nvSpPr>
        <p:spPr>
          <a:xfrm>
            <a:off x="10058400" y="2788920"/>
            <a:ext cx="1097280" cy="27432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000" dirty="0"/>
          </a:p>
        </p:txBody>
      </p:sp>
      <p:sp>
        <p:nvSpPr>
          <p:cNvPr id="14" name="Shape 14"/>
          <p:cNvSpPr/>
          <p:nvPr/>
        </p:nvSpPr>
        <p:spPr>
          <a:xfrm>
            <a:off x="8915400" y="3886200"/>
            <a:ext cx="868680" cy="548640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100" dirty="0">
                <a:solidFill>
                  <a:srgbClr val="2F6FA8"/>
                </a:solidFill>
              </a:rPr>
              <a:t>decoder</a:t>
            </a:r>
            <a:endParaRPr lang="en-US" sz="1100" dirty="0"/>
          </a:p>
        </p:txBody>
      </p:sp>
      <p:cxnSp>
        <p:nvCxnSpPr>
          <p:cNvPr id="15" name="Connector 15"/>
          <p:cNvCxnSpPr/>
          <p:nvPr/>
        </p:nvCxnSpPr>
        <p:spPr>
          <a:xfrm>
            <a:off x="8549640" y="4160520"/>
            <a:ext cx="320040" cy="0"/>
          </a:xfrm>
          <a:prstGeom prst="straightConnector1">
            <a:avLst/>
          </a:prstGeom>
          <a:ln w="15875">
            <a:solidFill>
              <a:srgbClr val="2F6FA8"/>
            </a:solidFill>
            <a:tailEnd type="triangle" w="med" len="med"/>
          </a:ln>
        </p:spPr>
      </p:cxnSp>
      <p:cxnSp>
        <p:nvCxnSpPr>
          <p:cNvPr id="16" name="Connector 16"/>
          <p:cNvCxnSpPr/>
          <p:nvPr/>
        </p:nvCxnSpPr>
        <p:spPr>
          <a:xfrm>
            <a:off x="9784080" y="4160520"/>
            <a:ext cx="274320" cy="0"/>
          </a:xfrm>
          <a:prstGeom prst="straightConnector1">
            <a:avLst/>
          </a:prstGeom>
          <a:ln w="15875">
            <a:solidFill>
              <a:srgbClr val="2F6FA8"/>
            </a:solidFill>
            <a:tailEnd type="triangle" w="med" len="med"/>
          </a:ln>
        </p:spPr>
      </p:cxnSp>
      <p:cxnSp>
        <p:nvCxnSpPr>
          <p:cNvPr id="17" name="Connector 17"/>
          <p:cNvCxnSpPr/>
          <p:nvPr/>
        </p:nvCxnSpPr>
        <p:spPr>
          <a:xfrm>
            <a:off x="7589520" y="4754880"/>
            <a:ext cx="2468880" cy="0"/>
          </a:xfrm>
          <a:prstGeom prst="straightConnector1">
            <a:avLst/>
          </a:prstGeom>
          <a:ln w="15875">
            <a:solidFill>
              <a:srgbClr val="00857C"/>
            </a:solidFill>
          </a:ln>
        </p:spPr>
      </p:cxnSp>
      <p:sp>
        <p:nvSpPr>
          <p:cNvPr id="18" name="TextBox 18"/>
          <p:cNvSpPr txBox="1"/>
          <p:nvPr/>
        </p:nvSpPr>
        <p:spPr>
          <a:xfrm>
            <a:off x="10058400" y="35204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Block memory</a:t>
            </a:r>
            <a:endParaRPr lang="en-US" sz="1300" dirty="0"/>
          </a:p>
        </p:txBody>
      </p:sp>
      <p:sp>
        <p:nvSpPr>
          <p:cNvPr id="19" name="Shape 19"/>
          <p:cNvSpPr/>
          <p:nvPr/>
        </p:nvSpPr>
        <p:spPr>
          <a:xfrm>
            <a:off x="10058400" y="3794760"/>
            <a:ext cx="1097280" cy="27432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000" dirty="0"/>
          </a:p>
        </p:txBody>
      </p:sp>
      <p:sp>
        <p:nvSpPr>
          <p:cNvPr id="20" name="Shape 20"/>
          <p:cNvSpPr/>
          <p:nvPr/>
        </p:nvSpPr>
        <p:spPr>
          <a:xfrm>
            <a:off x="10058400" y="4069080"/>
            <a:ext cx="1097280" cy="27432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000" dirty="0"/>
          </a:p>
        </p:txBody>
      </p:sp>
      <p:sp>
        <p:nvSpPr>
          <p:cNvPr id="21" name="Shape 21"/>
          <p:cNvSpPr/>
          <p:nvPr/>
        </p:nvSpPr>
        <p:spPr>
          <a:xfrm>
            <a:off x="10058400" y="4343400"/>
            <a:ext cx="1097280" cy="27432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41891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E129-0CDF-72E1-65F4-FD7AD48A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 Cubic 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E4EB8-B89F-A3AA-E83A-99523076E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8610" y="1655632"/>
                <a:ext cx="7660590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A HW module computes a cubic function: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2F6FA8"/>
                    </a:solidFill>
                  </a:rPr>
                  <a:t>Registers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Store polynomial 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Four values, all needed in the same cycle</a:t>
                </a:r>
              </a:p>
              <a:p>
                <a:pPr lvl="1"/>
                <a:r>
                  <a:rPr lang="en-US" dirty="0"/>
                  <a:t>Want parallel access</a:t>
                </a:r>
              </a:p>
              <a:p>
                <a:pPr lvl="1"/>
                <a:r>
                  <a:rPr lang="en-US" dirty="0"/>
                  <a:t>Could have control registers, e.g. count, data valid, ready, …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Block memory</a:t>
                </a:r>
              </a:p>
              <a:p>
                <a:pPr lvl="1"/>
                <a:r>
                  <a:rPr lang="en-US" dirty="0"/>
                  <a:t>Store input and output data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 values, only one touched per cycle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E4EB8-B89F-A3AA-E83A-99523076E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8610" y="1655632"/>
                <a:ext cx="7660590" cy="4329817"/>
              </a:xfrm>
              <a:blipFill>
                <a:blip r:embed="rId2"/>
                <a:stretch>
                  <a:fillRect l="-1909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22F95-B851-E362-6094-B72EDC02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sp>
        <p:nvSpPr>
          <p:cNvPr id="16" name="TextBox 2"/>
          <p:cNvSpPr txBox="1"/>
          <p:nvPr/>
        </p:nvSpPr>
        <p:spPr>
          <a:xfrm>
            <a:off x="9418320" y="16916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Registers</a:t>
            </a:r>
            <a:endParaRPr lang="en-US" sz="1300" dirty="0"/>
          </a:p>
        </p:txBody>
      </p:sp>
      <p:sp>
        <p:nvSpPr>
          <p:cNvPr id="17" name="Shape 3"/>
          <p:cNvSpPr/>
          <p:nvPr/>
        </p:nvSpPr>
        <p:spPr>
          <a:xfrm>
            <a:off x="9418320" y="2011680"/>
            <a:ext cx="1645920" cy="36576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𝑎[0]</a:t>
            </a:r>
            <a:endParaRPr lang="en-US" sz="1300" dirty="0"/>
          </a:p>
        </p:txBody>
      </p:sp>
      <p:sp>
        <p:nvSpPr>
          <p:cNvPr id="18" name="Shape 4"/>
          <p:cNvSpPr/>
          <p:nvPr/>
        </p:nvSpPr>
        <p:spPr>
          <a:xfrm>
            <a:off x="9418320" y="2377440"/>
            <a:ext cx="1645920" cy="36576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𝑎[1]</a:t>
            </a:r>
            <a:endParaRPr lang="en-US" sz="1300" dirty="0"/>
          </a:p>
        </p:txBody>
      </p:sp>
      <p:sp>
        <p:nvSpPr>
          <p:cNvPr id="5" name="Shape 5"/>
          <p:cNvSpPr/>
          <p:nvPr/>
        </p:nvSpPr>
        <p:spPr>
          <a:xfrm>
            <a:off x="9418320" y="2743200"/>
            <a:ext cx="1645920" cy="36576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𝑎[2]</a:t>
            </a:r>
            <a:endParaRPr lang="en-US" sz="1300" dirty="0"/>
          </a:p>
        </p:txBody>
      </p:sp>
      <p:sp>
        <p:nvSpPr>
          <p:cNvPr id="6" name="Shape 6"/>
          <p:cNvSpPr/>
          <p:nvPr/>
        </p:nvSpPr>
        <p:spPr>
          <a:xfrm>
            <a:off x="9418320" y="3108960"/>
            <a:ext cx="1645920" cy="36576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𝑎[3]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7955280" y="393192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𝑥[0]</a:t>
            </a:r>
            <a:endParaRPr lang="en-US" sz="1300" dirty="0"/>
          </a:p>
        </p:txBody>
      </p:sp>
      <p:sp>
        <p:nvSpPr>
          <p:cNvPr id="8" name="Shape 8"/>
          <p:cNvSpPr/>
          <p:nvPr/>
        </p:nvSpPr>
        <p:spPr>
          <a:xfrm>
            <a:off x="7955280" y="429768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𝑥[1]</a:t>
            </a:r>
            <a:endParaRPr lang="en-US" sz="1300" dirty="0"/>
          </a:p>
        </p:txBody>
      </p:sp>
      <p:sp>
        <p:nvSpPr>
          <p:cNvPr id="9" name="Shape 9"/>
          <p:cNvSpPr/>
          <p:nvPr/>
        </p:nvSpPr>
        <p:spPr>
          <a:xfrm>
            <a:off x="7955280" y="466344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</a:rPr>
              <a:t>⋮</a:t>
            </a:r>
            <a:endParaRPr lang="en-US" sz="1300" dirty="0"/>
          </a:p>
        </p:txBody>
      </p:sp>
      <p:sp>
        <p:nvSpPr>
          <p:cNvPr id="10" name="Shape 10"/>
          <p:cNvSpPr/>
          <p:nvPr/>
        </p:nvSpPr>
        <p:spPr>
          <a:xfrm>
            <a:off x="7955280" y="502920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𝑥[𝑛−1]</a:t>
            </a:r>
            <a:endParaRPr lang="en-US" sz="1300" dirty="0"/>
          </a:p>
        </p:txBody>
      </p:sp>
      <p:sp>
        <p:nvSpPr>
          <p:cNvPr id="11" name="Shape 11"/>
          <p:cNvSpPr/>
          <p:nvPr/>
        </p:nvSpPr>
        <p:spPr>
          <a:xfrm>
            <a:off x="9601200" y="393192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𝑦[0]</a:t>
            </a:r>
            <a:endParaRPr lang="en-US" sz="1300" dirty="0"/>
          </a:p>
        </p:txBody>
      </p:sp>
      <p:sp>
        <p:nvSpPr>
          <p:cNvPr id="12" name="Shape 12"/>
          <p:cNvSpPr/>
          <p:nvPr/>
        </p:nvSpPr>
        <p:spPr>
          <a:xfrm>
            <a:off x="9601200" y="429768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𝑦[1]</a:t>
            </a:r>
            <a:endParaRPr lang="en-US" sz="1300" dirty="0"/>
          </a:p>
        </p:txBody>
      </p:sp>
      <p:sp>
        <p:nvSpPr>
          <p:cNvPr id="13" name="Shape 13"/>
          <p:cNvSpPr/>
          <p:nvPr/>
        </p:nvSpPr>
        <p:spPr>
          <a:xfrm>
            <a:off x="9601200" y="466344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</a:rPr>
              <a:t>⋮</a:t>
            </a:r>
            <a:endParaRPr lang="en-US" sz="1300" dirty="0"/>
          </a:p>
        </p:txBody>
      </p:sp>
      <p:sp>
        <p:nvSpPr>
          <p:cNvPr id="14" name="Shape 14"/>
          <p:cNvSpPr/>
          <p:nvPr/>
        </p:nvSpPr>
        <p:spPr>
          <a:xfrm>
            <a:off x="9601200" y="502920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𝑦[𝑛−1]</a:t>
            </a:r>
            <a:endParaRPr lang="en-US" sz="1300" dirty="0"/>
          </a:p>
        </p:txBody>
      </p:sp>
      <p:sp>
        <p:nvSpPr>
          <p:cNvPr id="15" name="TextBox 15"/>
          <p:cNvSpPr txBox="1"/>
          <p:nvPr/>
        </p:nvSpPr>
        <p:spPr>
          <a:xfrm>
            <a:off x="7955280" y="54864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Block memory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44735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Maps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097280" y="1600200"/>
            <a:ext cx="5257800" cy="4206240"/>
          </a:xfrm>
        </p:spPr>
        <p:txBody>
          <a:bodyPr>
            <a:noAutofit/>
          </a:bodyPr>
          <a:lstStyle>
            <a:lvl1pPr marL="274320" indent="-274320">
              <a:spcBef>
                <a:spcPts val="1400"/>
              </a:spcBef>
              <a:buClr>
                <a:srgbClr val="57068C"/>
              </a:buClr>
              <a:buSzPct val="70000"/>
              <a:buFont typeface="Arial"/>
              <a:buChar char="■"/>
              <a:defRPr sz="2000"/>
            </a:lvl1pPr>
            <a:lvl2pPr marL="621792" indent="-228600">
              <a:spcBef>
                <a:spcPts val="400"/>
              </a:spcBef>
              <a:buClr>
                <a:srgbClr val="999999"/>
              </a:buClr>
              <a:buSzPct val="100000"/>
              <a:buFont typeface="Arial"/>
              <a:buChar char="–"/>
              <a:defRPr sz="1700"/>
            </a:lvl2pPr>
          </a:lstStyle>
          <a:p>
            <a:r>
              <a:rPr lang="en-US" b="1" dirty="0">
                <a:solidFill>
                  <a:srgbClr val="57068C"/>
                </a:solidFill>
              </a:rPr>
              <a:t>Register map</a:t>
            </a:r>
            <a:r>
              <a:rPr lang="en-US" dirty="0"/>
              <a:t>: where each field lives</a:t>
            </a:r>
          </a:p>
          <a:p>
            <a:pPr lvl="1"/>
            <a:r>
              <a:rPr lang="en-US" dirty="0"/>
              <a:t>Offset from the IP's base, name, field bits, access</a:t>
            </a:r>
          </a:p>
          <a:p>
            <a:r>
              <a:rPr lang="en-US" dirty="0"/>
              <a:t>For now: no field spans two registers</a:t>
            </a:r>
          </a:p>
          <a:p>
            <a:pPr lvl="1"/>
            <a:r>
              <a:rPr lang="en-US" dirty="0"/>
              <a:t>Each field fits inside one 32-bit register</a:t>
            </a:r>
          </a:p>
          <a:p>
            <a:pPr lvl="1"/>
            <a:r>
              <a:rPr lang="en-US" dirty="0"/>
              <a:t>Tight packing comes later, with serialization</a:t>
            </a:r>
          </a:p>
          <a:p>
            <a:r>
              <a:rPr lang="en-US" dirty="0"/>
              <a:t>Unused upper bits are </a:t>
            </a:r>
            <a:r>
              <a:rPr lang="en-US" b="1" dirty="0">
                <a:solidFill>
                  <a:srgbClr val="57068C"/>
                </a:solidFill>
              </a:rPr>
              <a:t>zero padding</a:t>
            </a:r>
            <a:endParaRPr lang="en-US" dirty="0"/>
          </a:p>
          <a:p>
            <a:pPr lvl="1"/>
            <a:r>
              <a:rPr lang="en-US" dirty="0"/>
              <a:t>Read back as 0; ignored by the hardware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75120" y="162763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Example: a vector-scaling IP</a:t>
            </a:r>
            <a:endParaRPr lang="en-US" sz="12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675120" y="1920240"/>
          <a:ext cx="448056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Offset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 bits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CTRL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start [0], done [1]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R/W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GAIN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7:0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R/W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0x08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LEN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9:0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R/W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0x0C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SUM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23:0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6675120" y="406908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The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LEN</a:t>
            </a:r>
            <a:r>
              <a:rPr lang="en-US" sz="1200" dirty="0">
                <a:solidFill>
                  <a:srgbClr val="6E6E6E"/>
                </a:solidFill>
              </a:rPr>
              <a:t> register: 32 bits</a:t>
            </a:r>
            <a:endParaRPr lang="en-US" sz="1200" dirty="0"/>
          </a:p>
        </p:txBody>
      </p:sp>
      <p:sp>
        <p:nvSpPr>
          <p:cNvPr id="7" name="Shape 7"/>
          <p:cNvSpPr/>
          <p:nvPr/>
        </p:nvSpPr>
        <p:spPr>
          <a:xfrm>
            <a:off x="6675120" y="4370832"/>
            <a:ext cx="3108960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dirty="0">
                <a:solidFill>
                  <a:srgbClr val="6E6E6E"/>
                </a:solidFill>
              </a:rPr>
              <a:t>zero padding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22 bits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9784080" y="4370832"/>
            <a:ext cx="1371600" cy="54864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LEN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57068C"/>
                </a:solidFill>
              </a:rPr>
              <a:t>10 bits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6675120" y="49560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31</a:t>
            </a: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9208008" y="49560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10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9875520" y="49560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9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10698480" y="49560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100" dirty="0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Map of the Cubic IP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5806440" cy="3977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500" dirty="0">
                <a:solidFill>
                  <a:srgbClr val="262626"/>
                </a:solidFill>
              </a:rPr>
              <a:t>The cubic IP computes </a:t>
            </a:r>
            <a:r>
              <a:rPr lang="en-US" sz="1500" dirty="0">
                <a:solidFill>
                  <a:srgbClr val="262626"/>
                </a:solidFill>
                <a:latin typeface="Cambria Math"/>
              </a:rPr>
              <a:t>𝑦[𝑖] = 𝑎₀ + 𝑎₁𝑥[𝑖] + 𝑎₂𝑥[𝑖]² + 𝑎₃𝑥[𝑖]³</a:t>
            </a:r>
            <a:r>
              <a:rPr lang="en-US" sz="1500" dirty="0">
                <a:solidFill>
                  <a:srgbClr val="262626"/>
                </a:solidFill>
              </a:rPr>
              <a:t> over a vector of length </a:t>
            </a:r>
            <a:r>
              <a:rPr lang="en-US" sz="1500" dirty="0">
                <a:solidFill>
                  <a:srgbClr val="262626"/>
                </a:solidFill>
                <a:latin typeface="Cambria Math"/>
              </a:rPr>
              <a:t>𝑛</a:t>
            </a:r>
            <a:r>
              <a:rPr lang="en-US" sz="1500" dirty="0">
                <a:solidFill>
                  <a:srgbClr val="262626"/>
                </a:solidFill>
              </a:rPr>
              <a:t>. Its registers hold:</a:t>
            </a:r>
            <a:endParaRPr lang="en-US" sz="15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start</a:t>
            </a:r>
            <a:r>
              <a:rPr lang="en-US" sz="1500" dirty="0">
                <a:solidFill>
                  <a:srgbClr val="262626"/>
                </a:solidFill>
              </a:rPr>
              <a:t>,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done</a:t>
            </a:r>
            <a:r>
              <a:rPr lang="en-US" sz="1500" dirty="0">
                <a:solidFill>
                  <a:srgbClr val="262626"/>
                </a:solidFill>
              </a:rPr>
              <a:t>: 1 bit each, sharing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CTRL</a:t>
            </a:r>
            <a:r>
              <a:rPr lang="en-US" sz="1500" dirty="0">
                <a:solidFill>
                  <a:srgbClr val="262626"/>
                </a:solidFill>
              </a:rPr>
              <a:t> (start = bit 0, done = bit 1)</a:t>
            </a:r>
            <a:endParaRPr lang="en-US" sz="15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a0</a:t>
            </a:r>
            <a:r>
              <a:rPr lang="en-US" sz="1500" dirty="0">
                <a:solidFill>
                  <a:srgbClr val="262626"/>
                </a:solidFill>
              </a:rPr>
              <a:t>–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a3</a:t>
            </a:r>
            <a:r>
              <a:rPr lang="en-US" sz="1500" dirty="0">
                <a:solidFill>
                  <a:srgbClr val="262626"/>
                </a:solidFill>
              </a:rPr>
              <a:t>: 16-bit signed coefficients</a:t>
            </a:r>
            <a:endParaRPr lang="en-US" sz="15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n</a:t>
            </a:r>
            <a:r>
              <a:rPr lang="en-US" sz="1500" dirty="0">
                <a:solidFill>
                  <a:srgbClr val="262626"/>
                </a:solidFill>
              </a:rPr>
              <a:t>: 12-bit unsigned vector length</a:t>
            </a:r>
            <a:endParaRPr lang="en-US" sz="1500" dirty="0"/>
          </a:p>
          <a:p>
            <a:pPr marL="411480" indent="-411480">
              <a:spcBef>
                <a:spcPts val="900"/>
              </a:spcBef>
            </a:pPr>
            <a:r>
              <a:rPr lang="en-US" sz="1500" b="1" dirty="0">
                <a:solidFill>
                  <a:srgbClr val="57068C"/>
                </a:solidFill>
              </a:rPr>
              <a:t>(a)</a:t>
            </a:r>
            <a:r>
              <a:rPr lang="en-US" sz="1500" dirty="0">
                <a:solidFill>
                  <a:srgbClr val="262626"/>
                </a:solidFill>
              </a:rPr>
              <a:t>	Write the register map: offset, field(s) and zero-padding bits for each register.</a:t>
            </a:r>
            <a:endParaRPr lang="en-US" sz="1500" dirty="0"/>
          </a:p>
          <a:p>
            <a:pPr marL="411480" indent="-411480">
              <a:spcBef>
                <a:spcPts val="900"/>
              </a:spcBef>
            </a:pPr>
            <a:r>
              <a:rPr lang="en-US" sz="1500" b="1" dirty="0">
                <a:solidFill>
                  <a:srgbClr val="57068C"/>
                </a:solidFill>
              </a:rPr>
              <a:t>(b)</a:t>
            </a:r>
            <a:r>
              <a:rPr lang="en-US" sz="1500" dirty="0">
                <a:solidFill>
                  <a:srgbClr val="262626"/>
                </a:solidFill>
              </a:rPr>
              <a:t>	The IP is mapped at base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0x4000_0000</a:t>
            </a:r>
            <a:r>
              <a:rPr lang="en-US" sz="1500" dirty="0">
                <a:solidFill>
                  <a:srgbClr val="262626"/>
                </a:solidFill>
              </a:rPr>
              <a:t>. What global address does the processor write to set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a2</a:t>
            </a:r>
            <a:r>
              <a:rPr lang="en-US" sz="1500" dirty="0">
                <a:solidFill>
                  <a:srgbClr val="262626"/>
                </a:solidFill>
              </a:rPr>
              <a:t>?</a:t>
            </a:r>
            <a:endParaRPr lang="en-US" sz="1500" dirty="0"/>
          </a:p>
          <a:p>
            <a:pPr marL="411480" indent="-411480">
              <a:spcBef>
                <a:spcPts val="900"/>
              </a:spcBef>
            </a:pPr>
            <a:r>
              <a:rPr lang="en-US" sz="1500" b="1" dirty="0">
                <a:solidFill>
                  <a:srgbClr val="57068C"/>
                </a:solidFill>
              </a:rPr>
              <a:t>(c)</a:t>
            </a:r>
            <a:r>
              <a:rPr lang="en-US" sz="1500" dirty="0">
                <a:solidFill>
                  <a:srgbClr val="262626"/>
                </a:solidFill>
              </a:rPr>
              <a:t>	The processor writes </a:t>
            </a:r>
            <a:r>
              <a:rPr lang="en-US" sz="1500" dirty="0">
                <a:solidFill>
                  <a:srgbClr val="262626"/>
                </a:solidFill>
                <a:latin typeface="Cambria Math"/>
              </a:rPr>
              <a:t>𝑎₂</a:t>
            </a:r>
            <a:r>
              <a:rPr lang="en-US" sz="1500" dirty="0">
                <a:solidFill>
                  <a:srgbClr val="262626"/>
                </a:solidFill>
              </a:rPr>
              <a:t> = −3. What 32-bit value reads back, in hex? What number does code get if it treats that as a signed 32-bit integer?</a:t>
            </a:r>
            <a:endParaRPr lang="en-US" sz="1500" dirty="0"/>
          </a:p>
        </p:txBody>
      </p:sp>
      <p:sp>
        <p:nvSpPr>
          <p:cNvPr id="5" name="Shape 5"/>
          <p:cNvSpPr/>
          <p:nvPr/>
        </p:nvSpPr>
        <p:spPr>
          <a:xfrm>
            <a:off x="7178040" y="1691640"/>
            <a:ext cx="3977640" cy="1051560"/>
          </a:xfrm>
          <a:prstGeom prst="roundRect">
            <a:avLst>
              <a:gd name="adj" fmla="val 8000"/>
            </a:avLst>
          </a:prstGeom>
          <a:solidFill>
            <a:srgbClr val="EEE6F3"/>
          </a:solidFill>
          <a:ln>
            <a:noFill/>
          </a:ln>
        </p:spPr>
        <p:txBody>
          <a:bodyPr wrap="square" lIns="128016" tIns="64008" rIns="128016" bIns="64008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300" b="1" dirty="0">
                <a:solidFill>
                  <a:srgbClr val="57068C"/>
                </a:solidFill>
              </a:rPr>
              <a:t>Layout rules</a:t>
            </a:r>
            <a:endParaRPr lang="en-US" sz="1300" dirty="0"/>
          </a:p>
          <a:p>
            <a:r>
              <a:rPr lang="en-US" sz="1200" dirty="0">
                <a:solidFill>
                  <a:srgbClr val="262626"/>
                </a:solidFill>
              </a:rPr>
              <a:t>32-bit registers, one field each (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CTRL</a:t>
            </a:r>
            <a:r>
              <a:rPr lang="en-US" sz="1200" dirty="0">
                <a:solidFill>
                  <a:srgbClr val="262626"/>
                </a:solidFill>
              </a:rPr>
              <a:t> holds both bits)</a:t>
            </a:r>
            <a:endParaRPr lang="en-US" sz="1200" dirty="0"/>
          </a:p>
          <a:p>
            <a:r>
              <a:rPr lang="en-US" sz="1200" dirty="0">
                <a:solidFill>
                  <a:srgbClr val="262626"/>
                </a:solidFill>
              </a:rPr>
              <a:t>Fields in the low bits, zero padding above</a:t>
            </a:r>
            <a:endParaRPr lang="en-US" sz="1200" dirty="0"/>
          </a:p>
          <a:p>
            <a:r>
              <a:rPr lang="en-US" sz="1200" dirty="0">
                <a:solidFill>
                  <a:srgbClr val="262626"/>
                </a:solidFill>
              </a:rPr>
              <a:t>Order from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0x00</a:t>
            </a:r>
            <a:r>
              <a:rPr lang="en-US" sz="1200" dirty="0">
                <a:solidFill>
                  <a:srgbClr val="262626"/>
                </a:solidFill>
              </a:rPr>
              <a:t>: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CTRL</a:t>
            </a:r>
            <a:r>
              <a:rPr lang="en-US" sz="1200" dirty="0">
                <a:solidFill>
                  <a:srgbClr val="262626"/>
                </a:solidFill>
              </a:rPr>
              <a:t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a0</a:t>
            </a:r>
            <a:r>
              <a:rPr lang="en-US" sz="1200" dirty="0">
                <a:solidFill>
                  <a:srgbClr val="262626"/>
                </a:solidFill>
              </a:rPr>
              <a:t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a1</a:t>
            </a:r>
            <a:r>
              <a:rPr lang="en-US" sz="1200" dirty="0">
                <a:solidFill>
                  <a:srgbClr val="262626"/>
                </a:solidFill>
              </a:rPr>
              <a:t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a2</a:t>
            </a:r>
            <a:r>
              <a:rPr lang="en-US" sz="1200" dirty="0">
                <a:solidFill>
                  <a:srgbClr val="262626"/>
                </a:solidFill>
              </a:rPr>
              <a:t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a3</a:t>
            </a:r>
            <a:r>
              <a:rPr lang="en-US" sz="1200" dirty="0">
                <a:solidFill>
                  <a:srgbClr val="262626"/>
                </a:solidFill>
              </a:rPr>
              <a:t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n</a:t>
            </a:r>
            <a:endParaRPr lang="en-US" sz="12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78040" y="2926080"/>
          <a:ext cx="3977640" cy="2112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Offset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 bits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Padding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CTRL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a1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a3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Register map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Map of the Cubic IP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5394960" cy="274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>	See the table: registers sit 4 bytes apart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>	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0x4000_0000</a:t>
            </a:r>
            <a:r>
              <a:rPr lang="en-US" sz="1600" dirty="0">
                <a:solidFill>
                  <a:srgbClr val="262626"/>
                </a:solidFill>
              </a:rPr>
              <a:t> +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0x0C</a:t>
            </a:r>
            <a:r>
              <a:rPr lang="en-US" sz="1600" dirty="0">
                <a:solidFill>
                  <a:srgbClr val="262626"/>
                </a:solidFill>
              </a:rPr>
              <a:t> =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0x4000_000C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>	−3 in 16-bit two's complement is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0xFFFD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>Zero padding → reads back as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0x0000_FFFD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>As a signed 32-bit integer: </a:t>
            </a:r>
            <a:r>
              <a:rPr lang="en-US" sz="1600" b="1" dirty="0">
                <a:solidFill>
                  <a:srgbClr val="00857C"/>
                </a:solidFill>
              </a:rPr>
              <a:t>65533</a:t>
            </a:r>
            <a:r>
              <a:rPr lang="en-US" sz="1600" dirty="0">
                <a:solidFill>
                  <a:srgbClr val="262626"/>
                </a:solidFill>
              </a:rPr>
              <a:t>, not −3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1097280" y="45262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rtlCol="0" anchor="ctr">
            <a:noAutofit/>
          </a:bodyPr>
          <a:lstStyle/>
          <a:p>
            <a:r>
              <a:rPr lang="en-US" sz="1400" b="1" dirty="0">
                <a:solidFill>
                  <a:srgbClr val="B4530F"/>
                </a:solidFill>
              </a:rPr>
              <a:t>Watch out:</a:t>
            </a:r>
            <a:r>
              <a:rPr lang="en-US" sz="1400" dirty="0">
                <a:solidFill>
                  <a:srgbClr val="262626"/>
                </a:solidFill>
              </a:rPr>
              <a:t> zero padding does not sign-extend.</a:t>
            </a:r>
            <a:endParaRPr lang="en-US" sz="1400" dirty="0"/>
          </a:p>
          <a:p>
            <a:r>
              <a:rPr lang="en-US" sz="1400" dirty="0">
                <a:solidFill>
                  <a:srgbClr val="262626"/>
                </a:solidFill>
              </a:rPr>
              <a:t>Software must sign-extend a padded signed field itself.</a:t>
            </a:r>
            <a:endParaRPr lang="en-US" sz="14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675120" y="1737360"/>
          <a:ext cx="4480560" cy="23042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Offset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 bits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Padding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CTRL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start [0], done [1]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0x08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a1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0x0C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0x10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a3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0x14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11:0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6675120" y="429768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The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a2</a:t>
            </a:r>
            <a:r>
              <a:rPr lang="en-US" sz="1200" dirty="0">
                <a:solidFill>
                  <a:srgbClr val="6E6E6E"/>
                </a:solidFill>
              </a:rPr>
              <a:t> register after writing −3</a:t>
            </a:r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6675120" y="4572000"/>
            <a:ext cx="2240280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0000 0000 0000 0000</a:t>
            </a:r>
            <a:endParaRPr lang="en-US" sz="1200" dirty="0"/>
          </a:p>
          <a:p>
            <a:pPr algn="ctr"/>
            <a:r>
              <a:rPr lang="en-US" sz="1000" dirty="0">
                <a:solidFill>
                  <a:srgbClr val="6E6E6E"/>
                </a:solidFill>
              </a:rPr>
              <a:t>bits 31–16: padding</a:t>
            </a:r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8915400" y="4572000"/>
            <a:ext cx="2240280" cy="56692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330662"/>
                </a:solidFill>
                <a:latin typeface="Consolas"/>
                <a:cs typeface="Consolas"/>
              </a:rPr>
              <a:t>1111 1111 1111 1101</a:t>
            </a:r>
            <a:endParaRPr lang="en-US" sz="1200" dirty="0"/>
          </a:p>
          <a:p>
            <a:pPr algn="ctr"/>
            <a:r>
              <a:rPr lang="en-US" sz="1000" dirty="0">
                <a:solidFill>
                  <a:srgbClr val="57068C"/>
                </a:solidFill>
              </a:rPr>
              <a:t>bits 15–0: −3</a:t>
            </a:r>
            <a:endParaRPr lang="en-US" sz="1000" dirty="0"/>
          </a:p>
        </p:txBody>
      </p:sp>
      <p:sp>
        <p:nvSpPr>
          <p:cNvPr id="10" name="TextBox 10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Register map</a:t>
            </a:r>
            <a:endParaRPr lang="en-US" sz="1200" dirty="0"/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Each Value Live?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IN CLASS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309360" cy="402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262626"/>
                </a:solidFill>
              </a:rPr>
              <a:t>Pick a computation that interests you: filtering in video processing, encryption, a neural-network layer, a matrix product. It must take at least one array, image or stream.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(a)</a:t>
            </a:r>
            <a:r>
              <a:rPr lang="en-US" sz="1700" dirty="0">
                <a:solidFill>
                  <a:srgbClr val="262626"/>
                </a:solidFill>
              </a:rPr>
              <a:t>	List the inputs and outputs, with a size or a rate for each.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(b)</a:t>
            </a:r>
            <a:r>
              <a:rPr lang="en-US" sz="1700" dirty="0">
                <a:solidFill>
                  <a:srgbClr val="262626"/>
                </a:solidFill>
              </a:rPr>
              <a:t>	Which would you hold in </a:t>
            </a:r>
            <a:r>
              <a:rPr lang="en-US" sz="1700" b="1" dirty="0">
                <a:solidFill>
                  <a:srgbClr val="57068C"/>
                </a:solidFill>
              </a:rPr>
              <a:t>registers</a:t>
            </a:r>
            <a:r>
              <a:rPr lang="en-US" sz="1700" dirty="0">
                <a:solidFill>
                  <a:srgbClr val="262626"/>
                </a:solidFill>
              </a:rPr>
              <a:t>? Why?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(c)</a:t>
            </a:r>
            <a:r>
              <a:rPr lang="en-US" sz="1700" dirty="0">
                <a:solidFill>
                  <a:srgbClr val="262626"/>
                </a:solidFill>
              </a:rPr>
              <a:t>	Which would you hold in </a:t>
            </a:r>
            <a:r>
              <a:rPr lang="en-US" sz="1700" b="1" dirty="0">
                <a:solidFill>
                  <a:srgbClr val="57068C"/>
                </a:solidFill>
              </a:rPr>
              <a:t>bulk storage</a:t>
            </a:r>
            <a:r>
              <a:rPr lang="en-US" sz="1700" dirty="0">
                <a:solidFill>
                  <a:srgbClr val="262626"/>
                </a:solidFill>
              </a:rPr>
              <a:t>? Why?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(d)</a:t>
            </a:r>
            <a:r>
              <a:rPr lang="en-US" sz="1700" dirty="0">
                <a:solidFill>
                  <a:srgbClr val="262626"/>
                </a:solidFill>
              </a:rPr>
              <a:t>	Choose a problem size. Give the register map, and the size of the bulk storage in words.</a:t>
            </a:r>
            <a:endParaRPr lang="en-US" sz="1700" dirty="0"/>
          </a:p>
        </p:txBody>
      </p:sp>
      <p:sp>
        <p:nvSpPr>
          <p:cNvPr id="5" name="Shape 5"/>
          <p:cNvSpPr/>
          <p:nvPr/>
        </p:nvSpPr>
        <p:spPr>
          <a:xfrm>
            <a:off x="7680960" y="169164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EEE6F3"/>
          </a:solidFill>
          <a:ln>
            <a:noFill/>
          </a:ln>
        </p:spPr>
        <p:txBody>
          <a:bodyPr wrap="square" lIns="146304" tIns="73152" rIns="146304" bIns="73152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 b="1" dirty="0">
                <a:solidFill>
                  <a:srgbClr val="57068C"/>
                </a:solidFill>
              </a:rPr>
              <a:t>Decide per value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62626"/>
                </a:solidFill>
              </a:rPr>
              <a:t>Registers: parallel access, available to the datapath, higher area per bit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Bulk storage: one word per access, much higher density</a:t>
            </a:r>
            <a:endParaRPr lang="en-US" sz="1300" dirty="0"/>
          </a:p>
        </p:txBody>
      </p:sp>
      <p:sp>
        <p:nvSpPr>
          <p:cNvPr id="6" name="TextBox 6"/>
          <p:cNvSpPr txBox="1"/>
          <p:nvPr/>
        </p:nvSpPr>
        <p:spPr>
          <a:xfrm>
            <a:off x="7680960" y="35204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How the data crosses into the IP is the next section, and units 5 and 9.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Storage partitioning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EB63-B3F4-ACD6-9740-DD1A05C77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DCBF-2DFA-2AAD-1BB7-585AA366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26BD-F89F-D6C7-72E4-B3E6F9E4F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AXI4-Lite</a:t>
            </a:r>
          </a:p>
          <a:p>
            <a:r>
              <a:rPr lang="en-US" sz="2400" dirty="0"/>
              <a:t>Implementing AXI4-Lite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E0901-AF8F-DC1C-D149-E0DF9740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57FFE26-B288-8DA2-44A2-71E0BB8EACBB}"/>
              </a:ext>
            </a:extLst>
          </p:cNvPr>
          <p:cNvSpPr/>
          <p:nvPr/>
        </p:nvSpPr>
        <p:spPr>
          <a:xfrm>
            <a:off x="396317" y="203650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39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6CF8-2739-9D9B-21E1-C44C7857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0FC1E-8223-98FF-5EDE-863D66D2F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ARM Extensible Interface family of protocols</a:t>
            </a:r>
          </a:p>
          <a:p>
            <a:pPr lvl="1"/>
            <a:r>
              <a:rPr lang="en-US" sz="2000" dirty="0"/>
              <a:t>Others we will use in class are AXI4-Full and AXI4-Stream</a:t>
            </a:r>
          </a:p>
          <a:p>
            <a:r>
              <a:rPr lang="en-US" sz="2400" dirty="0"/>
              <a:t>Industry-standard, ubiquitously used</a:t>
            </a:r>
          </a:p>
          <a:p>
            <a:r>
              <a:rPr lang="en-US" sz="2400" dirty="0"/>
              <a:t>AXI4-Lite:</a:t>
            </a:r>
          </a:p>
          <a:p>
            <a:pPr lvl="1"/>
            <a:r>
              <a:rPr lang="en-US" sz="2000" dirty="0"/>
              <a:t>Simple</a:t>
            </a:r>
          </a:p>
          <a:p>
            <a:pPr lvl="1"/>
            <a:r>
              <a:rPr lang="en-US" sz="2000" dirty="0"/>
              <a:t>Ideal for programming registers</a:t>
            </a:r>
          </a:p>
          <a:p>
            <a:pPr lvl="1"/>
            <a:r>
              <a:rPr lang="en-US" sz="2000" dirty="0"/>
              <a:t>Modular enables flexibility in delays and scheduling at both ends</a:t>
            </a:r>
          </a:p>
          <a:p>
            <a:pPr lvl="1"/>
            <a:r>
              <a:rPr lang="en-US" sz="2000" dirty="0"/>
              <a:t>Typical throughput: 1 read / 1 write every 3-5 clock cycles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6E33A-56A5-816D-F87B-941D4D0D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24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7345A-5E81-6FBB-1397-396D34A7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A381-9BA7-7F84-52A4-8A9393AA9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AXI4-Lite Use Case:  Processor to Hardware 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9207E-69D0-372A-E0FA-0CE9E180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1FF4CE-AE0E-9405-FDBF-6313B6880BDD}"/>
              </a:ext>
            </a:extLst>
          </p:cNvPr>
          <p:cNvSpPr/>
          <p:nvPr/>
        </p:nvSpPr>
        <p:spPr>
          <a:xfrm>
            <a:off x="6893966" y="1768893"/>
            <a:ext cx="1983059" cy="13441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387AB-E646-8D26-A9C4-E1ED8BE4F8B5}"/>
              </a:ext>
            </a:extLst>
          </p:cNvPr>
          <p:cNvSpPr/>
          <p:nvPr/>
        </p:nvSpPr>
        <p:spPr>
          <a:xfrm>
            <a:off x="7120593" y="2050551"/>
            <a:ext cx="407205" cy="780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1B9D96-F9DD-03AD-9EF0-74D55ED94817}"/>
              </a:ext>
            </a:extLst>
          </p:cNvPr>
          <p:cNvSpPr/>
          <p:nvPr/>
        </p:nvSpPr>
        <p:spPr>
          <a:xfrm>
            <a:off x="2015439" y="1768893"/>
            <a:ext cx="1215427" cy="12302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719557-BBBD-650E-3732-D62BFCF1B0B7}"/>
              </a:ext>
            </a:extLst>
          </p:cNvPr>
          <p:cNvSpPr txBox="1"/>
          <p:nvPr/>
        </p:nvSpPr>
        <p:spPr>
          <a:xfrm>
            <a:off x="1731337" y="3048239"/>
            <a:ext cx="178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ARM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FA11C-B31E-4968-1673-21611F9A0EBE}"/>
              </a:ext>
            </a:extLst>
          </p:cNvPr>
          <p:cNvSpPr txBox="1"/>
          <p:nvPr/>
        </p:nvSpPr>
        <p:spPr>
          <a:xfrm>
            <a:off x="6816049" y="3122796"/>
            <a:ext cx="392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 FPGA module you have designed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E6154-C76E-CDEC-5D30-9309AF561A1C}"/>
              </a:ext>
            </a:extLst>
          </p:cNvPr>
          <p:cNvSpPr txBox="1"/>
          <p:nvPr/>
        </p:nvSpPr>
        <p:spPr>
          <a:xfrm>
            <a:off x="9427578" y="2227879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registers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BB87E252-7BCB-307E-1556-D03B1E35E90C}"/>
              </a:ext>
            </a:extLst>
          </p:cNvPr>
          <p:cNvSpPr/>
          <p:nvPr/>
        </p:nvSpPr>
        <p:spPr>
          <a:xfrm>
            <a:off x="3318032" y="2278421"/>
            <a:ext cx="3575934" cy="308169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D13DB5-1217-604B-48DD-885FD914755E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527798" y="2440957"/>
            <a:ext cx="1812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B5A790-0B2B-81C5-75AA-9E9FC2077A4A}"/>
              </a:ext>
            </a:extLst>
          </p:cNvPr>
          <p:cNvSpPr txBox="1"/>
          <p:nvPr/>
        </p:nvSpPr>
        <p:spPr>
          <a:xfrm>
            <a:off x="4330637" y="2661131"/>
            <a:ext cx="174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Address,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2A80E85-07E8-87CE-29F3-A6A45436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4085663"/>
            <a:ext cx="7660590" cy="1719150"/>
          </a:xfrm>
        </p:spPr>
        <p:txBody>
          <a:bodyPr/>
          <a:lstStyle/>
          <a:p>
            <a:r>
              <a:rPr lang="en-US" dirty="0"/>
              <a:t>Widely-used use case</a:t>
            </a:r>
          </a:p>
          <a:p>
            <a:r>
              <a:rPr lang="en-US" dirty="0"/>
              <a:t>Hardware IP has control registers </a:t>
            </a:r>
          </a:p>
          <a:p>
            <a:r>
              <a:rPr lang="en-US" dirty="0"/>
              <a:t>Need read / write access from an embedded processor</a:t>
            </a:r>
          </a:p>
        </p:txBody>
      </p:sp>
    </p:spTree>
    <p:extLst>
      <p:ext uri="{BB962C8B-B14F-4D97-AF65-F5344CB8AC3E}">
        <p14:creationId xmlns:p14="http://schemas.microsoft.com/office/powerpoint/2010/main" val="1086520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B4CC-8E80-B401-1F51-91A20865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2A44-B3ED-6D68-D99A-91F419D5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Managers and Subordinates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8605C-8513-5563-A40B-65E05526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2B16C3-A3B5-30F5-2D33-7ED3B6F183C5}"/>
              </a:ext>
            </a:extLst>
          </p:cNvPr>
          <p:cNvSpPr/>
          <p:nvPr/>
        </p:nvSpPr>
        <p:spPr>
          <a:xfrm>
            <a:off x="6893966" y="1768893"/>
            <a:ext cx="1983059" cy="13441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2FF4E4-2AC8-9B91-E2C7-EA9D95096129}"/>
              </a:ext>
            </a:extLst>
          </p:cNvPr>
          <p:cNvSpPr/>
          <p:nvPr/>
        </p:nvSpPr>
        <p:spPr>
          <a:xfrm>
            <a:off x="7120593" y="2050551"/>
            <a:ext cx="407205" cy="780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A909A-F96C-4134-7CD9-450714805AB8}"/>
              </a:ext>
            </a:extLst>
          </p:cNvPr>
          <p:cNvSpPr/>
          <p:nvPr/>
        </p:nvSpPr>
        <p:spPr>
          <a:xfrm>
            <a:off x="2015439" y="1768893"/>
            <a:ext cx="1215427" cy="12302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2BF39-5173-989A-8E06-6C8D17BDAAEB}"/>
              </a:ext>
            </a:extLst>
          </p:cNvPr>
          <p:cNvSpPr txBox="1"/>
          <p:nvPr/>
        </p:nvSpPr>
        <p:spPr>
          <a:xfrm>
            <a:off x="1731337" y="3048239"/>
            <a:ext cx="178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ARM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3A83D-A11D-7BA2-605B-16A9267574D2}"/>
              </a:ext>
            </a:extLst>
          </p:cNvPr>
          <p:cNvSpPr txBox="1"/>
          <p:nvPr/>
        </p:nvSpPr>
        <p:spPr>
          <a:xfrm>
            <a:off x="6816049" y="3122796"/>
            <a:ext cx="392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 FPGA module you have designed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35558-3EAD-1B84-ABAE-E5112DFB238F}"/>
              </a:ext>
            </a:extLst>
          </p:cNvPr>
          <p:cNvSpPr txBox="1"/>
          <p:nvPr/>
        </p:nvSpPr>
        <p:spPr>
          <a:xfrm>
            <a:off x="9427578" y="2227879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registers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6ADABCC0-029F-E25E-1AE7-EE6EDD0C9F71}"/>
              </a:ext>
            </a:extLst>
          </p:cNvPr>
          <p:cNvSpPr/>
          <p:nvPr/>
        </p:nvSpPr>
        <p:spPr>
          <a:xfrm>
            <a:off x="3318032" y="2278421"/>
            <a:ext cx="3575934" cy="308169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B87522-CB19-933E-5DAD-4BB371F4E273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527798" y="2440957"/>
            <a:ext cx="1812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495985-6E07-0B48-7F44-549A712AE435}"/>
              </a:ext>
            </a:extLst>
          </p:cNvPr>
          <p:cNvSpPr txBox="1"/>
          <p:nvPr/>
        </p:nvSpPr>
        <p:spPr>
          <a:xfrm>
            <a:off x="4330637" y="2661131"/>
            <a:ext cx="174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Address,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6D6BA6-5A4A-1F95-238F-27D2573D5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4085663"/>
            <a:ext cx="9442384" cy="17191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Called master and slave until AMBA renamed them in 2021, and the port names (S_AXI, s_axilite) still do.   In AXI4-Lite:</a:t>
            </a:r>
          </a:p>
          <a:p>
            <a:r>
              <a:rPr lang="en-US" dirty="0"/>
              <a:t>Each read or write of a single word is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transaction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Manager</a:t>
            </a:r>
            <a:r>
              <a:rPr lang="en-US" dirty="0"/>
              <a:t>:  The unit that initiates all transaction (typically the processor in this example)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Subordinate</a:t>
            </a:r>
            <a:r>
              <a:rPr lang="en-US" dirty="0"/>
              <a:t>:  The unit that responds to the transaction (typically the hardware IP)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AAD0F-6F85-3087-D6F6-6EF577FB61A3}"/>
              </a:ext>
            </a:extLst>
          </p:cNvPr>
          <p:cNvSpPr txBox="1"/>
          <p:nvPr/>
        </p:nvSpPr>
        <p:spPr>
          <a:xfrm>
            <a:off x="1919734" y="1368783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MANAGER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BE24C-B98C-FD49-8BEA-9BB1DC7BB816}"/>
              </a:ext>
            </a:extLst>
          </p:cNvPr>
          <p:cNvSpPr txBox="1"/>
          <p:nvPr/>
        </p:nvSpPr>
        <p:spPr>
          <a:xfrm>
            <a:off x="7018103" y="1347798"/>
            <a:ext cx="2359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SUBORDINATE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3255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21FD-8C52-CBA4-8FA1-0E938970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 AXI4-Lite Write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manager</a:t>
                </a:r>
                <a:r>
                  <a:rPr lang="en-US" dirty="0"/>
                  <a:t> wants to write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AWADDR=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AWVALID=1 </a:t>
                </a:r>
              </a:p>
              <a:p>
                <a:pPr lvl="1"/>
                <a:r>
                  <a:rPr lang="en-US" dirty="0"/>
                  <a:t>WDATA=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Both can occur in independent clock cycles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subordinate</a:t>
                </a:r>
                <a:r>
                  <a:rPr lang="en-US" dirty="0"/>
                  <a:t> is ready for address or data it sets:</a:t>
                </a:r>
              </a:p>
              <a:p>
                <a:pPr lvl="1"/>
                <a:r>
                  <a:rPr lang="en-US" dirty="0"/>
                  <a:t>AWREADY=1 and WREADY=1</a:t>
                </a:r>
              </a:p>
              <a:p>
                <a:pPr lvl="1"/>
                <a:r>
                  <a:rPr lang="en-US" dirty="0"/>
                  <a:t>Subordinate can set these independently and any time it is ready</a:t>
                </a:r>
              </a:p>
              <a:p>
                <a:r>
                  <a:rPr lang="en-US" dirty="0"/>
                  <a:t>Transfer:</a:t>
                </a:r>
              </a:p>
              <a:p>
                <a:pPr lvl="1"/>
                <a:r>
                  <a:rPr lang="en-US" dirty="0"/>
                  <a:t>When AWREADY=AWVALID=1 together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pPr lvl="1"/>
                <a:r>
                  <a:rPr lang="en-US" dirty="0"/>
                  <a:t>When WREADY=WVALID=1 together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r>
                  <a:rPr lang="en-US" dirty="0"/>
                  <a:t>Write response (B channel):</a:t>
                </a:r>
              </a:p>
              <a:p>
                <a:pPr lvl="1"/>
                <a:r>
                  <a:rPr lang="en-US" dirty="0"/>
                  <a:t>After both transfers, the subordinate sets BVALID=1 with the write response</a:t>
                </a:r>
              </a:p>
              <a:p>
                <a:pPr lvl="1"/>
                <a:r>
                  <a:rPr lang="en-US" dirty="0"/>
                  <a:t>The manager sets BREADY=1 to accept it; the response transfers when BVALID=BREADY=1</a:t>
                </a:r>
              </a:p>
              <a:p>
                <a:pPr lvl="1"/>
                <a:r>
                  <a:rPr lang="en-US" dirty="0"/>
                  <a:t>Each channel is free for the next transaction once its own handshake completes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198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29212-6EC2-EAF1-54ED-AC782421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51ABD-E695-844B-27AC-06C0BA11448C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A13EFA-1CAF-7C8F-378A-DD0F2760BBA8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953260-0679-7010-69F7-3FE9282B2384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703EFF-B4A1-54F8-432D-3B4DEF9EDEB0}"/>
              </a:ext>
            </a:extLst>
          </p:cNvPr>
          <p:cNvSpPr txBox="1"/>
          <p:nvPr/>
        </p:nvSpPr>
        <p:spPr>
          <a:xfrm>
            <a:off x="8870701" y="2360095"/>
            <a:ext cx="113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312953-0367-7FBC-7D3B-ABB51086EE16}"/>
              </a:ext>
            </a:extLst>
          </p:cNvPr>
          <p:cNvCxnSpPr>
            <a:cxnSpLocks/>
          </p:cNvCxnSpPr>
          <p:nvPr/>
        </p:nvCxnSpPr>
        <p:spPr>
          <a:xfrm flipH="1">
            <a:off x="8252937" y="2698574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411B80-1B70-B4DF-3BAF-88F5700F376F}"/>
              </a:ext>
            </a:extLst>
          </p:cNvPr>
          <p:cNvSpPr txBox="1"/>
          <p:nvPr/>
        </p:nvSpPr>
        <p:spPr>
          <a:xfrm>
            <a:off x="8419060" y="1838363"/>
            <a:ext cx="203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F8C958-6655-E647-8866-35F6BE472984}"/>
              </a:ext>
            </a:extLst>
          </p:cNvPr>
          <p:cNvCxnSpPr>
            <a:cxnSpLocks/>
          </p:cNvCxnSpPr>
          <p:nvPr/>
        </p:nvCxnSpPr>
        <p:spPr>
          <a:xfrm>
            <a:off x="8234652" y="3406386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7A1B314-E9B6-DC2F-C400-B00B30E30FF6}"/>
              </a:ext>
            </a:extLst>
          </p:cNvPr>
          <p:cNvSpPr txBox="1"/>
          <p:nvPr/>
        </p:nvSpPr>
        <p:spPr>
          <a:xfrm>
            <a:off x="9007404" y="4217568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2886CB-CF5B-4093-5FD5-ECA01038E7C0}"/>
              </a:ext>
            </a:extLst>
          </p:cNvPr>
          <p:cNvCxnSpPr>
            <a:cxnSpLocks/>
          </p:cNvCxnSpPr>
          <p:nvPr/>
        </p:nvCxnSpPr>
        <p:spPr>
          <a:xfrm flipH="1">
            <a:off x="8252937" y="389726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A052BC-9C1A-5654-683D-A6A5020CEDF0}"/>
              </a:ext>
            </a:extLst>
          </p:cNvPr>
          <p:cNvSpPr txBox="1"/>
          <p:nvPr/>
        </p:nvSpPr>
        <p:spPr>
          <a:xfrm>
            <a:off x="8419060" y="3037054"/>
            <a:ext cx="174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2C7A94-FF0F-C37D-53E2-D10A91ECD914}"/>
              </a:ext>
            </a:extLst>
          </p:cNvPr>
          <p:cNvCxnSpPr>
            <a:cxnSpLocks/>
          </p:cNvCxnSpPr>
          <p:nvPr/>
        </p:nvCxnSpPr>
        <p:spPr>
          <a:xfrm flipH="1">
            <a:off x="8252937" y="457001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55AC03-FD8D-71E0-B038-2A47BCB6594F}"/>
              </a:ext>
            </a:extLst>
          </p:cNvPr>
          <p:cNvSpPr txBox="1"/>
          <p:nvPr/>
        </p:nvSpPr>
        <p:spPr>
          <a:xfrm>
            <a:off x="8870701" y="3542024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796F23-4048-4397-A021-B497D878C910}"/>
              </a:ext>
            </a:extLst>
          </p:cNvPr>
          <p:cNvCxnSpPr>
            <a:cxnSpLocks/>
          </p:cNvCxnSpPr>
          <p:nvPr/>
        </p:nvCxnSpPr>
        <p:spPr>
          <a:xfrm>
            <a:off x="8285322" y="522867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F4AD49-3511-2FA3-BBE3-5B8F8DCD6A7F}"/>
              </a:ext>
            </a:extLst>
          </p:cNvPr>
          <p:cNvSpPr txBox="1"/>
          <p:nvPr/>
        </p:nvSpPr>
        <p:spPr>
          <a:xfrm>
            <a:off x="8950851" y="4812282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09AA2E-AA7D-9CAA-B1BA-0C97439A7B6C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MANAGER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3846A0-4C34-3391-0EDE-34D4750D84D5}"/>
              </a:ext>
            </a:extLst>
          </p:cNvPr>
          <p:cNvSpPr txBox="1"/>
          <p:nvPr/>
        </p:nvSpPr>
        <p:spPr>
          <a:xfrm>
            <a:off x="10175562" y="1499958"/>
            <a:ext cx="2359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SUBORDINATE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441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F531127-1829-ED27-52AD-99C385402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9" y="1626723"/>
            <a:ext cx="8057903" cy="31883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B13BA9-9A46-4AF4-C293-986B5B84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AXI4-Lite 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BF05D-9304-4AEA-7E92-4A33FD03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D4B7E3F-44D7-38F5-2410-AF173B8D2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822" y="1524121"/>
            <a:ext cx="385520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with </a:t>
            </a:r>
          </a:p>
          <a:p>
            <a:r>
              <a:rPr lang="en-US" dirty="0"/>
              <a:t>Subordinate is ready before manager </a:t>
            </a:r>
          </a:p>
          <a:p>
            <a:r>
              <a:rPr lang="en-US" dirty="0"/>
              <a:t>Address write before data write</a:t>
            </a:r>
          </a:p>
          <a:p>
            <a:r>
              <a:rPr lang="en-US" dirty="0"/>
              <a:t>But either order or together is fine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91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6B72D-C84B-0BD0-5B48-B01620B7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F34BB9-F4A3-0FB3-54ED-BCA94A683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63" y="1859756"/>
            <a:ext cx="7842381" cy="31240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D68D8A-C931-623C-D5C4-4698C95C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AXI4-Lite Write With Stall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217BF-E390-B999-67B3-6AE0F521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C18ADDC-BFB6-7E3D-7F72-5A33BDD58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8110" y="1583941"/>
            <a:ext cx="385520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Manager sets valid </a:t>
            </a:r>
          </a:p>
          <a:p>
            <a:r>
              <a:rPr lang="en-US" dirty="0"/>
              <a:t>Subordinate is not ready</a:t>
            </a:r>
          </a:p>
          <a:p>
            <a:r>
              <a:rPr lang="en-US" dirty="0"/>
              <a:t>Transfer </a:t>
            </a:r>
            <a:r>
              <a:rPr lang="en-US" dirty="0">
                <a:solidFill>
                  <a:srgbClr val="7030A0"/>
                </a:solidFill>
              </a:rPr>
              <a:t>stalls</a:t>
            </a:r>
          </a:p>
          <a:p>
            <a:r>
              <a:rPr lang="en-US" dirty="0">
                <a:solidFill>
                  <a:schemeClr val="tx1"/>
                </a:solidFill>
              </a:rPr>
              <a:t>Provides flow control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Ensures data waits until RX is ready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2225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the Timing Diagram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IN CLASS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800" dirty="0">
                <a:solidFill>
                  <a:srgbClr val="262626"/>
                </a:solidFill>
              </a:rPr>
              <a:t>Using the write-with-a-stall diagram on the previous slide:</a:t>
            </a:r>
            <a:endParaRPr lang="en-US" sz="1800" dirty="0"/>
          </a:p>
        </p:txBody>
      </p:sp>
      <p:sp>
        <p:nvSpPr>
          <p:cNvPr id="5" name="TextBox 5"/>
          <p:cNvSpPr txBox="1"/>
          <p:nvPr/>
        </p:nvSpPr>
        <p:spPr>
          <a:xfrm>
            <a:off x="1097280" y="2240280"/>
            <a:ext cx="9692640" cy="3108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(a)</a:t>
            </a:r>
            <a:r>
              <a:rPr lang="en-US" sz="1800" dirty="0">
                <a:solidFill>
                  <a:srgbClr val="262626"/>
                </a:solidFill>
              </a:rPr>
              <a:t>	In which cycle does the address transfer on the AW channel? How do you know?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(b)</a:t>
            </a:r>
            <a:r>
              <a:rPr lang="en-US" sz="1800" dirty="0">
                <a:solidFill>
                  <a:srgbClr val="262626"/>
                </a:solidFill>
              </a:rPr>
              <a:t>	In which cycle does the write data transfer on the W channel?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(c)</a:t>
            </a:r>
            <a:r>
              <a:rPr lang="en-US" sz="1800" dirty="0">
                <a:solidFill>
                  <a:srgbClr val="262626"/>
                </a:solidFill>
              </a:rPr>
              <a:t>	In which cycle does the write response transfer on the B channel?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(d)</a:t>
            </a:r>
            <a:r>
              <a:rPr lang="en-US" sz="1800" dirty="0">
                <a:solidFill>
                  <a:srgbClr val="262626"/>
                </a:solidFill>
              </a:rPr>
              <a:t>	The hatched region marks a wait. Which side is waiting, what is it waiting for, and for how many cycles?</a:t>
            </a:r>
            <a:endParaRPr lang="en-US" sz="1800" dirty="0"/>
          </a:p>
        </p:txBody>
      </p:sp>
      <p:sp>
        <p:nvSpPr>
          <p:cNvPr id="6" name="Shape 6"/>
          <p:cNvSpPr/>
          <p:nvPr/>
        </p:nvSpPr>
        <p:spPr>
          <a:xfrm>
            <a:off x="1097280" y="5029200"/>
            <a:ext cx="9692640" cy="640080"/>
          </a:xfrm>
          <a:prstGeom prst="roundRect">
            <a:avLst>
              <a:gd name="adj" fmla="val 22000"/>
            </a:avLst>
          </a:prstGeom>
          <a:solidFill>
            <a:srgbClr val="EEE6F3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A transfer happens on the first cycle where </a:t>
            </a:r>
            <a:r>
              <a:rPr lang="en-US" sz="1600" b="1" dirty="0">
                <a:solidFill>
                  <a:srgbClr val="57068C"/>
                </a:solidFill>
              </a:rPr>
              <a:t>VALID</a:t>
            </a:r>
            <a:r>
              <a:rPr lang="en-US" sz="1600" dirty="0">
                <a:solidFill>
                  <a:srgbClr val="262626"/>
                </a:solidFill>
              </a:rPr>
              <a:t> and </a:t>
            </a:r>
            <a:r>
              <a:rPr lang="en-US" sz="1600" b="1" dirty="0">
                <a:solidFill>
                  <a:srgbClr val="57068C"/>
                </a:solidFill>
              </a:rPr>
              <a:t>READY</a:t>
            </a:r>
            <a:r>
              <a:rPr lang="en-US" sz="1600" dirty="0">
                <a:solidFill>
                  <a:srgbClr val="262626"/>
                </a:solidFill>
              </a:rPr>
              <a:t> are both high.</a:t>
            </a:r>
            <a:endParaRPr lang="en-US" sz="1600" dirty="0"/>
          </a:p>
        </p:txBody>
      </p:sp>
      <p:sp>
        <p:nvSpPr>
          <p:cNvPr id="7" name="TextBox 7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Reading a write timing diagram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636C-B761-68A9-24F4-D17796FB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Optimal Write Throughput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29BFA-5CEC-9A4C-D57F-854ACE2E71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Cycle 0:  </a:t>
                </a:r>
              </a:p>
              <a:p>
                <a:pPr lvl="1"/>
                <a:r>
                  <a:rPr lang="en-US" dirty="0"/>
                  <a:t>Manager sets AWVALID=1, AWADDR=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WDATA=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Subordinate is ready: AWREADY=WREADY=1</a:t>
                </a:r>
              </a:p>
              <a:p>
                <a:pPr lvl="1"/>
                <a:r>
                  <a:rPr lang="en-US" dirty="0"/>
                  <a:t>Both address and data are transferred to subordinate</a:t>
                </a:r>
              </a:p>
              <a:p>
                <a:r>
                  <a:rPr lang="en-US" dirty="0"/>
                  <a:t>Cycle 1:</a:t>
                </a:r>
              </a:p>
              <a:p>
                <a:pPr lvl="1"/>
                <a:r>
                  <a:rPr lang="en-US" dirty="0"/>
                  <a:t>Subordinate set BVALID=1 signaling transaction complete on subordinate side</a:t>
                </a:r>
              </a:p>
              <a:p>
                <a:pPr lvl="1"/>
                <a:r>
                  <a:rPr lang="en-US" dirty="0"/>
                  <a:t>Subordinate registers </a:t>
                </a:r>
              </a:p>
              <a:p>
                <a:r>
                  <a:rPr lang="en-US" dirty="0"/>
                  <a:t>Cycle 2:</a:t>
                </a:r>
              </a:p>
              <a:p>
                <a:pPr lvl="1"/>
                <a:r>
                  <a:rPr lang="en-US" dirty="0"/>
                  <a:t>Manager acknowledges with BREADY=1</a:t>
                </a:r>
              </a:p>
              <a:p>
                <a:pPr lvl="1"/>
                <a:r>
                  <a:rPr lang="en-US" dirty="0"/>
                  <a:t>Manager starts next transaction in same clock cycle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optimal throughput </a:t>
                </a:r>
                <a:r>
                  <a:rPr lang="en-US" dirty="0"/>
                  <a:t>= 1 word write / 2 clock cycles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minimum latency </a:t>
                </a:r>
                <a:r>
                  <a:rPr lang="en-US" dirty="0"/>
                  <a:t>= 2 clock cycles (manager write + subordinate register)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29BFA-5CEC-9A4C-D57F-854ACE2E7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D798E-4E81-1AD1-578D-2D3A8793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782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823B-A2A5-26B8-AB2C-CC64039B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AXI4-Lite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740-F840-51B3-AE57-E6635DC44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Suppose:</a:t>
            </a:r>
          </a:p>
          <a:p>
            <a:pPr lvl="1"/>
            <a:r>
              <a:rPr lang="en-US" dirty="0"/>
              <a:t>Manager sets data and address on cycle 0</a:t>
            </a:r>
          </a:p>
          <a:p>
            <a:pPr lvl="1"/>
            <a:r>
              <a:rPr lang="en-US" dirty="0"/>
              <a:t>Subordinate is ready</a:t>
            </a:r>
          </a:p>
          <a:p>
            <a:r>
              <a:rPr lang="en-US" dirty="0"/>
              <a:t>In most practical register systems:</a:t>
            </a:r>
          </a:p>
          <a:p>
            <a:pPr lvl="1"/>
            <a:r>
              <a:rPr lang="en-US" dirty="0"/>
              <a:t>Subordinate takes 1-2 additional clock cycles for BREADY=1</a:t>
            </a:r>
          </a:p>
          <a:p>
            <a:r>
              <a:rPr lang="en-US" dirty="0"/>
              <a:t>Manager takes at 1-2 additional clock cycles for BVALID=1 and next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CD1D8-2584-401C-49FE-5B22E7BC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CDBCF6-EFE2-E175-4B5B-B01F00DB1A28}"/>
              </a:ext>
            </a:extLst>
          </p:cNvPr>
          <p:cNvSpPr/>
          <p:nvPr/>
        </p:nvSpPr>
        <p:spPr>
          <a:xfrm>
            <a:off x="1865225" y="4124923"/>
            <a:ext cx="7481569" cy="11303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Practical throughput with AXI4-Lite:  1 word write per 3-5 clock cycles </a:t>
            </a:r>
          </a:p>
        </p:txBody>
      </p:sp>
    </p:spTree>
    <p:extLst>
      <p:ext uri="{BB962C8B-B14F-4D97-AF65-F5344CB8AC3E}">
        <p14:creationId xmlns:p14="http://schemas.microsoft.com/office/powerpoint/2010/main" val="4234192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4D11-8C98-7997-0AF6-E03FC149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0AE9-1953-E674-09A7-5AF86892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Read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614F5-2E5C-6C60-1D78-9F68C86415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manager</a:t>
                </a:r>
                <a:r>
                  <a:rPr lang="en-US" dirty="0"/>
                  <a:t> wants to read data from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ARADDR=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ARVALID=1 </a:t>
                </a:r>
              </a:p>
              <a:p>
                <a:pPr lvl="1"/>
                <a:r>
                  <a:rPr lang="en-US" dirty="0"/>
                  <a:t>Indicates that it wants to read data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subordinate</a:t>
                </a:r>
                <a:r>
                  <a:rPr lang="en-US" dirty="0"/>
                  <a:t> accepts the request:</a:t>
                </a:r>
              </a:p>
              <a:p>
                <a:pPr lvl="1"/>
                <a:r>
                  <a:rPr lang="en-US" dirty="0"/>
                  <a:t>Sets ARREADY=1</a:t>
                </a:r>
              </a:p>
              <a:p>
                <a:r>
                  <a:rPr lang="en-US" dirty="0"/>
                  <a:t>When subordinate has fetched data:</a:t>
                </a:r>
              </a:p>
              <a:p>
                <a:pPr lvl="1"/>
                <a:r>
                  <a:rPr lang="en-US" dirty="0"/>
                  <a:t>Sets RVALID=1, RDATA=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Can be 0 to many cycles after ARREADY=1</a:t>
                </a:r>
              </a:p>
              <a:p>
                <a:r>
                  <a:rPr lang="en-US" dirty="0"/>
                  <a:t>Handshake:</a:t>
                </a:r>
              </a:p>
              <a:p>
                <a:pPr lvl="1"/>
                <a:r>
                  <a:rPr lang="en-US" dirty="0"/>
                  <a:t>Manager asserts RREADY=1 when ready to accept data</a:t>
                </a:r>
              </a:p>
              <a:p>
                <a:pPr lvl="1"/>
                <a:r>
                  <a:rPr lang="en-US" dirty="0"/>
                  <a:t>RREADY could be asserted before RVALID=1</a:t>
                </a:r>
              </a:p>
              <a:p>
                <a:pPr lvl="1"/>
                <a:r>
                  <a:rPr lang="en-US" dirty="0"/>
                  <a:t>Transfer completes when RVALID=RREADY=1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614F5-2E5C-6C60-1D78-9F68C86415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398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78258-D3D7-CF5E-5F7E-94A022A8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07DFF-0E3F-18AC-DBC6-1DE80BDF32B2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57C7B-EFC6-712D-4628-80840AA8BA65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6CA9ED-69D7-4DA2-E519-5C0B24BF4636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1E3E7D-2DE5-7F29-AF8B-F0190D83FA11}"/>
              </a:ext>
            </a:extLst>
          </p:cNvPr>
          <p:cNvSpPr txBox="1"/>
          <p:nvPr/>
        </p:nvSpPr>
        <p:spPr>
          <a:xfrm>
            <a:off x="8857564" y="2527239"/>
            <a:ext cx="10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ARREADY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A26035-FB6A-A1CC-5624-60D8BEC8B52B}"/>
              </a:ext>
            </a:extLst>
          </p:cNvPr>
          <p:cNvCxnSpPr>
            <a:cxnSpLocks/>
          </p:cNvCxnSpPr>
          <p:nvPr/>
        </p:nvCxnSpPr>
        <p:spPr>
          <a:xfrm flipH="1">
            <a:off x="8252937" y="2918756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67FC9A-F1B1-B5A4-9914-F311F7E5D27C}"/>
              </a:ext>
            </a:extLst>
          </p:cNvPr>
          <p:cNvSpPr txBox="1"/>
          <p:nvPr/>
        </p:nvSpPr>
        <p:spPr>
          <a:xfrm>
            <a:off x="8419060" y="1838363"/>
            <a:ext cx="190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ARADDR, ARVALID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57CEB-BA7A-9E3F-6364-50986FE7E399}"/>
              </a:ext>
            </a:extLst>
          </p:cNvPr>
          <p:cNvSpPr txBox="1"/>
          <p:nvPr/>
        </p:nvSpPr>
        <p:spPr>
          <a:xfrm>
            <a:off x="8994179" y="4682605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653839-DFAF-6C8B-4AF8-65F35202B553}"/>
              </a:ext>
            </a:extLst>
          </p:cNvPr>
          <p:cNvCxnSpPr>
            <a:cxnSpLocks/>
          </p:cNvCxnSpPr>
          <p:nvPr/>
        </p:nvCxnSpPr>
        <p:spPr>
          <a:xfrm flipH="1">
            <a:off x="8277686" y="505193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75D292-8A57-8F60-F6EE-D97670C608AC}"/>
              </a:ext>
            </a:extLst>
          </p:cNvPr>
          <p:cNvCxnSpPr>
            <a:cxnSpLocks/>
          </p:cNvCxnSpPr>
          <p:nvPr/>
        </p:nvCxnSpPr>
        <p:spPr>
          <a:xfrm>
            <a:off x="8259401" y="4340878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FA34F58-22E3-9427-D8C3-27F3790AA37B}"/>
              </a:ext>
            </a:extLst>
          </p:cNvPr>
          <p:cNvSpPr txBox="1"/>
          <p:nvPr/>
        </p:nvSpPr>
        <p:spPr>
          <a:xfrm>
            <a:off x="8924930" y="3971544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2FEEED-AB2F-FEEF-6562-00896A9F3676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MANAGER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C3A48C-ECB6-1261-493F-B441862EB877}"/>
              </a:ext>
            </a:extLst>
          </p:cNvPr>
          <p:cNvSpPr txBox="1"/>
          <p:nvPr/>
        </p:nvSpPr>
        <p:spPr>
          <a:xfrm>
            <a:off x="10175562" y="1499958"/>
            <a:ext cx="2359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SUBORDINATE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BE2C73-0EC5-397D-F215-E2D1F5DAB1FE}"/>
              </a:ext>
            </a:extLst>
          </p:cNvPr>
          <p:cNvCxnSpPr>
            <a:cxnSpLocks/>
          </p:cNvCxnSpPr>
          <p:nvPr/>
        </p:nvCxnSpPr>
        <p:spPr>
          <a:xfrm flipH="1">
            <a:off x="8259401" y="362981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3B7A58-8334-424F-DB8C-833C34C46148}"/>
              </a:ext>
            </a:extLst>
          </p:cNvPr>
          <p:cNvSpPr txBox="1"/>
          <p:nvPr/>
        </p:nvSpPr>
        <p:spPr>
          <a:xfrm>
            <a:off x="8603392" y="3193047"/>
            <a:ext cx="1569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RVALID, RDATA</a:t>
            </a:r>
          </a:p>
        </p:txBody>
      </p:sp>
    </p:spTree>
    <p:extLst>
      <p:ext uri="{BB962C8B-B14F-4D97-AF65-F5344CB8AC3E}">
        <p14:creationId xmlns:p14="http://schemas.microsoft.com/office/powerpoint/2010/main" val="40081259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4B0D-771A-D5C6-594F-DFC054BA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Read 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1E5A-B440-B4A3-F8E1-3EACA7D08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2555" y="1539277"/>
            <a:ext cx="3220872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this example:</a:t>
            </a:r>
          </a:p>
          <a:p>
            <a:r>
              <a:rPr lang="en-US" dirty="0"/>
              <a:t>Subordinate is initially ready</a:t>
            </a:r>
            <a:br>
              <a:rPr lang="en-US" dirty="0"/>
            </a:br>
            <a:r>
              <a:rPr lang="en-US" dirty="0"/>
              <a:t>   (ARREADY=1)</a:t>
            </a:r>
          </a:p>
          <a:p>
            <a:r>
              <a:rPr lang="en-US" dirty="0"/>
              <a:t>Subordinate immediately accepts </a:t>
            </a:r>
            <a:br>
              <a:rPr lang="en-US" dirty="0"/>
            </a:br>
            <a:r>
              <a:rPr lang="en-US" dirty="0"/>
              <a:t>   request</a:t>
            </a:r>
          </a:p>
          <a:p>
            <a:r>
              <a:rPr lang="en-US" dirty="0"/>
              <a:t>Manager is immediately available for </a:t>
            </a:r>
          </a:p>
          <a:p>
            <a:r>
              <a:rPr lang="en-US" dirty="0"/>
              <a:t> Data valid with two cycle    delay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DC1AD-D857-B948-3AFC-3E4B9424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43C87-8B7A-2091-D657-BBCB53435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47" y="2245057"/>
            <a:ext cx="7795784" cy="251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16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8310-4585-4E86-07E7-B8DA5DE1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904F-F457-DD1F-B9F9-C766FF26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Optimal Read Throughput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7D97-8C8E-E52D-4C8F-4FAC55242E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Cycle 0:  </a:t>
                </a:r>
              </a:p>
              <a:p>
                <a:pPr lvl="1"/>
                <a:r>
                  <a:rPr lang="en-US" dirty="0"/>
                  <a:t>Manager sets ARADDR=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ARVALID=1 </a:t>
                </a:r>
              </a:p>
              <a:p>
                <a:pPr lvl="1"/>
                <a:r>
                  <a:rPr lang="en-US" dirty="0"/>
                  <a:t>Subordinate is ready: ARREADY=1</a:t>
                </a:r>
              </a:p>
              <a:p>
                <a:pPr lvl="1"/>
                <a:r>
                  <a:rPr lang="en-US" dirty="0"/>
                  <a:t>Address is transferred to subordinate</a:t>
                </a:r>
              </a:p>
              <a:p>
                <a:r>
                  <a:rPr lang="en-US" dirty="0"/>
                  <a:t>Cycle 1:</a:t>
                </a:r>
              </a:p>
              <a:p>
                <a:pPr lvl="1"/>
                <a:r>
                  <a:rPr lang="en-US" dirty="0"/>
                  <a:t>Subordinate set RVALID=1 with data RDATA=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Manager is immediately ready, RREADY=1</a:t>
                </a:r>
              </a:p>
              <a:p>
                <a:r>
                  <a:rPr lang="en-US" dirty="0"/>
                  <a:t>Cycle 2:</a:t>
                </a:r>
              </a:p>
              <a:p>
                <a:pPr lvl="1"/>
                <a:r>
                  <a:rPr lang="en-US" dirty="0"/>
                  <a:t>Manager moves to next read address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optimal throughput </a:t>
                </a:r>
                <a:r>
                  <a:rPr lang="en-US" dirty="0"/>
                  <a:t>= 1 word read / 2 clock cycles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Practical throughput </a:t>
                </a:r>
                <a:r>
                  <a:rPr lang="en-US" dirty="0"/>
                  <a:t>= 1 word read per 3-5 clock cycles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7D97-8C8E-E52D-4C8F-4FAC55242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1F0AF-71AF-668F-FB88-44033736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7041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C04C-9E18-063F-CC87-04193799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6036-A7DA-9928-FBF3-456DBED5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E5DEB-8119-61CA-0F89-916C38C3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AXI-Lite</a:t>
            </a:r>
          </a:p>
          <a:p>
            <a:r>
              <a:rPr lang="en-US" sz="2400" dirty="0"/>
              <a:t>Implementing AXI-Lite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DBF04-821A-B2C8-41F7-2B90C026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9E64F44-20E5-CE3A-8A11-76A3BCB19B05}"/>
              </a:ext>
            </a:extLst>
          </p:cNvPr>
          <p:cNvSpPr/>
          <p:nvPr/>
        </p:nvSpPr>
        <p:spPr>
          <a:xfrm>
            <a:off x="381162" y="250633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79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834E2-F7EA-9339-A6D9-3053DF6E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FB12A-00CD-D1F9-83B4-00F145F2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 Connecting a Simple IP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625EC-21D8-01A3-47DD-FD78048B0F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370320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▪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ReLU + Linear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0}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Identical to Unit 1</a:t>
                </a:r>
              </a:p>
              <a:p>
                <a:r>
                  <a:rPr lang="en-US" dirty="0"/>
                  <a:t>Add an interface to a processor</a:t>
                </a:r>
              </a:p>
              <a:p>
                <a:pPr lvl="1"/>
                <a:r>
                  <a:rPr lang="en-US" dirty="0"/>
                  <a:t>Processor can be an embedded </a:t>
                </a:r>
              </a:p>
              <a:p>
                <a:pPr lvl="1"/>
                <a:r>
                  <a:rPr lang="en-US" dirty="0"/>
                  <a:t>Ex:  ARM Core on </a:t>
                </a:r>
                <a:r>
                  <a:rPr lang="en-US" dirty="0" err="1"/>
                  <a:t>Pynq</a:t>
                </a:r>
                <a:r>
                  <a:rPr lang="en-US" dirty="0"/>
                  <a:t> board</a:t>
                </a:r>
              </a:p>
              <a:p>
                <a:pPr lvl="1"/>
                <a:r>
                  <a:rPr lang="en-US" dirty="0"/>
                  <a:t>Interfaces to the IP over AXI4-Lite</a:t>
                </a:r>
              </a:p>
              <a:p>
                <a:r>
                  <a:rPr lang="en-US" dirty="0"/>
                  <a:t>Add control from host PC</a:t>
                </a:r>
              </a:p>
              <a:p>
                <a:pPr lvl="1"/>
                <a:r>
                  <a:rPr lang="en-US" dirty="0"/>
                  <a:t>Ideally </a:t>
                </a:r>
                <a:r>
                  <a:rPr lang="en-US" dirty="0" err="1"/>
                  <a:t>jupyter</a:t>
                </a:r>
                <a:r>
                  <a:rPr lang="en-US" dirty="0"/>
                  <a:t> notebook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625EC-21D8-01A3-47DD-FD78048B0F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370320" cy="4329817"/>
              </a:xfrm>
              <a:blipFill>
                <a:blip r:embed="rId2"/>
                <a:stretch>
                  <a:fillRect l="-2297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▪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0EF4E-B197-ACBB-2CA1-2C9B3C001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963A9-3648-9674-DFD8-3E4122D8844F}"/>
              </a:ext>
            </a:extLst>
          </p:cNvPr>
          <p:cNvSpPr/>
          <p:nvPr/>
        </p:nvSpPr>
        <p:spPr>
          <a:xfrm>
            <a:off x="10667093" y="3548581"/>
            <a:ext cx="901294" cy="1173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2DAD4-B330-0020-0B8C-8B95207020E6}"/>
              </a:ext>
            </a:extLst>
          </p:cNvPr>
          <p:cNvSpPr txBox="1"/>
          <p:nvPr/>
        </p:nvSpPr>
        <p:spPr>
          <a:xfrm>
            <a:off x="10526040" y="4869787"/>
            <a:ext cx="153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Hardware “IP”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68FFCF5-6A5D-5314-0838-282B54AEC824}"/>
                  </a:ext>
                </a:extLst>
              </p:cNvPr>
              <p:cNvSpPr/>
              <p:nvPr/>
            </p:nvSpPr>
            <p:spPr>
              <a:xfrm>
                <a:off x="8929656" y="3542423"/>
                <a:ext cx="901294" cy="294946"/>
              </a:xfrm>
              <a:prstGeom prst="rect">
                <a:avLst/>
              </a:prstGeom>
              <a:solidFill>
                <a:srgbClr val="2F6FA8">
                  <a:lumMod val="20000"/>
                  <a:lumOff val="80000"/>
                </a:srgbClr>
              </a:solidFill>
              <a:ln>
                <a:solidFill>
                  <a:srgbClr val="2F6F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68FFCF5-6A5D-5314-0838-282B54AEC8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3542423"/>
                <a:ext cx="901294" cy="294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2F6FA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FC8A15-52D4-A799-5D49-9082BBE47D53}"/>
                  </a:ext>
                </a:extLst>
              </p:cNvPr>
              <p:cNvSpPr/>
              <p:nvPr/>
            </p:nvSpPr>
            <p:spPr>
              <a:xfrm>
                <a:off x="8929656" y="3826657"/>
                <a:ext cx="901294" cy="294946"/>
              </a:xfrm>
              <a:prstGeom prst="rect">
                <a:avLst/>
              </a:prstGeom>
              <a:solidFill>
                <a:srgbClr val="2F6FA8">
                  <a:lumMod val="20000"/>
                  <a:lumOff val="80000"/>
                </a:srgbClr>
              </a:solidFill>
              <a:ln>
                <a:solidFill>
                  <a:srgbClr val="2F6F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FC8A15-52D4-A799-5D49-9082BBE47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3826657"/>
                <a:ext cx="901294" cy="294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2F6FA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656BE8-AB8A-DB20-35E2-5F0376CDF507}"/>
                  </a:ext>
                </a:extLst>
              </p:cNvPr>
              <p:cNvSpPr/>
              <p:nvPr/>
            </p:nvSpPr>
            <p:spPr>
              <a:xfrm>
                <a:off x="8929656" y="4087408"/>
                <a:ext cx="901294" cy="294946"/>
              </a:xfrm>
              <a:prstGeom prst="rect">
                <a:avLst/>
              </a:prstGeom>
              <a:solidFill>
                <a:srgbClr val="2F6FA8">
                  <a:lumMod val="20000"/>
                  <a:lumOff val="80000"/>
                </a:srgbClr>
              </a:solidFill>
              <a:ln>
                <a:solidFill>
                  <a:srgbClr val="2F6F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656BE8-AB8A-DB20-35E2-5F0376CDF5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4087408"/>
                <a:ext cx="901294" cy="2949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2F6FA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2EA4A2-BAD0-8496-A18C-860BD28836AD}"/>
                  </a:ext>
                </a:extLst>
              </p:cNvPr>
              <p:cNvSpPr/>
              <p:nvPr/>
            </p:nvSpPr>
            <p:spPr>
              <a:xfrm>
                <a:off x="8929656" y="4371642"/>
                <a:ext cx="901294" cy="294946"/>
              </a:xfrm>
              <a:prstGeom prst="rect">
                <a:avLst/>
              </a:prstGeom>
              <a:solidFill>
                <a:srgbClr val="2F6FA8">
                  <a:lumMod val="20000"/>
                  <a:lumOff val="80000"/>
                </a:srgbClr>
              </a:solidFill>
              <a:ln>
                <a:solidFill>
                  <a:srgbClr val="2F6F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2EA4A2-BAD0-8496-A18C-860BD2883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4371642"/>
                <a:ext cx="901294" cy="294946"/>
              </a:xfrm>
              <a:prstGeom prst="rect">
                <a:avLst/>
              </a:prstGeom>
              <a:blipFill>
                <a:blip r:embed="rId6"/>
                <a:stretch>
                  <a:fillRect b="-15385"/>
                </a:stretch>
              </a:blipFill>
              <a:ln>
                <a:solidFill>
                  <a:srgbClr val="2F6FA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F64FE1-D0B2-8F4E-69B7-3D7FB132562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9830950" y="3689895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BB0E14-F841-D0D3-22E0-A2D29C392F9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830950" y="3974130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E10278-C621-EA00-AC19-CF9BF0893BA7}"/>
              </a:ext>
            </a:extLst>
          </p:cNvPr>
          <p:cNvCxnSpPr>
            <a:cxnSpLocks/>
          </p:cNvCxnSpPr>
          <p:nvPr/>
        </p:nvCxnSpPr>
        <p:spPr>
          <a:xfrm flipV="1">
            <a:off x="9830950" y="4215514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810439-0DA2-6177-98F0-BDC7F99F755E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9830950" y="4519115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2700D5-D207-3896-9E01-072C252D9A75}"/>
              </a:ext>
            </a:extLst>
          </p:cNvPr>
          <p:cNvSpPr txBox="1"/>
          <p:nvPr/>
        </p:nvSpPr>
        <p:spPr>
          <a:xfrm>
            <a:off x="8850574" y="4794300"/>
            <a:ext cx="105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Memory-</a:t>
            </a:r>
            <a:br>
              <a:rPr lang="en-US" dirty="0"/>
            </a:br>
            <a:r>
              <a:rPr lang="en-US" dirty="0"/>
              <a:t>mapped</a:t>
            </a:r>
            <a:br>
              <a:rPr lang="en-US" dirty="0"/>
            </a:br>
            <a:r>
              <a:rPr lang="en-US" dirty="0"/>
              <a:t>registers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F0A5E8-98BB-E301-773B-1A65BD17055D}"/>
              </a:ext>
            </a:extLst>
          </p:cNvPr>
          <p:cNvSpPr/>
          <p:nvPr/>
        </p:nvSpPr>
        <p:spPr>
          <a:xfrm>
            <a:off x="6937405" y="3301114"/>
            <a:ext cx="914400" cy="1638300"/>
          </a:xfrm>
          <a:prstGeom prst="rect">
            <a:avLst/>
          </a:prstGeom>
          <a:solidFill>
            <a:srgbClr val="2F6FA8">
              <a:lumMod val="60000"/>
              <a:lumOff val="40000"/>
            </a:srgbClr>
          </a:solidFill>
          <a:ln>
            <a:solidFill>
              <a:srgbClr val="2F6F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56788417-6A64-2620-2E4C-9714E1FEABA3}"/>
              </a:ext>
            </a:extLst>
          </p:cNvPr>
          <p:cNvSpPr/>
          <p:nvPr/>
        </p:nvSpPr>
        <p:spPr>
          <a:xfrm>
            <a:off x="7878114" y="3987945"/>
            <a:ext cx="946150" cy="268732"/>
          </a:xfrm>
          <a:prstGeom prst="leftRightArrow">
            <a:avLst/>
          </a:prstGeom>
          <a:solidFill>
            <a:srgbClr val="2F6FA8">
              <a:lumMod val="20000"/>
              <a:lumOff val="80000"/>
            </a:srgbClr>
          </a:solidFill>
          <a:ln>
            <a:solidFill>
              <a:srgbClr val="2F6FA8">
                <a:lumMod val="7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74AD0-5B41-EB44-8F3D-14CFEF5796F6}"/>
              </a:ext>
            </a:extLst>
          </p:cNvPr>
          <p:cNvSpPr txBox="1"/>
          <p:nvPr/>
        </p:nvSpPr>
        <p:spPr>
          <a:xfrm>
            <a:off x="6856005" y="4939414"/>
            <a:ext cx="1233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Processor</a:t>
            </a:r>
            <a:br>
              <a:rPr lang="en-US" dirty="0"/>
            </a:br>
            <a:r>
              <a:rPr lang="en-US" dirty="0"/>
              <a:t>system</a:t>
            </a:r>
            <a:br>
              <a:rPr lang="en-US" dirty="0"/>
            </a:br>
            <a:r>
              <a:rPr lang="en-US" dirty="0"/>
              <a:t>(e.g., ARM)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042FE8-B983-2BF4-4F78-B52BD09C3B54}"/>
              </a:ext>
            </a:extLst>
          </p:cNvPr>
          <p:cNvSpPr txBox="1"/>
          <p:nvPr/>
        </p:nvSpPr>
        <p:spPr>
          <a:xfrm>
            <a:off x="7844690" y="3540444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AXI4-Lite</a:t>
            </a:r>
          </a:p>
        </p:txBody>
      </p:sp>
      <p:pic>
        <p:nvPicPr>
          <p:cNvPr id="3080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70BACE1A-4BA6-7A00-E99D-DE363F4B3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398" y="3572497"/>
            <a:ext cx="1679960" cy="16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D9A2029-4BD8-1325-8852-676BDC8CAB0F}"/>
              </a:ext>
            </a:extLst>
          </p:cNvPr>
          <p:cNvSpPr txBox="1"/>
          <p:nvPr/>
        </p:nvSpPr>
        <p:spPr>
          <a:xfrm>
            <a:off x="5183205" y="5252457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PC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15726E8C-C744-E4A6-6B3E-E2C913443D21}"/>
              </a:ext>
            </a:extLst>
          </p:cNvPr>
          <p:cNvSpPr/>
          <p:nvPr/>
        </p:nvSpPr>
        <p:spPr>
          <a:xfrm>
            <a:off x="6367075" y="3966149"/>
            <a:ext cx="557176" cy="268732"/>
          </a:xfrm>
          <a:prstGeom prst="leftRightArrow">
            <a:avLst/>
          </a:prstGeom>
          <a:solidFill>
            <a:srgbClr val="2F6FA8">
              <a:lumMod val="20000"/>
              <a:lumOff val="80000"/>
            </a:srgbClr>
          </a:solidFill>
          <a:ln>
            <a:solidFill>
              <a:srgbClr val="2F6FA8">
                <a:lumMod val="7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A65BD00D-56E6-79FE-EBBD-FD2A899F5532}"/>
              </a:ext>
            </a:extLst>
          </p:cNvPr>
          <p:cNvSpPr/>
          <p:nvPr/>
        </p:nvSpPr>
        <p:spPr>
          <a:xfrm rot="5400000">
            <a:off x="8927061" y="398263"/>
            <a:ext cx="408802" cy="48599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EF6B7-9F7B-45B7-76AC-609D2C978611}"/>
              </a:ext>
            </a:extLst>
          </p:cNvPr>
          <p:cNvSpPr txBox="1"/>
          <p:nvPr/>
        </p:nvSpPr>
        <p:spPr>
          <a:xfrm>
            <a:off x="8616022" y="2197809"/>
            <a:ext cx="1294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FPGA board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CF4EB3-5A30-ADB9-E794-8E043EC425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1328" y="2633516"/>
            <a:ext cx="1027308" cy="102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974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DCBE-017A-2D20-1A2E-80B827B2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HLS vs. RTL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6C4DC-EA63-C1AE-66E5-7E45955A9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6484051" cy="4049481"/>
          </a:xfrm>
        </p:spPr>
        <p:txBody>
          <a:bodyPr>
            <a:normAutofit lnSpcReduction="10000"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▪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RTL: Register Transfer Language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 specialized languages (e.g., </a:t>
            </a:r>
            <a:r>
              <a:rPr lang="en-US" dirty="0" err="1">
                <a:solidFill>
                  <a:schemeClr val="tx1"/>
                </a:solidFill>
              </a:rPr>
              <a:t>SystemVerilog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Manually schedule action in each clock cycle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Interfaces designed from scratch</a:t>
            </a:r>
          </a:p>
          <a:p>
            <a:pPr lvl="1"/>
            <a:r>
              <a:rPr lang="en-US" dirty="0"/>
              <a:t>High control, supports custom interfaces</a:t>
            </a:r>
          </a:p>
          <a:p>
            <a:pPr lvl="1"/>
            <a:r>
              <a:rPr lang="en-US" dirty="0"/>
              <a:t>But time-consuming, difficult to maintain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HLS:  High-Level Synthesis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Write in general purpose languages (e.g., C++)</a:t>
            </a:r>
          </a:p>
          <a:p>
            <a:pPr lvl="1"/>
            <a:r>
              <a:rPr lang="en-US" dirty="0"/>
              <a:t>Clock-level schedule determined automatically by compiler</a:t>
            </a:r>
          </a:p>
          <a:p>
            <a:pPr lvl="1"/>
            <a:r>
              <a:rPr lang="en-US" dirty="0"/>
              <a:t>API support for common interfaces (e.g., AXI)</a:t>
            </a:r>
          </a:p>
          <a:p>
            <a:pPr lvl="1"/>
            <a:r>
              <a:rPr lang="en-US" dirty="0"/>
              <a:t>Sacrifice some performance and flexibility</a:t>
            </a:r>
          </a:p>
          <a:p>
            <a:pPr lvl="1"/>
            <a:r>
              <a:rPr lang="en-US" dirty="0"/>
              <a:t>But enables rapid development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41509-EEE1-4DD7-6915-99914D6B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B6D1C-45EA-A34F-2214-5F65D6BB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273" y="1126836"/>
            <a:ext cx="2657110" cy="1962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94BD8F-D771-FB12-37E4-DBDC887B1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273" y="4085347"/>
            <a:ext cx="3172268" cy="1362265"/>
          </a:xfrm>
          <a:prstGeom prst="rect">
            <a:avLst/>
          </a:prstGeom>
        </p:spPr>
      </p:pic>
      <p:pic>
        <p:nvPicPr>
          <p:cNvPr id="9" name="Picture 2" descr="Green checkmark icon - Free green check mark icons">
            <a:extLst>
              <a:ext uri="{FF2B5EF4-FFF2-40B4-BE49-F238E27FC236}">
                <a16:creationId xmlns:a16="http://schemas.microsoft.com/office/drawing/2014/main" id="{B02B2037-F555-C091-B2B7-6A3458076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5260754"/>
            <a:ext cx="350167" cy="32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Green checkmark icon - Free green check mark icons">
            <a:extLst>
              <a:ext uri="{FF2B5EF4-FFF2-40B4-BE49-F238E27FC236}">
                <a16:creationId xmlns:a16="http://schemas.microsoft.com/office/drawing/2014/main" id="{2C45185E-8095-BB51-5D6B-5C0DC28BD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79" y="2667000"/>
            <a:ext cx="350167" cy="32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7448EC3D-7C91-6845-3651-B23C5312D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2995004"/>
            <a:ext cx="348506" cy="3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BB50B1A3-24C7-6B17-07AD-9BD671397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4932749"/>
            <a:ext cx="348506" cy="3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5694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HLS vs. RTL Design 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48132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rgbClr val="57068C"/>
                </a:solidFill>
              </a:rPr>
              <a:t>Traditional RTL — you write the hardware description</a:t>
            </a:r>
            <a:endParaRPr lang="en-US" sz="14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8038" t="-28" r="17239" b="23451"/>
          <a:stretch>
            <a:fillRect/>
          </a:stretch>
        </p:blipFill>
        <p:spPr>
          <a:xfrm>
            <a:off x="822960" y="1847088"/>
            <a:ext cx="1106424" cy="1078992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6928" y="294436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you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6172200" y="1993392"/>
            <a:ext cx="1554480" cy="804672"/>
          </a:xfrm>
          <a:prstGeom prst="roundRect">
            <a:avLst>
              <a:gd name="adj" fmla="val 10000"/>
            </a:avLst>
          </a:prstGeom>
          <a:solidFill>
            <a:srgbClr val="DCEFEC"/>
          </a:solidFill>
          <a:ln w="15875">
            <a:solidFill>
              <a:srgbClr val="9FD3C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00857C"/>
                </a:solidFill>
              </a:rPr>
              <a:t>SystemVerilog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written by hand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8001000" y="1993392"/>
            <a:ext cx="1554480" cy="804672"/>
          </a:xfrm>
          <a:prstGeom prst="roundRect">
            <a:avLst>
              <a:gd name="adj" fmla="val 10000"/>
            </a:avLst>
          </a:prstGeom>
          <a:solidFill>
            <a:srgbClr val="EEE6F3"/>
          </a:solidFill>
          <a:ln w="15875">
            <a:solidFill>
              <a:srgbClr val="D5C4E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RTL Simulation</a:t>
            </a:r>
            <a:endParaRPr lang="en-US" sz="1300" dirty="0"/>
          </a:p>
        </p:txBody>
      </p:sp>
      <p:cxnSp>
        <p:nvCxnSpPr>
          <p:cNvPr id="8" name="Connector 8"/>
          <p:cNvCxnSpPr/>
          <p:nvPr/>
        </p:nvCxnSpPr>
        <p:spPr>
          <a:xfrm>
            <a:off x="7754112" y="2395728"/>
            <a:ext cx="219456" cy="0"/>
          </a:xfrm>
          <a:prstGeom prst="straightConnector1">
            <a:avLst/>
          </a:prstGeom>
          <a:ln w="22225">
            <a:solidFill>
              <a:srgbClr val="2F6FA8"/>
            </a:solidFill>
            <a:tailEnd type="triangle" w="med" len="med"/>
          </a:ln>
        </p:spPr>
      </p:cxnSp>
      <p:sp>
        <p:nvSpPr>
          <p:cNvPr id="9" name="Shape 9"/>
          <p:cNvSpPr/>
          <p:nvPr/>
        </p:nvSpPr>
        <p:spPr>
          <a:xfrm>
            <a:off x="9829800" y="1993392"/>
            <a:ext cx="1554480" cy="804672"/>
          </a:xfrm>
          <a:prstGeom prst="roundRect">
            <a:avLst>
              <a:gd name="adj" fmla="val 10000"/>
            </a:avLst>
          </a:prstGeom>
          <a:solidFill>
            <a:srgbClr val="EEE6F3"/>
          </a:solidFill>
          <a:ln w="15875">
            <a:solidFill>
              <a:srgbClr val="D5C4E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Package</a:t>
            </a:r>
            <a:endParaRPr lang="en-US" sz="1300" dirty="0"/>
          </a:p>
        </p:txBody>
      </p:sp>
      <p:cxnSp>
        <p:nvCxnSpPr>
          <p:cNvPr id="10" name="Connector 10"/>
          <p:cNvCxnSpPr/>
          <p:nvPr/>
        </p:nvCxnSpPr>
        <p:spPr>
          <a:xfrm>
            <a:off x="9582912" y="2395728"/>
            <a:ext cx="219456" cy="0"/>
          </a:xfrm>
          <a:prstGeom prst="straightConnector1">
            <a:avLst/>
          </a:prstGeom>
          <a:ln w="22225">
            <a:solidFill>
              <a:srgbClr val="2F6FA8"/>
            </a:solidFill>
            <a:tailEnd type="triangle" w="med" len="med"/>
          </a:ln>
        </p:spPr>
      </p:cxnSp>
      <p:cxnSp>
        <p:nvCxnSpPr>
          <p:cNvPr id="11" name="Connector 11"/>
          <p:cNvCxnSpPr/>
          <p:nvPr/>
        </p:nvCxnSpPr>
        <p:spPr>
          <a:xfrm>
            <a:off x="2011680" y="2395728"/>
            <a:ext cx="4114800" cy="0"/>
          </a:xfrm>
          <a:prstGeom prst="straightConnector1">
            <a:avLst/>
          </a:prstGeom>
          <a:ln w="22225">
            <a:solidFill>
              <a:srgbClr val="00857C"/>
            </a:solidFill>
            <a:prstDash val="dash"/>
            <a:tailEnd type="triangle" w="med" len="med"/>
          </a:ln>
        </p:spPr>
      </p:cxnSp>
      <p:sp>
        <p:nvSpPr>
          <p:cNvPr id="12" name="TextBox 12"/>
          <p:cNvSpPr txBox="1"/>
          <p:nvPr/>
        </p:nvSpPr>
        <p:spPr>
          <a:xfrm>
            <a:off x="2103120" y="201168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no high-level model to simulate — the first thing you write is hardware</a:t>
            </a:r>
            <a:endParaRPr lang="en-US" sz="1200" dirty="0"/>
          </a:p>
        </p:txBody>
      </p:sp>
      <p:cxnSp>
        <p:nvCxnSpPr>
          <p:cNvPr id="13" name="Connector 13"/>
          <p:cNvCxnSpPr/>
          <p:nvPr/>
        </p:nvCxnSpPr>
        <p:spPr>
          <a:xfrm>
            <a:off x="777240" y="3310128"/>
            <a:ext cx="10607040" cy="0"/>
          </a:xfrm>
          <a:prstGeom prst="straightConnector1">
            <a:avLst/>
          </a:prstGeom>
          <a:ln w="12700">
            <a:solidFill>
              <a:srgbClr val="BFBFBF"/>
            </a:solidFill>
          </a:ln>
        </p:spPr>
      </p:cxnSp>
      <p:sp>
        <p:nvSpPr>
          <p:cNvPr id="14" name="TextBox 14"/>
          <p:cNvSpPr txBox="1"/>
          <p:nvPr/>
        </p:nvSpPr>
        <p:spPr>
          <a:xfrm>
            <a:off x="777240" y="345643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rgbClr val="00857C"/>
                </a:solidFill>
              </a:rPr>
              <a:t>HLS — you write behaviour, the tool writes the hardware</a:t>
            </a:r>
            <a:endParaRPr lang="en-US" sz="1400" dirty="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 l="18038" t="-28" r="17239" b="23451"/>
          <a:stretch>
            <a:fillRect/>
          </a:stretch>
        </p:blipFill>
        <p:spPr>
          <a:xfrm>
            <a:off x="822960" y="3822192"/>
            <a:ext cx="1106424" cy="1078992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566928" y="4919472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you</a:t>
            </a:r>
            <a:endParaRPr lang="en-US" sz="1200" dirty="0"/>
          </a:p>
        </p:txBody>
      </p:sp>
      <p:sp>
        <p:nvSpPr>
          <p:cNvPr id="17" name="Shape 17"/>
          <p:cNvSpPr/>
          <p:nvPr/>
        </p:nvSpPr>
        <p:spPr>
          <a:xfrm>
            <a:off x="2514600" y="3968496"/>
            <a:ext cx="1554480" cy="804672"/>
          </a:xfrm>
          <a:prstGeom prst="roundRect">
            <a:avLst>
              <a:gd name="adj" fmla="val 10000"/>
            </a:avLst>
          </a:prstGeom>
          <a:solidFill>
            <a:srgbClr val="DCEFEC"/>
          </a:solidFill>
          <a:ln w="15875">
            <a:solidFill>
              <a:srgbClr val="9FD3C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00857C"/>
                </a:solidFill>
              </a:rPr>
              <a:t>C / C++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written by hand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4343400" y="3968496"/>
            <a:ext cx="1554480" cy="804672"/>
          </a:xfrm>
          <a:prstGeom prst="roundRect">
            <a:avLst>
              <a:gd name="adj" fmla="val 10000"/>
            </a:avLst>
          </a:prstGeom>
          <a:solidFill>
            <a:srgbClr val="EEE6F3"/>
          </a:solidFill>
          <a:ln w="15875">
            <a:solidFill>
              <a:srgbClr val="D5C4E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C Simulation</a:t>
            </a:r>
            <a:endParaRPr lang="en-US" sz="1300" dirty="0"/>
          </a:p>
        </p:txBody>
      </p:sp>
      <p:cxnSp>
        <p:nvCxnSpPr>
          <p:cNvPr id="19" name="Connector 19"/>
          <p:cNvCxnSpPr/>
          <p:nvPr/>
        </p:nvCxnSpPr>
        <p:spPr>
          <a:xfrm>
            <a:off x="4096512" y="4370832"/>
            <a:ext cx="219456" cy="0"/>
          </a:xfrm>
          <a:prstGeom prst="straightConnector1">
            <a:avLst/>
          </a:prstGeom>
          <a:ln w="22225">
            <a:solidFill>
              <a:srgbClr val="2F6FA8"/>
            </a:solidFill>
            <a:tailEnd type="triangle" w="med" len="med"/>
          </a:ln>
        </p:spPr>
      </p:cxnSp>
      <p:sp>
        <p:nvSpPr>
          <p:cNvPr id="20" name="Shape 20"/>
          <p:cNvSpPr/>
          <p:nvPr/>
        </p:nvSpPr>
        <p:spPr>
          <a:xfrm>
            <a:off x="6172200" y="3968496"/>
            <a:ext cx="1554480" cy="804672"/>
          </a:xfrm>
          <a:prstGeom prst="roundRect">
            <a:avLst>
              <a:gd name="adj" fmla="val 10000"/>
            </a:avLst>
          </a:prstGeom>
          <a:solidFill>
            <a:srgbClr val="EEE6F3"/>
          </a:solidFill>
          <a:ln w="15875">
            <a:solidFill>
              <a:srgbClr val="D5C4E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C Synthesis</a:t>
            </a:r>
            <a:endParaRPr lang="en-US" sz="1300" dirty="0"/>
          </a:p>
        </p:txBody>
      </p:sp>
      <p:cxnSp>
        <p:nvCxnSpPr>
          <p:cNvPr id="21" name="Connector 21"/>
          <p:cNvCxnSpPr/>
          <p:nvPr/>
        </p:nvCxnSpPr>
        <p:spPr>
          <a:xfrm>
            <a:off x="5925312" y="4370832"/>
            <a:ext cx="219456" cy="0"/>
          </a:xfrm>
          <a:prstGeom prst="straightConnector1">
            <a:avLst/>
          </a:prstGeom>
          <a:ln w="22225">
            <a:solidFill>
              <a:srgbClr val="2F6FA8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8001000" y="3968496"/>
            <a:ext cx="1554480" cy="804672"/>
          </a:xfrm>
          <a:prstGeom prst="roundRect">
            <a:avLst>
              <a:gd name="adj" fmla="val 10000"/>
            </a:avLst>
          </a:prstGeom>
          <a:solidFill>
            <a:srgbClr val="EEE6F3"/>
          </a:solidFill>
          <a:ln w="15875">
            <a:solidFill>
              <a:srgbClr val="D5C4E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RTL Simulation</a:t>
            </a:r>
            <a:endParaRPr lang="en-US" sz="1300" dirty="0"/>
          </a:p>
        </p:txBody>
      </p:sp>
      <p:cxnSp>
        <p:nvCxnSpPr>
          <p:cNvPr id="23" name="Connector 23"/>
          <p:cNvCxnSpPr/>
          <p:nvPr/>
        </p:nvCxnSpPr>
        <p:spPr>
          <a:xfrm>
            <a:off x="7754112" y="4370832"/>
            <a:ext cx="219456" cy="0"/>
          </a:xfrm>
          <a:prstGeom prst="straightConnector1">
            <a:avLst/>
          </a:prstGeom>
          <a:ln w="22225">
            <a:solidFill>
              <a:srgbClr val="2F6FA8"/>
            </a:solidFill>
            <a:tailEnd type="triangle" w="med" len="med"/>
          </a:ln>
        </p:spPr>
      </p:cxnSp>
      <p:sp>
        <p:nvSpPr>
          <p:cNvPr id="24" name="Shape 24"/>
          <p:cNvSpPr/>
          <p:nvPr/>
        </p:nvSpPr>
        <p:spPr>
          <a:xfrm>
            <a:off x="9829800" y="3968496"/>
            <a:ext cx="1554480" cy="804672"/>
          </a:xfrm>
          <a:prstGeom prst="roundRect">
            <a:avLst>
              <a:gd name="adj" fmla="val 10000"/>
            </a:avLst>
          </a:prstGeom>
          <a:solidFill>
            <a:srgbClr val="EEE6F3"/>
          </a:solidFill>
          <a:ln w="15875">
            <a:solidFill>
              <a:srgbClr val="D5C4E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Package</a:t>
            </a:r>
            <a:endParaRPr lang="en-US" sz="1300" dirty="0"/>
          </a:p>
        </p:txBody>
      </p:sp>
      <p:cxnSp>
        <p:nvCxnSpPr>
          <p:cNvPr id="25" name="Connector 25"/>
          <p:cNvCxnSpPr/>
          <p:nvPr/>
        </p:nvCxnSpPr>
        <p:spPr>
          <a:xfrm>
            <a:off x="9582912" y="4370832"/>
            <a:ext cx="219456" cy="0"/>
          </a:xfrm>
          <a:prstGeom prst="straightConnector1">
            <a:avLst/>
          </a:prstGeom>
          <a:ln w="22225">
            <a:solidFill>
              <a:srgbClr val="2F6FA8"/>
            </a:solidFill>
            <a:tailEnd type="triangle" w="med" len="med"/>
          </a:ln>
        </p:spPr>
      </p:cxnSp>
      <p:cxnSp>
        <p:nvCxnSpPr>
          <p:cNvPr id="26" name="Connector 26"/>
          <p:cNvCxnSpPr/>
          <p:nvPr/>
        </p:nvCxnSpPr>
        <p:spPr>
          <a:xfrm>
            <a:off x="2011680" y="4370832"/>
            <a:ext cx="457200" cy="0"/>
          </a:xfrm>
          <a:prstGeom prst="straightConnector1">
            <a:avLst/>
          </a:prstGeom>
          <a:ln w="22225">
            <a:solidFill>
              <a:srgbClr val="00857C"/>
            </a:solidFill>
            <a:tailEnd type="triangle" w="med" len="med"/>
          </a:ln>
        </p:spPr>
      </p:cxnSp>
      <p:sp>
        <p:nvSpPr>
          <p:cNvPr id="27" name="TextBox 27"/>
          <p:cNvSpPr txBox="1"/>
          <p:nvPr/>
        </p:nvSpPr>
        <p:spPr>
          <a:xfrm>
            <a:off x="6035040" y="48463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100" b="1" dirty="0">
                <a:solidFill>
                  <a:srgbClr val="57068C"/>
                </a:solidFill>
              </a:rPr>
              <a:t>RTL generated here</a:t>
            </a:r>
            <a:endParaRPr lang="en-US" sz="1100" dirty="0"/>
          </a:p>
        </p:txBody>
      </p:sp>
      <p:sp>
        <p:nvSpPr>
          <p:cNvPr id="28" name="Shape 28"/>
          <p:cNvSpPr/>
          <p:nvPr/>
        </p:nvSpPr>
        <p:spPr>
          <a:xfrm>
            <a:off x="777240" y="5303520"/>
            <a:ext cx="10607040" cy="566928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262626"/>
                </a:solidFill>
              </a:rPr>
              <a:t>One flow, two front ends</a:t>
            </a:r>
            <a:r>
              <a:rPr lang="en-US" sz="1400" dirty="0">
                <a:solidFill>
                  <a:srgbClr val="262626"/>
                </a:solidFill>
              </a:rPr>
              <a:t> — the last stages are identical.  HLS changes what you write, not what the FPGA gets.</a:t>
            </a:r>
            <a:endParaRPr lang="en-US" sz="1400" dirty="0"/>
          </a:p>
        </p:txBody>
      </p:sp>
      <p:sp>
        <p:nvSpPr>
          <p:cNvPr id="29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vs. Good HLS Code</a:t>
            </a:r>
          </a:p>
        </p:txBody>
      </p:sp>
      <p:sp>
        <p:nvSpPr>
          <p:cNvPr id="3" name="Shape 3"/>
          <p:cNvSpPr/>
          <p:nvPr/>
        </p:nvSpPr>
        <p:spPr>
          <a:xfrm>
            <a:off x="777240" y="1572768"/>
            <a:ext cx="1170432" cy="384048"/>
          </a:xfrm>
          <a:prstGeom prst="roundRect">
            <a:avLst>
              <a:gd name="adj" fmla="val 40000"/>
            </a:avLst>
          </a:prstGeom>
          <a:solidFill>
            <a:srgbClr val="B4530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AVOID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2103120" y="1591056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700" b="1" dirty="0">
                <a:solidFill>
                  <a:srgbClr val="B4530F"/>
                </a:solidFill>
              </a:rPr>
              <a:t>Treat the tool as a black box</a:t>
            </a:r>
            <a:endParaRPr lang="en-US" sz="1700" dirty="0"/>
          </a:p>
        </p:txBody>
      </p:sp>
      <p:sp>
        <p:nvSpPr>
          <p:cNvPr id="5" name="TextBox 5"/>
          <p:cNvSpPr txBox="1"/>
          <p:nvPr/>
        </p:nvSpPr>
        <p:spPr>
          <a:xfrm>
            <a:off x="2103120" y="2048256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37744" indent="-237744">
              <a:spcBef>
                <a:spcPts val="500"/>
              </a:spcBef>
              <a:buClr>
                <a:srgbClr val="B4530F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You get RTL you cannot judge</a:t>
            </a:r>
            <a:endParaRPr lang="en-US" sz="1400" dirty="0"/>
          </a:p>
          <a:p>
            <a:pPr marL="237744" indent="-237744">
              <a:spcBef>
                <a:spcPts val="500"/>
              </a:spcBef>
              <a:buClr>
                <a:srgbClr val="B4530F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Poor performance, and no idea why</a:t>
            </a:r>
            <a:endParaRPr lang="en-US" sz="14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18038" t="-28" r="17239" b="23451"/>
          <a:stretch>
            <a:fillRect/>
          </a:stretch>
        </p:blipFill>
        <p:spPr>
          <a:xfrm>
            <a:off x="7269480" y="1901952"/>
            <a:ext cx="1106424" cy="107899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8778240" y="2075688"/>
            <a:ext cx="1188720" cy="731520"/>
          </a:xfrm>
          <a:prstGeom prst="roundRect">
            <a:avLst>
              <a:gd name="adj" fmla="val 12000"/>
            </a:avLst>
          </a:prstGeom>
          <a:solidFill>
            <a:srgbClr val="FCEEE3"/>
          </a:solidFill>
          <a:ln w="15875">
            <a:solidFill>
              <a:srgbClr val="E7C3A6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B4530F"/>
                </a:solidFill>
              </a:rPr>
              <a:t>HLS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tool</a:t>
            </a: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>
            <a:off x="8430768" y="2441448"/>
            <a:ext cx="292608" cy="0"/>
          </a:xfrm>
          <a:prstGeom prst="straightConnector1">
            <a:avLst/>
          </a:prstGeom>
          <a:ln w="22225">
            <a:solidFill>
              <a:srgbClr val="B4530F"/>
            </a:solidFill>
            <a:tailEnd type="triangle" w="med" len="med"/>
          </a:ln>
        </p:spPr>
      </p:cxnSp>
      <p:sp>
        <p:nvSpPr>
          <p:cNvPr id="9" name="Shape 9"/>
          <p:cNvSpPr/>
          <p:nvPr/>
        </p:nvSpPr>
        <p:spPr>
          <a:xfrm>
            <a:off x="10351008" y="2075688"/>
            <a:ext cx="1188720" cy="731520"/>
          </a:xfrm>
          <a:prstGeom prst="roundRect">
            <a:avLst>
              <a:gd name="adj" fmla="val 12000"/>
            </a:avLst>
          </a:prstGeom>
          <a:solidFill>
            <a:srgbClr val="FCEEE3"/>
          </a:solidFill>
          <a:ln w="15875">
            <a:solidFill>
              <a:srgbClr val="E7C3A6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B4530F"/>
                </a:solidFill>
              </a:rPr>
              <a:t>RTL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tool</a:t>
            </a: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>
            <a:off x="10021824" y="2441448"/>
            <a:ext cx="274320" cy="0"/>
          </a:xfrm>
          <a:prstGeom prst="straightConnector1">
            <a:avLst/>
          </a:prstGeom>
          <a:ln w="22225">
            <a:solidFill>
              <a:srgbClr val="B4530F"/>
            </a:solidFill>
            <a:tailEnd type="triangle" w="med" len="med"/>
          </a:ln>
        </p:spPr>
      </p:cxnSp>
      <p:sp>
        <p:nvSpPr>
          <p:cNvPr id="11" name="Shape 11"/>
          <p:cNvSpPr/>
          <p:nvPr/>
        </p:nvSpPr>
        <p:spPr>
          <a:xfrm>
            <a:off x="777240" y="3840480"/>
            <a:ext cx="1170432" cy="384048"/>
          </a:xfrm>
          <a:prstGeom prst="roundRect">
            <a:avLst>
              <a:gd name="adj" fmla="val 40000"/>
            </a:avLst>
          </a:prstGeom>
          <a:solidFill>
            <a:srgbClr val="00857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AIM FOR</a:t>
            </a:r>
            <a:endParaRPr lang="en-US" sz="1300" dirty="0"/>
          </a:p>
        </p:txBody>
      </p:sp>
      <p:sp>
        <p:nvSpPr>
          <p:cNvPr id="12" name="TextBox 12"/>
          <p:cNvSpPr txBox="1"/>
          <p:nvPr/>
        </p:nvSpPr>
        <p:spPr>
          <a:xfrm>
            <a:off x="2103120" y="3858768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700" b="1" dirty="0">
                <a:solidFill>
                  <a:srgbClr val="00857C"/>
                </a:solidFill>
              </a:rPr>
              <a:t>Keep a mental model of the RTL</a:t>
            </a:r>
            <a:endParaRPr lang="en-US" sz="1700" dirty="0"/>
          </a:p>
        </p:txBody>
      </p:sp>
      <p:sp>
        <p:nvSpPr>
          <p:cNvPr id="13" name="TextBox 13"/>
          <p:cNvSpPr txBox="1"/>
          <p:nvPr/>
        </p:nvSpPr>
        <p:spPr>
          <a:xfrm>
            <a:off x="2103120" y="4315968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37744" indent="-237744">
              <a:spcBef>
                <a:spcPts val="500"/>
              </a:spcBef>
              <a:buClr>
                <a:srgbClr val="00857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What should happen on each clock cycle?</a:t>
            </a:r>
            <a:endParaRPr lang="en-US" sz="1400" dirty="0"/>
          </a:p>
          <a:p>
            <a:pPr marL="237744" indent="-237744">
              <a:spcBef>
                <a:spcPts val="500"/>
              </a:spcBef>
              <a:buClr>
                <a:srgbClr val="00857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What resources should it use?</a:t>
            </a:r>
            <a:endParaRPr lang="en-US" sz="1400" dirty="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 l="18038" t="-28" r="17239" b="23451"/>
          <a:stretch>
            <a:fillRect/>
          </a:stretch>
        </p:blipFill>
        <p:spPr>
          <a:xfrm>
            <a:off x="7269480" y="4169664"/>
            <a:ext cx="1106424" cy="1078992"/>
          </a:xfrm>
          <a:prstGeom prst="rect">
            <a:avLst/>
          </a:prstGeom>
        </p:spPr>
      </p:pic>
      <p:sp>
        <p:nvSpPr>
          <p:cNvPr id="15" name="Shape 15"/>
          <p:cNvSpPr/>
          <p:nvPr/>
        </p:nvSpPr>
        <p:spPr>
          <a:xfrm>
            <a:off x="8778240" y="4343400"/>
            <a:ext cx="1188720" cy="731520"/>
          </a:xfrm>
          <a:prstGeom prst="roundRect">
            <a:avLst>
              <a:gd name="adj" fmla="val 12000"/>
            </a:avLst>
          </a:prstGeom>
          <a:solidFill>
            <a:srgbClr val="DCEFEC"/>
          </a:solidFill>
          <a:ln w="15875">
            <a:solidFill>
              <a:srgbClr val="9FD3C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00857C"/>
                </a:solidFill>
              </a:rPr>
              <a:t>HLS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tool</a:t>
            </a:r>
            <a:endParaRPr lang="en-US" sz="1100" dirty="0"/>
          </a:p>
        </p:txBody>
      </p:sp>
      <p:cxnSp>
        <p:nvCxnSpPr>
          <p:cNvPr id="16" name="Connector 16"/>
          <p:cNvCxnSpPr/>
          <p:nvPr/>
        </p:nvCxnSpPr>
        <p:spPr>
          <a:xfrm>
            <a:off x="8430768" y="4709160"/>
            <a:ext cx="292608" cy="0"/>
          </a:xfrm>
          <a:prstGeom prst="straightConnector1">
            <a:avLst/>
          </a:prstGeom>
          <a:ln w="22225">
            <a:solidFill>
              <a:srgbClr val="00857C"/>
            </a:solidFill>
            <a:tailEnd type="triangle" w="med" len="med"/>
          </a:ln>
        </p:spPr>
      </p:cxnSp>
      <p:sp>
        <p:nvSpPr>
          <p:cNvPr id="17" name="Shape 17"/>
          <p:cNvSpPr/>
          <p:nvPr/>
        </p:nvSpPr>
        <p:spPr>
          <a:xfrm>
            <a:off x="10351008" y="4343400"/>
            <a:ext cx="1188720" cy="731520"/>
          </a:xfrm>
          <a:prstGeom prst="roundRect">
            <a:avLst>
              <a:gd name="adj" fmla="val 12000"/>
            </a:avLst>
          </a:prstGeom>
          <a:solidFill>
            <a:srgbClr val="DCEFEC"/>
          </a:solidFill>
          <a:ln w="15875">
            <a:solidFill>
              <a:srgbClr val="9FD3C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00857C"/>
                </a:solidFill>
              </a:rPr>
              <a:t>RTL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tool</a:t>
            </a:r>
            <a:endParaRPr lang="en-US" sz="1100" dirty="0"/>
          </a:p>
        </p:txBody>
      </p:sp>
      <p:cxnSp>
        <p:nvCxnSpPr>
          <p:cNvPr id="18" name="Connector 18"/>
          <p:cNvCxnSpPr/>
          <p:nvPr/>
        </p:nvCxnSpPr>
        <p:spPr>
          <a:xfrm>
            <a:off x="10021824" y="4709160"/>
            <a:ext cx="274320" cy="0"/>
          </a:xfrm>
          <a:prstGeom prst="straightConnector1">
            <a:avLst/>
          </a:prstGeom>
          <a:ln w="22225">
            <a:solidFill>
              <a:srgbClr val="00857C"/>
            </a:solidFill>
            <a:tailEnd type="triangle" w="med" len="med"/>
          </a:ln>
        </p:spPr>
      </p:cxnSp>
      <p:sp>
        <p:nvSpPr>
          <p:cNvPr id="19" name="Shape 19"/>
          <p:cNvSpPr/>
          <p:nvPr/>
        </p:nvSpPr>
        <p:spPr>
          <a:xfrm>
            <a:off x="6995160" y="3364992"/>
            <a:ext cx="2148840" cy="713232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00857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00857C"/>
                </a:solidFill>
              </a:rPr>
              <a:t>what should the RTL look like?</a:t>
            </a:r>
            <a:endParaRPr lang="en-US" sz="1200" dirty="0"/>
          </a:p>
        </p:txBody>
      </p:sp>
      <p:sp>
        <p:nvSpPr>
          <p:cNvPr id="20" name="Shape 20"/>
          <p:cNvSpPr/>
          <p:nvPr/>
        </p:nvSpPr>
        <p:spPr>
          <a:xfrm>
            <a:off x="777240" y="5486400"/>
            <a:ext cx="10607040" cy="50292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262626"/>
                </a:solidFill>
              </a:rPr>
              <a:t>The tool schedules the cycles — but only you can tell whether what it produced is any good.</a:t>
            </a:r>
            <a:endParaRPr lang="en-US" sz="1400" dirty="0"/>
          </a:p>
        </p:txBody>
      </p:sp>
      <p:sp>
        <p:nvSpPr>
          <p:cNvPr id="21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48F8-C48B-B6A3-3D5A-B7F2A07E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F1EC-6539-1A86-1043-30C8BBE3A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▪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Developed by Xilinx (now AMD)</a:t>
            </a:r>
          </a:p>
          <a:p>
            <a:pPr lvl="1"/>
            <a:r>
              <a:rPr lang="en-US" dirty="0"/>
              <a:t>Evolved from </a:t>
            </a:r>
            <a:r>
              <a:rPr lang="en-US" dirty="0" err="1"/>
              <a:t>Vivado</a:t>
            </a:r>
            <a:r>
              <a:rPr lang="en-US" dirty="0"/>
              <a:t> HLS </a:t>
            </a:r>
          </a:p>
          <a:p>
            <a:r>
              <a:rPr lang="en-US" dirty="0"/>
              <a:t>Supports C / C++</a:t>
            </a:r>
          </a:p>
          <a:p>
            <a:pPr lvl="1"/>
            <a:r>
              <a:rPr lang="en-US" dirty="0"/>
              <a:t>Simple, common development </a:t>
            </a:r>
          </a:p>
          <a:p>
            <a:r>
              <a:rPr lang="en-US" dirty="0"/>
              <a:t>Some python support for testbenches</a:t>
            </a:r>
          </a:p>
          <a:p>
            <a:r>
              <a:rPr lang="en-US" dirty="0"/>
              <a:t>Ships with Vitis IDE</a:t>
            </a:r>
          </a:p>
          <a:p>
            <a:r>
              <a:rPr lang="en-US" dirty="0"/>
              <a:t>Native support for AXI protocols</a:t>
            </a:r>
          </a:p>
          <a:p>
            <a:pPr lvl="1"/>
            <a:r>
              <a:rPr lang="en-US" dirty="0"/>
              <a:t>No need to build handshake from scratch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3ABE0-5A9F-4CAD-19C8-CF0A3C5F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5" name="Picture 2" descr="Xilinx Vitis HLS introduction - imperix">
            <a:extLst>
              <a:ext uri="{FF2B5EF4-FFF2-40B4-BE49-F238E27FC236}">
                <a16:creationId xmlns:a16="http://schemas.microsoft.com/office/drawing/2014/main" id="{A4ECFD25-23A4-D0BC-58E9-F3DDCC008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188576"/>
            <a:ext cx="1710467" cy="113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576598-DEAE-160E-8B78-F1229E723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429" y="1631950"/>
            <a:ext cx="6004882" cy="400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290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8B9D-0034-401B-1D7D-AA6E381A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29B0-8410-A491-D94D-5A189BE60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▪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We target a design on a real FPGA board</a:t>
            </a:r>
          </a:p>
          <a:p>
            <a:r>
              <a:rPr lang="en-US" dirty="0"/>
              <a:t>Boards have three components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Processing system (PS)</a:t>
            </a:r>
          </a:p>
          <a:p>
            <a:pPr lvl="1"/>
            <a:r>
              <a:rPr lang="en-US" dirty="0"/>
              <a:t>A lightweight processor</a:t>
            </a:r>
          </a:p>
          <a:p>
            <a:pPr lvl="1"/>
            <a:r>
              <a:rPr lang="en-US" dirty="0"/>
              <a:t>Often an ARM core</a:t>
            </a:r>
          </a:p>
          <a:p>
            <a:pPr lvl="1"/>
            <a:r>
              <a:rPr lang="en-US" dirty="0"/>
              <a:t>E.g., ARM A9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Programmable logic (PL)</a:t>
            </a:r>
          </a:p>
          <a:p>
            <a:pPr lvl="1"/>
            <a:r>
              <a:rPr lang="en-US" dirty="0"/>
              <a:t>The programmable fabric</a:t>
            </a:r>
          </a:p>
          <a:p>
            <a:pPr lvl="1"/>
            <a:r>
              <a:rPr lang="en-US" dirty="0"/>
              <a:t>This is where your IP will reside</a:t>
            </a:r>
          </a:p>
          <a:p>
            <a:pPr lvl="1"/>
            <a:r>
              <a:rPr lang="en-US" dirty="0"/>
              <a:t>Also contains the registers and internal memory</a:t>
            </a:r>
          </a:p>
          <a:p>
            <a:r>
              <a:rPr lang="en-US" dirty="0"/>
              <a:t>An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AXI4 interface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AE4B8-3778-3A78-7A19-E818D5CF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B657F65-47BE-0EA1-6784-8FB1C179B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325" y="1712439"/>
            <a:ext cx="47244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DEB41C-6F1D-0FD1-4603-EB467CA34FF6}"/>
              </a:ext>
            </a:extLst>
          </p:cNvPr>
          <p:cNvSpPr txBox="1"/>
          <p:nvPr/>
        </p:nvSpPr>
        <p:spPr>
          <a:xfrm>
            <a:off x="6892119" y="4499230"/>
            <a:ext cx="472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from MathWorks </a:t>
            </a:r>
            <a:r>
              <a:rPr lang="en-US" dirty="0">
                <a:hlinkClick r:id="rId3"/>
              </a:rPr>
              <a:t>page</a:t>
            </a:r>
            <a:r>
              <a:rPr lang="en-US" dirty="0"/>
              <a:t> on embedded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68F51-7D3F-092B-95B1-F3C693C2E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844" y="4981700"/>
            <a:ext cx="1436417" cy="115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533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1C44D72-71B2-6A46-4E6E-8F159F853802}"/>
              </a:ext>
            </a:extLst>
          </p:cNvPr>
          <p:cNvSpPr/>
          <p:nvPr/>
        </p:nvSpPr>
        <p:spPr>
          <a:xfrm>
            <a:off x="3133392" y="2701098"/>
            <a:ext cx="4912330" cy="1838980"/>
          </a:xfrm>
          <a:prstGeom prst="roundRect">
            <a:avLst/>
          </a:prstGeom>
          <a:solidFill>
            <a:srgbClr val="E3EDF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273B2-B8C1-403F-8FFA-1CFDC3D2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Target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9EA86-1648-7505-7EDD-634A573D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0DB9C-199F-91B7-4F35-5AEAF74D3CD1}"/>
              </a:ext>
            </a:extLst>
          </p:cNvPr>
          <p:cNvSpPr/>
          <p:nvPr/>
        </p:nvSpPr>
        <p:spPr>
          <a:xfrm>
            <a:off x="6978015" y="3218871"/>
            <a:ext cx="901294" cy="1173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3678E-E18C-B4EF-7B93-FE9D8A3544BF}"/>
              </a:ext>
            </a:extLst>
          </p:cNvPr>
          <p:cNvSpPr txBox="1"/>
          <p:nvPr/>
        </p:nvSpPr>
        <p:spPr>
          <a:xfrm>
            <a:off x="6836962" y="4540077"/>
            <a:ext cx="153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Hardware “IP”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B8222-7E18-825C-E6E5-9A7FE962A5D2}"/>
                  </a:ext>
                </a:extLst>
              </p:cNvPr>
              <p:cNvSpPr/>
              <p:nvPr/>
            </p:nvSpPr>
            <p:spPr>
              <a:xfrm>
                <a:off x="5240578" y="3212713"/>
                <a:ext cx="901294" cy="294946"/>
              </a:xfrm>
              <a:prstGeom prst="rect">
                <a:avLst/>
              </a:prstGeom>
              <a:solidFill>
                <a:srgbClr val="2F6FA8">
                  <a:lumMod val="20000"/>
                  <a:lumOff val="80000"/>
                </a:srgbClr>
              </a:solidFill>
              <a:ln>
                <a:solidFill>
                  <a:srgbClr val="2F6F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B8222-7E18-825C-E6E5-9A7FE962A5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212713"/>
                <a:ext cx="901294" cy="2949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2F6FA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D59092A-6327-C7C5-96D9-C5AA6B3387B7}"/>
                  </a:ext>
                </a:extLst>
              </p:cNvPr>
              <p:cNvSpPr/>
              <p:nvPr/>
            </p:nvSpPr>
            <p:spPr>
              <a:xfrm>
                <a:off x="5240578" y="3496947"/>
                <a:ext cx="901294" cy="294946"/>
              </a:xfrm>
              <a:prstGeom prst="rect">
                <a:avLst/>
              </a:prstGeom>
              <a:solidFill>
                <a:srgbClr val="2F6FA8">
                  <a:lumMod val="20000"/>
                  <a:lumOff val="80000"/>
                </a:srgbClr>
              </a:solidFill>
              <a:ln>
                <a:solidFill>
                  <a:srgbClr val="2F6F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D59092A-6327-C7C5-96D9-C5AA6B338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496947"/>
                <a:ext cx="901294" cy="294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2F6FA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B0CB74-0EF4-B566-FE3E-86BC86EA68D2}"/>
                  </a:ext>
                </a:extLst>
              </p:cNvPr>
              <p:cNvSpPr/>
              <p:nvPr/>
            </p:nvSpPr>
            <p:spPr>
              <a:xfrm>
                <a:off x="5240578" y="3757698"/>
                <a:ext cx="901294" cy="294946"/>
              </a:xfrm>
              <a:prstGeom prst="rect">
                <a:avLst/>
              </a:prstGeom>
              <a:solidFill>
                <a:srgbClr val="2F6FA8">
                  <a:lumMod val="20000"/>
                  <a:lumOff val="80000"/>
                </a:srgbClr>
              </a:solidFill>
              <a:ln>
                <a:solidFill>
                  <a:srgbClr val="2F6F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B0CB74-0EF4-B566-FE3E-86BC86EA6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757698"/>
                <a:ext cx="901294" cy="294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2F6FA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EE0E23-BCDB-8659-76AC-B13373F17243}"/>
                  </a:ext>
                </a:extLst>
              </p:cNvPr>
              <p:cNvSpPr/>
              <p:nvPr/>
            </p:nvSpPr>
            <p:spPr>
              <a:xfrm>
                <a:off x="5240578" y="4041932"/>
                <a:ext cx="901294" cy="294946"/>
              </a:xfrm>
              <a:prstGeom prst="rect">
                <a:avLst/>
              </a:prstGeom>
              <a:solidFill>
                <a:srgbClr val="2F6FA8">
                  <a:lumMod val="20000"/>
                  <a:lumOff val="80000"/>
                </a:srgbClr>
              </a:solidFill>
              <a:ln>
                <a:solidFill>
                  <a:srgbClr val="2F6F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EE0E23-BCDB-8659-76AC-B13373F172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4041932"/>
                <a:ext cx="901294" cy="294946"/>
              </a:xfrm>
              <a:prstGeom prst="rect">
                <a:avLst/>
              </a:prstGeom>
              <a:blipFill>
                <a:blip r:embed="rId5"/>
                <a:stretch>
                  <a:fillRect b="-17647"/>
                </a:stretch>
              </a:blipFill>
              <a:ln>
                <a:solidFill>
                  <a:srgbClr val="2F6FA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7911DD-96C0-B29A-8ED5-C4A88AED8EA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141872" y="3360185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262BE6-936F-F51C-9FA7-0D1BC2D2EE7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141872" y="3644420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8B9E3F-F280-E83D-9352-D568009E6C09}"/>
              </a:ext>
            </a:extLst>
          </p:cNvPr>
          <p:cNvCxnSpPr>
            <a:cxnSpLocks/>
          </p:cNvCxnSpPr>
          <p:nvPr/>
        </p:nvCxnSpPr>
        <p:spPr>
          <a:xfrm flipV="1">
            <a:off x="6141872" y="3885804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2E4270-8566-92F0-3750-232C3E72BFB3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6141872" y="4189405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515FC1-4593-44A0-BB65-933C6A1062C4}"/>
              </a:ext>
            </a:extLst>
          </p:cNvPr>
          <p:cNvSpPr txBox="1"/>
          <p:nvPr/>
        </p:nvSpPr>
        <p:spPr>
          <a:xfrm>
            <a:off x="5161496" y="4464590"/>
            <a:ext cx="105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Memory-</a:t>
            </a:r>
            <a:br>
              <a:rPr lang="en-US" dirty="0"/>
            </a:br>
            <a:r>
              <a:rPr lang="en-US" dirty="0"/>
              <a:t>mapped</a:t>
            </a:r>
            <a:br>
              <a:rPr lang="en-US" dirty="0"/>
            </a:br>
            <a:r>
              <a:rPr lang="en-US" dirty="0"/>
              <a:t>registers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0FF17-29A2-AA94-49C1-26D325FC5BD6}"/>
              </a:ext>
            </a:extLst>
          </p:cNvPr>
          <p:cNvSpPr/>
          <p:nvPr/>
        </p:nvSpPr>
        <p:spPr>
          <a:xfrm>
            <a:off x="3248327" y="2971404"/>
            <a:ext cx="914400" cy="1421201"/>
          </a:xfrm>
          <a:prstGeom prst="rect">
            <a:avLst/>
          </a:prstGeom>
          <a:solidFill>
            <a:srgbClr val="2F6FA8">
              <a:lumMod val="60000"/>
              <a:lumOff val="40000"/>
            </a:srgbClr>
          </a:solidFill>
          <a:ln>
            <a:solidFill>
              <a:srgbClr val="2F6F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D135608A-B42F-79E6-11EE-05BB6E442E67}"/>
              </a:ext>
            </a:extLst>
          </p:cNvPr>
          <p:cNvSpPr/>
          <p:nvPr/>
        </p:nvSpPr>
        <p:spPr>
          <a:xfrm>
            <a:off x="4189036" y="3658235"/>
            <a:ext cx="946150" cy="268732"/>
          </a:xfrm>
          <a:prstGeom prst="leftRightArrow">
            <a:avLst/>
          </a:prstGeom>
          <a:solidFill>
            <a:srgbClr val="2F6FA8">
              <a:lumMod val="20000"/>
              <a:lumOff val="80000"/>
            </a:srgbClr>
          </a:solidFill>
          <a:ln>
            <a:solidFill>
              <a:srgbClr val="2F6FA8">
                <a:lumMod val="7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97342B-F5DC-5FFA-BB15-6A316F5D7192}"/>
              </a:ext>
            </a:extLst>
          </p:cNvPr>
          <p:cNvSpPr txBox="1"/>
          <p:nvPr/>
        </p:nvSpPr>
        <p:spPr>
          <a:xfrm>
            <a:off x="3500984" y="4660183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B0841E-6387-25DA-F6E2-7EEE776E5BBB}"/>
              </a:ext>
            </a:extLst>
          </p:cNvPr>
          <p:cNvSpPr txBox="1"/>
          <p:nvPr/>
        </p:nvSpPr>
        <p:spPr>
          <a:xfrm>
            <a:off x="4155612" y="3210734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AXI4-Lite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62DCDB0-15AE-65CE-FE0E-9AB6BCCB1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546" y="2188847"/>
            <a:ext cx="1308100" cy="1308100"/>
          </a:xfrm>
          <a:prstGeom prst="rect">
            <a:avLst/>
          </a:prstGeom>
        </p:spPr>
      </p:pic>
      <p:pic>
        <p:nvPicPr>
          <p:cNvPr id="3078" name="Picture 6" descr="PYNQ | Python Productivity for AMD Adaptive Computing platforms">
            <a:extLst>
              <a:ext uri="{FF2B5EF4-FFF2-40B4-BE49-F238E27FC236}">
                <a16:creationId xmlns:a16="http://schemas.microsoft.com/office/drawing/2014/main" id="{1C126EF6-8B50-C9A6-AC0A-D46D7C131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392" y="2300354"/>
            <a:ext cx="1144270" cy="55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9D2D9F6D-0538-0C2B-F90B-E2C7E7F1E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3242787"/>
            <a:ext cx="1679960" cy="16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EC9C2AA-EDD4-6DB7-50F1-1BC24F40EDFD}"/>
              </a:ext>
            </a:extLst>
          </p:cNvPr>
          <p:cNvSpPr txBox="1"/>
          <p:nvPr/>
        </p:nvSpPr>
        <p:spPr>
          <a:xfrm>
            <a:off x="1494127" y="4922747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PC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A8200BA3-EADC-06C1-D271-47CD213F4B29}"/>
              </a:ext>
            </a:extLst>
          </p:cNvPr>
          <p:cNvSpPr/>
          <p:nvPr/>
        </p:nvSpPr>
        <p:spPr>
          <a:xfrm>
            <a:off x="2677997" y="3636439"/>
            <a:ext cx="557176" cy="268732"/>
          </a:xfrm>
          <a:prstGeom prst="leftRightArrow">
            <a:avLst/>
          </a:prstGeom>
          <a:solidFill>
            <a:srgbClr val="2F6FA8">
              <a:lumMod val="20000"/>
              <a:lumOff val="80000"/>
            </a:srgbClr>
          </a:solidFill>
          <a:ln>
            <a:solidFill>
              <a:srgbClr val="2F6FA8">
                <a:lumMod val="7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B7D95A3-7D25-DF92-46C1-BCF554448A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0657" y="1326814"/>
            <a:ext cx="1436417" cy="115505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73E6AF3-0D96-BEE6-B1B0-91C5EDD3D64C}"/>
              </a:ext>
            </a:extLst>
          </p:cNvPr>
          <p:cNvSpPr txBox="1"/>
          <p:nvPr/>
        </p:nvSpPr>
        <p:spPr>
          <a:xfrm>
            <a:off x="4923321" y="1554266"/>
            <a:ext cx="153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Pynq</a:t>
            </a:r>
            <a:r>
              <a:rPr lang="en-US" dirty="0"/>
              <a:t> Z2 board</a:t>
            </a: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6B096EFB-C66D-7222-5443-D15DCE633E69}"/>
              </a:ext>
            </a:extLst>
          </p:cNvPr>
          <p:cNvSpPr/>
          <p:nvPr/>
        </p:nvSpPr>
        <p:spPr>
          <a:xfrm rot="16200000">
            <a:off x="6517193" y="3798468"/>
            <a:ext cx="408802" cy="3292856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515B7C-0D45-C55B-1D60-312CFCC14585}"/>
              </a:ext>
            </a:extLst>
          </p:cNvPr>
          <p:cNvSpPr txBox="1"/>
          <p:nvPr/>
        </p:nvSpPr>
        <p:spPr>
          <a:xfrm>
            <a:off x="6521058" y="56667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PL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2C435DA-FD57-DCE7-673B-567EB7F3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468" y="1554266"/>
            <a:ext cx="2870426" cy="4329817"/>
          </a:xfrm>
        </p:spPr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▪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will rapidly build</a:t>
            </a:r>
          </a:p>
          <a:p>
            <a:r>
              <a:rPr lang="en-US" dirty="0">
                <a:solidFill>
                  <a:schemeClr val="tx1"/>
                </a:solidFill>
              </a:rPr>
              <a:t>Complete AXI4-Lite I/F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Interface done automatically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No need to code any handshaking</a:t>
            </a:r>
          </a:p>
          <a:p>
            <a:r>
              <a:rPr lang="en-US" dirty="0">
                <a:solidFill>
                  <a:schemeClr val="tx1"/>
                </a:solidFill>
              </a:rPr>
              <a:t>Control through host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Simple python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notebook</a:t>
            </a:r>
          </a:p>
          <a:p>
            <a:r>
              <a:rPr lang="en-US" dirty="0">
                <a:solidFill>
                  <a:schemeClr val="tx1"/>
                </a:solidFill>
              </a:rPr>
              <a:t>Deploy to a real FPGA!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0040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Kernel Types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481328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dirty="0">
                <a:solidFill>
                  <a:srgbClr val="6E6E6E"/>
                </a:solidFill>
              </a:rPr>
              <a:t>Vitis kernels come in two shapes.  The difference is who decides when the kernel runs.</a:t>
            </a:r>
            <a:endParaRPr lang="en-US" sz="1400" dirty="0"/>
          </a:p>
        </p:txBody>
      </p:sp>
      <p:sp>
        <p:nvSpPr>
          <p:cNvPr id="4" name="Shape 4"/>
          <p:cNvSpPr/>
          <p:nvPr/>
        </p:nvSpPr>
        <p:spPr>
          <a:xfrm>
            <a:off x="685800" y="1828800"/>
            <a:ext cx="5212080" cy="566928"/>
          </a:xfrm>
          <a:prstGeom prst="roundRect">
            <a:avLst>
              <a:gd name="adj" fmla="val 12000"/>
            </a:avLst>
          </a:prstGeom>
          <a:solidFill>
            <a:srgbClr val="57068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</a:rPr>
              <a:t>Host-Activated</a:t>
            </a:r>
            <a:endParaRPr lang="en-US" sz="1900" dirty="0"/>
          </a:p>
        </p:txBody>
      </p:sp>
      <p:sp>
        <p:nvSpPr>
          <p:cNvPr id="5" name="Shape 5"/>
          <p:cNvSpPr/>
          <p:nvPr/>
        </p:nvSpPr>
        <p:spPr>
          <a:xfrm>
            <a:off x="685800" y="2395728"/>
            <a:ext cx="5212080" cy="3547872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6" name="TextBox 6"/>
          <p:cNvSpPr txBox="1"/>
          <p:nvPr/>
        </p:nvSpPr>
        <p:spPr>
          <a:xfrm>
            <a:off x="996696" y="2596896"/>
            <a:ext cx="4590288" cy="31455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#pragma HLS INTERFACE s_axilite port=return</a:t>
            </a:r>
            <a:endParaRPr lang="en-US" sz="1200" dirty="0"/>
          </a:p>
          <a:p>
            <a:pPr>
              <a:spcBef>
                <a:spcPts val="2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ap_ctrl_hs</a:t>
            </a:r>
            <a:r>
              <a:rPr lang="en-US" sz="1200" dirty="0">
                <a:solidFill>
                  <a:srgbClr val="6E6E6E"/>
                </a:solidFill>
              </a:rPr>
              <a:t>  — the default</a:t>
            </a:r>
            <a:endParaRPr lang="en-US" sz="1200" dirty="0"/>
          </a:p>
          <a:p>
            <a:pPr marL="237744" indent="-237744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Explicitly started by the processor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Signals completion with a status bit, and can raise an interrupt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The closest thing to a </a:t>
            </a:r>
            <a:r>
              <a:rPr lang="en-US" sz="1500" b="1" dirty="0">
                <a:solidFill>
                  <a:srgbClr val="262626"/>
                </a:solidFill>
              </a:rPr>
              <a:t>function call</a:t>
            </a:r>
            <a:r>
              <a:rPr lang="en-US" sz="1500" dirty="0">
                <a:solidFill>
                  <a:srgbClr val="262626"/>
                </a:solidFill>
              </a:rPr>
              <a:t> in hardware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But the processor writes every input and reads every output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Not how most production designs move data</a:t>
            </a:r>
            <a:endParaRPr lang="en-US" sz="1500" dirty="0"/>
          </a:p>
          <a:p>
            <a:pPr marL="237744"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57068C"/>
                </a:solidFill>
              </a:rPr>
              <a:t>Our focus — it is the easiest to reason about, and every idea in it carries over.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6263640" y="1828800"/>
            <a:ext cx="5212080" cy="566928"/>
          </a:xfrm>
          <a:prstGeom prst="roundRect">
            <a:avLst>
              <a:gd name="adj" fmla="val 12000"/>
            </a:avLst>
          </a:prstGeom>
          <a:solidFill>
            <a:srgbClr val="00857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</a:rPr>
              <a:t>Free-Running Task</a:t>
            </a:r>
            <a:endParaRPr lang="en-US" sz="1900" dirty="0"/>
          </a:p>
        </p:txBody>
      </p:sp>
      <p:sp>
        <p:nvSpPr>
          <p:cNvPr id="8" name="Shape 8"/>
          <p:cNvSpPr/>
          <p:nvPr/>
        </p:nvSpPr>
        <p:spPr>
          <a:xfrm>
            <a:off x="6263640" y="2395728"/>
            <a:ext cx="5212080" cy="3547872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9" name="TextBox 9"/>
          <p:cNvSpPr txBox="1"/>
          <p:nvPr/>
        </p:nvSpPr>
        <p:spPr>
          <a:xfrm>
            <a:off x="6574536" y="2596896"/>
            <a:ext cx="4590288" cy="31455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#pragma HLS INTERFACE ap_ctrl_none port=return</a:t>
            </a:r>
            <a:endParaRPr lang="en-US" sz="1200" dirty="0"/>
          </a:p>
          <a:p>
            <a:pPr>
              <a:spcBef>
                <a:spcPts val="2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ap_ctrl_none</a:t>
            </a:r>
            <a:endParaRPr lang="en-US" sz="1200" dirty="0"/>
          </a:p>
          <a:p>
            <a:pPr marL="237744" indent="-237744">
              <a:spcBef>
                <a:spcPts val="1200"/>
              </a:spcBef>
              <a:buClr>
                <a:srgbClr val="00857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Runs continuously, waiting on data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00857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Operates without the processor once started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00857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Enables far greater </a:t>
            </a:r>
            <a:r>
              <a:rPr lang="en-US" sz="1500" b="1" dirty="0">
                <a:solidFill>
                  <a:srgbClr val="262626"/>
                </a:solidFill>
              </a:rPr>
              <a:t>concurrency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00857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Data arrives on a stream, not in registers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00857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How real accelerators are built</a:t>
            </a:r>
            <a:endParaRPr lang="en-US" sz="1500" dirty="0"/>
          </a:p>
          <a:p>
            <a:pPr marL="237744"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00857C"/>
                </a:solidFill>
              </a:rPr>
              <a:t>Examined in the advanced course — and glimpsed next lecture, with AXI4-Stream.</a:t>
            </a:r>
            <a:endParaRPr lang="en-US" sz="1300" dirty="0"/>
          </a:p>
        </p:txBody>
      </p:sp>
      <p:sp>
        <p:nvSpPr>
          <p:cNvPr id="10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Host-Activated Execution Model</a:t>
            </a:r>
          </a:p>
        </p:txBody>
      </p:sp>
      <p:sp>
        <p:nvSpPr>
          <p:cNvPr id="3" name="Shape 3"/>
          <p:cNvSpPr/>
          <p:nvPr/>
        </p:nvSpPr>
        <p:spPr>
          <a:xfrm>
            <a:off x="1188720" y="1572768"/>
            <a:ext cx="2286000" cy="420624"/>
          </a:xfrm>
          <a:prstGeom prst="roundRect">
            <a:avLst>
              <a:gd name="adj" fmla="val 14000"/>
            </a:avLst>
          </a:prstGeom>
          <a:solidFill>
            <a:srgbClr val="2F6FA8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Processor (PS)</a:t>
            </a:r>
            <a:endParaRPr lang="en-US" sz="1500" dirty="0"/>
          </a:p>
        </p:txBody>
      </p:sp>
      <p:sp>
        <p:nvSpPr>
          <p:cNvPr id="4" name="Shape 4"/>
          <p:cNvSpPr/>
          <p:nvPr/>
        </p:nvSpPr>
        <p:spPr>
          <a:xfrm>
            <a:off x="7223760" y="1572768"/>
            <a:ext cx="2286000" cy="420624"/>
          </a:xfrm>
          <a:prstGeom prst="roundRect">
            <a:avLst>
              <a:gd name="adj" fmla="val 14000"/>
            </a:avLst>
          </a:prstGeom>
          <a:solidFill>
            <a:srgbClr val="57068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Vitis IP (PL)</a:t>
            </a:r>
            <a:endParaRPr lang="en-US" sz="1500" dirty="0"/>
          </a:p>
        </p:txBody>
      </p:sp>
      <p:cxnSp>
        <p:nvCxnSpPr>
          <p:cNvPr id="5" name="Connector 5"/>
          <p:cNvCxnSpPr/>
          <p:nvPr/>
        </p:nvCxnSpPr>
        <p:spPr>
          <a:xfrm>
            <a:off x="2331720" y="1993392"/>
            <a:ext cx="0" cy="3447288"/>
          </a:xfrm>
          <a:prstGeom prst="straightConnector1">
            <a:avLst/>
          </a:prstGeom>
          <a:ln w="12700">
            <a:solidFill>
              <a:srgbClr val="BFBFBF"/>
            </a:solidFill>
            <a:prstDash val="dash"/>
          </a:ln>
        </p:spPr>
      </p:cxnSp>
      <p:cxnSp>
        <p:nvCxnSpPr>
          <p:cNvPr id="6" name="Connector 6"/>
          <p:cNvCxnSpPr/>
          <p:nvPr/>
        </p:nvCxnSpPr>
        <p:spPr>
          <a:xfrm>
            <a:off x="8366760" y="1993392"/>
            <a:ext cx="0" cy="3447288"/>
          </a:xfrm>
          <a:prstGeom prst="straightConnector1">
            <a:avLst/>
          </a:prstGeom>
          <a:ln w="12700">
            <a:solidFill>
              <a:srgbClr val="BFBFBF"/>
            </a:solidFill>
            <a:prstDash val="dash"/>
          </a:ln>
        </p:spPr>
      </p:cxnSp>
      <p:cxnSp>
        <p:nvCxnSpPr>
          <p:cNvPr id="7" name="Connector 7"/>
          <p:cNvCxnSpPr/>
          <p:nvPr/>
        </p:nvCxnSpPr>
        <p:spPr>
          <a:xfrm>
            <a:off x="2331720" y="2395728"/>
            <a:ext cx="6035040" cy="0"/>
          </a:xfrm>
          <a:prstGeom prst="straightConnector1">
            <a:avLst/>
          </a:prstGeom>
          <a:ln w="25400">
            <a:solidFill>
              <a:srgbClr val="2F6FA8"/>
            </a:solidFill>
            <a:tailEnd type="triangle" w="med" len="med"/>
          </a:ln>
        </p:spPr>
      </p:cxnSp>
      <p:sp>
        <p:nvSpPr>
          <p:cNvPr id="8" name="TextBox 8"/>
          <p:cNvSpPr txBox="1"/>
          <p:nvPr/>
        </p:nvSpPr>
        <p:spPr>
          <a:xfrm>
            <a:off x="2468880" y="2029968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write x, w, b</a:t>
            </a:r>
            <a:r>
              <a:rPr lang="en-US" sz="1100" dirty="0">
                <a:solidFill>
                  <a:srgbClr val="6E6E6E"/>
                </a:solidFill>
              </a:rPr>
              <a:t>   ·   0x10, 0x18, 0x20</a:t>
            </a:r>
            <a:endParaRPr lang="en-US" sz="1300" dirty="0"/>
          </a:p>
        </p:txBody>
      </p:sp>
      <p:cxnSp>
        <p:nvCxnSpPr>
          <p:cNvPr id="9" name="Connector 9"/>
          <p:cNvCxnSpPr/>
          <p:nvPr/>
        </p:nvCxnSpPr>
        <p:spPr>
          <a:xfrm>
            <a:off x="2331720" y="2907792"/>
            <a:ext cx="6035040" cy="0"/>
          </a:xfrm>
          <a:prstGeom prst="straightConnector1">
            <a:avLst/>
          </a:prstGeom>
          <a:ln w="25400">
            <a:solidFill>
              <a:srgbClr val="2F6FA8"/>
            </a:solidFill>
            <a:tailEnd type="triangle" w="med" len="med"/>
          </a:ln>
        </p:spPr>
      </p:cxnSp>
      <p:sp>
        <p:nvSpPr>
          <p:cNvPr id="10" name="TextBox 10"/>
          <p:cNvSpPr txBox="1"/>
          <p:nvPr/>
        </p:nvSpPr>
        <p:spPr>
          <a:xfrm>
            <a:off x="2468880" y="2542032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write 1 to CTRL  — ap_start</a:t>
            </a:r>
            <a:r>
              <a:rPr lang="en-US" sz="1100" dirty="0">
                <a:solidFill>
                  <a:srgbClr val="6E6E6E"/>
                </a:solidFill>
              </a:rPr>
              <a:t>   ·   0x00</a:t>
            </a:r>
            <a:endParaRPr lang="en-US" sz="1300" dirty="0"/>
          </a:p>
        </p:txBody>
      </p:sp>
      <p:cxnSp>
        <p:nvCxnSpPr>
          <p:cNvPr id="11" name="Connector 11"/>
          <p:cNvCxnSpPr/>
          <p:nvPr/>
        </p:nvCxnSpPr>
        <p:spPr>
          <a:xfrm flipH="1">
            <a:off x="2331720" y="4078224"/>
            <a:ext cx="6035040" cy="0"/>
          </a:xfrm>
          <a:prstGeom prst="straightConnector1">
            <a:avLst/>
          </a:prstGeom>
          <a:ln w="25400">
            <a:solidFill>
              <a:srgbClr val="57068C"/>
            </a:solidFill>
            <a:tailEnd type="triangle" w="med" len="med"/>
          </a:ln>
        </p:spPr>
      </p:cxnSp>
      <p:sp>
        <p:nvSpPr>
          <p:cNvPr id="12" name="TextBox 12"/>
          <p:cNvSpPr txBox="1"/>
          <p:nvPr/>
        </p:nvSpPr>
        <p:spPr>
          <a:xfrm>
            <a:off x="2468880" y="3712464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ap_done set in CTRL</a:t>
            </a:r>
            <a:r>
              <a:rPr lang="en-US" sz="1100" dirty="0">
                <a:solidFill>
                  <a:srgbClr val="6E6E6E"/>
                </a:solidFill>
              </a:rPr>
              <a:t>   ·   optionally an interrupt</a:t>
            </a:r>
            <a:endParaRPr lang="en-US" sz="1300" dirty="0"/>
          </a:p>
        </p:txBody>
      </p:sp>
      <p:cxnSp>
        <p:nvCxnSpPr>
          <p:cNvPr id="13" name="Connector 13"/>
          <p:cNvCxnSpPr/>
          <p:nvPr/>
        </p:nvCxnSpPr>
        <p:spPr>
          <a:xfrm>
            <a:off x="2331720" y="4572000"/>
            <a:ext cx="6035040" cy="0"/>
          </a:xfrm>
          <a:prstGeom prst="straightConnector1">
            <a:avLst/>
          </a:prstGeom>
          <a:ln w="25400">
            <a:solidFill>
              <a:srgbClr val="2F6FA8"/>
            </a:solidFill>
            <a:tailEnd type="triangle" w="med" len="med"/>
          </a:ln>
        </p:spPr>
      </p:cxnSp>
      <p:sp>
        <p:nvSpPr>
          <p:cNvPr id="14" name="TextBox 14"/>
          <p:cNvSpPr txBox="1"/>
          <p:nvPr/>
        </p:nvSpPr>
        <p:spPr>
          <a:xfrm>
            <a:off x="2468880" y="4206240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read CTRL — poll for done</a:t>
            </a:r>
            <a:r>
              <a:rPr lang="en-US" sz="1100" dirty="0">
                <a:solidFill>
                  <a:srgbClr val="6E6E6E"/>
                </a:solidFill>
              </a:rPr>
              <a:t>   ·   0x00</a:t>
            </a:r>
            <a:endParaRPr lang="en-US" sz="1300" dirty="0"/>
          </a:p>
        </p:txBody>
      </p:sp>
      <p:cxnSp>
        <p:nvCxnSpPr>
          <p:cNvPr id="15" name="Connector 15"/>
          <p:cNvCxnSpPr/>
          <p:nvPr/>
        </p:nvCxnSpPr>
        <p:spPr>
          <a:xfrm flipH="1">
            <a:off x="2331720" y="5084064"/>
            <a:ext cx="6035040" cy="0"/>
          </a:xfrm>
          <a:prstGeom prst="straightConnector1">
            <a:avLst/>
          </a:prstGeom>
          <a:ln w="25400">
            <a:solidFill>
              <a:srgbClr val="57068C"/>
            </a:solidFill>
            <a:tailEnd type="triangle" w="med" len="med"/>
          </a:ln>
        </p:spPr>
      </p:cxnSp>
      <p:sp>
        <p:nvSpPr>
          <p:cNvPr id="16" name="TextBox 16"/>
          <p:cNvSpPr txBox="1"/>
          <p:nvPr/>
        </p:nvSpPr>
        <p:spPr>
          <a:xfrm>
            <a:off x="2468880" y="4718304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return y</a:t>
            </a:r>
            <a:r>
              <a:rPr lang="en-US" sz="1100" dirty="0">
                <a:solidFill>
                  <a:srgbClr val="6E6E6E"/>
                </a:solidFill>
              </a:rPr>
              <a:t>   ·   0x28</a:t>
            </a:r>
            <a:endParaRPr lang="en-US" sz="1300" dirty="0"/>
          </a:p>
        </p:txBody>
      </p:sp>
      <p:sp>
        <p:nvSpPr>
          <p:cNvPr id="17" name="Shape 17"/>
          <p:cNvSpPr/>
          <p:nvPr/>
        </p:nvSpPr>
        <p:spPr>
          <a:xfrm>
            <a:off x="8257032" y="3200400"/>
            <a:ext cx="1874520" cy="658368"/>
          </a:xfrm>
          <a:prstGeom prst="rect">
            <a:avLst/>
          </a:prstGeom>
          <a:solidFill>
            <a:srgbClr val="EEE6F3"/>
          </a:solidFill>
          <a:ln w="15875">
            <a:solidFill>
              <a:srgbClr val="57068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kernel runs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5 cycles</a:t>
            </a:r>
            <a:endParaRPr lang="en-US" sz="1100" dirty="0"/>
          </a:p>
        </p:txBody>
      </p:sp>
      <p:sp>
        <p:nvSpPr>
          <p:cNvPr id="18" name="TextBox 18"/>
          <p:cNvSpPr txBox="1"/>
          <p:nvPr/>
        </p:nvSpPr>
        <p:spPr>
          <a:xfrm>
            <a:off x="91440" y="3255264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100" dirty="0">
                <a:solidFill>
                  <a:srgbClr val="6E6E6E"/>
                </a:solidFill>
              </a:rPr>
              <a:t>processor waits,
or does something else</a:t>
            </a:r>
            <a:endParaRPr lang="en-US" sz="1100" dirty="0"/>
          </a:p>
        </p:txBody>
      </p:sp>
      <p:sp>
        <p:nvSpPr>
          <p:cNvPr id="19" name="Shape 19"/>
          <p:cNvSpPr/>
          <p:nvPr/>
        </p:nvSpPr>
        <p:spPr>
          <a:xfrm>
            <a:off x="685800" y="5541264"/>
            <a:ext cx="10789920" cy="420624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262626"/>
                </a:solidFill>
              </a:rPr>
              <a:t>Measured on the bus: </a:t>
            </a:r>
            <a:r>
              <a:rPr lang="en-US" sz="1400" b="1" dirty="0">
                <a:solidFill>
                  <a:srgbClr val="262626"/>
                </a:solidFill>
              </a:rPr>
              <a:t>4 writes and 2 reads</a:t>
            </a:r>
            <a:r>
              <a:rPr lang="en-US" sz="1400" dirty="0">
                <a:solidFill>
                  <a:srgbClr val="262626"/>
                </a:solidFill>
              </a:rPr>
              <a:t> per call, </a:t>
            </a:r>
            <a:r>
              <a:rPr lang="en-US" sz="1400" b="1" dirty="0">
                <a:solidFill>
                  <a:srgbClr val="262626"/>
                </a:solidFill>
              </a:rPr>
              <a:t>22 cycles</a:t>
            </a:r>
            <a:r>
              <a:rPr lang="en-US" sz="1400" dirty="0">
                <a:solidFill>
                  <a:srgbClr val="262626"/>
                </a:solidFill>
              </a:rPr>
              <a:t> of traffic for </a:t>
            </a:r>
            <a:r>
              <a:rPr lang="en-US" sz="1400" b="1" dirty="0">
                <a:solidFill>
                  <a:srgbClr val="262626"/>
                </a:solidFill>
              </a:rPr>
              <a:t>5 cycles</a:t>
            </a:r>
            <a:r>
              <a:rPr lang="en-US" sz="1400" dirty="0">
                <a:solidFill>
                  <a:srgbClr val="262626"/>
                </a:solidFill>
              </a:rPr>
              <a:t> of computation.</a:t>
            </a:r>
            <a:endParaRPr lang="en-US" sz="1400" dirty="0"/>
          </a:p>
        </p:txBody>
      </p:sp>
      <p:sp>
        <p:nvSpPr>
          <p:cNvPr id="20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49</a:t>
            </a:fld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Demo: a Scalar Function IP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335024"/>
            <a:ext cx="10789920" cy="694944"/>
          </a:xfrm>
          <a:prstGeom prst="roundRect">
            <a:avLst>
              <a:gd name="adj" fmla="val 16000"/>
            </a:avLst>
          </a:prstGeom>
          <a:solidFill>
            <a:srgbClr val="57068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sdrangan.github.io/hwdesign   —   Demos › Bus Basics and Memory-Mapped Interfaces</a:t>
            </a:r>
            <a:endParaRPr lang="en-US" sz="18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221284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RUN THE WHOLE FLOW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685800" y="2523744"/>
            <a:ext cx="5394960" cy="1783080"/>
          </a:xfrm>
          <a:prstGeom prst="rect">
            <a:avLst/>
          </a:prstGeom>
          <a:solidFill>
            <a:srgbClr val="F4F4F7"/>
          </a:solidFill>
          <a:ln w="12700">
            <a:solidFill>
              <a:srgbClr val="BFBFBF"/>
            </a:solidFill>
          </a:ln>
        </p:spPr>
        <p:txBody>
          <a:bodyPr wrap="square" lIns="146304" tIns="73152" rIns="146304" bIns="73152" rtlCol="0" anchor="t">
            <a:noAutofit/>
          </a:bodyPr>
          <a:lstStyle/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cd demos/scalar_fun/scalar_fun_vitis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python scalar_fun_build.py --list-steps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python scalar_fun_build.py --through verify_csim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python scalar_fun_build.py --through report</a:t>
            </a:r>
            <a:endParaRPr lang="en-US" sz="1200" dirty="0"/>
          </a:p>
        </p:txBody>
      </p:sp>
      <p:sp>
        <p:nvSpPr>
          <p:cNvPr id="6" name="TextBox 6"/>
          <p:cNvSpPr txBox="1"/>
          <p:nvPr/>
        </p:nvSpPr>
        <p:spPr>
          <a:xfrm>
            <a:off x="6355080" y="221284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WHAT TO WATCH FOR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6355080" y="2523744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Each step </a:t>
            </a:r>
            <a:r>
              <a:rPr lang="en-US" sz="1500" b="1" dirty="0">
                <a:solidFill>
                  <a:srgbClr val="262626"/>
                </a:solidFill>
              </a:rPr>
              <a:t>declares what it needs</a:t>
            </a:r>
            <a:r>
              <a:rPr lang="en-US" sz="1500" dirty="0">
                <a:solidFill>
                  <a:srgbClr val="262626"/>
                </a:solidFill>
              </a:rPr>
              <a:t> — the order is derived, not written down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A step whose inputs have not changed is </a:t>
            </a:r>
            <a:r>
              <a:rPr lang="en-US" sz="1500" b="1" dirty="0">
                <a:solidFill>
                  <a:srgbClr val="262626"/>
                </a:solidFill>
              </a:rPr>
              <a:t>skipped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The build </a:t>
            </a:r>
            <a:r>
              <a:rPr lang="en-US" sz="1500" b="1" dirty="0">
                <a:solidFill>
                  <a:srgbClr val="262626"/>
                </a:solidFill>
              </a:rPr>
              <a:t>refuses to synthesize</a:t>
            </a:r>
            <a:r>
              <a:rPr lang="en-US" sz="1500" dirty="0">
                <a:solidFill>
                  <a:srgbClr val="262626"/>
                </a:solidFill>
              </a:rPr>
              <a:t> code that failed its checks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Results are checked twice: after C simulation, and again against the </a:t>
            </a:r>
            <a:r>
              <a:rPr lang="en-US" sz="1500" b="1" dirty="0">
                <a:solidFill>
                  <a:srgbClr val="262626"/>
                </a:solidFill>
              </a:rPr>
              <a:t>synthesized RTL</a:t>
            </a:r>
            <a:endParaRPr lang="en-US" sz="1500" dirty="0"/>
          </a:p>
        </p:txBody>
      </p:sp>
      <p:sp>
        <p:nvSpPr>
          <p:cNvPr id="8" name="Shape 8"/>
          <p:cNvSpPr/>
          <p:nvPr/>
        </p:nvSpPr>
        <p:spPr>
          <a:xfrm>
            <a:off x="685800" y="4590288"/>
            <a:ext cx="10789920" cy="137160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219456" tIns="109728" rIns="219456" bIns="109728" rtlCol="0" anchor="ctr">
            <a:noAutofit/>
          </a:bodyPr>
          <a:lstStyle/>
          <a:p>
            <a:pPr algn="ctr"/>
            <a:r>
              <a:rPr lang="en-US" sz="1500" dirty="0">
                <a:solidFill>
                  <a:srgbClr val="262626"/>
                </a:solidFill>
              </a:rPr>
              <a:t>The demo ends with a timing diagram decoded from a real co-simulation — the processor writing x, w and b, starting the IP, polling for done, and reading y back.</a:t>
            </a:r>
            <a:endParaRPr lang="en-US" sz="1500" dirty="0"/>
          </a:p>
          <a:p>
            <a:pPr algn="ctr">
              <a:spcBef>
                <a:spcPts val="800"/>
              </a:spcBef>
            </a:pPr>
            <a:r>
              <a:rPr lang="en-US" sz="1400" b="1" dirty="0">
                <a:solidFill>
                  <a:srgbClr val="00857C"/>
                </a:solidFill>
              </a:rPr>
              <a:t>Everything on the next slide was measured from it.</a:t>
            </a:r>
            <a:endParaRPr lang="en-US" sz="1400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50</a:t>
            </a:fld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Waveflow: a Python Model First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44475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300" dirty="0">
                <a:solidFill>
                  <a:srgbClr val="6E6E6E"/>
                </a:solidFill>
              </a:rPr>
              <a:t>“From waveform to silicon — in Python.”  Describe the datapath once, simulate it fast and bit-exact, and generate the hardware from the same source.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868680" y="1901952"/>
            <a:ext cx="1874520" cy="640080"/>
          </a:xfrm>
          <a:prstGeom prst="roundRect">
            <a:avLst>
              <a:gd name="adj" fmla="val 12000"/>
            </a:avLst>
          </a:prstGeom>
          <a:solidFill>
            <a:srgbClr val="EEE6F3"/>
          </a:solidFill>
          <a:ln w="15875">
            <a:solidFill>
              <a:srgbClr val="D5C4E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HLS codegen</a:t>
            </a:r>
            <a:endParaRPr lang="en-US" sz="1300" dirty="0"/>
          </a:p>
          <a:p>
            <a:pPr algn="ctr"/>
            <a:r>
              <a:rPr lang="en-US" sz="1000" dirty="0">
                <a:solidFill>
                  <a:srgbClr val="6E6E6E"/>
                </a:solidFill>
              </a:rPr>
              <a:t>typed · generated</a:t>
            </a:r>
            <a:endParaRPr lang="en-US" sz="1000" dirty="0"/>
          </a:p>
        </p:txBody>
      </p:sp>
      <p:sp>
        <p:nvSpPr>
          <p:cNvPr id="5" name="Shape 5"/>
          <p:cNvSpPr/>
          <p:nvPr/>
        </p:nvSpPr>
        <p:spPr>
          <a:xfrm>
            <a:off x="3383280" y="1901952"/>
            <a:ext cx="1874520" cy="640080"/>
          </a:xfrm>
          <a:prstGeom prst="roundRect">
            <a:avLst>
              <a:gd name="adj" fmla="val 12000"/>
            </a:avLst>
          </a:prstGeom>
          <a:solidFill>
            <a:srgbClr val="EEE6F3"/>
          </a:solidFill>
          <a:ln w="15875">
            <a:solidFill>
              <a:srgbClr val="D5C4E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RTL synth / sim</a:t>
            </a:r>
            <a:endParaRPr lang="en-US" sz="1300" dirty="0"/>
          </a:p>
          <a:p>
            <a:pPr algn="ctr"/>
            <a:r>
              <a:rPr lang="en-US" sz="1000" dirty="0">
                <a:solidFill>
                  <a:srgbClr val="6E6E6E"/>
                </a:solidFill>
              </a:rPr>
              <a:t>slow · cycle-exact</a:t>
            </a:r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868680" y="3090672"/>
            <a:ext cx="1874520" cy="640080"/>
          </a:xfrm>
          <a:prstGeom prst="roundRect">
            <a:avLst>
              <a:gd name="adj" fmla="val 12000"/>
            </a:avLst>
          </a:prstGeom>
          <a:solidFill>
            <a:srgbClr val="DCEFEC"/>
          </a:solidFill>
          <a:ln w="15875">
            <a:solidFill>
              <a:srgbClr val="9FD3C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00857C"/>
                </a:solidFill>
              </a:rPr>
              <a:t>Python model</a:t>
            </a:r>
            <a:endParaRPr lang="en-US" sz="1300" dirty="0"/>
          </a:p>
          <a:p>
            <a:pPr algn="ctr"/>
            <a:r>
              <a:rPr lang="en-US" sz="1000" dirty="0">
                <a:solidFill>
                  <a:srgbClr val="6E6E6E"/>
                </a:solidFill>
              </a:rPr>
              <a:t>architecture · algorithm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3383280" y="3090672"/>
            <a:ext cx="1874520" cy="640080"/>
          </a:xfrm>
          <a:prstGeom prst="roundRect">
            <a:avLst>
              <a:gd name="adj" fmla="val 12000"/>
            </a:avLst>
          </a:prstGeom>
          <a:solidFill>
            <a:srgbClr val="DCEFEC"/>
          </a:solidFill>
          <a:ln w="15875">
            <a:solidFill>
              <a:srgbClr val="9FD3C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00857C"/>
                </a:solidFill>
              </a:rPr>
              <a:t>Python sim</a:t>
            </a:r>
            <a:endParaRPr lang="en-US" sz="1300" dirty="0"/>
          </a:p>
          <a:p>
            <a:pPr algn="ctr"/>
            <a:r>
              <a:rPr lang="en-US" sz="1000" dirty="0">
                <a:solidFill>
                  <a:srgbClr val="6E6E6E"/>
                </a:solidFill>
              </a:rPr>
              <a:t>fast · bit-exact</a:t>
            </a:r>
            <a:endParaRPr lang="en-US" sz="1000" dirty="0"/>
          </a:p>
        </p:txBody>
      </p:sp>
      <p:cxnSp>
        <p:nvCxnSpPr>
          <p:cNvPr id="8" name="Connector 8"/>
          <p:cNvCxnSpPr/>
          <p:nvPr/>
        </p:nvCxnSpPr>
        <p:spPr>
          <a:xfrm flipV="1">
            <a:off x="1805940" y="2578608"/>
            <a:ext cx="0" cy="475488"/>
          </a:xfrm>
          <a:prstGeom prst="straightConnector1">
            <a:avLst/>
          </a:prstGeom>
          <a:ln w="22225">
            <a:solidFill>
              <a:srgbClr val="57068C"/>
            </a:solidFill>
            <a:tailEnd type="triangle" w="med" len="med"/>
          </a:ln>
        </p:spPr>
      </p:cxnSp>
      <p:cxnSp>
        <p:nvCxnSpPr>
          <p:cNvPr id="9" name="Connector 9"/>
          <p:cNvCxnSpPr/>
          <p:nvPr/>
        </p:nvCxnSpPr>
        <p:spPr>
          <a:xfrm>
            <a:off x="2779776" y="2221992"/>
            <a:ext cx="566928" cy="0"/>
          </a:xfrm>
          <a:prstGeom prst="straightConnector1">
            <a:avLst/>
          </a:prstGeom>
          <a:ln w="22225">
            <a:solidFill>
              <a:srgbClr val="57068C"/>
            </a:solidFill>
            <a:tailEnd type="triangle" w="med" len="med"/>
          </a:ln>
        </p:spPr>
      </p:cxnSp>
      <p:cxnSp>
        <p:nvCxnSpPr>
          <p:cNvPr id="10" name="Connector 10"/>
          <p:cNvCxnSpPr/>
          <p:nvPr/>
        </p:nvCxnSpPr>
        <p:spPr>
          <a:xfrm>
            <a:off x="2779776" y="3410712"/>
            <a:ext cx="566928" cy="0"/>
          </a:xfrm>
          <a:prstGeom prst="straightConnector1">
            <a:avLst/>
          </a:prstGeom>
          <a:ln w="22225">
            <a:solidFill>
              <a:srgbClr val="00857C"/>
            </a:solidFill>
            <a:tailEnd type="triangle" w="med" len="med"/>
          </a:ln>
        </p:spPr>
      </p:cxnSp>
      <p:cxnSp>
        <p:nvCxnSpPr>
          <p:cNvPr id="11" name="Connector 11"/>
          <p:cNvCxnSpPr/>
          <p:nvPr/>
        </p:nvCxnSpPr>
        <p:spPr>
          <a:xfrm>
            <a:off x="4320540" y="3767328"/>
            <a:ext cx="0" cy="475488"/>
          </a:xfrm>
          <a:prstGeom prst="straightConnector1">
            <a:avLst/>
          </a:prstGeom>
          <a:ln w="22225">
            <a:solidFill>
              <a:srgbClr val="00857C"/>
            </a:solidFill>
            <a:tailEnd type="triangle" w="med" len="med"/>
          </a:ln>
        </p:spPr>
      </p:cxnSp>
      <p:sp>
        <p:nvSpPr>
          <p:cNvPr id="12" name="TextBox 12"/>
          <p:cNvSpPr txBox="1"/>
          <p:nvPr/>
        </p:nvSpPr>
        <p:spPr>
          <a:xfrm>
            <a:off x="4375404" y="382219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000" dirty="0">
                <a:solidFill>
                  <a:srgbClr val="00857C"/>
                </a:solidFill>
              </a:rPr>
              <a:t>fast loop</a:t>
            </a:r>
            <a:endParaRPr lang="en-US" sz="1000" dirty="0"/>
          </a:p>
        </p:txBody>
      </p:sp>
      <p:cxnSp>
        <p:nvCxnSpPr>
          <p:cNvPr id="13" name="Connector 13"/>
          <p:cNvCxnSpPr/>
          <p:nvPr/>
        </p:nvCxnSpPr>
        <p:spPr>
          <a:xfrm>
            <a:off x="5641848" y="2221992"/>
            <a:ext cx="0" cy="2020824"/>
          </a:xfrm>
          <a:prstGeom prst="straightConnector1">
            <a:avLst/>
          </a:prstGeom>
          <a:ln w="22225">
            <a:solidFill>
              <a:srgbClr val="2F6FA8"/>
            </a:solidFill>
            <a:tailEnd type="triangle" w="med" len="med"/>
          </a:ln>
        </p:spPr>
      </p:cxnSp>
      <p:sp>
        <p:nvSpPr>
          <p:cNvPr id="14" name="TextBox 14"/>
          <p:cNvSpPr txBox="1"/>
          <p:nvPr/>
        </p:nvSpPr>
        <p:spPr>
          <a:xfrm>
            <a:off x="5696712" y="281635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000" dirty="0">
                <a:solidFill>
                  <a:srgbClr val="2F6FA8"/>
                </a:solidFill>
              </a:rPr>
              <a:t>slow loop</a:t>
            </a:r>
            <a:endParaRPr lang="en-US" sz="1000" dirty="0"/>
          </a:p>
        </p:txBody>
      </p:sp>
      <p:cxnSp>
        <p:nvCxnSpPr>
          <p:cNvPr id="15" name="Connector 15"/>
          <p:cNvCxnSpPr/>
          <p:nvPr/>
        </p:nvCxnSpPr>
        <p:spPr>
          <a:xfrm flipV="1">
            <a:off x="1805940" y="3767328"/>
            <a:ext cx="0" cy="475488"/>
          </a:xfrm>
          <a:prstGeom prst="straightConnector1">
            <a:avLst/>
          </a:prstGeom>
          <a:ln w="22225">
            <a:solidFill>
              <a:srgbClr val="00857C"/>
            </a:solidFill>
            <a:tailEnd type="triangle" w="med" len="med"/>
          </a:ln>
        </p:spPr>
      </p:cxnSp>
      <p:sp>
        <p:nvSpPr>
          <p:cNvPr id="16" name="Shape 16"/>
          <p:cNvSpPr/>
          <p:nvPr/>
        </p:nvSpPr>
        <p:spPr>
          <a:xfrm>
            <a:off x="868680" y="4279392"/>
            <a:ext cx="4974336" cy="420624"/>
          </a:xfrm>
          <a:prstGeom prst="roundRect">
            <a:avLst>
              <a:gd name="adj" fmla="val 30000"/>
            </a:avLst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262626"/>
                </a:solidFill>
              </a:rPr>
              <a:t>design · verify · calibrate · iterate</a:t>
            </a:r>
            <a:endParaRPr lang="en-US" sz="1200" dirty="0"/>
          </a:p>
        </p:txBody>
      </p:sp>
      <p:sp>
        <p:nvSpPr>
          <p:cNvPr id="17" name="TextBox 17"/>
          <p:cNvSpPr txBox="1"/>
          <p:nvPr/>
        </p:nvSpPr>
        <p:spPr>
          <a:xfrm>
            <a:off x="6720840" y="184708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100" b="1" dirty="0">
                <a:solidFill>
                  <a:srgbClr val="6E6E6E"/>
                </a:solidFill>
              </a:rPr>
              <a:t>THE FLOW, FOR THIS SAME IP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6720840" y="2176272"/>
            <a:ext cx="310896" cy="310896"/>
          </a:xfrm>
          <a:prstGeom prst="ellipse">
            <a:avLst/>
          </a:prstGeom>
          <a:solidFill>
            <a:srgbClr val="57068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9" name="TextBox 19"/>
          <p:cNvSpPr txBox="1"/>
          <p:nvPr/>
        </p:nvSpPr>
        <p:spPr>
          <a:xfrm>
            <a:off x="7150608" y="213969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300" b="1" dirty="0">
                <a:solidFill>
                  <a:srgbClr val="262626"/>
                </a:solidFill>
              </a:rPr>
              <a:t>Model it in Python</a:t>
            </a:r>
            <a:endParaRPr lang="en-US" sz="1300" dirty="0"/>
          </a:p>
          <a:p>
            <a:r>
              <a:rPr lang="en-US" sz="1100" dirty="0">
                <a:solidFill>
                  <a:srgbClr val="6E6E6E"/>
                </a:solidFill>
              </a:rPr>
              <a:t>the kernel, and its registers as a </a:t>
            </a:r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VitisRegMap</a:t>
            </a:r>
            <a:endParaRPr lang="en-US" sz="1100" dirty="0"/>
          </a:p>
        </p:txBody>
      </p:sp>
      <p:sp>
        <p:nvSpPr>
          <p:cNvPr id="20" name="Shape 20"/>
          <p:cNvSpPr/>
          <p:nvPr/>
        </p:nvSpPr>
        <p:spPr>
          <a:xfrm>
            <a:off x="6720840" y="2743200"/>
            <a:ext cx="310896" cy="310896"/>
          </a:xfrm>
          <a:prstGeom prst="ellipse">
            <a:avLst/>
          </a:prstGeom>
          <a:solidFill>
            <a:srgbClr val="57068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Box 21"/>
          <p:cNvSpPr txBox="1"/>
          <p:nvPr/>
        </p:nvSpPr>
        <p:spPr>
          <a:xfrm>
            <a:off x="7150608" y="2706624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300" b="1" dirty="0">
                <a:solidFill>
                  <a:srgbClr val="262626"/>
                </a:solidFill>
              </a:rPr>
              <a:t>Simulate in Python</a:t>
            </a:r>
            <a:endParaRPr lang="en-US" sz="1300" dirty="0"/>
          </a:p>
          <a:p>
            <a:r>
              <a:rPr lang="en-US" sz="1100" dirty="0">
                <a:solidFill>
                  <a:srgbClr val="6E6E6E"/>
                </a:solidFill>
              </a:rPr>
              <a:t>function, and </a:t>
            </a:r>
            <a:r>
              <a:rPr lang="en-US" sz="1100" b="1" dirty="0">
                <a:solidFill>
                  <a:srgbClr val="6E6E6E"/>
                </a:solidFill>
              </a:rPr>
              <a:t>cycle-approximate</a:t>
            </a:r>
            <a:r>
              <a:rPr lang="en-US" sz="1100" dirty="0">
                <a:solidFill>
                  <a:srgbClr val="6E6E6E"/>
                </a:solidFill>
              </a:rPr>
              <a:t> timing</a:t>
            </a:r>
            <a:endParaRPr lang="en-US" sz="1100" dirty="0"/>
          </a:p>
        </p:txBody>
      </p:sp>
      <p:sp>
        <p:nvSpPr>
          <p:cNvPr id="22" name="Shape 22"/>
          <p:cNvSpPr/>
          <p:nvPr/>
        </p:nvSpPr>
        <p:spPr>
          <a:xfrm>
            <a:off x="6720840" y="3310128"/>
            <a:ext cx="310896" cy="310896"/>
          </a:xfrm>
          <a:prstGeom prst="ellipse">
            <a:avLst/>
          </a:prstGeom>
          <a:solidFill>
            <a:srgbClr val="57068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Box 23"/>
          <p:cNvSpPr txBox="1"/>
          <p:nvPr/>
        </p:nvSpPr>
        <p:spPr>
          <a:xfrm>
            <a:off x="7150608" y="3273552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300" b="1" dirty="0">
                <a:solidFill>
                  <a:srgbClr val="262626"/>
                </a:solidFill>
              </a:rPr>
              <a:t>Generate the Vitis C++</a:t>
            </a:r>
            <a:endParaRPr lang="en-US" sz="1300" dirty="0"/>
          </a:p>
          <a:p>
            <a:r>
              <a:rPr lang="en-US" sz="1100" dirty="0">
                <a:solidFill>
                  <a:srgbClr val="6E6E6E"/>
                </a:solidFill>
              </a:rPr>
              <a:t>kernel and testbench; you keep the compute hook</a:t>
            </a:r>
            <a:endParaRPr lang="en-US" sz="1100" dirty="0"/>
          </a:p>
        </p:txBody>
      </p:sp>
      <p:sp>
        <p:nvSpPr>
          <p:cNvPr id="24" name="Shape 24"/>
          <p:cNvSpPr/>
          <p:nvPr/>
        </p:nvSpPr>
        <p:spPr>
          <a:xfrm>
            <a:off x="6720840" y="3877056"/>
            <a:ext cx="310896" cy="310896"/>
          </a:xfrm>
          <a:prstGeom prst="ellipse">
            <a:avLst/>
          </a:prstGeom>
          <a:solidFill>
            <a:srgbClr val="57068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Box 25"/>
          <p:cNvSpPr txBox="1"/>
          <p:nvPr/>
        </p:nvSpPr>
        <p:spPr>
          <a:xfrm>
            <a:off x="7150608" y="384048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300" b="1" dirty="0">
                <a:solidFill>
                  <a:srgbClr val="262626"/>
                </a:solidFill>
              </a:rPr>
              <a:t>C-simulation checks function</a:t>
            </a:r>
            <a:endParaRPr lang="en-US" sz="1300" dirty="0"/>
          </a:p>
          <a:p>
            <a:r>
              <a:rPr lang="en-US" sz="1100" dirty="0">
                <a:solidFill>
                  <a:srgbClr val="6E6E6E"/>
                </a:solidFill>
              </a:rPr>
              <a:t>against the Python result</a:t>
            </a:r>
            <a:endParaRPr lang="en-US" sz="1100" dirty="0"/>
          </a:p>
        </p:txBody>
      </p:sp>
      <p:sp>
        <p:nvSpPr>
          <p:cNvPr id="26" name="Shape 26"/>
          <p:cNvSpPr/>
          <p:nvPr/>
        </p:nvSpPr>
        <p:spPr>
          <a:xfrm>
            <a:off x="6720840" y="4443984"/>
            <a:ext cx="310896" cy="310896"/>
          </a:xfrm>
          <a:prstGeom prst="ellipse">
            <a:avLst/>
          </a:prstGeom>
          <a:solidFill>
            <a:srgbClr val="57068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Box 27"/>
          <p:cNvSpPr txBox="1"/>
          <p:nvPr/>
        </p:nvSpPr>
        <p:spPr>
          <a:xfrm>
            <a:off x="7150608" y="440740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300" b="1" dirty="0">
                <a:solidFill>
                  <a:srgbClr val="262626"/>
                </a:solidFill>
              </a:rPr>
              <a:t>Co-simulation checks timing</a:t>
            </a:r>
            <a:endParaRPr lang="en-US" sz="1300" dirty="0"/>
          </a:p>
          <a:p>
            <a:r>
              <a:rPr lang="en-US" sz="1100" dirty="0">
                <a:solidFill>
                  <a:srgbClr val="6E6E6E"/>
                </a:solidFill>
              </a:rPr>
              <a:t>against the Python estimate</a:t>
            </a:r>
            <a:endParaRPr lang="en-US" sz="1100" dirty="0"/>
          </a:p>
        </p:txBody>
      </p:sp>
      <p:sp>
        <p:nvSpPr>
          <p:cNvPr id="28" name="Shape 28"/>
          <p:cNvSpPr/>
          <p:nvPr/>
        </p:nvSpPr>
        <p:spPr>
          <a:xfrm>
            <a:off x="685800" y="5230368"/>
            <a:ext cx="10698480" cy="566928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262626"/>
                </a:solidFill>
              </a:rPr>
              <a:t>You have already run part of it: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scalar_fun_build.py</a:t>
            </a:r>
            <a:r>
              <a:rPr lang="en-US" sz="1400" dirty="0">
                <a:solidFill>
                  <a:srgbClr val="262626"/>
                </a:solidFill>
              </a:rPr>
              <a:t> </a:t>
            </a:r>
            <a:r>
              <a:rPr lang="en-US" sz="1400" b="1" dirty="0">
                <a:solidFill>
                  <a:srgbClr val="262626"/>
                </a:solidFill>
              </a:rPr>
              <a:t>is</a:t>
            </a:r>
            <a:r>
              <a:rPr lang="en-US" sz="1400" dirty="0">
                <a:solidFill>
                  <a:srgbClr val="262626"/>
                </a:solidFill>
              </a:rPr>
              <a:t> a Waveflow build graph.  What is new above is the modelling layer.</a:t>
            </a:r>
            <a:endParaRPr lang="en-US" sz="1400" dirty="0"/>
          </a:p>
        </p:txBody>
      </p:sp>
      <p:sp>
        <p:nvSpPr>
          <p:cNvPr id="29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51</a:t>
            </a:fld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Waveflow vs. Native Vitis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517904"/>
            <a:ext cx="5212080" cy="512064"/>
          </a:xfrm>
          <a:prstGeom prst="roundRect">
            <a:avLst>
              <a:gd name="adj" fmla="val 14000"/>
            </a:avLst>
          </a:prstGeom>
          <a:solidFill>
            <a:srgbClr val="B4530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What it costs</a:t>
            </a:r>
            <a:endParaRPr lang="en-US" sz="1700" dirty="0"/>
          </a:p>
        </p:txBody>
      </p:sp>
      <p:sp>
        <p:nvSpPr>
          <p:cNvPr id="4" name="Shape 4"/>
          <p:cNvSpPr/>
          <p:nvPr/>
        </p:nvSpPr>
        <p:spPr>
          <a:xfrm>
            <a:off x="685800" y="2029968"/>
            <a:ext cx="5212080" cy="3017520"/>
          </a:xfrm>
          <a:prstGeom prst="rect">
            <a:avLst/>
          </a:prstGeom>
          <a:solidFill>
            <a:srgbClr val="FCEEE3"/>
          </a:solidFill>
          <a:ln w="12700">
            <a:solidFill>
              <a:srgbClr val="E7C3A6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5" name="TextBox 5"/>
          <p:cNvSpPr txBox="1"/>
          <p:nvPr/>
        </p:nvSpPr>
        <p:spPr>
          <a:xfrm>
            <a:off x="996696" y="2212848"/>
            <a:ext cx="4590288" cy="2651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B4530F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A </a:t>
            </a:r>
            <a:r>
              <a:rPr lang="en-US" sz="1400" b="1" dirty="0">
                <a:solidFill>
                  <a:srgbClr val="262626"/>
                </a:solidFill>
              </a:rPr>
              <a:t>Python layer</a:t>
            </a:r>
            <a:r>
              <a:rPr lang="en-US" sz="1400" dirty="0">
                <a:solidFill>
                  <a:srgbClr val="262626"/>
                </a:solidFill>
              </a:rPr>
              <a:t> between you and the tool — one more thing to learn, and to debug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B4530F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Its own vocabulary —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VitisRegMap</a:t>
            </a:r>
            <a:r>
              <a:rPr lang="en-US" sz="1400" dirty="0">
                <a:solidFill>
                  <a:srgbClr val="262626"/>
                </a:solidFill>
              </a:rPr>
              <a:t>,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HostActivated</a:t>
            </a:r>
            <a:r>
              <a:rPr lang="en-US" sz="1400" dirty="0">
                <a:solidFill>
                  <a:srgbClr val="262626"/>
                </a:solidFill>
              </a:rPr>
              <a:t>,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SeqTB</a:t>
            </a:r>
            <a:r>
              <a:rPr lang="en-US" sz="1400" dirty="0">
                <a:solidFill>
                  <a:srgbClr val="262626"/>
                </a:solidFill>
              </a:rPr>
              <a:t> — before you see any hardware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B4530F"/>
              </a:buClr>
              <a:buSzPct val="70000"/>
              <a:buFont typeface="Arial"/>
              <a:buChar char="▪"/>
            </a:pPr>
            <a:r>
              <a:rPr lang="en-US" sz="1400" b="1" dirty="0">
                <a:solidFill>
                  <a:srgbClr val="262626"/>
                </a:solidFill>
              </a:rPr>
              <a:t>Early-stage research software</a:t>
            </a:r>
            <a:r>
              <a:rPr lang="en-US" sz="1400" dirty="0">
                <a:solidFill>
                  <a:srgbClr val="262626"/>
                </a:solidFill>
              </a:rPr>
              <a:t>, by its own description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B4530F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Only the </a:t>
            </a:r>
            <a:r>
              <a:rPr lang="en-US" sz="1400" b="1" dirty="0">
                <a:solidFill>
                  <a:srgbClr val="262626"/>
                </a:solidFill>
              </a:rPr>
              <a:t>sequential</a:t>
            </a:r>
            <a:r>
              <a:rPr lang="en-US" sz="1400" dirty="0">
                <a:solidFill>
                  <a:srgbClr val="262626"/>
                </a:solidFill>
              </a:rPr>
              <a:t> testbench lowers to Vitis: a C++ testbench is one straight-line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main()</a:t>
            </a:r>
            <a:r>
              <a:rPr lang="en-US" sz="1400" dirty="0">
                <a:solidFill>
                  <a:srgbClr val="262626"/>
                </a:solidFill>
              </a:rPr>
              <a:t>, so a concurrent model has nothing to lower onto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6263640" y="1517904"/>
            <a:ext cx="5212080" cy="512064"/>
          </a:xfrm>
          <a:prstGeom prst="roundRect">
            <a:avLst>
              <a:gd name="adj" fmla="val 14000"/>
            </a:avLst>
          </a:prstGeom>
          <a:solidFill>
            <a:srgbClr val="00857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What it buys</a:t>
            </a:r>
            <a:endParaRPr lang="en-US" sz="1700" dirty="0"/>
          </a:p>
        </p:txBody>
      </p:sp>
      <p:sp>
        <p:nvSpPr>
          <p:cNvPr id="7" name="Shape 7"/>
          <p:cNvSpPr/>
          <p:nvPr/>
        </p:nvSpPr>
        <p:spPr>
          <a:xfrm>
            <a:off x="6263640" y="2029968"/>
            <a:ext cx="5212080" cy="301752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endParaRPr lang="en-US" sz="1000" dirty="0"/>
          </a:p>
        </p:txBody>
      </p:sp>
      <p:sp>
        <p:nvSpPr>
          <p:cNvPr id="8" name="TextBox 8"/>
          <p:cNvSpPr txBox="1"/>
          <p:nvPr/>
        </p:nvSpPr>
        <p:spPr>
          <a:xfrm>
            <a:off x="6574536" y="2212848"/>
            <a:ext cx="4590288" cy="2651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00857C"/>
              </a:buClr>
              <a:buSzPct val="70000"/>
              <a:buFont typeface="Arial"/>
              <a:buChar char="▪"/>
            </a:pPr>
            <a:r>
              <a:rPr lang="en-US" sz="1400" b="1" dirty="0">
                <a:solidFill>
                  <a:srgbClr val="262626"/>
                </a:solidFill>
              </a:rPr>
              <a:t>One source of truth</a:t>
            </a:r>
            <a:r>
              <a:rPr lang="en-US" sz="1400" dirty="0">
                <a:solidFill>
                  <a:srgbClr val="262626"/>
                </a:solidFill>
              </a:rPr>
              <a:t> — simulation, generated C++ and the register map all come from the same Python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00857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A model you can </a:t>
            </a:r>
            <a:r>
              <a:rPr lang="en-US" sz="1400" b="1" dirty="0">
                <a:solidFill>
                  <a:srgbClr val="262626"/>
                </a:solidFill>
              </a:rPr>
              <a:t>explore in seconds</a:t>
            </a:r>
            <a:r>
              <a:rPr lang="en-US" sz="1400" dirty="0">
                <a:solidFill>
                  <a:srgbClr val="262626"/>
                </a:solidFill>
              </a:rPr>
              <a:t>, instead of minutes of synthesis per idea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00857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The build </a:t>
            </a:r>
            <a:r>
              <a:rPr lang="en-US" sz="1400" b="1" dirty="0">
                <a:solidFill>
                  <a:srgbClr val="262626"/>
                </a:solidFill>
              </a:rPr>
              <a:t>checks itself</a:t>
            </a:r>
            <a:r>
              <a:rPr lang="en-US" sz="1400" dirty="0">
                <a:solidFill>
                  <a:srgbClr val="262626"/>
                </a:solidFill>
              </a:rPr>
              <a:t>: the Python result is the golden the C-simulation is graded against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00857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Timing you can </a:t>
            </a:r>
            <a:r>
              <a:rPr lang="en-US" sz="1400" b="1" dirty="0">
                <a:solidFill>
                  <a:srgbClr val="262626"/>
                </a:solidFill>
              </a:rPr>
              <a:t>trust before synthesis</a:t>
            </a:r>
            <a:r>
              <a:rPr lang="en-US" sz="1400" dirty="0">
                <a:solidFill>
                  <a:srgbClr val="262626"/>
                </a:solidFill>
              </a:rPr>
              <a:t>, because the estimate is checked against measured cycles</a:t>
            </a:r>
            <a:endParaRPr lang="en-US" sz="1400" dirty="0"/>
          </a:p>
        </p:txBody>
      </p:sp>
      <p:sp>
        <p:nvSpPr>
          <p:cNvPr id="9" name="Shape 9"/>
          <p:cNvSpPr/>
          <p:nvPr/>
        </p:nvSpPr>
        <p:spPr>
          <a:xfrm>
            <a:off x="685800" y="5138928"/>
            <a:ext cx="10789920" cy="841248"/>
          </a:xfrm>
          <a:prstGeom prst="rect">
            <a:avLst/>
          </a:prstGeom>
          <a:solidFill>
            <a:srgbClr val="EEE6F3"/>
          </a:solidFill>
          <a:ln w="15875">
            <a:solidFill>
              <a:srgbClr val="57068C"/>
            </a:solidFill>
          </a:ln>
        </p:spPr>
        <p:txBody>
          <a:bodyPr wrap="square" lIns="219456" tIns="109728" rIns="219456" bIns="109728" rtlCol="0" anchor="ctr">
            <a:noAutofit/>
          </a:bodyPr>
          <a:lstStyle/>
          <a:p>
            <a:pPr algn="ctr"/>
            <a:r>
              <a:rPr lang="en-US" sz="1500" dirty="0">
                <a:solidFill>
                  <a:srgbClr val="262626"/>
                </a:solidFill>
              </a:rPr>
              <a:t>For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scalar_fun</a:t>
            </a:r>
            <a:r>
              <a:rPr lang="en-US" sz="1500" dirty="0">
                <a:solidFill>
                  <a:srgbClr val="262626"/>
                </a:solidFill>
              </a:rPr>
              <a:t>, </a:t>
            </a:r>
            <a:r>
              <a:rPr lang="en-US" sz="1500" b="1" dirty="0">
                <a:solidFill>
                  <a:srgbClr val="262626"/>
                </a:solidFill>
              </a:rPr>
              <a:t>nothing</a:t>
            </a:r>
            <a:r>
              <a:rPr lang="en-US" sz="1500" dirty="0">
                <a:solidFill>
                  <a:srgbClr val="262626"/>
                </a:solidFill>
              </a:rPr>
              <a:t> — the kernel is four lines, and a model of it is pure overhead.</a:t>
            </a:r>
            <a:endParaRPr lang="en-US" sz="1500" dirty="0"/>
          </a:p>
          <a:p>
            <a:pPr algn="ctr">
              <a:spcBef>
                <a:spcPts val="600"/>
              </a:spcBef>
            </a:pPr>
            <a:r>
              <a:rPr lang="en-US" sz="1400" b="1" dirty="0">
                <a:solidFill>
                  <a:srgbClr val="57068C"/>
                </a:solidFill>
              </a:rPr>
              <a:t>The payoff starts when the algorithm is worth exploring before it is worth synthesizing.  sdrangan.github.io/waveflow</a:t>
            </a:r>
            <a:endParaRPr lang="en-US" sz="1400" dirty="0"/>
          </a:p>
        </p:txBody>
      </p:sp>
      <p:sp>
        <p:nvSpPr>
          <p:cNvPr id="10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52</a:t>
            </a:fld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AXI4-Lite for Data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481328"/>
            <a:ext cx="34290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6FA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3000" b="1" dirty="0">
                <a:solidFill>
                  <a:srgbClr val="2F6FA8"/>
                </a:solidFill>
              </a:rPr>
              <a:t>22</a:t>
            </a:r>
            <a:endParaRPr lang="en-US" sz="30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cycles of bus traffic
per call</a:t>
            </a:r>
            <a:endParaRPr lang="en-US" sz="1200" dirty="0"/>
          </a:p>
        </p:txBody>
      </p:sp>
      <p:sp>
        <p:nvSpPr>
          <p:cNvPr id="4" name="Shape 4"/>
          <p:cNvSpPr/>
          <p:nvPr/>
        </p:nvSpPr>
        <p:spPr>
          <a:xfrm>
            <a:off x="4315968" y="1481328"/>
            <a:ext cx="34290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7068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3000" b="1" dirty="0">
                <a:solidFill>
                  <a:srgbClr val="57068C"/>
                </a:solidFill>
              </a:rPr>
              <a:t>5</a:t>
            </a:r>
            <a:endParaRPr lang="en-US" sz="30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cycles of actual
computation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7946136" y="1481328"/>
            <a:ext cx="34290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4530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3000" b="1" dirty="0">
                <a:solidFill>
                  <a:srgbClr val="B4530F"/>
                </a:solidFill>
              </a:rPr>
              <a:t>3.7 M</a:t>
            </a:r>
            <a:endParaRPr lang="en-US" sz="30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calls/s — one DSP
does 100 M MAC/s</a:t>
            </a:r>
            <a:endParaRPr lang="en-US" sz="1200" dirty="0"/>
          </a:p>
        </p:txBody>
      </p:sp>
      <p:sp>
        <p:nvSpPr>
          <p:cNvPr id="6" name="TextBox 6"/>
          <p:cNvSpPr txBox="1"/>
          <p:nvPr/>
        </p:nvSpPr>
        <p:spPr>
          <a:xfrm>
            <a:off x="685800" y="27432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IT IS SLOW TO MOVE EACH VALUE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3054096"/>
            <a:ext cx="5394960" cy="1920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b="1" dirty="0">
                <a:solidFill>
                  <a:srgbClr val="262626"/>
                </a:solidFill>
              </a:rPr>
              <a:t>Four writes and two reads</a:t>
            </a:r>
            <a:r>
              <a:rPr lang="en-US" sz="1500" dirty="0">
                <a:solidFill>
                  <a:srgbClr val="262626"/>
                </a:solidFill>
              </a:rPr>
              <a:t> to deliver 3 values and collect 1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About </a:t>
            </a:r>
            <a:r>
              <a:rPr lang="en-US" sz="1500" b="1" dirty="0">
                <a:solidFill>
                  <a:srgbClr val="262626"/>
                </a:solidFill>
              </a:rPr>
              <a:t>3 cycles</a:t>
            </a:r>
            <a:r>
              <a:rPr lang="en-US" sz="1500" dirty="0">
                <a:solidFill>
                  <a:srgbClr val="262626"/>
                </a:solidFill>
              </a:rPr>
              <a:t> per register transfer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The bus cost does </a:t>
            </a:r>
            <a:r>
              <a:rPr lang="en-US" sz="1500" b="1" dirty="0">
                <a:solidFill>
                  <a:srgbClr val="262626"/>
                </a:solidFill>
              </a:rPr>
              <a:t>not shrink</a:t>
            </a:r>
            <a:r>
              <a:rPr lang="en-US" sz="1500" dirty="0">
                <a:solidFill>
                  <a:srgbClr val="262626"/>
                </a:solidFill>
              </a:rPr>
              <a:t> if the kernel gets cleverer — here the interface dominates completely</a:t>
            </a:r>
            <a:endParaRPr lang="en-US" sz="1500" dirty="0"/>
          </a:p>
        </p:txBody>
      </p:sp>
      <p:sp>
        <p:nvSpPr>
          <p:cNvPr id="8" name="TextBox 8"/>
          <p:cNvSpPr txBox="1"/>
          <p:nvPr/>
        </p:nvSpPr>
        <p:spPr>
          <a:xfrm>
            <a:off x="6355080" y="27432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THE PROCESSOR MUST POLL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6355080" y="3054096"/>
            <a:ext cx="5120640" cy="1920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The host cannot know when the IP is done — it </a:t>
            </a:r>
            <a:r>
              <a:rPr lang="en-US" sz="1500" b="1" dirty="0">
                <a:solidFill>
                  <a:srgbClr val="262626"/>
                </a:solidFill>
              </a:rPr>
              <a:t>asks, repeatedly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Each poll is a full AXI4-Lite read transaction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Interrupts avoid the spinning, but cost a context switch — more than a 5-cycle kernel is worth</a:t>
            </a:r>
            <a:endParaRPr lang="en-US" sz="1500" dirty="0"/>
          </a:p>
        </p:txBody>
      </p:sp>
      <p:sp>
        <p:nvSpPr>
          <p:cNvPr id="10" name="Shape 10"/>
          <p:cNvSpPr/>
          <p:nvPr/>
        </p:nvSpPr>
        <p:spPr>
          <a:xfrm>
            <a:off x="685800" y="5102352"/>
            <a:ext cx="10789920" cy="868680"/>
          </a:xfrm>
          <a:prstGeom prst="rect">
            <a:avLst/>
          </a:prstGeom>
          <a:solidFill>
            <a:srgbClr val="EEE6F3"/>
          </a:solidFill>
          <a:ln w="15875">
            <a:solidFill>
              <a:srgbClr val="57068C"/>
            </a:solidFill>
          </a:ln>
        </p:spPr>
        <p:txBody>
          <a:bodyPr wrap="square" lIns="219456" tIns="109728" rIns="219456" bIns="109728" rtlCol="0" anchor="ctr">
            <a:noAutofit/>
          </a:bodyPr>
          <a:lstStyle/>
          <a:p>
            <a:pPr algn="ctr"/>
            <a:r>
              <a:rPr lang="en-US" sz="1500" dirty="0">
                <a:solidFill>
                  <a:srgbClr val="262626"/>
                </a:solidFill>
              </a:rPr>
              <a:t>AXI4-Lite is not the problem — using a </a:t>
            </a:r>
            <a:r>
              <a:rPr lang="en-US" sz="1500" b="1" dirty="0">
                <a:solidFill>
                  <a:srgbClr val="262626"/>
                </a:solidFill>
              </a:rPr>
              <a:t>control</a:t>
            </a:r>
            <a:r>
              <a:rPr lang="en-US" sz="1500" dirty="0">
                <a:solidFill>
                  <a:srgbClr val="262626"/>
                </a:solidFill>
              </a:rPr>
              <a:t> interface as a </a:t>
            </a:r>
            <a:r>
              <a:rPr lang="en-US" sz="1500" b="1" dirty="0">
                <a:solidFill>
                  <a:srgbClr val="262626"/>
                </a:solidFill>
              </a:rPr>
              <a:t>data</a:t>
            </a:r>
            <a:r>
              <a:rPr lang="en-US" sz="1500" dirty="0">
                <a:solidFill>
                  <a:srgbClr val="262626"/>
                </a:solidFill>
              </a:rPr>
              <a:t> interface is.</a:t>
            </a:r>
            <a:endParaRPr lang="en-US" sz="1500" dirty="0"/>
          </a:p>
          <a:p>
            <a:pPr algn="ctr">
              <a:spcBef>
                <a:spcPts val="600"/>
              </a:spcBef>
            </a:pPr>
            <a:r>
              <a:rPr lang="en-US" sz="1500" b="1" dirty="0">
                <a:solidFill>
                  <a:srgbClr val="57068C"/>
                </a:solidFill>
              </a:rPr>
              <a:t>Next: AXI4-Stream — one transfer per cycle, no addresses, and the processor out of the inner loop.</a:t>
            </a:r>
            <a:endParaRPr lang="en-US" sz="1500" dirty="0"/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57068C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23086</TotalTime>
  <Words>5326</Words>
  <Application>Microsoft Office PowerPoint</Application>
  <PresentationFormat>Widescreen</PresentationFormat>
  <Paragraphs>974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Cambria Math</vt:lpstr>
      <vt:lpstr>Consolas</vt:lpstr>
      <vt:lpstr>Wingdings</vt:lpstr>
      <vt:lpstr>Retrospect</vt:lpstr>
      <vt:lpstr>Unit 4  Memory and Basic Processor Interfaces</vt:lpstr>
      <vt:lpstr>Learning Objectives</vt:lpstr>
      <vt:lpstr>Outline</vt:lpstr>
      <vt:lpstr>Addressable Memory</vt:lpstr>
      <vt:lpstr>Byte vs. Word Addressing</vt:lpstr>
      <vt:lpstr>Byte and Word Addresses</vt:lpstr>
      <vt:lpstr>Byte and Word Addresses</vt:lpstr>
      <vt:lpstr>Sequential vs Random Access</vt:lpstr>
      <vt:lpstr>Typical RAM Architecture</vt:lpstr>
      <vt:lpstr>Bus</vt:lpstr>
      <vt:lpstr>Address Maps</vt:lpstr>
      <vt:lpstr>Global and Local Addresses</vt:lpstr>
      <vt:lpstr>Global and Local Addresses</vt:lpstr>
      <vt:lpstr>High Impedance</vt:lpstr>
      <vt:lpstr>High Impedance on a Data Bus</vt:lpstr>
      <vt:lpstr>External vs. Internal Memory</vt:lpstr>
      <vt:lpstr>External vs. Internal Compared</vt:lpstr>
      <vt:lpstr>Example On-Chip Memory Sizes</vt:lpstr>
      <vt:lpstr>Example: Video</vt:lpstr>
      <vt:lpstr>Registers vs. Bulk Storage</vt:lpstr>
      <vt:lpstr>Memory-Mapped Storage</vt:lpstr>
      <vt:lpstr>Example: The Cubic IP</vt:lpstr>
      <vt:lpstr>Register Maps</vt:lpstr>
      <vt:lpstr>Register Map of the Cubic IP</vt:lpstr>
      <vt:lpstr>Register Map of the Cubic IP</vt:lpstr>
      <vt:lpstr>Where Does Each Value Live?</vt:lpstr>
      <vt:lpstr>Outline</vt:lpstr>
      <vt:lpstr>AXI4-Lite Protocol</vt:lpstr>
      <vt:lpstr>AXI4-Lite Use Case:  Processor to Hardware IP</vt:lpstr>
      <vt:lpstr>Managers and Subordinates</vt:lpstr>
      <vt:lpstr>Review:  AXI4-Lite Write Protocol</vt:lpstr>
      <vt:lpstr>Example AXI4-Lite Write</vt:lpstr>
      <vt:lpstr>Example AXI4-Lite Write With Stall</vt:lpstr>
      <vt:lpstr>Read the Timing Diagram</vt:lpstr>
      <vt:lpstr>Theoretical Optimal Write Throughput</vt:lpstr>
      <vt:lpstr>Practical AXI4-Lite Latency</vt:lpstr>
      <vt:lpstr>AXI4-Lite Read Protocol</vt:lpstr>
      <vt:lpstr>Example Read Timing</vt:lpstr>
      <vt:lpstr>Theoretical Optimal Read Throughput</vt:lpstr>
      <vt:lpstr>Outline</vt:lpstr>
      <vt:lpstr>Example:  Connecting a Simple IP </vt:lpstr>
      <vt:lpstr>HLS vs. RTL</vt:lpstr>
      <vt:lpstr>HLS vs. RTL Design Flow</vt:lpstr>
      <vt:lpstr>Bad vs. Good HLS Code</vt:lpstr>
      <vt:lpstr>Vitis HLS</vt:lpstr>
      <vt:lpstr>FPGA Board Components</vt:lpstr>
      <vt:lpstr>Target Architecture</vt:lpstr>
      <vt:lpstr>Vitis Kernel Types</vt:lpstr>
      <vt:lpstr>Host-Activated Execution Model</vt:lpstr>
      <vt:lpstr>The Demo: a Scalar Function IP</vt:lpstr>
      <vt:lpstr>Waveflow: a Python Model First</vt:lpstr>
      <vt:lpstr>Waveflow vs. Native Vitis</vt:lpstr>
      <vt:lpstr>Limitations of AXI4-Lite for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537</cp:revision>
  <cp:lastPrinted>2018-09-04T19:00:14Z</cp:lastPrinted>
  <dcterms:created xsi:type="dcterms:W3CDTF">2015-03-22T11:15:32Z</dcterms:created>
  <dcterms:modified xsi:type="dcterms:W3CDTF">2026-09-29T13:37:32Z</dcterms:modified>
</cp:coreProperties>
</file>