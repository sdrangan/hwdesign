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8" r:id="rId2"/>
    <p:sldId id="271" r:id="rId3"/>
    <p:sldId id="297" r:id="rId4"/>
    <p:sldId id="276" r:id="rId5"/>
    <p:sldId id="325" r:id="rId55"/>
    <p:sldId id="326" r:id="rId56"/>
    <p:sldId id="327" r:id="rId57"/>
    <p:sldId id="291" r:id="rId6"/>
    <p:sldId id="277" r:id="rId7"/>
    <p:sldId id="280" r:id="rId8"/>
    <p:sldId id="328" r:id="rId58"/>
    <p:sldId id="329" r:id="rId59"/>
    <p:sldId id="330" r:id="rId60"/>
    <p:sldId id="281" r:id="rId9"/>
    <p:sldId id="278" r:id="rId10"/>
    <p:sldId id="283" r:id="rId11"/>
    <p:sldId id="284" r:id="rId12"/>
    <p:sldId id="285" r:id="rId13"/>
    <p:sldId id="286" r:id="rId14"/>
    <p:sldId id="290" r:id="rId15"/>
    <p:sldId id="288" r:id="rId16"/>
    <p:sldId id="289" r:id="rId17"/>
    <p:sldId id="331" r:id="rId61"/>
    <p:sldId id="332" r:id="rId62"/>
    <p:sldId id="333" r:id="rId63"/>
    <p:sldId id="334" r:id="rId64"/>
    <p:sldId id="298" r:id="rId18"/>
    <p:sldId id="293" r:id="rId19"/>
    <p:sldId id="294" r:id="rId20"/>
    <p:sldId id="295" r:id="rId21"/>
    <p:sldId id="296" r:id="rId22"/>
    <p:sldId id="292" r:id="rId23"/>
    <p:sldId id="300" r:id="rId24"/>
    <p:sldId id="301" r:id="rId25"/>
    <p:sldId id="302" r:id="rId26"/>
    <p:sldId id="303" r:id="rId27"/>
    <p:sldId id="304" r:id="rId28"/>
    <p:sldId id="305" r:id="rId29"/>
    <p:sldId id="299" r:id="rId30"/>
    <p:sldId id="310" r:id="rId31"/>
    <p:sldId id="306" r:id="rId32"/>
    <p:sldId id="308" r:id="rId33"/>
    <p:sldId id="312" r:id="rId34"/>
    <p:sldId id="307" r:id="rId35"/>
    <p:sldId id="311" r:id="rId36"/>
    <p:sldId id="309" r:id="rId37"/>
    <p:sldId id="313" r:id="rId38"/>
    <p:sldId id="314" r:id="rId39"/>
    <p:sldId id="315" r:id="rId40"/>
    <p:sldId id="316" r:id="rId41"/>
    <p:sldId id="317" r:id="rId42"/>
    <p:sldId id="319" r:id="rId43"/>
    <p:sldId id="320" r:id="rId44"/>
    <p:sldId id="318" r:id="rId45"/>
    <p:sldId id="321" r:id="rId46"/>
    <p:sldId id="322" r:id="rId47"/>
    <p:sldId id="323" r:id="rId48"/>
    <p:sldId id="324" r:id="rId49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2278F"/>
    <a:srgbClr val="E3DFF7"/>
    <a:srgbClr val="EAE5EB"/>
    <a:srgbClr val="DEE6F8"/>
    <a:srgbClr val="E0F8E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8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  <Relationship Id="rId55" Type="http://schemas.openxmlformats.org/officeDocument/2006/relationships/slide" Target="slides/slide49.xml"/>
  <Relationship Id="rId56" Type="http://schemas.openxmlformats.org/officeDocument/2006/relationships/slide" Target="slides/slide50.xml"/>
  <Relationship Id="rId57" Type="http://schemas.openxmlformats.org/officeDocument/2006/relationships/slide" Target="slides/slide51.xml"/>
  <Relationship Id="rId58" Type="http://schemas.openxmlformats.org/officeDocument/2006/relationships/slide" Target="slides/slide52.xml"/>
  <Relationship Id="rId59" Type="http://schemas.openxmlformats.org/officeDocument/2006/relationships/slide" Target="slides/slide53.xml"/>
  <Relationship Id="rId60" Type="http://schemas.openxmlformats.org/officeDocument/2006/relationships/slide" Target="slides/slide54.xml"/>
  <Relationship Id="rId61" Type="http://schemas.openxmlformats.org/officeDocument/2006/relationships/slide" Target="slides/slide55.xml"/>
  <Relationship Id="rId62" Type="http://schemas.openxmlformats.org/officeDocument/2006/relationships/slide" Target="slides/slide56.xml"/>
  <Relationship Id="rId63" Type="http://schemas.openxmlformats.org/officeDocument/2006/relationships/slide" Target="slides/slide57.xml"/>
  <Relationship Id="rId64" Type="http://schemas.openxmlformats.org/officeDocument/2006/relationships/slide" Target="slides/slide58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4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ecoder/xilinxzynq7000ec/ug/communicating-with-the-fpga-ip-core-on-the-xilinx-zynq-7000-platform-using-axi4-lite-protocol.html" TargetMode="Externa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4.png"/><Relationship Id="rId7" Type="http://schemas.openxmlformats.org/officeDocument/2006/relationships/image" Target="../media/image6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4 </a:t>
            </a:r>
            <a:br>
              <a:rPr lang="en-US" sz="6600" dirty="0"/>
            </a:br>
            <a:r>
              <a:rPr lang="en-US" sz="6600" dirty="0"/>
              <a:t>Memory and Basic Processor Interfaces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97280" y="1645920"/>
          <a:ext cx="1005840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6160"/>
                <a:gridCol w="6492240"/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You will be able to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Size memory for a data stream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Compute data rate, capacity and the number of memories, and choose registers, block memory or external memory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Compute memory addresses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Convert between word and byte addresses, split a global address into a local one, and lay out a register map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Identify bus master and slave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Say which party initiates a transaction, whichever way the data flows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Time a valid/ready handshake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Work out the cycle a transfer happens on, including when the receiver is busy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Analyze AXI4-Lite transactions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Time reads and writes across the AW, W, B, AR and R channels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Build an IP with AXI4-Lite registers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Write the Vitis HLS signature and s_axilite pragmas, and state the registers they produce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Determine the limiting resource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Compare the time spent moving data against the time spent computing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97280" y="5440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Each skill is assessed by problems in the LLM grader.</a:t>
            </a:r>
            <a:endParaRPr lang="en-US" sz="12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AXI4-Lite</a:t>
            </a:r>
          </a:p>
          <a:p>
            <a:r>
              <a:rPr lang="en-US" sz="2400" dirty="0"/>
              <a:t>Implementing AXI4-Lite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1287-0232-9A94-C28C-74572E22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Addressable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An array of </a:t>
                </a:r>
                <a:r>
                  <a:rPr lang="en-US" dirty="0">
                    <a:solidFill>
                      <a:srgbClr val="57068C"/>
                    </a:solidFill>
                  </a:rPr>
                  <a:t>elements</a:t>
                </a:r>
                <a:r>
                  <a:rPr lang="en-US" dirty="0"/>
                  <a:t> in storage</a:t>
                </a:r>
              </a:p>
              <a:p>
                <a:pPr lvl="1"/>
                <a:r>
                  <a:rPr lang="en-US" dirty="0"/>
                  <a:t>Use for vectors, matrices, packets, data, …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Word</a:t>
                </a:r>
                <a:r>
                  <a:rPr lang="en-US" dirty="0"/>
                  <a:t>:  Each data element</a:t>
                </a:r>
              </a:p>
              <a:p>
                <a:pPr lvl="1"/>
                <a:r>
                  <a:rPr lang="en-US" dirty="0"/>
                  <a:t>Typically, has </a:t>
                </a:r>
                <a:r>
                  <a:rPr lang="en-US" dirty="0">
                    <a:solidFill>
                      <a:srgbClr val="57068C"/>
                    </a:solidFill>
                  </a:rPr>
                  <a:t>word</a:t>
                </a:r>
                <a:r>
                  <a:rPr lang="en-US" dirty="0"/>
                  <a:t> / </a:t>
                </a:r>
                <a:r>
                  <a:rPr lang="en-US" dirty="0">
                    <a:solidFill>
                      <a:srgbClr val="57068C"/>
                    </a:solidFill>
                  </a:rPr>
                  <a:t>data width </a:t>
                </a:r>
                <a:r>
                  <a:rPr lang="en-US" dirty="0"/>
                  <a:t>= 32 or 64 bits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Memory depth</a:t>
                </a:r>
                <a:r>
                  <a:rPr lang="en-US" dirty="0"/>
                  <a:t> = number of words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Memory size</a:t>
                </a:r>
                <a:r>
                  <a:rPr lang="en-US" dirty="0"/>
                  <a:t>=depth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word width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Address</a:t>
                </a:r>
                <a:r>
                  <a:rPr lang="en-US" dirty="0"/>
                  <a:t>:  A location of a word</a:t>
                </a:r>
              </a:p>
              <a:p>
                <a:pPr lvl="1"/>
                <a:r>
                  <a:rPr lang="en-US" dirty="0"/>
                  <a:t>Often byte-addressable</a:t>
                </a:r>
              </a:p>
              <a:p>
                <a:pPr lvl="1"/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byte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when word width=32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  <a:blipFill>
                <a:blip r:embed="rId2"/>
                <a:stretch>
                  <a:fillRect l="-2685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A085-3885-EAA3-78DD-905AF0DC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7360920" y="1965960"/>
          <a:ext cx="3749040" cy="24140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/>
                <a:gridCol w="2286000"/>
              </a:tblGrid>
              <a:tr h="4023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Byte address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Word 0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Word 1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Word 2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⋮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⋮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4(𝑁−1)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Word 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  <a:latin typeface="Cambria Math"/>
                        </a:rPr>
                        <a:t>𝑁−1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7360920" y="457200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 xml:space="preserve">A 32-bit memory, </a:t>
            </a:r>
            <a:r>
              <a:rPr lang="en-US" sz="1200" dirty="0">
                <a:solidFill>
                  <a:srgbClr val="6E6E6E"/>
                </a:solidFill>
                <a:latin typeface="Cambria Math"/>
              </a:rPr>
              <a:t>𝑁</a:t>
            </a:r>
            <a:r>
              <a:rPr lang="en-US" sz="1200" dirty="0">
                <a:solidFill>
                  <a:srgbClr val="6E6E6E"/>
                </a:solidFill>
              </a:rPr>
              <a:t xml:space="preserve"> words deep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527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EDAE-3E47-5581-CB50-54AC3C85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vs Random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E04C-E796-9577-582E-43BCBFE2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>
                <a:solidFill>
                  <a:srgbClr val="57068C"/>
                </a:solidFill>
              </a:rPr>
              <a:t>Sequential Access</a:t>
            </a:r>
          </a:p>
          <a:p>
            <a:pPr lvl="1"/>
            <a:r>
              <a:rPr lang="en-US" sz="2000" dirty="0"/>
              <a:t>Access time depends on </a:t>
            </a:r>
            <a:r>
              <a:rPr lang="en-US" sz="2000" i="1" dirty="0"/>
              <a:t>position</a:t>
            </a:r>
            <a:endParaRPr lang="en-US" sz="2000" dirty="0"/>
          </a:p>
          <a:p>
            <a:pPr lvl="1"/>
            <a:r>
              <a:rPr lang="en-US" sz="2000" dirty="0"/>
              <a:t>You must move through data in order</a:t>
            </a:r>
          </a:p>
          <a:p>
            <a:pPr lvl="1"/>
            <a:r>
              <a:rPr lang="en-US" sz="2000" dirty="0"/>
              <a:t>Ex:  Hard disks (seek + rotation)</a:t>
            </a:r>
          </a:p>
          <a:p>
            <a:pPr lvl="1"/>
            <a:r>
              <a:rPr lang="en-US" sz="2000" dirty="0"/>
              <a:t>FIFO queues (logical sequential access)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rgbClr val="57068C"/>
                </a:solidFill>
              </a:rPr>
              <a:t>Random access</a:t>
            </a:r>
          </a:p>
          <a:p>
            <a:pPr lvl="1"/>
            <a:r>
              <a:rPr lang="en-US" sz="2000" dirty="0"/>
              <a:t>Any element can be accessed in constant time</a:t>
            </a:r>
          </a:p>
          <a:p>
            <a:pPr lvl="1"/>
            <a:r>
              <a:rPr lang="en-US" sz="2000" dirty="0"/>
              <a:t>SRAM (on chip block memory, FPGA BRAM)</a:t>
            </a:r>
          </a:p>
          <a:p>
            <a:pPr lvl="1"/>
            <a:r>
              <a:rPr lang="en-US" sz="2000" dirty="0"/>
              <a:t>DRAM (external memory)</a:t>
            </a:r>
          </a:p>
          <a:p>
            <a:pPr lvl="1"/>
            <a:r>
              <a:rPr lang="en-US" sz="2000" dirty="0"/>
              <a:t>Register files (architecturally random access)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0C79D-E2CD-09A5-736D-5B55C0B5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2F88781-B301-D232-E04A-602EA2C54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035" y="1628886"/>
            <a:ext cx="20097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Memory ICs - EPROM, EEPROM and RAM">
            <a:extLst>
              <a:ext uri="{FF2B5EF4-FFF2-40B4-BE49-F238E27FC236}">
                <a16:creationId xmlns:a16="http://schemas.microsoft.com/office/drawing/2014/main" id="{9FF35CD7-0315-739E-3D55-D9234F444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350" y="3899498"/>
            <a:ext cx="18478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9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6F91-FD9F-631E-2A33-E5131BB3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RAM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Three interface signals:</a:t>
                </a:r>
              </a:p>
              <a:p>
                <a:pPr lvl="1"/>
                <a:r>
                  <a:rPr lang="en-US" dirty="0">
                    <a:solidFill>
                      <a:srgbClr val="2F6FA8"/>
                    </a:solidFill>
                  </a:rPr>
                  <a:t>Address</a:t>
                </a:r>
                <a:r>
                  <a:rPr lang="en-US" dirty="0"/>
                  <a:t> input:  Which word to select</a:t>
                </a:r>
              </a:p>
              <a:p>
                <a:pPr lvl="1"/>
                <a:r>
                  <a:rPr lang="en-US" dirty="0">
                    <a:solidFill>
                      <a:srgbClr val="57068C"/>
                    </a:solidFill>
                  </a:rPr>
                  <a:t>Read/Write</a:t>
                </a:r>
                <a:r>
                  <a:rPr lang="en-US" dirty="0"/>
                  <a:t>:  Which direction of transfer</a:t>
                </a:r>
              </a:p>
              <a:p>
                <a:pPr lvl="1"/>
                <a:r>
                  <a:rPr lang="en-US" dirty="0">
                    <a:solidFill>
                      <a:srgbClr val="00857C"/>
                    </a:solidFill>
                  </a:rPr>
                  <a:t>Data</a:t>
                </a:r>
                <a:r>
                  <a:rPr lang="en-US" dirty="0"/>
                  <a:t>:  Value to read or write</a:t>
                </a:r>
              </a:p>
              <a:p>
                <a:r>
                  <a:rPr lang="en-US" dirty="0"/>
                  <a:t>Address input: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bits to select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words</a:t>
                </a:r>
              </a:p>
              <a:p>
                <a:pPr lvl="1"/>
                <a:r>
                  <a:rPr lang="en-US" dirty="0"/>
                  <a:t>Each word has a </a:t>
                </a:r>
                <a:r>
                  <a:rPr lang="en-US" dirty="0" err="1"/>
                  <a:t>wordline</a:t>
                </a:r>
                <a:r>
                  <a:rPr lang="en-US" dirty="0"/>
                  <a:t> select</a:t>
                </a:r>
              </a:p>
              <a:p>
                <a:pPr lvl="1"/>
                <a:r>
                  <a:rPr lang="en-US" dirty="0"/>
                  <a:t>Selection determined by </a:t>
                </a:r>
                <a:r>
                  <a:rPr lang="en-US" dirty="0">
                    <a:solidFill>
                      <a:srgbClr val="2F6FA8"/>
                    </a:solidFill>
                  </a:rPr>
                  <a:t>address decoder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  <a:blipFill>
                <a:blip r:embed="rId2"/>
                <a:stretch>
                  <a:fillRect l="-3166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81D9-985C-08C7-AEB5-1EB08710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8C29252-EDB7-C199-18FF-5CF93424698B}"/>
              </a:ext>
            </a:extLst>
          </p:cNvPr>
          <p:cNvGrpSpPr/>
          <p:nvPr/>
        </p:nvGrpSpPr>
        <p:grpSpPr>
          <a:xfrm>
            <a:off x="324438" y="1630137"/>
            <a:ext cx="5693185" cy="3421538"/>
            <a:chOff x="324438" y="1630137"/>
            <a:chExt cx="5693185" cy="3421538"/>
          </a:xfrm>
        </p:grpSpPr>
        <mc:AlternateContent xmlns:mc="http://schemas.openxmlformats.org/markup-compatibility/2006" xmlns:a14="http://schemas.microsoft.com/office/drawing/2010/main">
          <mc:Choice Requires="a14"/>
          <mc:Fallback xmlns=""/>
        </mc:AlternateContent>
        <mc:AlternateContent xmlns:mc="http://schemas.openxmlformats.org/markup-compatibility/2006" xmlns:a14="http://schemas.microsoft.com/office/drawing/2010/main">
          <mc:Choice Requires="a14"/>
          <mc:Fallback xmlns=""/>
        </mc:AlternateContent>
        <mc:AlternateContent xmlns:mc="http://schemas.openxmlformats.org/markup-compatibility/2006" xmlns:a14="http://schemas.microsoft.com/office/drawing/2010/main">
          <mc:Choice Requires="a14"/>
          <mc:Fallback xmlns=""/>
        </mc:AlternateContent>
        <mc:AlternateContent xmlns:mc="http://schemas.openxmlformats.org/markup-compatibility/2006" xmlns:a14="http://schemas.microsoft.com/office/drawing/2010/main">
          <mc:Choice Requires="a14"/>
          <mc:Fallback xmlns=""/>
        </mc:AlternateContent>
        <mc:AlternateContent xmlns:mc="http://schemas.openxmlformats.org/markup-compatibility/2006" xmlns:a14="http://schemas.microsoft.com/office/drawing/2010/main">
          <mc:Choice Requires="a14"/>
          <mc:Fallback xmlns=""/>
        </mc:AlternateContent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F733FA4-307B-C512-F380-F8D34A28BA50}"/>
                </a:ext>
              </a:extLst>
            </p:cNvPr>
            <p:cNvGrpSpPr/>
            <p:nvPr/>
          </p:nvGrpSpPr>
          <p:grpSpPr>
            <a:xfrm>
              <a:off x="3167386" y="2308781"/>
              <a:ext cx="2397325" cy="296148"/>
              <a:chOff x="3167386" y="2308781"/>
              <a:chExt cx="2397325" cy="296148"/>
            </a:xfrm>
          </p:grpSpPr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3BE214C-0C61-D9C3-A14A-90EFDFD19676}"/>
                </a:ext>
              </a:extLst>
            </p:cNvPr>
            <p:cNvGrpSpPr/>
            <p:nvPr/>
          </p:nvGrpSpPr>
          <p:grpSpPr>
            <a:xfrm>
              <a:off x="3163502" y="2605830"/>
              <a:ext cx="2397325" cy="296148"/>
              <a:chOff x="3167386" y="2308781"/>
              <a:chExt cx="2397325" cy="296148"/>
            </a:xfrm>
          </p:grpSpPr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3C15D42-54C0-8F3D-9D02-372FD33F0E9D}"/>
                </a:ext>
              </a:extLst>
            </p:cNvPr>
            <p:cNvGrpSpPr/>
            <p:nvPr/>
          </p:nvGrpSpPr>
          <p:grpSpPr>
            <a:xfrm>
              <a:off x="3150250" y="4652701"/>
              <a:ext cx="2397325" cy="296148"/>
              <a:chOff x="3167386" y="2308781"/>
              <a:chExt cx="2397325" cy="296148"/>
            </a:xfrm>
          </p:grpSpPr>
        </p:grpSp>
        <mc:AlternateContent xmlns:mc="http://schemas.openxmlformats.org/markup-compatibility/2006" xmlns:a14="http://schemas.microsoft.com/office/drawing/2010/main">
          <mc:Choice Requires="a14"/>
          <mc:Fallback xmlns=""/>
        </mc:AlternateContent>
      </p:grpSp>
      <p:sp>
        <p:nvSpPr>
          <p:cNvPr id="2" name="TextBox 2"/>
          <p:cNvSpPr txBox="1"/>
          <p:nvPr/>
        </p:nvSpPr>
        <p:spPr>
          <a:xfrm>
            <a:off x="1097280" y="310896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Address input</a:t>
            </a:r>
            <a:endParaRPr lang="en-US" sz="13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log₂(</a:t>
            </a:r>
            <a:r>
              <a:rPr lang="en-US" sz="1200" dirty="0">
                <a:solidFill>
                  <a:srgbClr val="6E6E6E"/>
                </a:solidFill>
                <a:latin typeface="Cambria Math"/>
              </a:rPr>
              <a:t>𝑁</a:t>
            </a:r>
            <a:r>
              <a:rPr lang="en-US" sz="1200" dirty="0">
                <a:solidFill>
                  <a:srgbClr val="6E6E6E"/>
                </a:solidFill>
              </a:rPr>
              <a:t>) bits</a:t>
            </a:r>
            <a:endParaRPr lang="en-US" sz="1200" dirty="0"/>
          </a:p>
        </p:txBody>
      </p:sp>
      <p:cxnSp>
        <p:nvCxnSpPr>
          <p:cNvPr id="3" name="Connector 3"/>
          <p:cNvCxnSpPr/>
          <p:nvPr/>
        </p:nvCxnSpPr>
        <p:spPr>
          <a:xfrm>
            <a:off x="2377440" y="3474720"/>
            <a:ext cx="365760" cy="0"/>
          </a:xfrm>
          <a:prstGeom prst="straightConnector1">
            <a:avLst/>
          </a:prstGeom>
          <a:ln w="15875">
            <a:solidFill>
              <a:srgbClr val="2F6FA8"/>
            </a:solidFill>
            <a:tailEnd type="triangle" w="med" len="med"/>
          </a:ln>
        </p:spPr>
      </p:cxnSp>
      <p:sp>
        <p:nvSpPr>
          <p:cNvPr id="4" name="Shape 4"/>
          <p:cNvSpPr/>
          <p:nvPr/>
        </p:nvSpPr>
        <p:spPr>
          <a:xfrm>
            <a:off x="2743200" y="3063240"/>
            <a:ext cx="1143000" cy="822960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Address</a:t>
            </a:r>
            <a:endParaRPr lang="en-US" sz="1300" dirty="0"/>
          </a:p>
          <a:p>
            <a:pPr algn="ctr"/>
            <a:r>
              <a:rPr lang="en-US" sz="1300" b="1" dirty="0">
                <a:solidFill>
                  <a:srgbClr val="2F6FA8"/>
                </a:solidFill>
              </a:rPr>
              <a:t>decoder</a:t>
            </a:r>
            <a:endParaRPr lang="en-US" sz="1300" dirty="0"/>
          </a:p>
        </p:txBody>
      </p:sp>
      <p:sp>
        <p:nvSpPr>
          <p:cNvPr id="5" name="TextBox 5"/>
          <p:cNvSpPr txBox="1"/>
          <p:nvPr/>
        </p:nvSpPr>
        <p:spPr>
          <a:xfrm>
            <a:off x="4114800" y="18745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300" dirty="0">
                <a:solidFill>
                  <a:srgbClr val="6E6E6E"/>
                </a:solidFill>
                <a:latin typeface="Cambria Math"/>
              </a:rPr>
              <a:t>𝑁</a:t>
            </a:r>
            <a:r>
              <a:rPr lang="en-US" sz="1300" dirty="0">
                <a:solidFill>
                  <a:srgbClr val="6E6E6E"/>
                </a:solidFill>
              </a:rPr>
              <a:t xml:space="preserve"> data words</a:t>
            </a:r>
            <a:endParaRPr lang="en-US" sz="1300" dirty="0"/>
          </a:p>
        </p:txBody>
      </p:sp>
      <p:sp>
        <p:nvSpPr>
          <p:cNvPr id="6" name="TextBox 6"/>
          <p:cNvSpPr txBox="1"/>
          <p:nvPr/>
        </p:nvSpPr>
        <p:spPr>
          <a:xfrm>
            <a:off x="5760720" y="1874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300" dirty="0">
                <a:solidFill>
                  <a:srgbClr val="00857C"/>
                </a:solidFill>
              </a:rPr>
              <a:t>Data bus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4114800" y="2286000"/>
            <a:ext cx="1737360" cy="512064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4114800" y="2798064"/>
            <a:ext cx="1737360" cy="512064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4114800" y="3310128"/>
            <a:ext cx="1737360" cy="512064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selected word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4114800" y="3822192"/>
            <a:ext cx="1737360" cy="512064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11" name="Shape 11"/>
          <p:cNvSpPr/>
          <p:nvPr/>
        </p:nvSpPr>
        <p:spPr>
          <a:xfrm>
            <a:off x="4114800" y="4334256"/>
            <a:ext cx="1737360" cy="512064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6035040" y="2286000"/>
            <a:ext cx="548640" cy="256032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cxnSp>
        <p:nvCxnSpPr>
          <p:cNvPr id="13" name="Connector 13"/>
          <p:cNvCxnSpPr/>
          <p:nvPr/>
        </p:nvCxnSpPr>
        <p:spPr>
          <a:xfrm>
            <a:off x="3931920" y="2542032"/>
            <a:ext cx="137160" cy="0"/>
          </a:xfrm>
          <a:prstGeom prst="straightConnector1">
            <a:avLst/>
          </a:prstGeom>
          <a:ln w="12700">
            <a:solidFill>
              <a:srgbClr val="2F6FA8"/>
            </a:solidFill>
            <a:tailEnd type="triangle" w="med" len="med"/>
          </a:ln>
        </p:spPr>
      </p:cxnSp>
      <p:cxnSp>
        <p:nvCxnSpPr>
          <p:cNvPr id="14" name="Connector 14"/>
          <p:cNvCxnSpPr/>
          <p:nvPr/>
        </p:nvCxnSpPr>
        <p:spPr>
          <a:xfrm flipH="1">
            <a:off x="5897880" y="2542032"/>
            <a:ext cx="182880" cy="0"/>
          </a:xfrm>
          <a:prstGeom prst="straightConnector1">
            <a:avLst/>
          </a:prstGeom>
          <a:ln w="12700">
            <a:solidFill>
              <a:srgbClr val="00857C"/>
            </a:solidFill>
          </a:ln>
        </p:spPr>
      </p:cxnSp>
      <p:cxnSp>
        <p:nvCxnSpPr>
          <p:cNvPr id="15" name="Connector 15"/>
          <p:cNvCxnSpPr/>
          <p:nvPr/>
        </p:nvCxnSpPr>
        <p:spPr>
          <a:xfrm>
            <a:off x="3931920" y="3054096"/>
            <a:ext cx="137160" cy="0"/>
          </a:xfrm>
          <a:prstGeom prst="straightConnector1">
            <a:avLst/>
          </a:prstGeom>
          <a:ln w="12700">
            <a:solidFill>
              <a:srgbClr val="2F6FA8"/>
            </a:solidFill>
            <a:tailEnd type="triangle" w="med" len="med"/>
          </a:ln>
        </p:spPr>
      </p:cxnSp>
      <p:cxnSp>
        <p:nvCxnSpPr>
          <p:cNvPr id="16" name="Connector 16"/>
          <p:cNvCxnSpPr/>
          <p:nvPr/>
        </p:nvCxnSpPr>
        <p:spPr>
          <a:xfrm flipH="1">
            <a:off x="5897880" y="3054096"/>
            <a:ext cx="182880" cy="0"/>
          </a:xfrm>
          <a:prstGeom prst="straightConnector1">
            <a:avLst/>
          </a:prstGeom>
          <a:ln w="12700">
            <a:solidFill>
              <a:srgbClr val="00857C"/>
            </a:solidFill>
          </a:ln>
        </p:spPr>
      </p:cxnSp>
      <p:cxnSp>
        <p:nvCxnSpPr>
          <p:cNvPr id="17" name="Connector 17"/>
          <p:cNvCxnSpPr/>
          <p:nvPr/>
        </p:nvCxnSpPr>
        <p:spPr>
          <a:xfrm>
            <a:off x="3931920" y="3566160"/>
            <a:ext cx="137160" cy="0"/>
          </a:xfrm>
          <a:prstGeom prst="straightConnector1">
            <a:avLst/>
          </a:prstGeom>
          <a:ln w="12700">
            <a:solidFill>
              <a:srgbClr val="2F6FA8"/>
            </a:solidFill>
            <a:tailEnd type="triangle" w="med" len="med"/>
          </a:ln>
        </p:spPr>
      </p:cxnSp>
      <p:cxnSp>
        <p:nvCxnSpPr>
          <p:cNvPr id="18" name="Connector 18"/>
          <p:cNvCxnSpPr/>
          <p:nvPr/>
        </p:nvCxnSpPr>
        <p:spPr>
          <a:xfrm flipH="1">
            <a:off x="5897880" y="3566160"/>
            <a:ext cx="182880" cy="0"/>
          </a:xfrm>
          <a:prstGeom prst="straightConnector1">
            <a:avLst/>
          </a:prstGeom>
          <a:ln w="12700">
            <a:solidFill>
              <a:srgbClr val="00857C"/>
            </a:solidFill>
          </a:ln>
        </p:spPr>
      </p:cxnSp>
      <p:cxnSp>
        <p:nvCxnSpPr>
          <p:cNvPr id="19" name="Connector 19"/>
          <p:cNvCxnSpPr/>
          <p:nvPr/>
        </p:nvCxnSpPr>
        <p:spPr>
          <a:xfrm>
            <a:off x="3931920" y="4078224"/>
            <a:ext cx="137160" cy="0"/>
          </a:xfrm>
          <a:prstGeom prst="straightConnector1">
            <a:avLst/>
          </a:prstGeom>
          <a:ln w="12700">
            <a:solidFill>
              <a:srgbClr val="2F6FA8"/>
            </a:solidFill>
            <a:tailEnd type="triangle" w="med" len="med"/>
          </a:ln>
        </p:spPr>
      </p:cxnSp>
      <p:cxnSp>
        <p:nvCxnSpPr>
          <p:cNvPr id="20" name="Connector 20"/>
          <p:cNvCxnSpPr/>
          <p:nvPr/>
        </p:nvCxnSpPr>
        <p:spPr>
          <a:xfrm flipH="1">
            <a:off x="5897880" y="4078224"/>
            <a:ext cx="182880" cy="0"/>
          </a:xfrm>
          <a:prstGeom prst="straightConnector1">
            <a:avLst/>
          </a:prstGeom>
          <a:ln w="12700">
            <a:solidFill>
              <a:srgbClr val="00857C"/>
            </a:solidFill>
          </a:ln>
        </p:spPr>
      </p:cxnSp>
      <p:cxnSp>
        <p:nvCxnSpPr>
          <p:cNvPr id="21" name="Connector 21"/>
          <p:cNvCxnSpPr/>
          <p:nvPr/>
        </p:nvCxnSpPr>
        <p:spPr>
          <a:xfrm>
            <a:off x="3931920" y="4590288"/>
            <a:ext cx="137160" cy="0"/>
          </a:xfrm>
          <a:prstGeom prst="straightConnector1">
            <a:avLst/>
          </a:prstGeom>
          <a:ln w="12700">
            <a:solidFill>
              <a:srgbClr val="2F6FA8"/>
            </a:solidFill>
            <a:tailEnd type="triangle" w="med" len="med"/>
          </a:ln>
        </p:spPr>
      </p:cxnSp>
      <p:cxnSp>
        <p:nvCxnSpPr>
          <p:cNvPr id="22" name="Connector 22"/>
          <p:cNvCxnSpPr/>
          <p:nvPr/>
        </p:nvCxnSpPr>
        <p:spPr>
          <a:xfrm flipH="1">
            <a:off x="5897880" y="4590288"/>
            <a:ext cx="182880" cy="0"/>
          </a:xfrm>
          <a:prstGeom prst="straightConnector1">
            <a:avLst/>
          </a:prstGeom>
          <a:ln w="12700">
            <a:solidFill>
              <a:srgbClr val="00857C"/>
            </a:solidFill>
          </a:ln>
        </p:spPr>
      </p:cxnSp>
      <p:sp>
        <p:nvSpPr>
          <p:cNvPr id="23" name="TextBox 23"/>
          <p:cNvSpPr txBox="1"/>
          <p:nvPr/>
        </p:nvSpPr>
        <p:spPr>
          <a:xfrm>
            <a:off x="4114800" y="49560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one row per word</a:t>
            </a:r>
            <a:endParaRPr lang="en-US" sz="1200" dirty="0"/>
          </a:p>
        </p:txBody>
      </p:sp>
      <p:sp>
        <p:nvSpPr>
          <p:cNvPr id="24" name="TextBox 24"/>
          <p:cNvSpPr txBox="1"/>
          <p:nvPr/>
        </p:nvSpPr>
        <p:spPr>
          <a:xfrm>
            <a:off x="5760720" y="49560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262626"/>
                </a:solidFill>
              </a:rPr>
              <a:t>R/W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24753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A1FB-37A4-5A49-792B-9D4C50C6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>
                    <a:solidFill>
                      <a:srgbClr val="57068C"/>
                    </a:solidFill>
                  </a:rPr>
                  <a:t>Bus</a:t>
                </a:r>
                <a:r>
                  <a:rPr lang="en-US" dirty="0"/>
                  <a:t>:  A </a:t>
                </a:r>
                <a:r>
                  <a:rPr lang="en-US" dirty="0">
                    <a:solidFill>
                      <a:srgbClr val="57068C"/>
                    </a:solidFill>
                  </a:rPr>
                  <a:t>shared</a:t>
                </a:r>
                <a:r>
                  <a:rPr lang="en-US" dirty="0"/>
                  <a:t> communication pathway for multiple units</a:t>
                </a:r>
              </a:p>
              <a:p>
                <a:pPr lvl="1"/>
                <a:r>
                  <a:rPr lang="en-US" dirty="0"/>
                  <a:t>Physically a set of wires </a:t>
                </a:r>
              </a:p>
              <a:p>
                <a:pPr lvl="1"/>
                <a:r>
                  <a:rPr lang="en-US" dirty="0"/>
                  <a:t>For data, addresses, and control</a:t>
                </a:r>
              </a:p>
              <a:p>
                <a:pPr lvl="1"/>
                <a:r>
                  <a:rPr lang="en-US" dirty="0"/>
                  <a:t>A shared </a:t>
                </a:r>
                <a:r>
                  <a:rPr lang="en-US" dirty="0">
                    <a:solidFill>
                      <a:srgbClr val="57068C"/>
                    </a:solidFill>
                  </a:rPr>
                  <a:t>protocol</a:t>
                </a:r>
                <a:r>
                  <a:rPr lang="en-US" dirty="0"/>
                  <a:t> so only one unit drives the bus at a time</a:t>
                </a:r>
              </a:p>
              <a:p>
                <a:r>
                  <a:rPr lang="en-US" dirty="0"/>
                  <a:t>Many examples: </a:t>
                </a:r>
              </a:p>
              <a:p>
                <a:pPr lvl="1"/>
                <a:r>
                  <a:rPr lang="en-US" dirty="0"/>
                  <a:t>Multiple memory units connected to a common data bus</a:t>
                </a:r>
              </a:p>
              <a:p>
                <a:pPr lvl="1"/>
                <a:r>
                  <a:rPr lang="en-US" dirty="0"/>
                  <a:t>A processor and multiple memory units sharing address or data</a:t>
                </a:r>
              </a:p>
              <a:p>
                <a:pPr lvl="1"/>
                <a:r>
                  <a:rPr lang="en-US" dirty="0"/>
                  <a:t>Multiple peripherals on an SoC sharing an </a:t>
                </a:r>
                <a:r>
                  <a:rPr lang="en-US" dirty="0">
                    <a:solidFill>
                      <a:srgbClr val="57068C"/>
                    </a:solidFill>
                  </a:rPr>
                  <a:t>AXI bus</a:t>
                </a:r>
              </a:p>
              <a:p>
                <a:pPr lvl="1"/>
                <a:r>
                  <a:rPr lang="en-US" dirty="0"/>
                  <a:t>Multiple devices on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57068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57068C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57068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57068C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rgbClr val="57068C"/>
                    </a:solidFill>
                  </a:rPr>
                  <a:t> </a:t>
                </a:r>
                <a:r>
                  <a:rPr lang="en-US" dirty="0"/>
                  <a:t>or </a:t>
                </a:r>
                <a:r>
                  <a:rPr lang="en-US" dirty="0">
                    <a:solidFill>
                      <a:srgbClr val="57068C"/>
                    </a:solidFill>
                  </a:rPr>
                  <a:t>SPI bus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  <a:blipFill>
                <a:blip r:embed="rId2"/>
                <a:stretch>
                  <a:fillRect l="-2286" t="-1549" r="-286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8CD7-B43C-D0F5-BCA5-90C5EF28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2" name="Shape 2"/>
          <p:cNvSpPr/>
          <p:nvPr/>
        </p:nvSpPr>
        <p:spPr>
          <a:xfrm>
            <a:off x="8138160" y="2103120"/>
            <a:ext cx="365760" cy="301752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3" name="TextBox 3"/>
          <p:cNvSpPr txBox="1"/>
          <p:nvPr/>
        </p:nvSpPr>
        <p:spPr>
          <a:xfrm>
            <a:off x="7818120" y="173736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400" b="1" dirty="0">
                <a:solidFill>
                  <a:srgbClr val="57068C"/>
                </a:solidFill>
              </a:rPr>
              <a:t>Bus</a:t>
            </a:r>
            <a:endParaRPr lang="en-US" sz="1400" dirty="0"/>
          </a:p>
        </p:txBody>
      </p:sp>
      <p:sp>
        <p:nvSpPr>
          <p:cNvPr id="4" name="Shape 4"/>
          <p:cNvSpPr/>
          <p:nvPr/>
        </p:nvSpPr>
        <p:spPr>
          <a:xfrm>
            <a:off x="9326880" y="2331720"/>
            <a:ext cx="173736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Unit A</a:t>
            </a:r>
            <a:endParaRPr lang="en-US" sz="1400" dirty="0"/>
          </a:p>
        </p:txBody>
      </p:sp>
      <p:cxnSp>
        <p:nvCxnSpPr>
          <p:cNvPr id="5" name="Connector 5"/>
          <p:cNvCxnSpPr/>
          <p:nvPr/>
        </p:nvCxnSpPr>
        <p:spPr>
          <a:xfrm>
            <a:off x="8503920" y="2615184"/>
            <a:ext cx="82296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sp>
        <p:nvSpPr>
          <p:cNvPr id="6" name="Shape 6"/>
          <p:cNvSpPr/>
          <p:nvPr/>
        </p:nvSpPr>
        <p:spPr>
          <a:xfrm>
            <a:off x="9326880" y="3429000"/>
            <a:ext cx="173736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Unit B</a:t>
            </a:r>
            <a:endParaRPr lang="en-US" sz="1400" dirty="0"/>
          </a:p>
        </p:txBody>
      </p:sp>
      <p:cxnSp>
        <p:nvCxnSpPr>
          <p:cNvPr id="7" name="Connector 7"/>
          <p:cNvCxnSpPr/>
          <p:nvPr/>
        </p:nvCxnSpPr>
        <p:spPr>
          <a:xfrm>
            <a:off x="8503920" y="3712464"/>
            <a:ext cx="82296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sp>
        <p:nvSpPr>
          <p:cNvPr id="8" name="Shape 8"/>
          <p:cNvSpPr/>
          <p:nvPr/>
        </p:nvSpPr>
        <p:spPr>
          <a:xfrm>
            <a:off x="9326880" y="4526280"/>
            <a:ext cx="173736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Unit C</a:t>
            </a:r>
            <a:endParaRPr lang="en-US" sz="1400" dirty="0"/>
          </a:p>
        </p:txBody>
      </p:sp>
      <p:cxnSp>
        <p:nvCxnSpPr>
          <p:cNvPr id="9" name="Connector 9"/>
          <p:cNvCxnSpPr/>
          <p:nvPr/>
        </p:nvCxnSpPr>
        <p:spPr>
          <a:xfrm>
            <a:off x="8503920" y="4809744"/>
            <a:ext cx="82296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sp>
        <p:nvSpPr>
          <p:cNvPr id="10" name="TextBox 10"/>
          <p:cNvSpPr txBox="1"/>
          <p:nvPr/>
        </p:nvSpPr>
        <p:spPr>
          <a:xfrm>
            <a:off x="7589520" y="5349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One unit drives the bus at a time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22591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3B9B-E09A-EA03-11C8-9BC5E8C9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Method to share a common bus</a:t>
                </a:r>
              </a:p>
              <a:p>
                <a:pPr lvl="1"/>
                <a:r>
                  <a:rPr lang="en-US" dirty="0"/>
                  <a:t>One unit drives a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on the bus</a:t>
                </a:r>
              </a:p>
              <a:p>
                <a:pPr lvl="1"/>
                <a:r>
                  <a:rPr lang="en-US" dirty="0"/>
                  <a:t>Other units go into a </a:t>
                </a:r>
                <a:r>
                  <a:rPr lang="en-US" dirty="0">
                    <a:solidFill>
                      <a:srgbClr val="57068C"/>
                    </a:solidFill>
                  </a:rPr>
                  <a:t>high-impedance state</a:t>
                </a:r>
                <a:r>
                  <a:rPr lang="en-US" dirty="0"/>
                  <a:t>,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</a:p>
              <a:p>
                <a:pPr lvl="1"/>
                <a:r>
                  <a:rPr lang="en-US" dirty="0"/>
                  <a:t>High impedance units are disconnected</a:t>
                </a:r>
              </a:p>
              <a:p>
                <a:pPr lvl="1"/>
                <a:r>
                  <a:rPr lang="en-US" dirty="0"/>
                  <a:t>Bus value=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Sometimes called </a:t>
                </a:r>
                <a:r>
                  <a:rPr lang="en-US" dirty="0">
                    <a:solidFill>
                      <a:srgbClr val="57068C"/>
                    </a:solidFill>
                  </a:rPr>
                  <a:t>Tri-State</a:t>
                </a:r>
              </a:p>
              <a:p>
                <a:pPr lvl="1"/>
                <a:r>
                  <a:rPr lang="en-US" dirty="0"/>
                  <a:t>Each bit is 0, 1 or Z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  <a:blipFill>
                <a:blip r:embed="rId2"/>
                <a:stretch>
                  <a:fillRect l="-2505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3FED2-49B6-B908-8B3D-17CE46E7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197165-257C-FFD5-A176-83C15926E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951106"/>
              </p:ext>
            </p:extLst>
          </p:nvPr>
        </p:nvGraphicFramePr>
        <p:xfrm>
          <a:off x="1211580" y="4009051"/>
          <a:ext cx="755777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570">
                  <a:extLst>
                    <a:ext uri="{9D8B030D-6E8A-4147-A177-3AD203B41FA5}">
                      <a16:colId xmlns:a16="http://schemas.microsoft.com/office/drawing/2014/main" val="1156041786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45723274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24007592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62277745"/>
                    </a:ext>
                  </a:extLst>
                </a:gridCol>
                <a:gridCol w="4006850">
                  <a:extLst>
                    <a:ext uri="{9D8B030D-6E8A-4147-A177-3AD203B41FA5}">
                      <a16:colId xmlns:a16="http://schemas.microsoft.com/office/drawing/2014/main" val="2343733387"/>
                    </a:ext>
                  </a:extLst>
                </a:gridCol>
              </a:tblGrid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Bus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031490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383036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15302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driver- no reliable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809493"/>
                  </a:ext>
                </a:extLst>
              </a:tr>
              <a:tr h="56158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Collision of A, B – no reliable value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Protocols will avoid this 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909075"/>
                  </a:ext>
                </a:extLst>
              </a:tr>
            </a:tbl>
          </a:graphicData>
        </a:graphic>
      </p:graphicFrame>
      <p:sp>
        <p:nvSpPr>
          <p:cNvPr id="2" name="Shape 2"/>
          <p:cNvSpPr/>
          <p:nvPr/>
        </p:nvSpPr>
        <p:spPr>
          <a:xfrm>
            <a:off x="9509760" y="2011680"/>
            <a:ext cx="365760" cy="219456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3" name="TextBox 3"/>
          <p:cNvSpPr txBox="1"/>
          <p:nvPr/>
        </p:nvSpPr>
        <p:spPr>
          <a:xfrm>
            <a:off x="9189720" y="166420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400" b="1" dirty="0">
                <a:solidFill>
                  <a:srgbClr val="57068C"/>
                </a:solidFill>
              </a:rPr>
              <a:t>Bus</a:t>
            </a:r>
            <a:endParaRPr lang="en-US" sz="1400" dirty="0"/>
          </a:p>
        </p:txBody>
      </p:sp>
      <p:sp>
        <p:nvSpPr>
          <p:cNvPr id="4" name="Shape 4"/>
          <p:cNvSpPr/>
          <p:nvPr/>
        </p:nvSpPr>
        <p:spPr>
          <a:xfrm>
            <a:off x="10332720" y="2240280"/>
            <a:ext cx="86868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A</a:t>
            </a:r>
            <a:endParaRPr lang="en-US" sz="1400" dirty="0"/>
          </a:p>
        </p:txBody>
      </p:sp>
      <p:cxnSp>
        <p:nvCxnSpPr>
          <p:cNvPr id="5" name="Connector 5"/>
          <p:cNvCxnSpPr/>
          <p:nvPr/>
        </p:nvCxnSpPr>
        <p:spPr>
          <a:xfrm>
            <a:off x="9875520" y="2523744"/>
            <a:ext cx="45720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sp>
        <p:nvSpPr>
          <p:cNvPr id="6" name="Shape 6"/>
          <p:cNvSpPr/>
          <p:nvPr/>
        </p:nvSpPr>
        <p:spPr>
          <a:xfrm>
            <a:off x="10332720" y="2926080"/>
            <a:ext cx="86868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B</a:t>
            </a:r>
            <a:endParaRPr lang="en-US" sz="1400" dirty="0"/>
          </a:p>
        </p:txBody>
      </p:sp>
      <p:cxnSp>
        <p:nvCxnSpPr>
          <p:cNvPr id="7" name="Connector 7"/>
          <p:cNvCxnSpPr/>
          <p:nvPr/>
        </p:nvCxnSpPr>
        <p:spPr>
          <a:xfrm>
            <a:off x="9875520" y="3209544"/>
            <a:ext cx="45720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sp>
        <p:nvSpPr>
          <p:cNvPr id="8" name="Shape 8"/>
          <p:cNvSpPr/>
          <p:nvPr/>
        </p:nvSpPr>
        <p:spPr>
          <a:xfrm>
            <a:off x="10332720" y="3611880"/>
            <a:ext cx="868680" cy="566928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</a:rPr>
              <a:t>C</a:t>
            </a:r>
            <a:endParaRPr lang="en-US" sz="1400" dirty="0"/>
          </a:p>
        </p:txBody>
      </p:sp>
      <p:cxnSp>
        <p:nvCxnSpPr>
          <p:cNvPr id="9" name="Connector 9"/>
          <p:cNvCxnSpPr/>
          <p:nvPr/>
        </p:nvCxnSpPr>
        <p:spPr>
          <a:xfrm>
            <a:off x="9875520" y="3895344"/>
            <a:ext cx="45720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841020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57BF-391D-1E04-0C85-233E1412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 on a Data 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>
                    <a:solidFill>
                      <a:srgbClr val="57068C"/>
                    </a:solidFill>
                  </a:rPr>
                  <a:t>Memory read </a:t>
                </a:r>
                <a:r>
                  <a:rPr lang="en-US" dirty="0"/>
                  <a:t>(Tri-State Bus)</a:t>
                </a:r>
              </a:p>
              <a:p>
                <a:pPr lvl="1"/>
                <a:r>
                  <a:rPr lang="en-US" dirty="0"/>
                  <a:t>Selected memory element drives its value</a:t>
                </a:r>
              </a:p>
              <a:p>
                <a:pPr lvl="1"/>
                <a:r>
                  <a:rPr lang="en-US" dirty="0"/>
                  <a:t>Other units go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Data bus value = selected memory element’s value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Memory write </a:t>
                </a:r>
                <a:r>
                  <a:rPr lang="en-US" dirty="0"/>
                  <a:t>(Broadcast + Selective Capture)</a:t>
                </a:r>
              </a:p>
              <a:p>
                <a:pPr lvl="1"/>
                <a:r>
                  <a:rPr lang="en-US" dirty="0"/>
                  <a:t>Data bus value appears at all units</a:t>
                </a:r>
              </a:p>
              <a:p>
                <a:pPr lvl="1"/>
                <a:r>
                  <a:rPr lang="en-US" dirty="0"/>
                  <a:t>Selected element loads value into its storage element</a:t>
                </a:r>
              </a:p>
              <a:p>
                <a:pPr lvl="1"/>
                <a:r>
                  <a:rPr lang="en-US" dirty="0"/>
                  <a:t>Other elements ignore 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  <a:blipFill>
                <a:blip r:embed="rId2"/>
                <a:stretch>
                  <a:fillRect l="-2419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F2C19-7D1D-22D3-20FF-3E321E18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F6AB511F-4E17-66C5-854E-638563562FB6}"/>
              </a:ext>
            </a:extLst>
          </p:cNvPr>
          <p:cNvGrpSpPr/>
          <p:nvPr/>
        </p:nvGrpSpPr>
        <p:grpSpPr>
          <a:xfrm>
            <a:off x="857877" y="2108967"/>
            <a:ext cx="2397325" cy="296148"/>
            <a:chOff x="3167386" y="2308781"/>
            <a:chExt cx="2397325" cy="296148"/>
          </a:xfrm>
        </p:grpSpPr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BC489C-E5FB-7321-08CA-252B9E079285}"/>
              </a:ext>
            </a:extLst>
          </p:cNvPr>
          <p:cNvGrpSpPr/>
          <p:nvPr/>
        </p:nvGrpSpPr>
        <p:grpSpPr>
          <a:xfrm>
            <a:off x="853993" y="2406016"/>
            <a:ext cx="2397325" cy="296148"/>
            <a:chOff x="3167386" y="2308781"/>
            <a:chExt cx="2397325" cy="296148"/>
          </a:xfrm>
        </p:grpSpPr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9CBE185-74E3-A765-2B39-0F6505D0EC63}"/>
              </a:ext>
            </a:extLst>
          </p:cNvPr>
          <p:cNvGrpSpPr/>
          <p:nvPr/>
        </p:nvGrpSpPr>
        <p:grpSpPr>
          <a:xfrm>
            <a:off x="840741" y="4452887"/>
            <a:ext cx="2397325" cy="296148"/>
            <a:chOff x="3167386" y="2308781"/>
            <a:chExt cx="2397325" cy="296148"/>
          </a:xfrm>
        </p:grpSpPr>
      </p:grpSp>
      <mc:AlternateContent xmlns:mc="http://schemas.openxmlformats.org/markup-compatibility/2006" xmlns:a14="http://schemas.microsoft.com/office/drawing/2010/main">
        <mc:Choice Requires="a14"/>
        <mc:Fallback xmlns=""/>
      </mc:AlternateContent>
      <p:sp>
        <p:nvSpPr>
          <p:cNvPr id="2" name="TextBox 2"/>
          <p:cNvSpPr txBox="1"/>
          <p:nvPr/>
        </p:nvSpPr>
        <p:spPr>
          <a:xfrm>
            <a:off x="1463040" y="17830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300" dirty="0">
                <a:solidFill>
                  <a:srgbClr val="6E6E6E"/>
                </a:solidFill>
                <a:latin typeface="Cambria Math"/>
              </a:rPr>
              <a:t>𝑁</a:t>
            </a:r>
            <a:r>
              <a:rPr lang="en-US" sz="1300" dirty="0">
                <a:solidFill>
                  <a:srgbClr val="6E6E6E"/>
                </a:solidFill>
              </a:rPr>
              <a:t xml:space="preserve"> data words</a:t>
            </a:r>
            <a:endParaRPr lang="en-US" sz="1300" dirty="0"/>
          </a:p>
        </p:txBody>
      </p:sp>
      <p:sp>
        <p:nvSpPr>
          <p:cNvPr id="3" name="TextBox 3"/>
          <p:cNvSpPr txBox="1"/>
          <p:nvPr/>
        </p:nvSpPr>
        <p:spPr>
          <a:xfrm>
            <a:off x="3429000" y="178308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300" dirty="0">
                <a:solidFill>
                  <a:srgbClr val="00857C"/>
                </a:solidFill>
              </a:rPr>
              <a:t>Data bus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1463040" y="2148840"/>
            <a:ext cx="1737360" cy="4114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1463040" y="2560320"/>
            <a:ext cx="1737360" cy="4114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1463040" y="2971800"/>
            <a:ext cx="1737360" cy="411480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drives the bus</a:t>
            </a:r>
            <a:endParaRPr lang="en-US" sz="1200" dirty="0"/>
          </a:p>
        </p:txBody>
      </p:sp>
      <p:sp>
        <p:nvSpPr>
          <p:cNvPr id="7" name="Shape 7"/>
          <p:cNvSpPr/>
          <p:nvPr/>
        </p:nvSpPr>
        <p:spPr>
          <a:xfrm>
            <a:off x="1463040" y="3383280"/>
            <a:ext cx="1737360" cy="4114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1463040" y="3794760"/>
            <a:ext cx="1737360" cy="4114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3611880" y="2148840"/>
            <a:ext cx="594360" cy="205740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cxnSp>
        <p:nvCxnSpPr>
          <p:cNvPr id="10" name="Connector 10"/>
          <p:cNvCxnSpPr/>
          <p:nvPr/>
        </p:nvCxnSpPr>
        <p:spPr>
          <a:xfrm>
            <a:off x="3246120" y="2331720"/>
            <a:ext cx="320040" cy="0"/>
          </a:xfrm>
          <a:prstGeom prst="straightConnector1">
            <a:avLst/>
          </a:prstGeom>
          <a:ln w="15875">
            <a:solidFill>
              <a:srgbClr val="BFBFBF"/>
            </a:solidFill>
          </a:ln>
        </p:spPr>
      </p:cxnSp>
      <p:cxnSp>
        <p:nvCxnSpPr>
          <p:cNvPr id="11" name="Connector 11"/>
          <p:cNvCxnSpPr/>
          <p:nvPr/>
        </p:nvCxnSpPr>
        <p:spPr>
          <a:xfrm>
            <a:off x="3246120" y="2743200"/>
            <a:ext cx="320040" cy="0"/>
          </a:xfrm>
          <a:prstGeom prst="straightConnector1">
            <a:avLst/>
          </a:prstGeom>
          <a:ln w="15875">
            <a:solidFill>
              <a:srgbClr val="BFBFBF"/>
            </a:solidFill>
          </a:ln>
        </p:spPr>
      </p:cxnSp>
      <p:cxnSp>
        <p:nvCxnSpPr>
          <p:cNvPr id="12" name="Connector 12"/>
          <p:cNvCxnSpPr/>
          <p:nvPr/>
        </p:nvCxnSpPr>
        <p:spPr>
          <a:xfrm>
            <a:off x="3246120" y="3154680"/>
            <a:ext cx="320040" cy="0"/>
          </a:xfrm>
          <a:prstGeom prst="straightConnector1">
            <a:avLst/>
          </a:prstGeom>
          <a:ln w="15875">
            <a:solidFill>
              <a:srgbClr val="00857C"/>
            </a:solidFill>
            <a:tailEnd type="triangle" w="med" len="med"/>
          </a:ln>
        </p:spPr>
      </p:cxnSp>
      <p:cxnSp>
        <p:nvCxnSpPr>
          <p:cNvPr id="13" name="Connector 13"/>
          <p:cNvCxnSpPr/>
          <p:nvPr/>
        </p:nvCxnSpPr>
        <p:spPr>
          <a:xfrm>
            <a:off x="3246120" y="3566160"/>
            <a:ext cx="320040" cy="0"/>
          </a:xfrm>
          <a:prstGeom prst="straightConnector1">
            <a:avLst/>
          </a:prstGeom>
          <a:ln w="15875">
            <a:solidFill>
              <a:srgbClr val="BFBFBF"/>
            </a:solidFill>
          </a:ln>
        </p:spPr>
      </p:cxnSp>
      <p:cxnSp>
        <p:nvCxnSpPr>
          <p:cNvPr id="14" name="Connector 14"/>
          <p:cNvCxnSpPr/>
          <p:nvPr/>
        </p:nvCxnSpPr>
        <p:spPr>
          <a:xfrm>
            <a:off x="3246120" y="3977640"/>
            <a:ext cx="320040" cy="0"/>
          </a:xfrm>
          <a:prstGeom prst="straightConnector1">
            <a:avLst/>
          </a:prstGeom>
          <a:ln w="15875">
            <a:solidFill>
              <a:srgbClr val="BFBFBF"/>
            </a:solidFill>
          </a:ln>
        </p:spPr>
      </p:cxnSp>
      <p:sp>
        <p:nvSpPr>
          <p:cNvPr id="15" name="TextBox 15"/>
          <p:cNvSpPr txBox="1"/>
          <p:nvPr/>
        </p:nvSpPr>
        <p:spPr>
          <a:xfrm>
            <a:off x="1463040" y="4297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 xml:space="preserve">others go to </a:t>
            </a:r>
            <a:r>
              <a:rPr lang="en-US" sz="1200" dirty="0">
                <a:solidFill>
                  <a:srgbClr val="6E6E6E"/>
                </a:solidFill>
                <a:latin typeface="Cambria Math"/>
              </a:rPr>
              <a:t>𝑍</a:t>
            </a:r>
            <a:endParaRPr lang="en-US" sz="1200" dirty="0"/>
          </a:p>
        </p:txBody>
      </p:sp>
      <p:sp>
        <p:nvSpPr>
          <p:cNvPr id="16" name="TextBox 16"/>
          <p:cNvSpPr txBox="1"/>
          <p:nvPr/>
        </p:nvSpPr>
        <p:spPr>
          <a:xfrm>
            <a:off x="3429000" y="429768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262626"/>
                </a:solidFill>
              </a:rPr>
              <a:t>R/W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7837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Memory</a:t>
            </a:r>
          </a:p>
        </p:txBody>
      </p:sp>
      <p:sp>
        <p:nvSpPr>
          <p:cNvPr id="3" name="Shape 3"/>
          <p:cNvSpPr/>
          <p:nvPr/>
        </p:nvSpPr>
        <p:spPr>
          <a:xfrm>
            <a:off x="1280160" y="2286000"/>
            <a:ext cx="2651760" cy="137160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600" b="1" dirty="0">
                <a:solidFill>
                  <a:srgbClr val="330662"/>
                </a:solidFill>
              </a:rPr>
              <a:t>External memory</a:t>
            </a:r>
            <a:endParaRPr lang="en-US" sz="16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DRAM</a:t>
            </a:r>
            <a:endParaRPr lang="en-US" sz="1200" dirty="0"/>
          </a:p>
        </p:txBody>
      </p:sp>
      <p:sp>
        <p:nvSpPr>
          <p:cNvPr id="4" name="TextBox 4"/>
          <p:cNvSpPr txBox="1"/>
          <p:nvPr/>
        </p:nvSpPr>
        <p:spPr>
          <a:xfrm>
            <a:off x="1280160" y="3840480"/>
            <a:ext cx="2651760" cy="1371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Off-chip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High capacity (GB)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Reached over an I/O interface</a:t>
            </a:r>
            <a:endParaRPr lang="en-US" sz="1400" dirty="0"/>
          </a:p>
        </p:txBody>
      </p:sp>
      <p:cxnSp>
        <p:nvCxnSpPr>
          <p:cNvPr id="5" name="Connector 5"/>
          <p:cNvCxnSpPr/>
          <p:nvPr/>
        </p:nvCxnSpPr>
        <p:spPr>
          <a:xfrm>
            <a:off x="4114800" y="2971800"/>
            <a:ext cx="1280160" cy="0"/>
          </a:xfrm>
          <a:prstGeom prst="straightConnector1">
            <a:avLst/>
          </a:prstGeom>
          <a:ln w="25400">
            <a:solidFill>
              <a:srgbClr val="2F6FA8"/>
            </a:solidFill>
            <a:tailEnd type="triangle" w="med" len="med"/>
          </a:ln>
        </p:spPr>
      </p:cxnSp>
      <p:sp>
        <p:nvSpPr>
          <p:cNvPr id="6" name="TextBox 6"/>
          <p:cNvSpPr txBox="1"/>
          <p:nvPr/>
        </p:nvSpPr>
        <p:spPr>
          <a:xfrm>
            <a:off x="4023360" y="26060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I/O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5486400" y="1920240"/>
            <a:ext cx="4846320" cy="2148840"/>
          </a:xfrm>
          <a:prstGeom prst="rect">
            <a:avLst/>
          </a:prstGeom>
          <a:solidFill>
            <a:srgbClr val="FBFAFC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t" rtlCol="0">
            <a:noAutofit/>
          </a:bodyPr>
          <a:lstStyle/>
          <a:p>
            <a:endParaRPr lang="en-US" sz="1000" dirty="0"/>
          </a:p>
        </p:txBody>
      </p:sp>
      <p:sp>
        <p:nvSpPr>
          <p:cNvPr id="8" name="TextBox 8"/>
          <p:cNvSpPr txBox="1"/>
          <p:nvPr/>
        </p:nvSpPr>
        <p:spPr>
          <a:xfrm>
            <a:off x="5623560" y="2011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One chip</a:t>
            </a:r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5806440" y="2423160"/>
            <a:ext cx="2011680" cy="1371600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500" b="1" dirty="0">
                <a:solidFill>
                  <a:srgbClr val="2F6FA8"/>
                </a:solidFill>
              </a:rPr>
              <a:t>Internal memory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SRAM, BRAM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8092440" y="2423160"/>
            <a:ext cx="2011680" cy="137160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500" b="1" dirty="0">
                <a:solidFill>
                  <a:srgbClr val="00857C"/>
                </a:solidFill>
              </a:rPr>
              <a:t>Processing</a:t>
            </a:r>
            <a:endParaRPr lang="en-US" sz="1500" dirty="0"/>
          </a:p>
          <a:p>
            <a:pPr algn="ctr"/>
            <a:r>
              <a:rPr lang="en-US" sz="1500" b="1" dirty="0">
                <a:solidFill>
                  <a:srgbClr val="00857C"/>
                </a:solidFill>
              </a:rPr>
              <a:t>hardware</a:t>
            </a:r>
            <a:endParaRPr lang="en-US" sz="1500" dirty="0"/>
          </a:p>
        </p:txBody>
      </p:sp>
      <p:cxnSp>
        <p:nvCxnSpPr>
          <p:cNvPr id="11" name="Connector 11"/>
          <p:cNvCxnSpPr/>
          <p:nvPr/>
        </p:nvCxnSpPr>
        <p:spPr>
          <a:xfrm>
            <a:off x="7863840" y="3108960"/>
            <a:ext cx="182880" cy="0"/>
          </a:xfrm>
          <a:prstGeom prst="straightConnector1">
            <a:avLst/>
          </a:prstGeom>
          <a:ln w="25400">
            <a:solidFill>
              <a:srgbClr val="00857C"/>
            </a:solidFill>
            <a:tailEnd type="triangle" w="med" len="med"/>
          </a:ln>
        </p:spPr>
      </p:cxnSp>
      <p:sp>
        <p:nvSpPr>
          <p:cNvPr id="12" name="TextBox 12"/>
          <p:cNvSpPr txBox="1"/>
          <p:nvPr/>
        </p:nvSpPr>
        <p:spPr>
          <a:xfrm>
            <a:off x="5806440" y="4206240"/>
            <a:ext cx="4297680" cy="1371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On-chip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Low capacity (KB–MB)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Direct, low-latency access from the datapath</a:t>
            </a:r>
            <a:endParaRPr lang="en-US" sz="1400" dirty="0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FC95-1F0D-DB56-A957-3EBE15A7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C73CA-4C9C-E40B-560C-2F768803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2050" name="Picture 2" descr="DRAM cells structure. | Download ...">
            <a:extLst>
              <a:ext uri="{FF2B5EF4-FFF2-40B4-BE49-F238E27FC236}">
                <a16:creationId xmlns:a16="http://schemas.microsoft.com/office/drawing/2014/main" id="{2618FF11-6E0C-3F8D-066C-DB8CF2D5D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982" y="4397376"/>
            <a:ext cx="1795462" cy="115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ransistors - SRAM memory cell - what ...">
            <a:extLst>
              <a:ext uri="{FF2B5EF4-FFF2-40B4-BE49-F238E27FC236}">
                <a16:creationId xmlns:a16="http://schemas.microsoft.com/office/drawing/2014/main" id="{747C7916-0D02-2F3E-236E-65DAA4EB1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584" y="1824038"/>
            <a:ext cx="2134258" cy="160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017C22-E701-DCC7-6270-5673A4603CE0}"/>
              </a:ext>
            </a:extLst>
          </p:cNvPr>
          <p:cNvSpPr txBox="1"/>
          <p:nvPr/>
        </p:nvSpPr>
        <p:spPr>
          <a:xfrm>
            <a:off x="9346794" y="1450123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7068C"/>
                </a:solidFill>
              </a:rPr>
              <a:t>SRAM cell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C8240-B1AC-AE30-3528-0D9BDB231CBB}"/>
              </a:ext>
            </a:extLst>
          </p:cNvPr>
          <p:cNvSpPr txBox="1"/>
          <p:nvPr/>
        </p:nvSpPr>
        <p:spPr>
          <a:xfrm>
            <a:off x="9443999" y="3825623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7068C"/>
                </a:solidFill>
              </a:rPr>
              <a:t>DRAM cell</a:t>
            </a:r>
          </a:p>
        </p:txBody>
      </p:sp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978408" y="1481328"/>
          <a:ext cx="6766560" cy="370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/>
                <a:gridCol w="2743200"/>
                <a:gridCol w="2560320"/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Internal memory (SRAM)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External memory (DRAM)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Location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On-chip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Off-chip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Storage cell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6-T cell (cross-coupled inverters)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Capacitor + access transistor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Density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Capacity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Small (KB–MB)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Large (GB)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Very fast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Slower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Power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Higher static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Lower static, higher dynamic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Access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Direct by logic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Through a memory controller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Refresh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99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On-Chip Memory Sizes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97280" y="1783080"/>
          <a:ext cx="10058400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/>
                <a:gridCol w="2103120"/>
                <a:gridCol w="1371600"/>
                <a:gridCol w="4023360"/>
              </a:tblGrid>
              <a:tr h="475488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On-chip memory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Typical size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Laptop CPU (Intel Core)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SRAM (L1/L2/L3)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20–40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L3 dominates; very fast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NVIDIA A100 GPU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SRAM (L2 cache)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~40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HBM2e (40–80 GB) is off-chip, on-package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Xilinx Virtex-7 FPGA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BRAM (36 Kb blocks)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2–6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Distributed across the fabric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Custom ASIC (5 mm², 16 nm)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SRAM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5–10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Depends on layout and redundancy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4"/>
          <p:cNvSpPr/>
          <p:nvPr/>
        </p:nvSpPr>
        <p:spPr>
          <a:xfrm>
            <a:off x="2926080" y="4526280"/>
            <a:ext cx="6400800" cy="731520"/>
          </a:xfrm>
          <a:prstGeom prst="roundRect">
            <a:avLst>
              <a:gd name="adj" fmla="val 30000"/>
            </a:avLst>
          </a:prstGeom>
          <a:solidFill>
            <a:srgbClr val="EEE6F3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2000" b="1" dirty="0">
                <a:solidFill>
                  <a:srgbClr val="57068C"/>
                </a:solidFill>
              </a:rPr>
              <a:t>Lesson: internal memory is limited. Use it judiciously.</a:t>
            </a:r>
            <a:endParaRPr lang="en-US" sz="2000" dirty="0"/>
          </a:p>
        </p:txBody>
      </p:sp>
      <p:sp>
        <p:nvSpPr>
          <p:cNvPr id="5" name="TextBox 5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100" dirty="0">
                <a:solidFill>
                  <a:srgbClr val="6E6E6E"/>
                </a:solidFill>
              </a:rPr>
              <a:t>A 16 nm 6-T high-density bitcell is about 0.07 µm² (TSMC 128 Mb SRAM, ISSCC 2014), so 5 mm² of bitcells holds ≈ 70 Mbit — roughly 5–7 MB once decoders and sense amplifiers are counted.</a:t>
            </a:r>
            <a:endParaRPr lang="en-US" sz="11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Video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6492240" cy="420624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18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600"/>
            </a:lvl2pPr>
          </a:lstStyle>
          <a:p>
            <a:r>
              <a:rPr lang="en-US" dirty="0"/>
              <a:t>A video processor stores 8 frames of raw video</a:t>
            </a:r>
            <a:endParaRPr lang="en-US" dirty="0"/>
          </a:p>
          <a:p>
            <a:pPr lvl="1"/>
            <a:r>
              <a:rPr lang="en-US" dirty="0"/>
              <a:t>512 × 512 pixels, 3 color channels, 8 bits per channel</a:t>
            </a:r>
            <a:endParaRPr lang="en-US" dirty="0"/>
          </a:p>
          <a:p>
            <a:r>
              <a:rPr lang="en-US" dirty="0"/>
              <a:t>Memory capacity</a:t>
            </a:r>
            <a:endParaRPr lang="en-US" dirty="0"/>
          </a:p>
          <a:p>
            <a:pPr lvl="1"/>
            <a:r>
              <a:rPr lang="en-US" dirty="0">
                <a:latin typeface="Cambria Math"/>
              </a:rPr>
              <a:t>𝐵</a:t>
            </a:r>
            <a:r>
              <a:rPr lang="en-US" dirty="0"/>
              <a:t xml:space="preserve"> = 512 × 512 × 3 × 8 bytes = 3·2</a:t>
            </a:r>
            <a:r>
              <a:rPr lang="en-US" baseline="30000" dirty="0"/>
              <a:t>21</a:t>
            </a:r>
            <a:r>
              <a:rPr lang="en-US" dirty="0"/>
              <a:t xml:space="preserve"> bytes ≈ </a:t>
            </a:r>
            <a:r>
              <a:rPr lang="en-US" b="1" dirty="0">
                <a:solidFill>
                  <a:srgbClr val="57068C"/>
                </a:solidFill>
              </a:rPr>
              <a:t>6.3 MB</a:t>
            </a:r>
            <a:endParaRPr lang="en-US" dirty="0"/>
          </a:p>
          <a:p>
            <a:pPr lvl="1"/>
            <a:r>
              <a:rPr lang="en-US" dirty="0"/>
              <a:t>A sizeable portion of memory, even on a large chip</a:t>
            </a:r>
            <a:endParaRPr lang="en-US" dirty="0"/>
          </a:p>
          <a:p>
            <a:r>
              <a:rPr lang="en-US" dirty="0"/>
              <a:t>Stored as 32-bit words</a:t>
            </a:r>
            <a:endParaRPr lang="en-US" dirty="0"/>
          </a:p>
          <a:p>
            <a:pPr lvl="1"/>
            <a:r>
              <a:rPr lang="en-US" dirty="0">
                <a:latin typeface="Cambria Math"/>
              </a:rPr>
              <a:t>𝑁</a:t>
            </a:r>
            <a:r>
              <a:rPr lang="en-US" dirty="0"/>
              <a:t xml:space="preserve"> = </a:t>
            </a:r>
            <a:r>
              <a:rPr lang="en-US" dirty="0">
                <a:latin typeface="Cambria Math"/>
              </a:rPr>
              <a:t>𝐵</a:t>
            </a:r>
            <a:r>
              <a:rPr lang="en-US" dirty="0"/>
              <a:t>/4 = 3·2</a:t>
            </a:r>
            <a:r>
              <a:rPr lang="en-US" baseline="30000" dirty="0"/>
              <a:t>19</a:t>
            </a:r>
            <a:r>
              <a:rPr lang="en-US" dirty="0"/>
              <a:t xml:space="preserve"> ≈ 1.57 M words</a:t>
            </a:r>
            <a:endParaRPr lang="en-US" dirty="0"/>
          </a:p>
          <a:p>
            <a:r>
              <a:rPr lang="en-US" dirty="0"/>
              <a:t>Address bits: the smallest K with 2</a:t>
            </a:r>
            <a:r>
              <a:rPr lang="en-US" baseline="30000" dirty="0"/>
              <a:t>K</a:t>
            </a:r>
            <a:r>
              <a:rPr lang="en-US" dirty="0"/>
              <a:t xml:space="preserve"> ≥ the count</a:t>
            </a:r>
            <a:endParaRPr lang="en-US" dirty="0"/>
          </a:p>
          <a:p>
            <a:pPr lvl="1"/>
            <a:r>
              <a:rPr lang="en-US" dirty="0"/>
              <a:t>Byte addressing: 2</a:t>
            </a:r>
            <a:r>
              <a:rPr lang="en-US" baseline="30000" dirty="0"/>
              <a:t>K</a:t>
            </a:r>
            <a:r>
              <a:rPr lang="en-US" dirty="0"/>
              <a:t xml:space="preserve"> ≥ 3·2</a:t>
            </a:r>
            <a:r>
              <a:rPr lang="en-US" baseline="30000" dirty="0"/>
              <a:t>21</a:t>
            </a:r>
            <a:r>
              <a:rPr lang="en-US" dirty="0"/>
              <a:t xml:space="preserve"> → </a:t>
            </a:r>
            <a:r>
              <a:rPr lang="en-US" b="1" dirty="0">
                <a:solidFill>
                  <a:srgbClr val="57068C"/>
                </a:solidFill>
              </a:rPr>
              <a:t>K = 23</a:t>
            </a:r>
            <a:endParaRPr lang="en-US" dirty="0"/>
          </a:p>
          <a:p>
            <a:pPr lvl="1"/>
            <a:r>
              <a:rPr lang="en-US" dirty="0"/>
              <a:t>Word addressing: 2</a:t>
            </a:r>
            <a:r>
              <a:rPr lang="en-US" baseline="30000" dirty="0"/>
              <a:t>K</a:t>
            </a:r>
            <a:r>
              <a:rPr lang="en-US" dirty="0"/>
              <a:t xml:space="preserve"> ≥ 3·2</a:t>
            </a:r>
            <a:r>
              <a:rPr lang="en-US" baseline="30000" dirty="0"/>
              <a:t>19</a:t>
            </a:r>
            <a:r>
              <a:rPr lang="en-US" dirty="0"/>
              <a:t xml:space="preserve"> → </a:t>
            </a:r>
            <a:r>
              <a:rPr lang="en-US" b="1" dirty="0">
                <a:solidFill>
                  <a:srgbClr val="57068C"/>
                </a:solidFill>
              </a:rPr>
              <a:t>K = 21</a:t>
            </a:r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8001000" y="1783080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5" name="Shape 5"/>
          <p:cNvSpPr/>
          <p:nvPr/>
        </p:nvSpPr>
        <p:spPr>
          <a:xfrm>
            <a:off x="8083296" y="1865376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8165592" y="1947672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8247888" y="2029968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8" name="Shape 8"/>
          <p:cNvSpPr/>
          <p:nvPr/>
        </p:nvSpPr>
        <p:spPr>
          <a:xfrm>
            <a:off x="8330184" y="2112264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8412480" y="2194560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10" name="Shape 10"/>
          <p:cNvSpPr/>
          <p:nvPr/>
        </p:nvSpPr>
        <p:spPr>
          <a:xfrm>
            <a:off x="8494776" y="2276856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8577072" y="2359152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500" b="1" dirty="0">
                <a:solidFill>
                  <a:srgbClr val="330662"/>
                </a:solidFill>
              </a:rPr>
              <a:t>512 × 512 × 3</a:t>
            </a:r>
            <a:endParaRPr lang="en-US" sz="15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one frame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8001000" y="3749040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8 frames</a:t>
            </a:r>
            <a:endParaRPr lang="en-US" sz="1200" dirty="0"/>
          </a:p>
        </p:txBody>
      </p:sp>
      <p:sp>
        <p:nvSpPr>
          <p:cNvPr id="13" name="TextBox 13"/>
          <p:cNvSpPr txBox="1"/>
          <p:nvPr/>
        </p:nvSpPr>
        <p:spPr>
          <a:xfrm>
            <a:off x="8001000" y="416052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3000" b="1" dirty="0">
                <a:solidFill>
                  <a:srgbClr val="57068C"/>
                </a:solidFill>
              </a:rPr>
              <a:t>6.3 MB</a:t>
            </a:r>
            <a:endParaRPr lang="en-US" sz="3000" dirty="0"/>
          </a:p>
        </p:txBody>
      </p:sp>
      <p:sp>
        <p:nvSpPr>
          <p:cNvPr id="14" name="TextBox 14"/>
          <p:cNvSpPr txBox="1"/>
          <p:nvPr/>
        </p:nvSpPr>
        <p:spPr>
          <a:xfrm>
            <a:off x="8001000" y="47548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capacity</a:t>
            </a:r>
            <a:endParaRPr lang="en-US" sz="1200" dirty="0"/>
          </a:p>
        </p:txBody>
      </p:sp>
      <p:sp>
        <p:nvSpPr>
          <p:cNvPr id="15" name="TextBox 15"/>
          <p:cNvSpPr txBox="1"/>
          <p:nvPr/>
        </p:nvSpPr>
        <p:spPr>
          <a:xfrm>
            <a:off x="9646920" y="416052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3000" b="1" dirty="0">
                <a:solidFill>
                  <a:srgbClr val="00857C"/>
                </a:solidFill>
              </a:rPr>
              <a:t>23 bits</a:t>
            </a:r>
            <a:endParaRPr lang="en-US" sz="3000" dirty="0"/>
          </a:p>
        </p:txBody>
      </p:sp>
      <p:sp>
        <p:nvSpPr>
          <p:cNvPr id="16" name="TextBox 16"/>
          <p:cNvSpPr txBox="1"/>
          <p:nvPr/>
        </p:nvSpPr>
        <p:spPr>
          <a:xfrm>
            <a:off x="9646920" y="47548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byte address</a:t>
            </a:r>
            <a:endParaRPr lang="en-US" sz="1200" dirty="0"/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 vs. Bulk Storage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97280" y="16276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700" dirty="0">
                <a:solidFill>
                  <a:srgbClr val="262626"/>
                </a:solidFill>
              </a:rPr>
              <a:t>Every IP holds a mix. The choice is made per value, not per design.</a:t>
            </a:r>
            <a:endParaRPr lang="en-US" sz="1700" dirty="0"/>
          </a:p>
        </p:txBody>
      </p:sp>
      <p:sp>
        <p:nvSpPr>
          <p:cNvPr id="4" name="Shape 4"/>
          <p:cNvSpPr/>
          <p:nvPr/>
        </p:nvSpPr>
        <p:spPr>
          <a:xfrm>
            <a:off x="1097280" y="2103120"/>
            <a:ext cx="4846320" cy="2514600"/>
          </a:xfrm>
          <a:prstGeom prst="roundRect">
            <a:avLst>
              <a:gd name="adj" fmla="val 6000"/>
            </a:avLst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164592" tIns="82296" rIns="164592" bIns="82296" anchor="t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900" b="1" dirty="0">
                <a:solidFill>
                  <a:srgbClr val="57068C"/>
                </a:solidFill>
              </a:rPr>
              <a:t>Registers</a:t>
            </a:r>
            <a:endParaRPr lang="en-US" sz="19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Parallel access: many values in the same cycle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Any register value is available to the datapath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Higher area per bit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A host reads and writes them one at a time</a:t>
            </a:r>
            <a:endParaRPr lang="en-US" sz="1400" dirty="0"/>
          </a:p>
        </p:txBody>
      </p:sp>
      <p:sp>
        <p:nvSpPr>
          <p:cNvPr id="5" name="Shape 5"/>
          <p:cNvSpPr/>
          <p:nvPr/>
        </p:nvSpPr>
        <p:spPr>
          <a:xfrm>
            <a:off x="6309360" y="2103120"/>
            <a:ext cx="4846320" cy="25146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164592" tIns="82296" rIns="164592" bIns="82296" anchor="t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900" b="1" dirty="0">
                <a:solidFill>
                  <a:srgbClr val="57068C"/>
                </a:solidFill>
              </a:rPr>
              <a:t>Bulk storage</a:t>
            </a:r>
            <a:endParaRPr lang="en-US" sz="19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Typically one word per access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Much higher density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A host moves data to and from it in bulk</a:t>
            </a:r>
            <a:endParaRPr lang="en-US" sz="14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400" dirty="0">
                <a:solidFill>
                  <a:srgbClr val="262626"/>
                </a:solidFill>
              </a:rPr>
              <a:t>Block RAM on chip, DRAM off chip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1097280" y="4892040"/>
            <a:ext cx="10058400" cy="731520"/>
          </a:xfrm>
          <a:prstGeom prst="roundRect">
            <a:avLst>
              <a:gd name="adj" fmla="val 20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700" dirty="0">
                <a:solidFill>
                  <a:srgbClr val="262626"/>
                </a:solidFill>
              </a:rPr>
              <a:t xml:space="preserve">A few values needed at once → </a:t>
            </a:r>
            <a:r>
              <a:rPr lang="en-US" sz="1700" b="1" dirty="0">
                <a:solidFill>
                  <a:srgbClr val="57068C"/>
                </a:solidFill>
              </a:rPr>
              <a:t>registers</a:t>
            </a:r>
            <a:r>
              <a:rPr lang="en-US" sz="1700" dirty="0">
                <a:solidFill>
                  <a:srgbClr val="262626"/>
                </a:solidFill>
              </a:rPr>
              <a:t xml:space="preserve">.     Thousands touched one at a time → </a:t>
            </a:r>
            <a:r>
              <a:rPr lang="en-US" sz="1700" b="1" dirty="0">
                <a:solidFill>
                  <a:srgbClr val="57068C"/>
                </a:solidFill>
              </a:rPr>
              <a:t>bulk storage</a:t>
            </a:r>
            <a:r>
              <a:rPr lang="en-US" sz="1700" dirty="0">
                <a:solidFill>
                  <a:srgbClr val="262626"/>
                </a:solidFill>
              </a:rPr>
              <a:t>.</a:t>
            </a:r>
            <a:endParaRPr lang="en-US" sz="1700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87FE-43B9-CB2D-926A-02E1676E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Memory-Mapped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1F28A-791D-8E60-69BD-4F5F79122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9213" cy="4329817"/>
          </a:xfrm>
        </p:spPr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Registers can also be memory-mapped</a:t>
            </a:r>
          </a:p>
          <a:p>
            <a:pPr lvl="1"/>
            <a:r>
              <a:rPr lang="en-US" dirty="0"/>
              <a:t>Connected to their own address decoder</a:t>
            </a:r>
          </a:p>
          <a:p>
            <a:pPr lvl="1"/>
            <a:r>
              <a:rPr lang="en-US" dirty="0"/>
              <a:t>Determines which register to read/write</a:t>
            </a:r>
          </a:p>
          <a:p>
            <a:endParaRPr lang="en-US" dirty="0"/>
          </a:p>
          <a:p>
            <a:r>
              <a:rPr lang="en-US" dirty="0"/>
              <a:t>Common interface to processor</a:t>
            </a:r>
          </a:p>
          <a:p>
            <a:pPr lvl="1"/>
            <a:r>
              <a:rPr lang="en-US" dirty="0"/>
              <a:t>Processor sees registers and block memory in one address space</a:t>
            </a:r>
          </a:p>
          <a:p>
            <a:pPr lvl="1"/>
            <a:r>
              <a:rPr lang="en-US" dirty="0"/>
              <a:t>Being addressable is independent of what the storage is made of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C3D1A-64AB-C839-848B-F6555E63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/>
        <mc:Fallback xmlns=""/>
      </mc:AlternateContent>
      <p:sp>
        <p:nvSpPr>
          <p:cNvPr id="2" name="Shape 2"/>
          <p:cNvSpPr/>
          <p:nvPr/>
        </p:nvSpPr>
        <p:spPr>
          <a:xfrm>
            <a:off x="7223760" y="2011680"/>
            <a:ext cx="365760" cy="301752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3" name="TextBox 3"/>
          <p:cNvSpPr txBox="1"/>
          <p:nvPr/>
        </p:nvSpPr>
        <p:spPr>
          <a:xfrm>
            <a:off x="6720840" y="1691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00857C"/>
                </a:solidFill>
              </a:rPr>
              <a:t>Data bus</a:t>
            </a:r>
            <a:endParaRPr lang="en-US" sz="1200" dirty="0"/>
          </a:p>
        </p:txBody>
      </p:sp>
      <p:sp>
        <p:nvSpPr>
          <p:cNvPr id="4" name="Shape 4"/>
          <p:cNvSpPr/>
          <p:nvPr/>
        </p:nvSpPr>
        <p:spPr>
          <a:xfrm>
            <a:off x="8183880" y="2011680"/>
            <a:ext cx="365760" cy="3017520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5" name="TextBox 5"/>
          <p:cNvSpPr txBox="1"/>
          <p:nvPr/>
        </p:nvSpPr>
        <p:spPr>
          <a:xfrm>
            <a:off x="7818120" y="16916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2F6FA8"/>
                </a:solidFill>
              </a:rPr>
              <a:t>Address bus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8915400" y="2331720"/>
            <a:ext cx="868680" cy="548640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2F6FA8"/>
                </a:solidFill>
              </a:rPr>
              <a:t>decoder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>
            <a:off x="8549640" y="2606040"/>
            <a:ext cx="320040" cy="0"/>
          </a:xfrm>
          <a:prstGeom prst="straightConnector1">
            <a:avLst/>
          </a:prstGeom>
          <a:ln w="15875">
            <a:solidFill>
              <a:srgbClr val="2F6FA8"/>
            </a:solidFill>
            <a:tailEnd type="triangle" w="med" len="med"/>
          </a:ln>
        </p:spPr>
      </p:cxnSp>
      <p:cxnSp>
        <p:nvCxnSpPr>
          <p:cNvPr id="8" name="Connector 8"/>
          <p:cNvCxnSpPr/>
          <p:nvPr/>
        </p:nvCxnSpPr>
        <p:spPr>
          <a:xfrm>
            <a:off x="9784080" y="2606040"/>
            <a:ext cx="274320" cy="0"/>
          </a:xfrm>
          <a:prstGeom prst="straightConnector1">
            <a:avLst/>
          </a:prstGeom>
          <a:ln w="15875">
            <a:solidFill>
              <a:srgbClr val="2F6FA8"/>
            </a:solidFill>
            <a:tailEnd type="triangle" w="med" len="med"/>
          </a:ln>
        </p:spPr>
      </p:cxnSp>
      <p:cxnSp>
        <p:nvCxnSpPr>
          <p:cNvPr id="9" name="Connector 9"/>
          <p:cNvCxnSpPr/>
          <p:nvPr/>
        </p:nvCxnSpPr>
        <p:spPr>
          <a:xfrm>
            <a:off x="7589520" y="3200400"/>
            <a:ext cx="2468880" cy="0"/>
          </a:xfrm>
          <a:prstGeom prst="straightConnector1">
            <a:avLst/>
          </a:prstGeom>
          <a:ln w="15875">
            <a:solidFill>
              <a:srgbClr val="00857C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10058400" y="19659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Registers</a:t>
            </a:r>
            <a:endParaRPr lang="en-US" sz="1300" dirty="0"/>
          </a:p>
        </p:txBody>
      </p:sp>
      <p:sp>
        <p:nvSpPr>
          <p:cNvPr id="11" name="Shape 11"/>
          <p:cNvSpPr/>
          <p:nvPr/>
        </p:nvSpPr>
        <p:spPr>
          <a:xfrm>
            <a:off x="10058400" y="2240280"/>
            <a:ext cx="1097280" cy="27432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000" dirty="0"/>
          </a:p>
        </p:txBody>
      </p:sp>
      <p:sp>
        <p:nvSpPr>
          <p:cNvPr id="12" name="Shape 12"/>
          <p:cNvSpPr/>
          <p:nvPr/>
        </p:nvSpPr>
        <p:spPr>
          <a:xfrm>
            <a:off x="10058400" y="2514600"/>
            <a:ext cx="1097280" cy="27432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000" dirty="0"/>
          </a:p>
        </p:txBody>
      </p:sp>
      <p:sp>
        <p:nvSpPr>
          <p:cNvPr id="13" name="Shape 13"/>
          <p:cNvSpPr/>
          <p:nvPr/>
        </p:nvSpPr>
        <p:spPr>
          <a:xfrm>
            <a:off x="10058400" y="2788920"/>
            <a:ext cx="1097280" cy="27432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000" dirty="0"/>
          </a:p>
        </p:txBody>
      </p:sp>
      <p:sp>
        <p:nvSpPr>
          <p:cNvPr id="14" name="Shape 14"/>
          <p:cNvSpPr/>
          <p:nvPr/>
        </p:nvSpPr>
        <p:spPr>
          <a:xfrm>
            <a:off x="8915400" y="3886200"/>
            <a:ext cx="868680" cy="548640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2F6FA8"/>
                </a:solidFill>
              </a:rPr>
              <a:t>decoder</a:t>
            </a:r>
            <a:endParaRPr lang="en-US" sz="1100" dirty="0"/>
          </a:p>
        </p:txBody>
      </p:sp>
      <p:cxnSp>
        <p:nvCxnSpPr>
          <p:cNvPr id="15" name="Connector 15"/>
          <p:cNvCxnSpPr/>
          <p:nvPr/>
        </p:nvCxnSpPr>
        <p:spPr>
          <a:xfrm>
            <a:off x="8549640" y="4160520"/>
            <a:ext cx="320040" cy="0"/>
          </a:xfrm>
          <a:prstGeom prst="straightConnector1">
            <a:avLst/>
          </a:prstGeom>
          <a:ln w="15875">
            <a:solidFill>
              <a:srgbClr val="2F6FA8"/>
            </a:solidFill>
            <a:tailEnd type="triangle" w="med" len="med"/>
          </a:ln>
        </p:spPr>
      </p:cxnSp>
      <p:cxnSp>
        <p:nvCxnSpPr>
          <p:cNvPr id="16" name="Connector 16"/>
          <p:cNvCxnSpPr/>
          <p:nvPr/>
        </p:nvCxnSpPr>
        <p:spPr>
          <a:xfrm>
            <a:off x="9784080" y="4160520"/>
            <a:ext cx="274320" cy="0"/>
          </a:xfrm>
          <a:prstGeom prst="straightConnector1">
            <a:avLst/>
          </a:prstGeom>
          <a:ln w="15875">
            <a:solidFill>
              <a:srgbClr val="2F6FA8"/>
            </a:solidFill>
            <a:tailEnd type="triangle" w="med" len="med"/>
          </a:ln>
        </p:spPr>
      </p:cxnSp>
      <p:cxnSp>
        <p:nvCxnSpPr>
          <p:cNvPr id="17" name="Connector 17"/>
          <p:cNvCxnSpPr/>
          <p:nvPr/>
        </p:nvCxnSpPr>
        <p:spPr>
          <a:xfrm>
            <a:off x="7589520" y="4754880"/>
            <a:ext cx="2468880" cy="0"/>
          </a:xfrm>
          <a:prstGeom prst="straightConnector1">
            <a:avLst/>
          </a:prstGeom>
          <a:ln w="15875">
            <a:solidFill>
              <a:srgbClr val="00857C"/>
            </a:solidFill>
          </a:ln>
        </p:spPr>
      </p:cxnSp>
      <p:sp>
        <p:nvSpPr>
          <p:cNvPr id="18" name="TextBox 18"/>
          <p:cNvSpPr txBox="1"/>
          <p:nvPr/>
        </p:nvSpPr>
        <p:spPr>
          <a:xfrm>
            <a:off x="10058400" y="35204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Block memory</a:t>
            </a:r>
            <a:endParaRPr lang="en-US" sz="1300" dirty="0"/>
          </a:p>
        </p:txBody>
      </p:sp>
      <p:sp>
        <p:nvSpPr>
          <p:cNvPr id="19" name="Shape 19"/>
          <p:cNvSpPr/>
          <p:nvPr/>
        </p:nvSpPr>
        <p:spPr>
          <a:xfrm>
            <a:off x="10058400" y="3794760"/>
            <a:ext cx="1097280" cy="27432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000" dirty="0"/>
          </a:p>
        </p:txBody>
      </p:sp>
      <p:sp>
        <p:nvSpPr>
          <p:cNvPr id="20" name="Shape 20"/>
          <p:cNvSpPr/>
          <p:nvPr/>
        </p:nvSpPr>
        <p:spPr>
          <a:xfrm>
            <a:off x="10058400" y="4069080"/>
            <a:ext cx="1097280" cy="27432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000" dirty="0"/>
          </a:p>
        </p:txBody>
      </p:sp>
      <p:sp>
        <p:nvSpPr>
          <p:cNvPr id="21" name="Shape 21"/>
          <p:cNvSpPr/>
          <p:nvPr/>
        </p:nvSpPr>
        <p:spPr>
          <a:xfrm>
            <a:off x="10058400" y="4343400"/>
            <a:ext cx="1097280" cy="27432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41891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E129-0CDF-72E1-65F4-FD7AD48A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 Cubic 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A HW module computes a cubic function: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2F6FA8"/>
                    </a:solidFill>
                  </a:rPr>
                  <a:t>Registers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Store polynomial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Four values, all needed in the same cycle</a:t>
                </a:r>
              </a:p>
              <a:p>
                <a:pPr lvl="1"/>
                <a:r>
                  <a:rPr lang="en-US" dirty="0"/>
                  <a:t>Want parallel access</a:t>
                </a:r>
              </a:p>
              <a:p>
                <a:pPr lvl="1"/>
                <a:r>
                  <a:rPr lang="en-US" dirty="0"/>
                  <a:t>Could have control registers, e.g. count, data valid, ready, …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Block memory</a:t>
                </a:r>
              </a:p>
              <a:p>
                <a:pPr lvl="1"/>
                <a:r>
                  <a:rPr lang="en-US" dirty="0"/>
                  <a:t>Store input and output data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 values, only one touched per cycle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  <a:blipFill>
                <a:blip r:embed="rId2"/>
                <a:stretch>
                  <a:fillRect l="-1909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22F95-B851-E362-6094-B72EDC02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mc:AlternateContent xmlns:mc="http://schemas.openxmlformats.org/markup-compatibility/2006" xmlns:a14="http://schemas.microsoft.com/office/drawing/2010/main">
        <mc:Choice Requires="a14"/>
        <mc:Fallback xmlns=""/>
      </mc:AlternateContent>
      <p:sp>
        <p:nvSpPr>
          <p:cNvPr id="2" name="TextBox 2"/>
          <p:cNvSpPr txBox="1"/>
          <p:nvPr/>
        </p:nvSpPr>
        <p:spPr>
          <a:xfrm>
            <a:off x="9418320" y="16916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Registers</a:t>
            </a:r>
            <a:endParaRPr lang="en-US" sz="1300" dirty="0"/>
          </a:p>
        </p:txBody>
      </p:sp>
      <p:sp>
        <p:nvSpPr>
          <p:cNvPr id="3" name="Shape 3"/>
          <p:cNvSpPr/>
          <p:nvPr/>
        </p:nvSpPr>
        <p:spPr>
          <a:xfrm>
            <a:off x="9418320" y="2011680"/>
            <a:ext cx="1645920" cy="36576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𝑎[0]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9418320" y="2377440"/>
            <a:ext cx="1645920" cy="36576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𝑎[1]</a:t>
            </a:r>
            <a:endParaRPr lang="en-US" sz="1300" dirty="0"/>
          </a:p>
        </p:txBody>
      </p:sp>
      <p:sp>
        <p:nvSpPr>
          <p:cNvPr id="5" name="Shape 5"/>
          <p:cNvSpPr/>
          <p:nvPr/>
        </p:nvSpPr>
        <p:spPr>
          <a:xfrm>
            <a:off x="9418320" y="2743200"/>
            <a:ext cx="1645920" cy="36576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𝑎[2]</a:t>
            </a:r>
            <a:endParaRPr lang="en-US" sz="1300" dirty="0"/>
          </a:p>
        </p:txBody>
      </p:sp>
      <p:sp>
        <p:nvSpPr>
          <p:cNvPr id="6" name="Shape 6"/>
          <p:cNvSpPr/>
          <p:nvPr/>
        </p:nvSpPr>
        <p:spPr>
          <a:xfrm>
            <a:off x="9418320" y="3108960"/>
            <a:ext cx="1645920" cy="36576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𝑎[3]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7955280" y="393192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𝑥[0]</a:t>
            </a:r>
            <a:endParaRPr lang="en-US" sz="1300" dirty="0"/>
          </a:p>
        </p:txBody>
      </p:sp>
      <p:sp>
        <p:nvSpPr>
          <p:cNvPr id="8" name="Shape 8"/>
          <p:cNvSpPr/>
          <p:nvPr/>
        </p:nvSpPr>
        <p:spPr>
          <a:xfrm>
            <a:off x="7955280" y="429768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𝑥[1]</a:t>
            </a:r>
            <a:endParaRPr lang="en-US" sz="1300" dirty="0"/>
          </a:p>
        </p:txBody>
      </p:sp>
      <p:sp>
        <p:nvSpPr>
          <p:cNvPr id="9" name="Shape 9"/>
          <p:cNvSpPr/>
          <p:nvPr/>
        </p:nvSpPr>
        <p:spPr>
          <a:xfrm>
            <a:off x="7955280" y="466344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</a:rPr>
              <a:t>⋮</a:t>
            </a:r>
            <a:endParaRPr lang="en-US" sz="1300" dirty="0"/>
          </a:p>
        </p:txBody>
      </p:sp>
      <p:sp>
        <p:nvSpPr>
          <p:cNvPr id="10" name="Shape 10"/>
          <p:cNvSpPr/>
          <p:nvPr/>
        </p:nvSpPr>
        <p:spPr>
          <a:xfrm>
            <a:off x="7955280" y="502920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𝑥[𝑛−1]</a:t>
            </a:r>
            <a:endParaRPr lang="en-US" sz="1300" dirty="0"/>
          </a:p>
        </p:txBody>
      </p:sp>
      <p:sp>
        <p:nvSpPr>
          <p:cNvPr id="11" name="Shape 11"/>
          <p:cNvSpPr/>
          <p:nvPr/>
        </p:nvSpPr>
        <p:spPr>
          <a:xfrm>
            <a:off x="9601200" y="393192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𝑦[0]</a:t>
            </a:r>
            <a:endParaRPr lang="en-US" sz="1300" dirty="0"/>
          </a:p>
        </p:txBody>
      </p:sp>
      <p:sp>
        <p:nvSpPr>
          <p:cNvPr id="12" name="Shape 12"/>
          <p:cNvSpPr/>
          <p:nvPr/>
        </p:nvSpPr>
        <p:spPr>
          <a:xfrm>
            <a:off x="9601200" y="429768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𝑦[1]</a:t>
            </a:r>
            <a:endParaRPr lang="en-US" sz="1300" dirty="0"/>
          </a:p>
        </p:txBody>
      </p:sp>
      <p:sp>
        <p:nvSpPr>
          <p:cNvPr id="13" name="Shape 13"/>
          <p:cNvSpPr/>
          <p:nvPr/>
        </p:nvSpPr>
        <p:spPr>
          <a:xfrm>
            <a:off x="9601200" y="466344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</a:rPr>
              <a:t>⋮</a:t>
            </a:r>
            <a:endParaRPr lang="en-US" sz="1300" dirty="0"/>
          </a:p>
        </p:txBody>
      </p:sp>
      <p:sp>
        <p:nvSpPr>
          <p:cNvPr id="14" name="Shape 14"/>
          <p:cNvSpPr/>
          <p:nvPr/>
        </p:nvSpPr>
        <p:spPr>
          <a:xfrm>
            <a:off x="9601200" y="5029200"/>
            <a:ext cx="1463040" cy="3657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ambria Math"/>
              </a:rPr>
              <a:t>𝑦[𝑛−1]</a:t>
            </a:r>
            <a:endParaRPr lang="en-US" sz="1300" dirty="0"/>
          </a:p>
        </p:txBody>
      </p:sp>
      <p:sp>
        <p:nvSpPr>
          <p:cNvPr id="15" name="TextBox 15"/>
          <p:cNvSpPr txBox="1"/>
          <p:nvPr/>
        </p:nvSpPr>
        <p:spPr>
          <a:xfrm>
            <a:off x="7955280" y="54864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Block memory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4473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EB63-B3F4-ACD6-9740-DD1A05C7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DCBF-2DFA-2AAD-1BB7-585AA366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26BD-F89F-D6C7-72E4-B3E6F9E4F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AXI4-Lite</a:t>
            </a:r>
          </a:p>
          <a:p>
            <a:r>
              <a:rPr lang="en-US" sz="2400" dirty="0"/>
              <a:t>Implementing AXI4-Lite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E0901-AF8F-DC1C-D149-E0DF9740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57FFE26-B288-8DA2-44A2-71E0BB8EACBB}"/>
              </a:ext>
            </a:extLst>
          </p:cNvPr>
          <p:cNvSpPr/>
          <p:nvPr/>
        </p:nvSpPr>
        <p:spPr>
          <a:xfrm>
            <a:off x="396317" y="203650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39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6CF8-2739-9D9B-21E1-C44C7857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FC1E-8223-98FF-5EDE-863D66D2F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ARM Extensible Interface family of protocols</a:t>
            </a:r>
          </a:p>
          <a:p>
            <a:pPr lvl="1"/>
            <a:r>
              <a:rPr lang="en-US" sz="2000" dirty="0"/>
              <a:t>Others we will use in class are AXI4-Full and AXI4-Stream</a:t>
            </a:r>
          </a:p>
          <a:p>
            <a:r>
              <a:rPr lang="en-US" sz="2400" dirty="0"/>
              <a:t>Industry-standard, ubiquitously used</a:t>
            </a:r>
          </a:p>
          <a:p>
            <a:r>
              <a:rPr lang="en-US" sz="2400" dirty="0"/>
              <a:t>AXI4-Lite:</a:t>
            </a:r>
          </a:p>
          <a:p>
            <a:pPr lvl="1"/>
            <a:r>
              <a:rPr lang="en-US" sz="2000" dirty="0"/>
              <a:t>Simple</a:t>
            </a:r>
          </a:p>
          <a:p>
            <a:pPr lvl="1"/>
            <a:r>
              <a:rPr lang="en-US" sz="2000" dirty="0"/>
              <a:t>Ideal for programming registers</a:t>
            </a:r>
          </a:p>
          <a:p>
            <a:pPr lvl="1"/>
            <a:r>
              <a:rPr lang="en-US" sz="2000" dirty="0"/>
              <a:t>Modular enables flexibility in delays and scheduling at both ends</a:t>
            </a:r>
          </a:p>
          <a:p>
            <a:pPr lvl="1"/>
            <a:r>
              <a:rPr lang="en-US" sz="2000" dirty="0"/>
              <a:t>Typical throughput: 1 read / 1 write every 3-5 clock cycles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6E33A-56A5-816D-F87B-941D4D0D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24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345A-5E81-6FBB-1397-396D34A7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A381-9BA7-7F84-52A4-8A9393AA9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AXI4-Lite Use Case:  Processor to Hardware 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9207E-69D0-372A-E0FA-0CE9E180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1FF4CE-AE0E-9405-FDBF-6313B6880BDD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387AB-E646-8D26-A9C4-E1ED8BE4F8B5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1B9D96-F9DD-03AD-9EF0-74D55ED94817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719557-BBBD-650E-3732-D62BFCF1B0B7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FA11C-B31E-4968-1673-21611F9A0EBE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E6154-C76E-CDEC-5D30-9309AF561A1C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BB87E252-7BCB-307E-1556-D03B1E35E90C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D13DB5-1217-604B-48DD-885FD914755E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B5A790-0B2B-81C5-75AA-9E9FC2077A4A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2A80E85-07E8-87CE-29F3-A6A45436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7660590" cy="1719150"/>
          </a:xfrm>
        </p:spPr>
        <p:txBody>
          <a:bodyPr/>
          <a:lstStyle/>
          <a:p>
            <a:r>
              <a:rPr lang="en-US" dirty="0"/>
              <a:t>Widely-used use case</a:t>
            </a:r>
          </a:p>
          <a:p>
            <a:r>
              <a:rPr lang="en-US" dirty="0"/>
              <a:t>Hardware IP has control registers </a:t>
            </a:r>
          </a:p>
          <a:p>
            <a:r>
              <a:rPr lang="en-US" dirty="0"/>
              <a:t>Need read / write access from an embedded processor</a:t>
            </a:r>
          </a:p>
        </p:txBody>
      </p:sp>
    </p:spTree>
    <p:extLst>
      <p:ext uri="{BB962C8B-B14F-4D97-AF65-F5344CB8AC3E}">
        <p14:creationId xmlns:p14="http://schemas.microsoft.com/office/powerpoint/2010/main" val="1086520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B4CC-8E80-B401-1F51-91A20865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2A44-B3ED-6D68-D99A-91F419D5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Master-Slave and Transactions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8605C-8513-5563-A40B-65E05526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2B16C3-A3B5-30F5-2D33-7ED3B6F183C5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2FF4E4-2AC8-9B91-E2C7-EA9D95096129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A909A-F96C-4134-7CD9-450714805AB8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2BF39-5173-989A-8E06-6C8D17BDAAEB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3A83D-A11D-7BA2-605B-16A9267574D2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35558-3EAD-1B84-ABAE-E5112DFB238F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6ADABCC0-029F-E25E-1AE7-EE6EDD0C9F71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B87522-CB19-933E-5DAD-4BB371F4E273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495985-6E07-0B48-7F44-549A712AE435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6D6BA6-5A4A-1F95-238F-27D2573D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9442384" cy="17191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 AXI4-Lite:</a:t>
            </a:r>
          </a:p>
          <a:p>
            <a:r>
              <a:rPr lang="en-US" dirty="0"/>
              <a:t>Each read or write of a single word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transaction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</a:t>
            </a:r>
            <a:r>
              <a:rPr lang="en-US" dirty="0"/>
              <a:t>:  The unit that initiates all transaction (typically the processor in this example)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Slave</a:t>
            </a:r>
            <a:r>
              <a:rPr lang="en-US" dirty="0"/>
              <a:t>:  The unit that responds to the transaction (typically the hardware IP)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AAD0F-6F85-3087-D6F6-6EF577FB61A3}"/>
              </a:ext>
            </a:extLst>
          </p:cNvPr>
          <p:cNvSpPr txBox="1"/>
          <p:nvPr/>
        </p:nvSpPr>
        <p:spPr>
          <a:xfrm>
            <a:off x="1919734" y="1368783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BE24C-B98C-FD49-8BEA-9BB1DC7BB816}"/>
              </a:ext>
            </a:extLst>
          </p:cNvPr>
          <p:cNvSpPr txBox="1"/>
          <p:nvPr/>
        </p:nvSpPr>
        <p:spPr>
          <a:xfrm>
            <a:off x="7452443" y="134779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325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21FD-8C52-CBA4-8FA1-0E938970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 AXI4-Lite Write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write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AWADDR=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AWVALID=1 </a:t>
                </a:r>
              </a:p>
              <a:p>
                <a:pPr lvl="1"/>
                <a:r>
                  <a:rPr lang="en-US" dirty="0"/>
                  <a:t>WDATA=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Both can occur in independent clock cycles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is ready for address or data it sets:</a:t>
                </a:r>
              </a:p>
              <a:p>
                <a:pPr lvl="1"/>
                <a:r>
                  <a:rPr lang="en-US" dirty="0"/>
                  <a:t>AWREADY=1 and WREADY=1</a:t>
                </a:r>
              </a:p>
              <a:p>
                <a:pPr lvl="1"/>
                <a:r>
                  <a:rPr lang="en-US" dirty="0"/>
                  <a:t>Slave can set these independently and any time it is ready</a:t>
                </a:r>
              </a:p>
              <a:p>
                <a:r>
                  <a:rPr lang="en-US" dirty="0"/>
                  <a:t>Transfer:</a:t>
                </a:r>
              </a:p>
              <a:p>
                <a:pPr lvl="1"/>
                <a:r>
                  <a:rPr lang="en-US" dirty="0"/>
                  <a:t>When AWREADY=AWVALID=1 together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pPr lvl="1"/>
                <a:r>
                  <a:rPr lang="en-US" dirty="0"/>
                  <a:t>When WREADY=WVALID=1 together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r>
                  <a:rPr lang="en-US" dirty="0"/>
                  <a:t>Write response (B channel):</a:t>
                </a:r>
              </a:p>
              <a:p>
                <a:pPr lvl="1"/>
                <a:r>
                  <a:rPr lang="en-US" dirty="0"/>
                  <a:t>After both transfers, the slave sets BVALID=1 with the write response</a:t>
                </a:r>
              </a:p>
              <a:p>
                <a:pPr lvl="1"/>
                <a:r>
                  <a:rPr lang="en-US" dirty="0"/>
                  <a:t>The master sets BREADY=1 to accept it; the response transfers when BVALID=BREADY=1</a:t>
                </a:r>
              </a:p>
              <a:p>
                <a:pPr lvl="1"/>
                <a:r>
                  <a:rPr lang="en-US" dirty="0"/>
                  <a:t>Each channel is free for the next transaction once its own handshake completes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198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9212-6EC2-EAF1-54ED-AC782421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51ABD-E695-844B-27AC-06C0BA11448C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A13EFA-1CAF-7C8F-378A-DD0F2760BBA8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953260-0679-7010-69F7-3FE9282B2384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703EFF-B4A1-54F8-432D-3B4DEF9EDEB0}"/>
              </a:ext>
            </a:extLst>
          </p:cNvPr>
          <p:cNvSpPr txBox="1"/>
          <p:nvPr/>
        </p:nvSpPr>
        <p:spPr>
          <a:xfrm>
            <a:off x="8870701" y="2360095"/>
            <a:ext cx="11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312953-0367-7FBC-7D3B-ABB51086EE16}"/>
              </a:ext>
            </a:extLst>
          </p:cNvPr>
          <p:cNvCxnSpPr>
            <a:cxnSpLocks/>
          </p:cNvCxnSpPr>
          <p:nvPr/>
        </p:nvCxnSpPr>
        <p:spPr>
          <a:xfrm flipH="1">
            <a:off x="8252937" y="2698574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411B80-1B70-B4DF-3BAF-88F5700F376F}"/>
              </a:ext>
            </a:extLst>
          </p:cNvPr>
          <p:cNvSpPr txBox="1"/>
          <p:nvPr/>
        </p:nvSpPr>
        <p:spPr>
          <a:xfrm>
            <a:off x="8419060" y="1838363"/>
            <a:ext cx="203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F8C958-6655-E647-8866-35F6BE472984}"/>
              </a:ext>
            </a:extLst>
          </p:cNvPr>
          <p:cNvCxnSpPr>
            <a:cxnSpLocks/>
          </p:cNvCxnSpPr>
          <p:nvPr/>
        </p:nvCxnSpPr>
        <p:spPr>
          <a:xfrm>
            <a:off x="8234652" y="3406386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A1B314-E9B6-DC2F-C400-B00B30E30FF6}"/>
              </a:ext>
            </a:extLst>
          </p:cNvPr>
          <p:cNvSpPr txBox="1"/>
          <p:nvPr/>
        </p:nvSpPr>
        <p:spPr>
          <a:xfrm>
            <a:off x="9007404" y="4217568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2886CB-CF5B-4093-5FD5-ECA01038E7C0}"/>
              </a:ext>
            </a:extLst>
          </p:cNvPr>
          <p:cNvCxnSpPr>
            <a:cxnSpLocks/>
          </p:cNvCxnSpPr>
          <p:nvPr/>
        </p:nvCxnSpPr>
        <p:spPr>
          <a:xfrm flipH="1">
            <a:off x="8252937" y="389726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A052BC-9C1A-5654-683D-A6A5020CEDF0}"/>
              </a:ext>
            </a:extLst>
          </p:cNvPr>
          <p:cNvSpPr txBox="1"/>
          <p:nvPr/>
        </p:nvSpPr>
        <p:spPr>
          <a:xfrm>
            <a:off x="8419060" y="3037054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2C7A94-FF0F-C37D-53E2-D10A91ECD914}"/>
              </a:ext>
            </a:extLst>
          </p:cNvPr>
          <p:cNvCxnSpPr>
            <a:cxnSpLocks/>
          </p:cNvCxnSpPr>
          <p:nvPr/>
        </p:nvCxnSpPr>
        <p:spPr>
          <a:xfrm flipH="1">
            <a:off x="8252937" y="457001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5AC03-FD8D-71E0-B038-2A47BCB6594F}"/>
              </a:ext>
            </a:extLst>
          </p:cNvPr>
          <p:cNvSpPr txBox="1"/>
          <p:nvPr/>
        </p:nvSpPr>
        <p:spPr>
          <a:xfrm>
            <a:off x="8870701" y="3542024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796F23-4048-4397-A021-B497D878C910}"/>
              </a:ext>
            </a:extLst>
          </p:cNvPr>
          <p:cNvCxnSpPr>
            <a:cxnSpLocks/>
          </p:cNvCxnSpPr>
          <p:nvPr/>
        </p:nvCxnSpPr>
        <p:spPr>
          <a:xfrm>
            <a:off x="8285322" y="522867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F4AD49-3511-2FA3-BBE3-5B8F8DCD6A7F}"/>
              </a:ext>
            </a:extLst>
          </p:cNvPr>
          <p:cNvSpPr txBox="1"/>
          <p:nvPr/>
        </p:nvSpPr>
        <p:spPr>
          <a:xfrm>
            <a:off x="8950851" y="4812282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09AA2E-AA7D-9CAA-B1BA-0C97439A7B6C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3846A0-4C34-3391-0EDE-34D4750D84D5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441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F531127-1829-ED27-52AD-99C385402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9" y="1626723"/>
            <a:ext cx="8057903" cy="3224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B13BA9-9A46-4AF4-C293-986B5B84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BF05D-9304-4AEA-7E92-4A33FD03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19C5B9-EA49-E72C-5486-8BB3EC84730B}"/>
              </a:ext>
            </a:extLst>
          </p:cNvPr>
          <p:cNvCxnSpPr>
            <a:cxnSpLocks/>
          </p:cNvCxnSpPr>
          <p:nvPr/>
        </p:nvCxnSpPr>
        <p:spPr>
          <a:xfrm>
            <a:off x="1818670" y="2321842"/>
            <a:ext cx="0" cy="32766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06A970-5A1A-9EB6-66EF-04774D5681AE}"/>
              </a:ext>
            </a:extLst>
          </p:cNvPr>
          <p:cNvCxnSpPr/>
          <p:nvPr/>
        </p:nvCxnSpPr>
        <p:spPr>
          <a:xfrm>
            <a:off x="5928287" y="2733770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4D5BC62-C73C-14D6-6B9F-7F7AD0CBAD22}"/>
              </a:ext>
            </a:extLst>
          </p:cNvPr>
          <p:cNvSpPr txBox="1"/>
          <p:nvPr/>
        </p:nvSpPr>
        <p:spPr>
          <a:xfrm>
            <a:off x="3025074" y="4938423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D4B7E3F-44D7-38F5-2410-AF173B8D2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822" y="152412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with </a:t>
            </a:r>
          </a:p>
          <a:p>
            <a:r>
              <a:rPr lang="en-US" dirty="0"/>
              <a:t>Slave is ready before master </a:t>
            </a:r>
          </a:p>
          <a:p>
            <a:r>
              <a:rPr lang="en-US" dirty="0"/>
              <a:t>Address write before data write</a:t>
            </a:r>
          </a:p>
          <a:p>
            <a:r>
              <a:rPr lang="en-US" dirty="0"/>
              <a:t>But either order or together is fine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91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6B72D-C84B-0BD0-5B48-B01620B7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F34BB9-F4A3-0FB3-54ED-BCA94A68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3" y="1859756"/>
            <a:ext cx="7842381" cy="31384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D68D8A-C931-623C-D5C4-4698C95C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 With Stall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217BF-E390-B999-67B3-6AE0F521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2305EF-3619-44A8-63CC-D35E7453D130}"/>
              </a:ext>
            </a:extLst>
          </p:cNvPr>
          <p:cNvCxnSpPr>
            <a:cxnSpLocks/>
          </p:cNvCxnSpPr>
          <p:nvPr/>
        </p:nvCxnSpPr>
        <p:spPr>
          <a:xfrm>
            <a:off x="1832958" y="2381662"/>
            <a:ext cx="0" cy="32766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A0E8C4-F7DE-76DD-E627-595B6FDCE964}"/>
              </a:ext>
            </a:extLst>
          </p:cNvPr>
          <p:cNvCxnSpPr/>
          <p:nvPr/>
        </p:nvCxnSpPr>
        <p:spPr>
          <a:xfrm>
            <a:off x="5023413" y="2797378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BD7E54-EC2C-2AD4-3D3B-E4718376672E}"/>
              </a:ext>
            </a:extLst>
          </p:cNvPr>
          <p:cNvSpPr txBox="1"/>
          <p:nvPr/>
        </p:nvSpPr>
        <p:spPr>
          <a:xfrm>
            <a:off x="3039362" y="4998243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C18ADDC-BFB6-7E3D-7F72-5A33BDD58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8110" y="158394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Master sets valid </a:t>
            </a:r>
          </a:p>
          <a:p>
            <a:r>
              <a:rPr lang="en-US" dirty="0"/>
              <a:t>Slave is not ready</a:t>
            </a:r>
          </a:p>
          <a:p>
            <a:r>
              <a:rPr lang="en-US" dirty="0"/>
              <a:t>Transfer </a:t>
            </a:r>
            <a:r>
              <a:rPr lang="en-US" dirty="0">
                <a:solidFill>
                  <a:srgbClr val="7030A0"/>
                </a:solidFill>
              </a:rPr>
              <a:t>stalls</a:t>
            </a:r>
          </a:p>
          <a:p>
            <a:r>
              <a:rPr lang="en-US" dirty="0">
                <a:solidFill>
                  <a:schemeClr val="tx1"/>
                </a:solidFill>
              </a:rPr>
              <a:t>Provides flow control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Ensures data waits until RX is ready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222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636C-B761-68A9-24F4-D17796FB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Write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Master sets AWVALID=1, AWADDR=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WDATA=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Slave is ready: AWREADY=WREADY=1</a:t>
                </a:r>
              </a:p>
              <a:p>
                <a:pPr lvl="1"/>
                <a:r>
                  <a:rPr lang="en-US" dirty="0"/>
                  <a:t>Both address and data are transferred to slave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Slave set BVALID=1 signaling transaction complete on slave side</a:t>
                </a:r>
              </a:p>
              <a:p>
                <a:pPr lvl="1"/>
                <a:r>
                  <a:rPr lang="en-US" dirty="0"/>
                  <a:t>Slave registers 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Master acknowledges with BREADY=1</a:t>
                </a:r>
              </a:p>
              <a:p>
                <a:pPr lvl="1"/>
                <a:r>
                  <a:rPr lang="en-US" dirty="0"/>
                  <a:t>Master starts next transaction in same clock cycle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write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minimum latency </a:t>
                </a:r>
                <a:r>
                  <a:rPr lang="en-US" dirty="0"/>
                  <a:t>= 2 clock cycles (master write + slave register)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D798E-4E81-1AD1-578D-2D3A8793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782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823B-A2A5-26B8-AB2C-CC64039B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AXI4-Lite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740-F840-51B3-AE57-E6635DC44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Suppose:</a:t>
            </a:r>
          </a:p>
          <a:p>
            <a:pPr lvl="1"/>
            <a:r>
              <a:rPr lang="en-US" dirty="0"/>
              <a:t>Master sets data and address on cycle 0</a:t>
            </a:r>
          </a:p>
          <a:p>
            <a:pPr lvl="1"/>
            <a:r>
              <a:rPr lang="en-US" dirty="0"/>
              <a:t>Slave is ready</a:t>
            </a:r>
          </a:p>
          <a:p>
            <a:r>
              <a:rPr lang="en-US" dirty="0"/>
              <a:t>In most practical register systems:</a:t>
            </a:r>
          </a:p>
          <a:p>
            <a:pPr lvl="1"/>
            <a:r>
              <a:rPr lang="en-US" dirty="0"/>
              <a:t>Slave takes 1-2 additional clock cycles for BREADY=1</a:t>
            </a:r>
          </a:p>
          <a:p>
            <a:r>
              <a:rPr lang="en-US" dirty="0"/>
              <a:t>Master takes at 1-2 additional clock cycles for BVALID=1 and next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CD1D8-2584-401C-49FE-5B22E7BC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CDBCF6-EFE2-E175-4B5B-B01F00DB1A28}"/>
              </a:ext>
            </a:extLst>
          </p:cNvPr>
          <p:cNvSpPr/>
          <p:nvPr/>
        </p:nvSpPr>
        <p:spPr>
          <a:xfrm>
            <a:off x="1865225" y="4124923"/>
            <a:ext cx="7481569" cy="1130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Practical throughput with AXI4-Lite:  1 word write per 3-5 clock cycles </a:t>
            </a:r>
          </a:p>
        </p:txBody>
      </p:sp>
    </p:spTree>
    <p:extLst>
      <p:ext uri="{BB962C8B-B14F-4D97-AF65-F5344CB8AC3E}">
        <p14:creationId xmlns:p14="http://schemas.microsoft.com/office/powerpoint/2010/main" val="4234192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4D11-8C98-7997-0AF6-E03FC149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0AE9-1953-E674-09A7-5AF86892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Read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read data from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ARADDR=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Indicates that it wants to read data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accepts the request:</a:t>
                </a:r>
              </a:p>
              <a:p>
                <a:pPr lvl="1"/>
                <a:r>
                  <a:rPr lang="en-US" dirty="0"/>
                  <a:t>Sets ARREADY=1</a:t>
                </a:r>
              </a:p>
              <a:p>
                <a:r>
                  <a:rPr lang="en-US" dirty="0"/>
                  <a:t>When slave has fetched data:</a:t>
                </a:r>
              </a:p>
              <a:p>
                <a:pPr lvl="1"/>
                <a:r>
                  <a:rPr lang="en-US" dirty="0"/>
                  <a:t>Sets RVALID=1,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be 0 to many cycles after ARREADY=1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Master asserts RREADY=1 when ready to accept data</a:t>
                </a:r>
              </a:p>
              <a:p>
                <a:pPr lvl="1"/>
                <a:r>
                  <a:rPr lang="en-US" dirty="0"/>
                  <a:t>RREADY could be asserted before RVALID=1</a:t>
                </a:r>
              </a:p>
              <a:p>
                <a:pPr lvl="1"/>
                <a:r>
                  <a:rPr lang="en-US" dirty="0"/>
                  <a:t>Transfer completes when RVALID=RREADY=1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398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78258-D3D7-CF5E-5F7E-94A022A8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07DFF-0E3F-18AC-DBC6-1DE80BDF32B2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57C7B-EFC6-712D-4628-80840AA8BA65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6CA9ED-69D7-4DA2-E519-5C0B24BF4636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1E3E7D-2DE5-7F29-AF8B-F0190D83FA11}"/>
              </a:ext>
            </a:extLst>
          </p:cNvPr>
          <p:cNvSpPr txBox="1"/>
          <p:nvPr/>
        </p:nvSpPr>
        <p:spPr>
          <a:xfrm>
            <a:off x="8857564" y="2527239"/>
            <a:ext cx="10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ARREADY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A26035-FB6A-A1CC-5624-60D8BEC8B52B}"/>
              </a:ext>
            </a:extLst>
          </p:cNvPr>
          <p:cNvCxnSpPr>
            <a:cxnSpLocks/>
          </p:cNvCxnSpPr>
          <p:nvPr/>
        </p:nvCxnSpPr>
        <p:spPr>
          <a:xfrm flipH="1">
            <a:off x="8252937" y="2918756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67FC9A-F1B1-B5A4-9914-F311F7E5D27C}"/>
              </a:ext>
            </a:extLst>
          </p:cNvPr>
          <p:cNvSpPr txBox="1"/>
          <p:nvPr/>
        </p:nvSpPr>
        <p:spPr>
          <a:xfrm>
            <a:off x="8419060" y="1838363"/>
            <a:ext cx="190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ARADDR, ARVALID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57CEB-BA7A-9E3F-6364-50986FE7E399}"/>
              </a:ext>
            </a:extLst>
          </p:cNvPr>
          <p:cNvSpPr txBox="1"/>
          <p:nvPr/>
        </p:nvSpPr>
        <p:spPr>
          <a:xfrm>
            <a:off x="8994179" y="4682605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653839-DFAF-6C8B-4AF8-65F35202B553}"/>
              </a:ext>
            </a:extLst>
          </p:cNvPr>
          <p:cNvCxnSpPr>
            <a:cxnSpLocks/>
          </p:cNvCxnSpPr>
          <p:nvPr/>
        </p:nvCxnSpPr>
        <p:spPr>
          <a:xfrm flipH="1">
            <a:off x="8277686" y="505193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75D292-8A57-8F60-F6EE-D97670C608AC}"/>
              </a:ext>
            </a:extLst>
          </p:cNvPr>
          <p:cNvCxnSpPr>
            <a:cxnSpLocks/>
          </p:cNvCxnSpPr>
          <p:nvPr/>
        </p:nvCxnSpPr>
        <p:spPr>
          <a:xfrm>
            <a:off x="8259401" y="4340878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FA34F58-22E3-9427-D8C3-27F3790AA37B}"/>
              </a:ext>
            </a:extLst>
          </p:cNvPr>
          <p:cNvSpPr txBox="1"/>
          <p:nvPr/>
        </p:nvSpPr>
        <p:spPr>
          <a:xfrm>
            <a:off x="8924930" y="3971544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2FEEED-AB2F-FEEF-6562-00896A9F3676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C3A48C-ECB6-1261-493F-B441862EB877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BE2C73-0EC5-397D-F215-E2D1F5DAB1FE}"/>
              </a:ext>
            </a:extLst>
          </p:cNvPr>
          <p:cNvCxnSpPr>
            <a:cxnSpLocks/>
          </p:cNvCxnSpPr>
          <p:nvPr/>
        </p:nvCxnSpPr>
        <p:spPr>
          <a:xfrm flipH="1">
            <a:off x="8259401" y="362981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3B7A58-8334-424F-DB8C-833C34C46148}"/>
              </a:ext>
            </a:extLst>
          </p:cNvPr>
          <p:cNvSpPr txBox="1"/>
          <p:nvPr/>
        </p:nvSpPr>
        <p:spPr>
          <a:xfrm>
            <a:off x="8603392" y="3193047"/>
            <a:ext cx="1569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RVALID, RDATA</a:t>
            </a:r>
          </a:p>
        </p:txBody>
      </p:sp>
    </p:spTree>
    <p:extLst>
      <p:ext uri="{BB962C8B-B14F-4D97-AF65-F5344CB8AC3E}">
        <p14:creationId xmlns:p14="http://schemas.microsoft.com/office/powerpoint/2010/main" val="4008125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4B0D-771A-D5C6-594F-DFC054BA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Read 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1E5A-B440-B4A3-F8E1-3EACA7D08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555" y="1539277"/>
            <a:ext cx="3220872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this example:</a:t>
            </a:r>
          </a:p>
          <a:p>
            <a:r>
              <a:rPr lang="en-US" dirty="0"/>
              <a:t>Slave is initially ready</a:t>
            </a:r>
            <a:br>
              <a:rPr lang="en-US" dirty="0"/>
            </a:br>
            <a:r>
              <a:rPr lang="en-US" dirty="0"/>
              <a:t>   (ARREADY=1)</a:t>
            </a:r>
          </a:p>
          <a:p>
            <a:r>
              <a:rPr lang="en-US" dirty="0"/>
              <a:t>Slave immediately accepts </a:t>
            </a:r>
            <a:br>
              <a:rPr lang="en-US" dirty="0"/>
            </a:br>
            <a:r>
              <a:rPr lang="en-US" dirty="0"/>
              <a:t>   request</a:t>
            </a:r>
          </a:p>
          <a:p>
            <a:r>
              <a:rPr lang="en-US" dirty="0"/>
              <a:t>Master is immediately available for </a:t>
            </a:r>
          </a:p>
          <a:p>
            <a:r>
              <a:rPr lang="en-US" dirty="0"/>
              <a:t> Data valid with two cycle    delay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DC1AD-D857-B948-3AFC-3E4B9424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43C87-8B7A-2091-D657-BBCB5343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47" y="2245057"/>
            <a:ext cx="7795784" cy="290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16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8310-4585-4E86-07E7-B8DA5DE1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904F-F457-DD1F-B9F9-C766FF26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Read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Master sets ARADDR=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Slave is ready: ARREADY=1</a:t>
                </a:r>
              </a:p>
              <a:p>
                <a:pPr lvl="1"/>
                <a:r>
                  <a:rPr lang="en-US" dirty="0"/>
                  <a:t>Address is transferred to slave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Slave set RVALID=1 with data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Master is immediately ready, RREADY=1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Master moves to next read address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read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Practical throughput </a:t>
                </a:r>
                <a:r>
                  <a:rPr lang="en-US" dirty="0"/>
                  <a:t>= 1 word read per 3-5 clock cycles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1F0AF-71AF-668F-FB88-44033736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704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C04C-9E18-063F-CC87-04193799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6036-A7DA-9928-FBF3-456DBED5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E5DEB-8119-61CA-0F89-916C38C3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AXI-Lite</a:t>
            </a:r>
          </a:p>
          <a:p>
            <a:r>
              <a:rPr lang="en-US" sz="2400" dirty="0"/>
              <a:t>Implementing AXI-Lite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DBF04-821A-B2C8-41F7-2B90C026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9E64F44-20E5-CE3A-8A11-76A3BCB19B05}"/>
              </a:ext>
            </a:extLst>
          </p:cNvPr>
          <p:cNvSpPr/>
          <p:nvPr/>
        </p:nvSpPr>
        <p:spPr>
          <a:xfrm>
            <a:off x="381162" y="250633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79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834E2-F7EA-9339-A6D9-3053DF6E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B12A-00CD-D1F9-83B4-00F145F2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 Connecting a Simple IP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</p:spPr>
            <p:txBody>
              <a:bodyPr/>
              <a:lstStyle/>
              <a:p>
                <a:r>
                  <a:rPr lang="en-US" dirty="0"/>
                  <a:t>ReLU + Linear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0}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Identical to Unit 1</a:t>
                </a:r>
              </a:p>
              <a:p>
                <a:r>
                  <a:rPr lang="en-US" dirty="0"/>
                  <a:t>Add an interface to a processor</a:t>
                </a:r>
              </a:p>
              <a:p>
                <a:pPr lvl="1"/>
                <a:r>
                  <a:rPr lang="en-US" dirty="0"/>
                  <a:t>Processor can be an embedded </a:t>
                </a:r>
              </a:p>
              <a:p>
                <a:pPr lvl="1"/>
                <a:r>
                  <a:rPr lang="en-US" dirty="0"/>
                  <a:t>Ex:  ARM Core on </a:t>
                </a:r>
                <a:r>
                  <a:rPr lang="en-US" dirty="0" err="1"/>
                  <a:t>Pynq</a:t>
                </a:r>
                <a:r>
                  <a:rPr lang="en-US" dirty="0"/>
                  <a:t> board</a:t>
                </a:r>
              </a:p>
              <a:p>
                <a:pPr lvl="1"/>
                <a:r>
                  <a:rPr lang="en-US" dirty="0"/>
                  <a:t>Interfaces to the IP over AXI4-Lite</a:t>
                </a:r>
              </a:p>
              <a:p>
                <a:r>
                  <a:rPr lang="en-US" dirty="0"/>
                  <a:t>Add control from host PC</a:t>
                </a:r>
              </a:p>
              <a:p>
                <a:pPr lvl="1"/>
                <a:r>
                  <a:rPr lang="en-US" dirty="0"/>
                  <a:t>Ideally </a:t>
                </a:r>
                <a:r>
                  <a:rPr lang="en-US" dirty="0" err="1"/>
                  <a:t>jupyter</a:t>
                </a:r>
                <a:r>
                  <a:rPr lang="en-US" dirty="0"/>
                  <a:t> notebook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  <a:blipFill>
                <a:blip r:embed="rId2"/>
                <a:stretch>
                  <a:fillRect l="-2297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0EF4E-B197-ACBB-2CA1-2C9B3C001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963A9-3648-9674-DFD8-3E4122D8844F}"/>
              </a:ext>
            </a:extLst>
          </p:cNvPr>
          <p:cNvSpPr/>
          <p:nvPr/>
        </p:nvSpPr>
        <p:spPr>
          <a:xfrm>
            <a:off x="10667093" y="354858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2DAD4-B330-0020-0B8C-8B95207020E6}"/>
              </a:ext>
            </a:extLst>
          </p:cNvPr>
          <p:cNvSpPr txBox="1"/>
          <p:nvPr/>
        </p:nvSpPr>
        <p:spPr>
          <a:xfrm>
            <a:off x="10526040" y="486978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/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/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/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/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blipFill>
                <a:blip r:embed="rId6"/>
                <a:stretch>
                  <a:fillRect b="-15385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F64FE1-D0B2-8F4E-69B7-3D7FB132562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9830950" y="368989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BB0E14-F841-D0D3-22E0-A2D29C392F9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830950" y="397413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E10278-C621-EA00-AC19-CF9BF0893BA7}"/>
              </a:ext>
            </a:extLst>
          </p:cNvPr>
          <p:cNvCxnSpPr>
            <a:cxnSpLocks/>
          </p:cNvCxnSpPr>
          <p:nvPr/>
        </p:nvCxnSpPr>
        <p:spPr>
          <a:xfrm flipV="1">
            <a:off x="9830950" y="421551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810439-0DA2-6177-98F0-BDC7F99F755E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9830950" y="451911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2700D5-D207-3896-9E01-072C252D9A75}"/>
              </a:ext>
            </a:extLst>
          </p:cNvPr>
          <p:cNvSpPr txBox="1"/>
          <p:nvPr/>
        </p:nvSpPr>
        <p:spPr>
          <a:xfrm>
            <a:off x="8850574" y="479430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F0A5E8-98BB-E301-773B-1A65BD17055D}"/>
              </a:ext>
            </a:extLst>
          </p:cNvPr>
          <p:cNvSpPr/>
          <p:nvPr/>
        </p:nvSpPr>
        <p:spPr>
          <a:xfrm>
            <a:off x="6937405" y="3301114"/>
            <a:ext cx="914400" cy="16383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56788417-6A64-2620-2E4C-9714E1FEABA3}"/>
              </a:ext>
            </a:extLst>
          </p:cNvPr>
          <p:cNvSpPr/>
          <p:nvPr/>
        </p:nvSpPr>
        <p:spPr>
          <a:xfrm>
            <a:off x="7878114" y="3987945"/>
            <a:ext cx="946150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74AD0-5B41-EB44-8F3D-14CFEF5796F6}"/>
              </a:ext>
            </a:extLst>
          </p:cNvPr>
          <p:cNvSpPr txBox="1"/>
          <p:nvPr/>
        </p:nvSpPr>
        <p:spPr>
          <a:xfrm>
            <a:off x="6856005" y="4939414"/>
            <a:ext cx="1233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Processor</a:t>
            </a:r>
            <a:br>
              <a:rPr lang="en-US" dirty="0"/>
            </a:br>
            <a:r>
              <a:rPr lang="en-US" dirty="0"/>
              <a:t>system</a:t>
            </a:r>
            <a:br>
              <a:rPr lang="en-US" dirty="0"/>
            </a:br>
            <a:r>
              <a:rPr lang="en-US" dirty="0"/>
              <a:t>(e.g., ARM)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042FE8-B983-2BF4-4F78-B52BD09C3B54}"/>
              </a:ext>
            </a:extLst>
          </p:cNvPr>
          <p:cNvSpPr txBox="1"/>
          <p:nvPr/>
        </p:nvSpPr>
        <p:spPr>
          <a:xfrm>
            <a:off x="7844690" y="354044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70BACE1A-4BA6-7A00-E99D-DE363F4B3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398" y="357249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D9A2029-4BD8-1325-8852-676BDC8CAB0F}"/>
              </a:ext>
            </a:extLst>
          </p:cNvPr>
          <p:cNvSpPr txBox="1"/>
          <p:nvPr/>
        </p:nvSpPr>
        <p:spPr>
          <a:xfrm>
            <a:off x="5183205" y="525245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15726E8C-C744-E4A6-6B3E-E2C913443D21}"/>
              </a:ext>
            </a:extLst>
          </p:cNvPr>
          <p:cNvSpPr/>
          <p:nvPr/>
        </p:nvSpPr>
        <p:spPr>
          <a:xfrm>
            <a:off x="6367075" y="3966149"/>
            <a:ext cx="557176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A65BD00D-56E6-79FE-EBBD-FD2A899F5532}"/>
              </a:ext>
            </a:extLst>
          </p:cNvPr>
          <p:cNvSpPr/>
          <p:nvPr/>
        </p:nvSpPr>
        <p:spPr>
          <a:xfrm rot="5400000">
            <a:off x="8927061" y="398263"/>
            <a:ext cx="408802" cy="48599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EF6B7-9F7B-45B7-76AC-609D2C978611}"/>
              </a:ext>
            </a:extLst>
          </p:cNvPr>
          <p:cNvSpPr txBox="1"/>
          <p:nvPr/>
        </p:nvSpPr>
        <p:spPr>
          <a:xfrm>
            <a:off x="8616022" y="2197809"/>
            <a:ext cx="1294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FPGA 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CF4EB3-5A30-ADB9-E794-8E043EC425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1328" y="2633516"/>
            <a:ext cx="1027308" cy="10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97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DCBE-017A-2D20-1A2E-80B827B2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6C4DC-EA63-C1AE-66E5-7E45955A9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6484051" cy="404948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RTL: Register Transfer Language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 specialized languages (e.g., </a:t>
            </a:r>
            <a:r>
              <a:rPr lang="en-US" dirty="0" err="1">
                <a:solidFill>
                  <a:schemeClr val="tx1"/>
                </a:solidFill>
              </a:rPr>
              <a:t>SystemVerilog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Manually schedule action in each clock cycle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Interfaces designed from scratch</a:t>
            </a:r>
          </a:p>
          <a:p>
            <a:pPr lvl="1"/>
            <a:r>
              <a:rPr lang="en-US" dirty="0"/>
              <a:t>High control, supports custom interfaces</a:t>
            </a:r>
          </a:p>
          <a:p>
            <a:pPr lvl="1"/>
            <a:r>
              <a:rPr lang="en-US" dirty="0"/>
              <a:t>But time-consuming, difficult to maintain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HLS:  High-Level Synthesis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Write in general purpose languages (e.g., C++)</a:t>
            </a:r>
          </a:p>
          <a:p>
            <a:pPr lvl="1"/>
            <a:r>
              <a:rPr lang="en-US" dirty="0"/>
              <a:t>Clock-level schedule determined automatically by compiler</a:t>
            </a:r>
          </a:p>
          <a:p>
            <a:pPr lvl="1"/>
            <a:r>
              <a:rPr lang="en-US" dirty="0"/>
              <a:t>API support for common interfaces (e.g., AXI)</a:t>
            </a:r>
          </a:p>
          <a:p>
            <a:pPr lvl="1"/>
            <a:r>
              <a:rPr lang="en-US" dirty="0"/>
              <a:t>Sacrifice some performance and flexibility</a:t>
            </a:r>
          </a:p>
          <a:p>
            <a:pPr lvl="1"/>
            <a:r>
              <a:rPr lang="en-US" dirty="0"/>
              <a:t>But enables rapid development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41509-EEE1-4DD7-6915-99914D6B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B6D1C-45EA-A34F-2214-5F65D6BB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273" y="1126836"/>
            <a:ext cx="2657110" cy="1962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4BD8F-D771-FB12-37E4-DBDC887B1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273" y="4085347"/>
            <a:ext cx="3172268" cy="1362265"/>
          </a:xfrm>
          <a:prstGeom prst="rect">
            <a:avLst/>
          </a:prstGeom>
        </p:spPr>
      </p:pic>
      <p:pic>
        <p:nvPicPr>
          <p:cNvPr id="9" name="Picture 2" descr="Green checkmark icon - Free green check mark icons">
            <a:extLst>
              <a:ext uri="{FF2B5EF4-FFF2-40B4-BE49-F238E27FC236}">
                <a16:creationId xmlns:a16="http://schemas.microsoft.com/office/drawing/2014/main" id="{B02B2037-F555-C091-B2B7-6A3458076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5260754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Green checkmark icon - Free green check mark icons">
            <a:extLst>
              <a:ext uri="{FF2B5EF4-FFF2-40B4-BE49-F238E27FC236}">
                <a16:creationId xmlns:a16="http://schemas.microsoft.com/office/drawing/2014/main" id="{2C45185E-8095-BB51-5D6B-5C0DC28BD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79" y="2667000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7448EC3D-7C91-6845-3651-B23C5312D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2995004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BB50B1A3-24C7-6B17-07AD-9BD671397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4932749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569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EC2F-14BA-9782-883A-7CD2C947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 FPGA Design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281C-63C7-8DA4-3BA6-8A0AC958F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922" y="1539277"/>
            <a:ext cx="4060778" cy="4329817"/>
          </a:xfrm>
        </p:spPr>
        <p:txBody>
          <a:bodyPr/>
          <a:lstStyle/>
          <a:p>
            <a:r>
              <a:rPr lang="en-US" dirty="0"/>
              <a:t>Traditional RTL Design Flow</a:t>
            </a:r>
          </a:p>
          <a:p>
            <a:pPr lvl="1"/>
            <a:r>
              <a:rPr lang="en-US" dirty="0"/>
              <a:t>Designer directly writes RTL</a:t>
            </a:r>
          </a:p>
          <a:p>
            <a:pPr lvl="1"/>
            <a:r>
              <a:rPr lang="en-US" dirty="0"/>
              <a:t>Tools simulate and synthesize</a:t>
            </a:r>
          </a:p>
          <a:p>
            <a:pPr lvl="1"/>
            <a:endParaRPr lang="en-US" dirty="0"/>
          </a:p>
          <a:p>
            <a:r>
              <a:rPr lang="en-US" dirty="0"/>
              <a:t>HLS Flow</a:t>
            </a:r>
          </a:p>
          <a:p>
            <a:pPr lvl="1"/>
            <a:r>
              <a:rPr lang="en-US" dirty="0"/>
              <a:t>Designer write high-level language (e.g., C)</a:t>
            </a:r>
          </a:p>
          <a:p>
            <a:pPr lvl="1"/>
            <a:r>
              <a:rPr lang="en-US" dirty="0"/>
              <a:t>Standard software compile-synthesis</a:t>
            </a:r>
          </a:p>
          <a:p>
            <a:pPr lvl="1"/>
            <a:r>
              <a:rPr lang="en-US" dirty="0"/>
              <a:t>RTL files auto-generated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5E58B-51A0-CB16-A594-7A4FEE42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3793E7-B7A1-782F-F1B7-698CD690A45A}"/>
              </a:ext>
            </a:extLst>
          </p:cNvPr>
          <p:cNvSpPr/>
          <p:nvPr/>
        </p:nvSpPr>
        <p:spPr>
          <a:xfrm>
            <a:off x="3814773" y="1680477"/>
            <a:ext cx="1109662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0A4F2D-47A4-A691-A73A-27E04015D15A}"/>
              </a:ext>
            </a:extLst>
          </p:cNvPr>
          <p:cNvSpPr/>
          <p:nvPr/>
        </p:nvSpPr>
        <p:spPr>
          <a:xfrm>
            <a:off x="5274478" y="1670701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A343BD7-491D-E16A-2CAA-2F78DAC4EDF1}"/>
              </a:ext>
            </a:extLst>
          </p:cNvPr>
          <p:cNvSpPr/>
          <p:nvPr/>
        </p:nvSpPr>
        <p:spPr>
          <a:xfrm>
            <a:off x="3155164" y="1933461"/>
            <a:ext cx="750098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5CF3599-9CEA-3F23-86D1-6927A7CD1E47}"/>
              </a:ext>
            </a:extLst>
          </p:cNvPr>
          <p:cNvSpPr/>
          <p:nvPr/>
        </p:nvSpPr>
        <p:spPr>
          <a:xfrm>
            <a:off x="6531786" y="196241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D8C0FFE-72BD-9141-4753-990605E0B7A0}"/>
              </a:ext>
            </a:extLst>
          </p:cNvPr>
          <p:cNvSpPr/>
          <p:nvPr/>
        </p:nvSpPr>
        <p:spPr>
          <a:xfrm>
            <a:off x="4837368" y="19432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76AE94-438E-6CA1-E3F8-BDDE90AAF95D}"/>
                  </a:ext>
                </a:extLst>
              </p:cNvPr>
              <p:cNvSpPr txBox="1"/>
              <p:nvPr/>
            </p:nvSpPr>
            <p:spPr>
              <a:xfrm>
                <a:off x="7104899" y="1972191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76AE94-438E-6CA1-E3F8-BDDE90AAF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899" y="1972191"/>
                <a:ext cx="4347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40A08C9-8F9A-C592-A92B-7061CFD979EC}"/>
              </a:ext>
            </a:extLst>
          </p:cNvPr>
          <p:cNvSpPr/>
          <p:nvPr/>
        </p:nvSpPr>
        <p:spPr>
          <a:xfrm>
            <a:off x="3607244" y="5041646"/>
            <a:ext cx="1328648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F5E446-EB2D-3250-6CF6-86A307264FCF}"/>
              </a:ext>
            </a:extLst>
          </p:cNvPr>
          <p:cNvSpPr/>
          <p:nvPr/>
        </p:nvSpPr>
        <p:spPr>
          <a:xfrm>
            <a:off x="5153211" y="4999668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51C92-30C8-71D7-4803-A16096BFA1F2}"/>
              </a:ext>
            </a:extLst>
          </p:cNvPr>
          <p:cNvSpPr txBox="1"/>
          <p:nvPr/>
        </p:nvSpPr>
        <p:spPr>
          <a:xfrm>
            <a:off x="1298274" y="1674007"/>
            <a:ext cx="1460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Human-written</a:t>
            </a:r>
            <a:br>
              <a:rPr lang="en-US" sz="1600" dirty="0"/>
            </a:br>
            <a:r>
              <a:rPr lang="en-US" sz="1600" dirty="0"/>
              <a:t>RTL files</a:t>
            </a:r>
            <a:br>
              <a:rPr lang="en-US" sz="1600" dirty="0"/>
            </a:br>
            <a:r>
              <a:rPr lang="en-US" sz="1600" dirty="0"/>
              <a:t>(e.g. SV)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6FE357F-D144-7135-3034-E2AA75D409BB}"/>
              </a:ext>
            </a:extLst>
          </p:cNvPr>
          <p:cNvSpPr/>
          <p:nvPr/>
        </p:nvSpPr>
        <p:spPr>
          <a:xfrm>
            <a:off x="4924435" y="3211299"/>
            <a:ext cx="1133992" cy="89341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Synthesis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EC5475-0636-FE3A-B32C-B1DD805760CC}"/>
              </a:ext>
            </a:extLst>
          </p:cNvPr>
          <p:cNvSpPr/>
          <p:nvPr/>
        </p:nvSpPr>
        <p:spPr>
          <a:xfrm>
            <a:off x="3268640" y="3211298"/>
            <a:ext cx="1328648" cy="872422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simulation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2EA3789-5BC0-B19D-F228-C2D3486A1095}"/>
              </a:ext>
            </a:extLst>
          </p:cNvPr>
          <p:cNvSpPr/>
          <p:nvPr/>
        </p:nvSpPr>
        <p:spPr>
          <a:xfrm rot="5400000">
            <a:off x="4155110" y="4638210"/>
            <a:ext cx="549711" cy="38888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70EEFAB-F920-B5EA-D7D8-3646B8064541}"/>
              </a:ext>
            </a:extLst>
          </p:cNvPr>
          <p:cNvSpPr/>
          <p:nvPr/>
        </p:nvSpPr>
        <p:spPr>
          <a:xfrm>
            <a:off x="6421770" y="5279652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9830BBD-20C5-0E6A-6585-70037C67F4D6}"/>
              </a:ext>
            </a:extLst>
          </p:cNvPr>
          <p:cNvSpPr/>
          <p:nvPr/>
        </p:nvSpPr>
        <p:spPr>
          <a:xfrm>
            <a:off x="4820923" y="5262427"/>
            <a:ext cx="476718" cy="37257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DC8FC50-0227-CF80-41F5-17E23FAA2D95}"/>
              </a:ext>
            </a:extLst>
          </p:cNvPr>
          <p:cNvSpPr/>
          <p:nvPr/>
        </p:nvSpPr>
        <p:spPr>
          <a:xfrm>
            <a:off x="4526013" y="3463563"/>
            <a:ext cx="578644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DD3FF33-78C5-18CA-0AB8-0C202F2AE763}"/>
              </a:ext>
            </a:extLst>
          </p:cNvPr>
          <p:cNvSpPr/>
          <p:nvPr/>
        </p:nvSpPr>
        <p:spPr>
          <a:xfrm>
            <a:off x="2588410" y="3472159"/>
            <a:ext cx="738928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23E5A3-6CB0-72AA-3601-440E15F88659}"/>
              </a:ext>
            </a:extLst>
          </p:cNvPr>
          <p:cNvSpPr txBox="1"/>
          <p:nvPr/>
        </p:nvSpPr>
        <p:spPr>
          <a:xfrm>
            <a:off x="2684894" y="4307385"/>
            <a:ext cx="1496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Auto-generated</a:t>
            </a:r>
            <a:br>
              <a:rPr lang="en-US" sz="1600" dirty="0"/>
            </a:br>
            <a:r>
              <a:rPr lang="en-US" sz="1600" dirty="0"/>
              <a:t>RTL files</a:t>
            </a:r>
          </a:p>
        </p:txBody>
      </p:sp>
      <p:sp>
        <p:nvSpPr>
          <p:cNvPr id="26" name="L-Shape 25">
            <a:extLst>
              <a:ext uri="{FF2B5EF4-FFF2-40B4-BE49-F238E27FC236}">
                <a16:creationId xmlns:a16="http://schemas.microsoft.com/office/drawing/2014/main" id="{D38BFC15-D03D-1A33-3AB1-C22CB4160A9D}"/>
              </a:ext>
            </a:extLst>
          </p:cNvPr>
          <p:cNvSpPr/>
          <p:nvPr/>
        </p:nvSpPr>
        <p:spPr>
          <a:xfrm rot="16200000">
            <a:off x="4663612" y="3793031"/>
            <a:ext cx="598116" cy="1238536"/>
          </a:xfrm>
          <a:prstGeom prst="corner">
            <a:avLst>
              <a:gd name="adj1" fmla="val 28277"/>
              <a:gd name="adj2" fmla="val 3030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28BEE24F-862D-0922-272F-06F60152CB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251602" y="1680477"/>
            <a:ext cx="110966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FFF738D-F944-89E0-4566-817F47F1CC1B}"/>
              </a:ext>
            </a:extLst>
          </p:cNvPr>
          <p:cNvSpPr txBox="1"/>
          <p:nvPr/>
        </p:nvSpPr>
        <p:spPr>
          <a:xfrm>
            <a:off x="1333900" y="3201523"/>
            <a:ext cx="14604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Human-written</a:t>
            </a:r>
            <a:br>
              <a:rPr lang="en-US" sz="1600" dirty="0"/>
            </a:br>
            <a:r>
              <a:rPr lang="en-US" sz="1600" dirty="0"/>
              <a:t>C files</a:t>
            </a:r>
          </a:p>
        </p:txBody>
      </p:sp>
      <p:pic>
        <p:nvPicPr>
          <p:cNvPr id="29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8B7E3D5A-DFD6-3D65-EC51-E9BDCB03E8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251602" y="3164435"/>
            <a:ext cx="110966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448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E8A0-6676-9DB9-C060-DFD8111B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vs. Good HLS Code 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D8F1-24C3-0485-60B4-77668F0E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464064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Bad:</a:t>
            </a:r>
            <a:r>
              <a:rPr lang="en-US" dirty="0"/>
              <a:t> Treat HLS tool as a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black box</a:t>
            </a:r>
          </a:p>
          <a:p>
            <a:r>
              <a:rPr lang="en-US" dirty="0"/>
              <a:t>Results in RTL code with poor performance</a:t>
            </a:r>
          </a:p>
          <a:p>
            <a:r>
              <a:rPr lang="en-US" dirty="0"/>
              <a:t>No way to evaluate if resulting design is good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Good:</a:t>
            </a:r>
            <a:r>
              <a:rPr lang="en-US" dirty="0"/>
              <a:t>  Have a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mental model</a:t>
            </a:r>
          </a:p>
          <a:p>
            <a:r>
              <a:rPr lang="en-US" dirty="0"/>
              <a:t>Think what the RTL code should look like</a:t>
            </a:r>
          </a:p>
          <a:p>
            <a:r>
              <a:rPr lang="en-US" dirty="0"/>
              <a:t>What should happen on each clock cycle</a:t>
            </a:r>
          </a:p>
          <a:p>
            <a:r>
              <a:rPr lang="en-US" dirty="0"/>
              <a:t>What resources should be used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C3C1F-92F4-02B6-AE1C-72D90E30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A5BD5D31-09E0-C351-BF91-1F1FFC15F2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7101172" y="1590377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12D765-2B5D-279B-D18E-B69AA2B1132D}"/>
              </a:ext>
            </a:extLst>
          </p:cNvPr>
          <p:cNvSpPr/>
          <p:nvPr/>
        </p:nvSpPr>
        <p:spPr>
          <a:xfrm>
            <a:off x="10078371" y="1611366"/>
            <a:ext cx="1084551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D89534-2D46-CADD-8410-87DB73217FF6}"/>
              </a:ext>
            </a:extLst>
          </p:cNvPr>
          <p:cNvSpPr/>
          <p:nvPr/>
        </p:nvSpPr>
        <p:spPr>
          <a:xfrm>
            <a:off x="8568949" y="1590377"/>
            <a:ext cx="959639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HLS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A03DAF1-01D8-A0F4-6C1D-89F703B97FD4}"/>
              </a:ext>
            </a:extLst>
          </p:cNvPr>
          <p:cNvSpPr/>
          <p:nvPr/>
        </p:nvSpPr>
        <p:spPr>
          <a:xfrm>
            <a:off x="7990305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C12F44B-3B8F-2BF3-4155-29C08D5DA513}"/>
              </a:ext>
            </a:extLst>
          </p:cNvPr>
          <p:cNvSpPr/>
          <p:nvPr/>
        </p:nvSpPr>
        <p:spPr>
          <a:xfrm>
            <a:off x="9598821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7D30AD-FB05-C4EE-3730-65935015B7F0}"/>
              </a:ext>
            </a:extLst>
          </p:cNvPr>
          <p:cNvSpPr/>
          <p:nvPr/>
        </p:nvSpPr>
        <p:spPr>
          <a:xfrm>
            <a:off x="11189138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9A9DBF16-DE06-18F5-7F59-797D141933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7101172" y="4547664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2A62F1-E4E8-05EF-1C0C-07E3BF8CC671}"/>
              </a:ext>
            </a:extLst>
          </p:cNvPr>
          <p:cNvSpPr/>
          <p:nvPr/>
        </p:nvSpPr>
        <p:spPr>
          <a:xfrm>
            <a:off x="10078371" y="4568653"/>
            <a:ext cx="1084551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8170E2-88AE-0F59-5812-1ADAC9870E7D}"/>
              </a:ext>
            </a:extLst>
          </p:cNvPr>
          <p:cNvSpPr/>
          <p:nvPr/>
        </p:nvSpPr>
        <p:spPr>
          <a:xfrm>
            <a:off x="8568949" y="4547664"/>
            <a:ext cx="959639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HLS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DB1F384-6115-A275-DEE8-EA213103343E}"/>
              </a:ext>
            </a:extLst>
          </p:cNvPr>
          <p:cNvSpPr/>
          <p:nvPr/>
        </p:nvSpPr>
        <p:spPr>
          <a:xfrm>
            <a:off x="7990305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C93D179-236D-FA78-9538-2C0568886162}"/>
              </a:ext>
            </a:extLst>
          </p:cNvPr>
          <p:cNvSpPr/>
          <p:nvPr/>
        </p:nvSpPr>
        <p:spPr>
          <a:xfrm>
            <a:off x="9598821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08F56E6-4641-C731-2649-A00DA8403E3A}"/>
              </a:ext>
            </a:extLst>
          </p:cNvPr>
          <p:cNvSpPr/>
          <p:nvPr/>
        </p:nvSpPr>
        <p:spPr>
          <a:xfrm>
            <a:off x="11189138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6DB16840-285A-ADC2-6C57-F05CCB1A565B}"/>
              </a:ext>
            </a:extLst>
          </p:cNvPr>
          <p:cNvSpPr/>
          <p:nvPr/>
        </p:nvSpPr>
        <p:spPr>
          <a:xfrm>
            <a:off x="5730765" y="3412020"/>
            <a:ext cx="1661158" cy="1156633"/>
          </a:xfrm>
          <a:prstGeom prst="wedgeEllipseCallout">
            <a:avLst>
              <a:gd name="adj1" fmla="val 33515"/>
              <a:gd name="adj2" fmla="val 75479"/>
            </a:avLst>
          </a:prstGeom>
          <a:solidFill>
            <a:srgbClr val="EAE5EB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80BBA2-61D2-4345-1850-B87564F2B24E}"/>
              </a:ext>
            </a:extLst>
          </p:cNvPr>
          <p:cNvSpPr/>
          <p:nvPr/>
        </p:nvSpPr>
        <p:spPr>
          <a:xfrm>
            <a:off x="6019068" y="3696567"/>
            <a:ext cx="1084551" cy="6797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Mental 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model</a:t>
            </a:r>
          </a:p>
        </p:txBody>
      </p:sp>
      <p:pic>
        <p:nvPicPr>
          <p:cNvPr id="25" name="Picture 2" descr="Green checkmark icon - Free green check mark icons">
            <a:extLst>
              <a:ext uri="{FF2B5EF4-FFF2-40B4-BE49-F238E27FC236}">
                <a16:creationId xmlns:a16="http://schemas.microsoft.com/office/drawing/2014/main" id="{10383258-A82F-C835-98B6-ADE6D6DE4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098" y="4950676"/>
            <a:ext cx="694582" cy="65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B77CBB07-5ECF-7131-A506-4BDCC29E5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463" y="1806918"/>
            <a:ext cx="647406" cy="60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774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48F8-C48B-B6A3-3D5A-B7F2A07E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F1EC-6539-1A86-1043-30C8BBE3A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by Xilinx (now AMD)</a:t>
            </a:r>
          </a:p>
          <a:p>
            <a:pPr lvl="1"/>
            <a:r>
              <a:rPr lang="en-US" dirty="0"/>
              <a:t>Evolved from </a:t>
            </a:r>
            <a:r>
              <a:rPr lang="en-US" dirty="0" err="1"/>
              <a:t>Vivado</a:t>
            </a:r>
            <a:r>
              <a:rPr lang="en-US" dirty="0"/>
              <a:t> HLS </a:t>
            </a:r>
          </a:p>
          <a:p>
            <a:r>
              <a:rPr lang="en-US" dirty="0"/>
              <a:t>Supports C / C++</a:t>
            </a:r>
          </a:p>
          <a:p>
            <a:pPr lvl="1"/>
            <a:r>
              <a:rPr lang="en-US" dirty="0"/>
              <a:t>Simple, common development </a:t>
            </a:r>
          </a:p>
          <a:p>
            <a:r>
              <a:rPr lang="en-US" dirty="0"/>
              <a:t>Some python support for testbenches</a:t>
            </a:r>
          </a:p>
          <a:p>
            <a:r>
              <a:rPr lang="en-US" dirty="0"/>
              <a:t>Ships with Vitis IDE</a:t>
            </a:r>
          </a:p>
          <a:p>
            <a:r>
              <a:rPr lang="en-US" dirty="0"/>
              <a:t>Native support for AXI protocols</a:t>
            </a:r>
          </a:p>
          <a:p>
            <a:pPr lvl="1"/>
            <a:r>
              <a:rPr lang="en-US" dirty="0"/>
              <a:t>No need to build handshake from scratch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3ABE0-5A9F-4CAD-19C8-CF0A3C5F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5" name="Picture 2" descr="Xilinx Vitis HLS introduction - imperix">
            <a:extLst>
              <a:ext uri="{FF2B5EF4-FFF2-40B4-BE49-F238E27FC236}">
                <a16:creationId xmlns:a16="http://schemas.microsoft.com/office/drawing/2014/main" id="{A4ECFD25-23A4-D0BC-58E9-F3DDCC008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188576"/>
            <a:ext cx="1710467" cy="113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576598-DEAE-160E-8B78-F1229E723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429" y="1631950"/>
            <a:ext cx="6004882" cy="400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29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8B9D-0034-401B-1D7D-AA6E381A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29B0-8410-A491-D94D-5A189BE60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r>
              <a:rPr lang="en-US" dirty="0"/>
              <a:t>We target a design on a real FPGA board</a:t>
            </a:r>
          </a:p>
          <a:p>
            <a:r>
              <a:rPr lang="en-US" dirty="0"/>
              <a:t>Boards have three components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Processing system (PS)</a:t>
            </a:r>
          </a:p>
          <a:p>
            <a:pPr lvl="1"/>
            <a:r>
              <a:rPr lang="en-US" dirty="0"/>
              <a:t>A lightweight processor</a:t>
            </a:r>
          </a:p>
          <a:p>
            <a:pPr lvl="1"/>
            <a:r>
              <a:rPr lang="en-US" dirty="0"/>
              <a:t>Often an ARM core</a:t>
            </a:r>
          </a:p>
          <a:p>
            <a:pPr lvl="1"/>
            <a:r>
              <a:rPr lang="en-US" dirty="0"/>
              <a:t>E.g., ARM A9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Programmable logic (PL)</a:t>
            </a:r>
          </a:p>
          <a:p>
            <a:pPr lvl="1"/>
            <a:r>
              <a:rPr lang="en-US" dirty="0"/>
              <a:t>The programmable fabric</a:t>
            </a:r>
          </a:p>
          <a:p>
            <a:pPr lvl="1"/>
            <a:r>
              <a:rPr lang="en-US" dirty="0"/>
              <a:t>This is where your IP will reside</a:t>
            </a:r>
          </a:p>
          <a:p>
            <a:pPr lvl="1"/>
            <a:r>
              <a:rPr lang="en-US" dirty="0"/>
              <a:t>Also contains the registers and internal memory</a:t>
            </a:r>
          </a:p>
          <a:p>
            <a:r>
              <a:rPr lang="en-US" dirty="0"/>
              <a:t>An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AXI4 interface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AE4B8-3778-3A78-7A19-E818D5CF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B657F65-47BE-0EA1-6784-8FB1C179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325" y="1712439"/>
            <a:ext cx="47244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EB41C-6F1D-0FD1-4603-EB467CA34FF6}"/>
              </a:ext>
            </a:extLst>
          </p:cNvPr>
          <p:cNvSpPr txBox="1"/>
          <p:nvPr/>
        </p:nvSpPr>
        <p:spPr>
          <a:xfrm>
            <a:off x="6892119" y="4499230"/>
            <a:ext cx="472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from MathWorks </a:t>
            </a:r>
            <a:r>
              <a:rPr lang="en-US" dirty="0">
                <a:hlinkClick r:id="rId3"/>
              </a:rPr>
              <a:t>page</a:t>
            </a:r>
            <a:r>
              <a:rPr lang="en-US" dirty="0"/>
              <a:t> on embedded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68F51-7D3F-092B-95B1-F3C693C2E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844" y="4981700"/>
            <a:ext cx="1436417" cy="115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53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C44D72-71B2-6A46-4E6E-8F159F853802}"/>
              </a:ext>
            </a:extLst>
          </p:cNvPr>
          <p:cNvSpPr/>
          <p:nvPr/>
        </p:nvSpPr>
        <p:spPr>
          <a:xfrm>
            <a:off x="3133392" y="2701098"/>
            <a:ext cx="4912330" cy="1838980"/>
          </a:xfrm>
          <a:prstGeom prst="roundRect">
            <a:avLst/>
          </a:prstGeom>
          <a:solidFill>
            <a:srgbClr val="DEE6F8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273B2-B8C1-403F-8FFA-1CFDC3D2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Target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9EA86-1648-7505-7EDD-634A573D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0DB9C-199F-91B7-4F35-5AEAF74D3CD1}"/>
              </a:ext>
            </a:extLst>
          </p:cNvPr>
          <p:cNvSpPr/>
          <p:nvPr/>
        </p:nvSpPr>
        <p:spPr>
          <a:xfrm>
            <a:off x="6978015" y="321887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3678E-E18C-B4EF-7B93-FE9D8A3544BF}"/>
              </a:ext>
            </a:extLst>
          </p:cNvPr>
          <p:cNvSpPr txBox="1"/>
          <p:nvPr/>
        </p:nvSpPr>
        <p:spPr>
          <a:xfrm>
            <a:off x="6836962" y="454007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/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/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/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/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 b="-1764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7911DD-96C0-B29A-8ED5-C4A88AED8EA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141872" y="336018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262BE6-936F-F51C-9FA7-0D1BC2D2EE7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41872" y="364442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8B9E3F-F280-E83D-9352-D568009E6C09}"/>
              </a:ext>
            </a:extLst>
          </p:cNvPr>
          <p:cNvCxnSpPr>
            <a:cxnSpLocks/>
          </p:cNvCxnSpPr>
          <p:nvPr/>
        </p:nvCxnSpPr>
        <p:spPr>
          <a:xfrm flipV="1">
            <a:off x="6141872" y="388580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2E4270-8566-92F0-3750-232C3E72BFB3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6141872" y="418940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515FC1-4593-44A0-BB65-933C6A1062C4}"/>
              </a:ext>
            </a:extLst>
          </p:cNvPr>
          <p:cNvSpPr txBox="1"/>
          <p:nvPr/>
        </p:nvSpPr>
        <p:spPr>
          <a:xfrm>
            <a:off x="5161496" y="446459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0FF17-29A2-AA94-49C1-26D325FC5BD6}"/>
              </a:ext>
            </a:extLst>
          </p:cNvPr>
          <p:cNvSpPr/>
          <p:nvPr/>
        </p:nvSpPr>
        <p:spPr>
          <a:xfrm>
            <a:off x="3248327" y="2971404"/>
            <a:ext cx="914400" cy="14212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135608A-B42F-79E6-11EE-05BB6E442E67}"/>
              </a:ext>
            </a:extLst>
          </p:cNvPr>
          <p:cNvSpPr/>
          <p:nvPr/>
        </p:nvSpPr>
        <p:spPr>
          <a:xfrm>
            <a:off x="4189036" y="3658235"/>
            <a:ext cx="946150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7342B-F5DC-5FFA-BB15-6A316F5D7192}"/>
              </a:ext>
            </a:extLst>
          </p:cNvPr>
          <p:cNvSpPr txBox="1"/>
          <p:nvPr/>
        </p:nvSpPr>
        <p:spPr>
          <a:xfrm>
            <a:off x="3500984" y="466018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B0841E-6387-25DA-F6E2-7EEE776E5BBB}"/>
              </a:ext>
            </a:extLst>
          </p:cNvPr>
          <p:cNvSpPr txBox="1"/>
          <p:nvPr/>
        </p:nvSpPr>
        <p:spPr>
          <a:xfrm>
            <a:off x="4155612" y="321073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62DCDB0-15AE-65CE-FE0E-9AB6BCCB1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546" y="2188847"/>
            <a:ext cx="1308100" cy="1308100"/>
          </a:xfrm>
          <a:prstGeom prst="rect">
            <a:avLst/>
          </a:prstGeom>
        </p:spPr>
      </p:pic>
      <p:pic>
        <p:nvPicPr>
          <p:cNvPr id="3078" name="Picture 6" descr="PYNQ | Python Productivity for AMD Adaptive Computing platforms">
            <a:extLst>
              <a:ext uri="{FF2B5EF4-FFF2-40B4-BE49-F238E27FC236}">
                <a16:creationId xmlns:a16="http://schemas.microsoft.com/office/drawing/2014/main" id="{1C126EF6-8B50-C9A6-AC0A-D46D7C13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392" y="2300354"/>
            <a:ext cx="1144270" cy="55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9D2D9F6D-0538-0C2B-F90B-E2C7E7F1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324278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EC9C2AA-EDD4-6DB7-50F1-1BC24F40EDFD}"/>
              </a:ext>
            </a:extLst>
          </p:cNvPr>
          <p:cNvSpPr txBox="1"/>
          <p:nvPr/>
        </p:nvSpPr>
        <p:spPr>
          <a:xfrm>
            <a:off x="1494127" y="492274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A8200BA3-EADC-06C1-D271-47CD213F4B29}"/>
              </a:ext>
            </a:extLst>
          </p:cNvPr>
          <p:cNvSpPr/>
          <p:nvPr/>
        </p:nvSpPr>
        <p:spPr>
          <a:xfrm>
            <a:off x="2677997" y="3636439"/>
            <a:ext cx="557176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B7D95A3-7D25-DF92-46C1-BCF554448A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0657" y="1326814"/>
            <a:ext cx="1436417" cy="115505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73E6AF3-0D96-BEE6-B1B0-91C5EDD3D64C}"/>
              </a:ext>
            </a:extLst>
          </p:cNvPr>
          <p:cNvSpPr txBox="1"/>
          <p:nvPr/>
        </p:nvSpPr>
        <p:spPr>
          <a:xfrm>
            <a:off x="4923321" y="1554266"/>
            <a:ext cx="153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Pynq</a:t>
            </a:r>
            <a:r>
              <a:rPr lang="en-US" dirty="0"/>
              <a:t> Z2 board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6B096EFB-C66D-7222-5443-D15DCE633E69}"/>
              </a:ext>
            </a:extLst>
          </p:cNvPr>
          <p:cNvSpPr/>
          <p:nvPr/>
        </p:nvSpPr>
        <p:spPr>
          <a:xfrm rot="16200000">
            <a:off x="6517193" y="3798468"/>
            <a:ext cx="408802" cy="3292856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515B7C-0D45-C55B-1D60-312CFCC14585}"/>
              </a:ext>
            </a:extLst>
          </p:cNvPr>
          <p:cNvSpPr txBox="1"/>
          <p:nvPr/>
        </p:nvSpPr>
        <p:spPr>
          <a:xfrm>
            <a:off x="6521058" y="56667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PL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2C435DA-FD57-DCE7-673B-567EB7F3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468" y="1554266"/>
            <a:ext cx="2870426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will rapidly build</a:t>
            </a:r>
          </a:p>
          <a:p>
            <a:r>
              <a:rPr lang="en-US" dirty="0">
                <a:solidFill>
                  <a:schemeClr val="tx1"/>
                </a:solidFill>
              </a:rPr>
              <a:t>Complete AXI4-Lite I/F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 done automatically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No need to code any handshaking</a:t>
            </a:r>
          </a:p>
          <a:p>
            <a:r>
              <a:rPr lang="en-US" dirty="0">
                <a:solidFill>
                  <a:schemeClr val="tx1"/>
                </a:solidFill>
              </a:rPr>
              <a:t>Control through host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Simple python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notebook</a:t>
            </a:r>
          </a:p>
          <a:p>
            <a:r>
              <a:rPr lang="en-US" dirty="0">
                <a:solidFill>
                  <a:schemeClr val="tx1"/>
                </a:solidFill>
              </a:rPr>
              <a:t>Deploy to a real FPGA!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004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FBD9-6BF5-7FD8-B81E-8C4D3238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CE825-1232-C32E-AF2D-3D20F7F1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814" y="1539277"/>
            <a:ext cx="4056865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IP Source Code is simple</a:t>
            </a:r>
          </a:p>
          <a:p>
            <a:r>
              <a:rPr lang="en-US" dirty="0"/>
              <a:t>Module declaration</a:t>
            </a:r>
          </a:p>
          <a:p>
            <a:endParaRPr lang="en-US" dirty="0"/>
          </a:p>
          <a:p>
            <a:r>
              <a:rPr lang="en-US" dirty="0"/>
              <a:t>Port descriptions</a:t>
            </a:r>
          </a:p>
          <a:p>
            <a:endParaRPr lang="en-US" dirty="0"/>
          </a:p>
          <a:p>
            <a:r>
              <a:rPr lang="en-US" dirty="0"/>
              <a:t>Main functional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9A6F4-136C-F46B-5685-2D06992F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525D74-73D7-136E-FC8F-66B1C0AFE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71" y="1954016"/>
            <a:ext cx="4648849" cy="281026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0E3E34-156B-DDB6-6550-295831329535}"/>
              </a:ext>
            </a:extLst>
          </p:cNvPr>
          <p:cNvCxnSpPr/>
          <p:nvPr/>
        </p:nvCxnSpPr>
        <p:spPr>
          <a:xfrm flipH="1">
            <a:off x="4603750" y="2139950"/>
            <a:ext cx="2330450" cy="82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61E01C-0A81-8836-0469-2AC55F104209}"/>
              </a:ext>
            </a:extLst>
          </p:cNvPr>
          <p:cNvCxnSpPr>
            <a:cxnSpLocks/>
          </p:cNvCxnSpPr>
          <p:nvPr/>
        </p:nvCxnSpPr>
        <p:spPr>
          <a:xfrm flipH="1">
            <a:off x="5933589" y="3118186"/>
            <a:ext cx="1000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5ED182-229C-FB53-0261-4646FF12A6EA}"/>
              </a:ext>
            </a:extLst>
          </p:cNvPr>
          <p:cNvCxnSpPr>
            <a:cxnSpLocks/>
          </p:cNvCxnSpPr>
          <p:nvPr/>
        </p:nvCxnSpPr>
        <p:spPr>
          <a:xfrm flipH="1">
            <a:off x="5933589" y="4026236"/>
            <a:ext cx="1000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7199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9121-FB3B-5B35-FDE0-8313298A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9824-9E00-3361-FBD9-FABDD7CD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52C75-9B91-F545-9843-76EAFC0B3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814" y="1879603"/>
            <a:ext cx="4056865" cy="39894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Module declaration</a:t>
            </a:r>
          </a:p>
          <a:p>
            <a:pPr lvl="1"/>
            <a:r>
              <a:rPr lang="en-US" dirty="0"/>
              <a:t>Defines inputs and outputs</a:t>
            </a:r>
          </a:p>
          <a:p>
            <a:pPr lvl="1"/>
            <a:r>
              <a:rPr lang="en-US" dirty="0"/>
              <a:t>Standard C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87EDC-ECB1-800D-9C56-54DE44E8C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DCA3EA-DE44-8FD6-3B82-6AB906232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71" y="1954016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8AFEF7-8D74-67D0-B8FB-04C26A6617F6}"/>
              </a:ext>
            </a:extLst>
          </p:cNvPr>
          <p:cNvCxnSpPr>
            <a:cxnSpLocks/>
          </p:cNvCxnSpPr>
          <p:nvPr/>
        </p:nvCxnSpPr>
        <p:spPr>
          <a:xfrm flipH="1">
            <a:off x="5888370" y="2222836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718DAA9-6A2A-0C9B-6B03-422E9AE49C04}"/>
              </a:ext>
            </a:extLst>
          </p:cNvPr>
          <p:cNvSpPr/>
          <p:nvPr/>
        </p:nvSpPr>
        <p:spPr>
          <a:xfrm>
            <a:off x="1156971" y="2490983"/>
            <a:ext cx="4648849" cy="2273299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64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35057-6D65-8131-EC80-44C5609E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1A90-F706-1FDE-9222-2BE1FE2C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09DC-72AA-37E0-C9BA-121241C81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963" y="2054092"/>
            <a:ext cx="4890370" cy="38150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Port definitions</a:t>
            </a:r>
          </a:p>
          <a:p>
            <a:pPr lvl="1"/>
            <a:r>
              <a:rPr lang="en-US" dirty="0"/>
              <a:t>Use pragma statements</a:t>
            </a:r>
          </a:p>
          <a:p>
            <a:pPr lvl="1"/>
            <a:r>
              <a:rPr lang="en-US" dirty="0"/>
              <a:t>Do not change function</a:t>
            </a:r>
          </a:p>
          <a:p>
            <a:pPr lvl="1"/>
            <a:r>
              <a:rPr lang="en-US" dirty="0"/>
              <a:t>But tell synthesizer how to map to hardware</a:t>
            </a:r>
          </a:p>
          <a:p>
            <a:pPr lvl="1"/>
            <a:r>
              <a:rPr lang="en-US" dirty="0"/>
              <a:t>Indicates ports are </a:t>
            </a:r>
            <a:r>
              <a:rPr lang="en-US" dirty="0" err="1"/>
              <a:t>axislite</a:t>
            </a:r>
            <a:r>
              <a:rPr lang="en-US" dirty="0"/>
              <a:t> (AXI4-Lite slave)</a:t>
            </a:r>
          </a:p>
          <a:p>
            <a:pPr lvl="1"/>
            <a:r>
              <a:rPr lang="en-US" dirty="0"/>
              <a:t>Share a common bundle</a:t>
            </a:r>
            <a:br>
              <a:rPr lang="en-US" dirty="0"/>
            </a:br>
            <a:r>
              <a:rPr lang="en-US" dirty="0"/>
              <a:t>(all on the same AXI4-Lite interface)</a:t>
            </a:r>
          </a:p>
          <a:p>
            <a:pPr lvl="1"/>
            <a:r>
              <a:rPr lang="en-US" dirty="0"/>
              <a:t>Additional port=return</a:t>
            </a:r>
            <a:br>
              <a:rPr lang="en-US" dirty="0"/>
            </a:br>
            <a:r>
              <a:rPr lang="en-US" dirty="0"/>
              <a:t>(Provides start, stop, see later)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7D669-209F-6F29-721A-BCFFDECC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E01DCF-527D-CD6E-BDBF-CE061165C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7" y="1947390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DFF853-3C6C-13EA-3696-6DA36BF9F6A3}"/>
              </a:ext>
            </a:extLst>
          </p:cNvPr>
          <p:cNvCxnSpPr>
            <a:cxnSpLocks/>
          </p:cNvCxnSpPr>
          <p:nvPr/>
        </p:nvCxnSpPr>
        <p:spPr>
          <a:xfrm flipH="1">
            <a:off x="5557066" y="2534263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6275978-6B0E-F2ED-922C-0F796A2634DE}"/>
              </a:ext>
            </a:extLst>
          </p:cNvPr>
          <p:cNvSpPr/>
          <p:nvPr/>
        </p:nvSpPr>
        <p:spPr>
          <a:xfrm>
            <a:off x="825667" y="3498574"/>
            <a:ext cx="4648849" cy="1259082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16AA5-27DE-CF46-3224-42A15FB7CBFB}"/>
              </a:ext>
            </a:extLst>
          </p:cNvPr>
          <p:cNvSpPr/>
          <p:nvPr/>
        </p:nvSpPr>
        <p:spPr>
          <a:xfrm>
            <a:off x="825667" y="1947389"/>
            <a:ext cx="4648849" cy="424750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28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5196-7F2C-5010-64BB-71D3DDFD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EF88-5C0A-D583-ACF3-62D12217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ABD7C-CB89-6DF3-D6FA-B31A28121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963" y="2534262"/>
            <a:ext cx="4890370" cy="33348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Main function definition</a:t>
            </a:r>
          </a:p>
          <a:p>
            <a:pPr lvl="1"/>
            <a:r>
              <a:rPr lang="en-US" dirty="0"/>
              <a:t>Plain C</a:t>
            </a:r>
          </a:p>
          <a:p>
            <a:pPr lvl="1"/>
            <a:r>
              <a:rPr lang="en-US" dirty="0"/>
              <a:t>Do not specify the implementation</a:t>
            </a:r>
            <a:br>
              <a:rPr lang="en-US" dirty="0"/>
            </a:br>
            <a:r>
              <a:rPr lang="en-US" dirty="0"/>
              <a:t>Just the desired behavior</a:t>
            </a:r>
          </a:p>
          <a:p>
            <a:pPr lvl="1"/>
            <a:r>
              <a:rPr lang="en-US" dirty="0"/>
              <a:t>Synthesizer may map to multiple clock cycles</a:t>
            </a:r>
          </a:p>
          <a:p>
            <a:pPr lvl="1"/>
            <a:r>
              <a:rPr lang="en-US" dirty="0"/>
              <a:t>You do not have to do scheduling manually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CFDC3-DC02-B585-F82C-E872087F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8BC620-989B-0689-6915-AD8328C6B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7" y="1947390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7D3A1E-DBF8-CE50-5B74-5CB7496DECD3}"/>
              </a:ext>
            </a:extLst>
          </p:cNvPr>
          <p:cNvCxnSpPr>
            <a:cxnSpLocks/>
          </p:cNvCxnSpPr>
          <p:nvPr/>
        </p:nvCxnSpPr>
        <p:spPr>
          <a:xfrm flipH="1">
            <a:off x="5475352" y="3972124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9A3FEB4-71CF-9F90-07F3-A6B68B54F924}"/>
              </a:ext>
            </a:extLst>
          </p:cNvPr>
          <p:cNvSpPr/>
          <p:nvPr/>
        </p:nvSpPr>
        <p:spPr>
          <a:xfrm>
            <a:off x="825667" y="1947391"/>
            <a:ext cx="4648849" cy="1617442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218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E95B-3D65-C876-948A-A739F312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Testbench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00320-83F0-5188-AFFA-87E225021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Testbench</a:t>
            </a:r>
          </a:p>
          <a:p>
            <a:pPr lvl="1"/>
            <a:r>
              <a:rPr lang="en-US" dirty="0"/>
              <a:t>Program simulating another unit interacting with IP</a:t>
            </a:r>
          </a:p>
          <a:p>
            <a:pPr lvl="1"/>
            <a:r>
              <a:rPr lang="en-US" dirty="0"/>
              <a:t>IP is the device-under-test (DUT)</a:t>
            </a:r>
          </a:p>
          <a:p>
            <a:r>
              <a:rPr lang="en-US" dirty="0"/>
              <a:t>In </a:t>
            </a:r>
            <a:r>
              <a:rPr lang="en-US" dirty="0">
                <a:solidFill>
                  <a:schemeClr val="accent1"/>
                </a:solidFill>
              </a:rPr>
              <a:t>HLS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Testbench another C program</a:t>
            </a:r>
          </a:p>
          <a:p>
            <a:pPr lvl="1"/>
            <a:r>
              <a:rPr lang="en-US" dirty="0"/>
              <a:t>Calls the DUT module like a C function</a:t>
            </a:r>
          </a:p>
          <a:p>
            <a:pPr lvl="1"/>
            <a:r>
              <a:rPr lang="en-US" dirty="0"/>
              <a:t>Sequential behavior</a:t>
            </a:r>
          </a:p>
          <a:p>
            <a:pPr lvl="1"/>
            <a:r>
              <a:rPr lang="en-US" dirty="0"/>
              <a:t>Testbench code can use any C / C++ functions</a:t>
            </a:r>
          </a:p>
          <a:p>
            <a:pPr lvl="1"/>
            <a:r>
              <a:rPr lang="en-US" dirty="0"/>
              <a:t>Does not need to be “synthesizable”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F126D-5140-350D-AB28-9670C3A5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C497C0-D417-8945-050F-D9D95EF88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63" y="270035"/>
            <a:ext cx="1762371" cy="1952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1CD016-A4D5-A17A-AEA2-0C690F17B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263" y="2368766"/>
            <a:ext cx="4126033" cy="372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741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0A34-25DC-9D16-E2E3-4AF76B08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Flow Described in Flow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3D355-27B1-07F6-265A-75F58CDB4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6084" y="1539277"/>
            <a:ext cx="4959596" cy="4329817"/>
          </a:xfrm>
        </p:spPr>
        <p:txBody>
          <a:bodyPr/>
          <a:lstStyle/>
          <a:p>
            <a:r>
              <a:rPr lang="en-US" dirty="0"/>
              <a:t>Tool follows expected steps for HLS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04A0-4263-9C55-1A95-38DF0CF8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61A20-EDD3-B489-FA79-30DD3169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97" y="1539277"/>
            <a:ext cx="2505425" cy="4477375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CA205D4-AC6F-E8B9-7DF1-B9BC9334CD7D}"/>
              </a:ext>
            </a:extLst>
          </p:cNvPr>
          <p:cNvSpPr/>
          <p:nvPr/>
        </p:nvSpPr>
        <p:spPr>
          <a:xfrm>
            <a:off x="5661232" y="4714099"/>
            <a:ext cx="1328648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B296190-E8F9-B1C9-3412-5E89562B9483}"/>
              </a:ext>
            </a:extLst>
          </p:cNvPr>
          <p:cNvSpPr/>
          <p:nvPr/>
        </p:nvSpPr>
        <p:spPr>
          <a:xfrm>
            <a:off x="7207199" y="4672121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8FF64AC-51C0-2AF5-1E5C-A7EFF236F388}"/>
              </a:ext>
            </a:extLst>
          </p:cNvPr>
          <p:cNvSpPr/>
          <p:nvPr/>
        </p:nvSpPr>
        <p:spPr>
          <a:xfrm>
            <a:off x="6978423" y="2883752"/>
            <a:ext cx="1133992" cy="89341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Synthesis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1D3A6D8-27BF-906C-9E4F-B05CE0ADE565}"/>
              </a:ext>
            </a:extLst>
          </p:cNvPr>
          <p:cNvSpPr/>
          <p:nvPr/>
        </p:nvSpPr>
        <p:spPr>
          <a:xfrm>
            <a:off x="5322628" y="2883751"/>
            <a:ext cx="1328648" cy="872422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simulation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D062EA9-EDAD-B9E3-24BB-586BCA5C738A}"/>
              </a:ext>
            </a:extLst>
          </p:cNvPr>
          <p:cNvSpPr/>
          <p:nvPr/>
        </p:nvSpPr>
        <p:spPr>
          <a:xfrm rot="5400000">
            <a:off x="6209098" y="4310663"/>
            <a:ext cx="549711" cy="38888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C978349C-BF94-D587-10F2-EC9AF6CFAD7C}"/>
              </a:ext>
            </a:extLst>
          </p:cNvPr>
          <p:cNvSpPr/>
          <p:nvPr/>
        </p:nvSpPr>
        <p:spPr>
          <a:xfrm>
            <a:off x="6874911" y="4934880"/>
            <a:ext cx="476718" cy="37257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7906784-E198-9341-0AB7-AB8911F2C59B}"/>
              </a:ext>
            </a:extLst>
          </p:cNvPr>
          <p:cNvSpPr/>
          <p:nvPr/>
        </p:nvSpPr>
        <p:spPr>
          <a:xfrm>
            <a:off x="6580001" y="3136016"/>
            <a:ext cx="578644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63D780A-C78C-4F85-7594-9EC4BDB6ED40}"/>
              </a:ext>
            </a:extLst>
          </p:cNvPr>
          <p:cNvSpPr/>
          <p:nvPr/>
        </p:nvSpPr>
        <p:spPr>
          <a:xfrm>
            <a:off x="4642398" y="3144612"/>
            <a:ext cx="738928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3A3F1F-ABB7-A914-4F56-ACECC9D7C408}"/>
              </a:ext>
            </a:extLst>
          </p:cNvPr>
          <p:cNvSpPr txBox="1"/>
          <p:nvPr/>
        </p:nvSpPr>
        <p:spPr>
          <a:xfrm>
            <a:off x="4738882" y="3979838"/>
            <a:ext cx="1496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Auto-generated</a:t>
            </a:r>
            <a:br>
              <a:rPr lang="en-US" sz="1600" dirty="0"/>
            </a:br>
            <a:r>
              <a:rPr lang="en-US" sz="1600" dirty="0"/>
              <a:t>RTL files</a:t>
            </a:r>
          </a:p>
        </p:txBody>
      </p:sp>
      <p:sp>
        <p:nvSpPr>
          <p:cNvPr id="39" name="L-Shape 38">
            <a:extLst>
              <a:ext uri="{FF2B5EF4-FFF2-40B4-BE49-F238E27FC236}">
                <a16:creationId xmlns:a16="http://schemas.microsoft.com/office/drawing/2014/main" id="{23E1CA6C-D160-9777-AED2-807F591AA08B}"/>
              </a:ext>
            </a:extLst>
          </p:cNvPr>
          <p:cNvSpPr/>
          <p:nvPr/>
        </p:nvSpPr>
        <p:spPr>
          <a:xfrm rot="16200000">
            <a:off x="6717600" y="3465484"/>
            <a:ext cx="598116" cy="1238536"/>
          </a:xfrm>
          <a:prstGeom prst="corner">
            <a:avLst>
              <a:gd name="adj1" fmla="val 28277"/>
              <a:gd name="adj2" fmla="val 3030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597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F4E1-D1EF-6615-0F28-8B33EB42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91796-DBD2-7B96-8E93-B271125FC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Resulting Verilog files are massive!</a:t>
            </a:r>
          </a:p>
          <a:p>
            <a:r>
              <a:rPr lang="en-US" dirty="0"/>
              <a:t>Main function in this case:</a:t>
            </a:r>
          </a:p>
          <a:p>
            <a:pPr lvl="1"/>
            <a:r>
              <a:rPr lang="en-US" dirty="0" err="1"/>
              <a:t>simp_fun.v</a:t>
            </a:r>
            <a:endParaRPr lang="en-US" dirty="0"/>
          </a:p>
          <a:p>
            <a:pPr lvl="1"/>
            <a:r>
              <a:rPr lang="en-US" dirty="0"/>
              <a:t>&gt; 200 lines of Verilog</a:t>
            </a:r>
          </a:p>
          <a:p>
            <a:pPr lvl="1"/>
            <a:r>
              <a:rPr lang="en-US" dirty="0"/>
              <a:t>Hard to read code</a:t>
            </a:r>
          </a:p>
          <a:p>
            <a:r>
              <a:rPr lang="en-US" dirty="0"/>
              <a:t>You saved a lot of time 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88459-7410-5142-BA76-8CDC1075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BC554-39B4-F9F3-C222-87DDCA4A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5" y="570605"/>
            <a:ext cx="2864991" cy="552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710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485B-0271-D67D-C297-6C04DD4B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FDDA9-B77D-3B2F-B126-2A260F81C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a Report in Vitis Tool</a:t>
            </a:r>
          </a:p>
          <a:p>
            <a:pPr lvl="1"/>
            <a:r>
              <a:rPr lang="en-US" dirty="0"/>
              <a:t>Later, we will write python to parse these</a:t>
            </a:r>
          </a:p>
          <a:p>
            <a:r>
              <a:rPr lang="en-US" dirty="0"/>
              <a:t>Timing estimate</a:t>
            </a:r>
          </a:p>
          <a:p>
            <a:pPr lvl="1"/>
            <a:r>
              <a:rPr lang="en-US" dirty="0"/>
              <a:t>Timing of critical path</a:t>
            </a:r>
          </a:p>
          <a:p>
            <a:pPr lvl="1"/>
            <a:r>
              <a:rPr lang="en-US" dirty="0"/>
              <a:t>Can verify that lower than clock period</a:t>
            </a:r>
          </a:p>
          <a:p>
            <a:r>
              <a:rPr lang="en-US" dirty="0"/>
              <a:t>Estimated latency </a:t>
            </a:r>
          </a:p>
          <a:p>
            <a:pPr lvl="1"/>
            <a:r>
              <a:rPr lang="en-US" dirty="0"/>
              <a:t>In this case = 4 clock </a:t>
            </a:r>
            <a:r>
              <a:rPr lang="en-US" dirty="0" err="1"/>
              <a:t>cylces</a:t>
            </a:r>
            <a:endParaRPr lang="en-US" dirty="0"/>
          </a:p>
          <a:p>
            <a:r>
              <a:rPr lang="en-US" dirty="0"/>
              <a:t>Estimate resources</a:t>
            </a:r>
          </a:p>
          <a:p>
            <a:pPr lvl="1"/>
            <a:r>
              <a:rPr lang="en-US" dirty="0"/>
              <a:t>Amount of each FPGA resources used</a:t>
            </a:r>
          </a:p>
          <a:p>
            <a:pPr lvl="1"/>
            <a:r>
              <a:rPr lang="en-US" dirty="0"/>
              <a:t>BRAM, DSP, …</a:t>
            </a:r>
          </a:p>
          <a:p>
            <a:pPr lvl="1"/>
            <a:r>
              <a:rPr lang="en-US" dirty="0"/>
              <a:t>We will discuss these in detail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999CB-191F-6878-D0F2-E3774ED4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6311E0-7BCD-B25A-29EF-6826C67DA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698" y="1833777"/>
            <a:ext cx="4746254" cy="187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541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ECA0-D8EA-FC48-7393-74DE53F3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0171A-D870-1FA7-ECC6-1DA72EA549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1146" y="1539277"/>
                <a:ext cx="4884533" cy="4329817"/>
              </a:xfrm>
            </p:spPr>
            <p:txBody>
              <a:bodyPr/>
              <a:lstStyle/>
              <a:p>
                <a:r>
                  <a:rPr lang="en-US" dirty="0"/>
                  <a:t>Run RTL sim and extract VCD diagram</a:t>
                </a:r>
              </a:p>
              <a:p>
                <a:r>
                  <a:rPr lang="en-US" dirty="0"/>
                  <a:t>Left plot:</a:t>
                </a:r>
              </a:p>
              <a:p>
                <a:pPr lvl="1"/>
                <a:r>
                  <a:rPr lang="en-US" dirty="0"/>
                  <a:t>One transaction with IP</a:t>
                </a:r>
              </a:p>
              <a:p>
                <a:pPr lvl="1"/>
                <a:r>
                  <a:rPr lang="en-US" dirty="0"/>
                  <a:t>Can visualize AXI4-Lite interaction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Write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Write three values: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3 clock cycles each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Read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Reads output</a:t>
                </a:r>
              </a:p>
              <a:p>
                <a:pPr lvl="1"/>
                <a:r>
                  <a:rPr lang="en-US" dirty="0"/>
                  <a:t>Approximately 20 cycles after first write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0171A-D870-1FA7-ECC6-1DA72EA54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1146" y="1539277"/>
                <a:ext cx="4884533" cy="4329817"/>
              </a:xfrm>
              <a:blipFill>
                <a:blip r:embed="rId2"/>
                <a:stretch>
                  <a:fillRect l="-299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32A37-EB2C-D7C1-23DB-852EC3DC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7209E-B40D-69CA-128D-B6EAF3B21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05719"/>
            <a:ext cx="4487624" cy="451741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8E50C70-CF73-F36A-40AD-39E8455763B3}"/>
              </a:ext>
            </a:extLst>
          </p:cNvPr>
          <p:cNvSpPr/>
          <p:nvPr/>
        </p:nvSpPr>
        <p:spPr>
          <a:xfrm>
            <a:off x="1876567" y="2722728"/>
            <a:ext cx="1624084" cy="2617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0E1C0F-D5F3-C805-7919-D6F5940D5D9A}"/>
              </a:ext>
            </a:extLst>
          </p:cNvPr>
          <p:cNvSpPr/>
          <p:nvPr/>
        </p:nvSpPr>
        <p:spPr>
          <a:xfrm>
            <a:off x="2003567" y="3298114"/>
            <a:ext cx="1624084" cy="2617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AFAD8C-5316-D582-5F44-623117094139}"/>
              </a:ext>
            </a:extLst>
          </p:cNvPr>
          <p:cNvSpPr txBox="1"/>
          <p:nvPr/>
        </p:nvSpPr>
        <p:spPr>
          <a:xfrm>
            <a:off x="6591300" y="3079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CA275D-666F-7F0E-843E-A1AE035B38FE}"/>
              </a:ext>
            </a:extLst>
          </p:cNvPr>
          <p:cNvSpPr/>
          <p:nvPr/>
        </p:nvSpPr>
        <p:spPr>
          <a:xfrm>
            <a:off x="4572000" y="4665828"/>
            <a:ext cx="744020" cy="26177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3CCEB1-6954-6C5A-B2FD-B8227EAFEA5D}"/>
              </a:ext>
            </a:extLst>
          </p:cNvPr>
          <p:cNvSpPr/>
          <p:nvPr/>
        </p:nvSpPr>
        <p:spPr>
          <a:xfrm>
            <a:off x="4572000" y="4094328"/>
            <a:ext cx="744020" cy="26177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68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1EDE-DA0C-1BEA-7670-EA3CFC61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RTL Simulation over Multiple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5116-9D61-86BB-625F-36AF229CE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550" y="1539277"/>
            <a:ext cx="4977130" cy="4329817"/>
          </a:xfrm>
        </p:spPr>
        <p:txBody>
          <a:bodyPr/>
          <a:lstStyle/>
          <a:p>
            <a:r>
              <a:rPr lang="en-US" dirty="0"/>
              <a:t>Approximately 20 cycles for each input</a:t>
            </a:r>
          </a:p>
          <a:p>
            <a:r>
              <a:rPr lang="en-US" dirty="0"/>
              <a:t>We will be able to do this much faster</a:t>
            </a:r>
          </a:p>
          <a:p>
            <a:pPr lvl="1"/>
            <a:r>
              <a:rPr lang="en-US" dirty="0"/>
              <a:t>Will use an AXI-Streaming interface</a:t>
            </a:r>
          </a:p>
          <a:p>
            <a:pPr lvl="1"/>
            <a:r>
              <a:rPr lang="en-US" dirty="0"/>
              <a:t>Next lecture</a:t>
            </a:r>
          </a:p>
          <a:p>
            <a:r>
              <a:rPr lang="en-US" dirty="0"/>
              <a:t>AXI4-Lite is design for slowly varying items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1750A-0502-3FE9-0471-364E3EAF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CD5D7-1B2F-CE9D-4944-FC424CE00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43" y="1380327"/>
            <a:ext cx="4736611" cy="484305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0860C8-5CB5-8EDF-D856-C2A81DA16D13}"/>
              </a:ext>
            </a:extLst>
          </p:cNvPr>
          <p:cNvCxnSpPr/>
          <p:nvPr/>
        </p:nvCxnSpPr>
        <p:spPr>
          <a:xfrm>
            <a:off x="2251881" y="1869743"/>
            <a:ext cx="0" cy="429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578E1D-31AA-E7E1-355A-FC1358D62C5C}"/>
              </a:ext>
            </a:extLst>
          </p:cNvPr>
          <p:cNvCxnSpPr/>
          <p:nvPr/>
        </p:nvCxnSpPr>
        <p:spPr>
          <a:xfrm>
            <a:off x="2956731" y="1869743"/>
            <a:ext cx="0" cy="429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779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E8A0B-CDA7-3FD5-763F-CECB9CB9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EF32-D517-8F14-1DE2-16E9CF4E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1ECE-C6DD-FC62-E31E-1979C1550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550" y="1539277"/>
            <a:ext cx="4977130" cy="4329817"/>
          </a:xfrm>
        </p:spPr>
        <p:txBody>
          <a:bodyPr/>
          <a:lstStyle/>
          <a:p>
            <a:r>
              <a:rPr lang="en-US" dirty="0"/>
              <a:t>Write phase</a:t>
            </a:r>
          </a:p>
          <a:p>
            <a:pPr lvl="1"/>
            <a:r>
              <a:rPr lang="en-US" dirty="0"/>
              <a:t>PS writes input control registers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PS “start” on the control register</a:t>
            </a:r>
          </a:p>
          <a:p>
            <a:pPr lvl="1"/>
            <a:r>
              <a:rPr lang="en-US" dirty="0"/>
              <a:t>Transaction starts when “ready”</a:t>
            </a:r>
          </a:p>
          <a:p>
            <a:pPr lvl="1"/>
            <a:r>
              <a:rPr lang="en-US" dirty="0"/>
              <a:t>IP asserts “done”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PS reads outputs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3B21F-7F22-6A87-6EC9-FC78421B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84471-8FDA-FB8F-5E0C-35205CAC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43" y="1380327"/>
            <a:ext cx="4736611" cy="484305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CDD1C1-853A-3D7E-43D3-3364644991D9}"/>
              </a:ext>
            </a:extLst>
          </p:cNvPr>
          <p:cNvSpPr/>
          <p:nvPr/>
        </p:nvSpPr>
        <p:spPr>
          <a:xfrm>
            <a:off x="1638300" y="2362200"/>
            <a:ext cx="590550" cy="1447800"/>
          </a:xfrm>
          <a:prstGeom prst="roundRect">
            <a:avLst/>
          </a:prstGeom>
          <a:solidFill>
            <a:srgbClr val="92278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ABF5F6-54C3-017B-52BE-28A818E020FF}"/>
              </a:ext>
            </a:extLst>
          </p:cNvPr>
          <p:cNvSpPr/>
          <p:nvPr/>
        </p:nvSpPr>
        <p:spPr>
          <a:xfrm>
            <a:off x="2451100" y="4267200"/>
            <a:ext cx="196850" cy="168275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F178B7-71B7-D880-D786-DFAC7BBFFF49}"/>
              </a:ext>
            </a:extLst>
          </p:cNvPr>
          <p:cNvSpPr/>
          <p:nvPr/>
        </p:nvSpPr>
        <p:spPr>
          <a:xfrm>
            <a:off x="2155825" y="1828800"/>
            <a:ext cx="352425" cy="692150"/>
          </a:xfrm>
          <a:prstGeom prst="roundRect">
            <a:avLst/>
          </a:prstGeom>
          <a:solidFill>
            <a:srgbClr val="CCFF99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E8C0F3-CCDE-461B-913A-5B62B6EFD776}"/>
              </a:ext>
            </a:extLst>
          </p:cNvPr>
          <p:cNvSpPr/>
          <p:nvPr/>
        </p:nvSpPr>
        <p:spPr>
          <a:xfrm>
            <a:off x="9832975" y="1806913"/>
            <a:ext cx="590550" cy="387350"/>
          </a:xfrm>
          <a:prstGeom prst="roundRect">
            <a:avLst/>
          </a:prstGeom>
          <a:solidFill>
            <a:srgbClr val="92278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972D1A-54C7-6141-FAEA-881786124E59}"/>
              </a:ext>
            </a:extLst>
          </p:cNvPr>
          <p:cNvSpPr/>
          <p:nvPr/>
        </p:nvSpPr>
        <p:spPr>
          <a:xfrm>
            <a:off x="9896475" y="2895600"/>
            <a:ext cx="590550" cy="692150"/>
          </a:xfrm>
          <a:prstGeom prst="roundRect">
            <a:avLst/>
          </a:prstGeom>
          <a:solidFill>
            <a:srgbClr val="CCFF99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DAACD4-FE40-FCF3-69AB-CF34E0D11D70}"/>
              </a:ext>
            </a:extLst>
          </p:cNvPr>
          <p:cNvSpPr/>
          <p:nvPr/>
        </p:nvSpPr>
        <p:spPr>
          <a:xfrm>
            <a:off x="9931399" y="3997999"/>
            <a:ext cx="555625" cy="612101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694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C6D2-4D0E-0F15-2D0F-DAF33835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on an FPGA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22B15-6C0F-E849-7176-DAFD60275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show this in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A14C3-E2B0-FE8F-3151-19595F2B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383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vs. Word Addressing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5806440" cy="420624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20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700"/>
            </a:lvl2pPr>
          </a:lstStyle>
          <a:p>
            <a:r>
              <a:rPr lang="en-US" b="1" dirty="0">
                <a:solidFill>
                  <a:srgbClr val="57068C"/>
                </a:solidFill>
              </a:rPr>
              <a:t>Word address</a:t>
            </a:r>
            <a:r>
              <a:rPr lang="en-US" dirty="0"/>
              <a:t>: counts words: 0, 1, 2, …</a:t>
            </a:r>
            <a:endParaRPr lang="en-US" dirty="0"/>
          </a:p>
          <a:p>
            <a:r>
              <a:rPr lang="en-US" b="1" dirty="0">
                <a:solidFill>
                  <a:srgbClr val="57068C"/>
                </a:solidFill>
              </a:rPr>
              <a:t>Byte address</a:t>
            </a:r>
            <a:r>
              <a:rPr lang="en-US" dirty="0"/>
              <a:t>: counts bytes</a:t>
            </a:r>
            <a:endParaRPr lang="en-US" dirty="0"/>
          </a:p>
          <a:p>
            <a:pPr lvl="1"/>
            <a:r>
              <a:rPr lang="en-US" dirty="0"/>
              <a:t xml:space="preserve">A </a:t>
            </a:r>
            <a:r>
              <a:rPr lang="en-US" dirty="0">
                <a:latin typeface="Cambria Math"/>
              </a:rPr>
              <a:t>𝑊</a:t>
            </a:r>
            <a:r>
              <a:rPr lang="en-US" dirty="0"/>
              <a:t xml:space="preserve">-bit word spans </a:t>
            </a:r>
            <a:r>
              <a:rPr lang="en-US" dirty="0">
                <a:latin typeface="Cambria Math"/>
              </a:rPr>
              <a:t>𝑊</a:t>
            </a:r>
            <a:r>
              <a:rPr lang="en-US" dirty="0"/>
              <a:t>/8 byte addresses</a:t>
            </a:r>
            <a:endParaRPr lang="en-US" dirty="0"/>
          </a:p>
          <a:p>
            <a:pPr lvl="1"/>
            <a:r>
              <a:rPr lang="en-US" dirty="0"/>
              <a:t xml:space="preserve">Word </a:t>
            </a:r>
            <a:r>
              <a:rPr lang="en-US" dirty="0">
                <a:latin typeface="Cambria Math"/>
              </a:rPr>
              <a:t>𝑘</a:t>
            </a:r>
            <a:r>
              <a:rPr lang="en-US" dirty="0"/>
              <a:t xml:space="preserve"> starts at byte </a:t>
            </a:r>
            <a:r>
              <a:rPr lang="en-US" dirty="0">
                <a:latin typeface="Cambria Math"/>
              </a:rPr>
              <a:t>4𝑘</a:t>
            </a:r>
            <a:r>
              <a:rPr lang="en-US" dirty="0"/>
              <a:t xml:space="preserve"> (32-bit) or </a:t>
            </a:r>
            <a:r>
              <a:rPr lang="en-US" dirty="0">
                <a:latin typeface="Cambria Math"/>
              </a:rPr>
              <a:t>8𝑘</a:t>
            </a:r>
            <a:r>
              <a:rPr lang="en-US" dirty="0"/>
              <a:t xml:space="preserve"> (64-bit)</a:t>
            </a:r>
            <a:endParaRPr lang="en-US" dirty="0"/>
          </a:p>
          <a:p>
            <a:r>
              <a:rPr lang="en-US" dirty="0"/>
              <a:t>A byte address splits into two fields</a:t>
            </a:r>
            <a:endParaRPr lang="en-US" dirty="0"/>
          </a:p>
          <a:p>
            <a:pPr lvl="1"/>
            <a:r>
              <a:rPr lang="en-US" dirty="0"/>
              <a:t>Low log₂(</a:t>
            </a:r>
            <a:r>
              <a:rPr lang="en-US" dirty="0">
                <a:latin typeface="Cambria Math"/>
              </a:rPr>
              <a:t>𝑊</a:t>
            </a:r>
            <a:r>
              <a:rPr lang="en-US" dirty="0"/>
              <a:t>/8) bits: the byte within the word</a:t>
            </a:r>
            <a:endParaRPr lang="en-US" dirty="0"/>
          </a:p>
          <a:p>
            <a:pPr lvl="1"/>
            <a:r>
              <a:rPr lang="en-US" dirty="0"/>
              <a:t>Remaining bits: the word index</a:t>
            </a:r>
            <a:endParaRPr lang="en-US" dirty="0"/>
          </a:p>
          <a:p>
            <a:r>
              <a:rPr lang="en-US" dirty="0"/>
              <a:t xml:space="preserve">Processor buses, including AXI, use </a:t>
            </a:r>
            <a:r>
              <a:rPr lang="en-US" b="1" dirty="0">
                <a:solidFill>
                  <a:srgbClr val="57068C"/>
                </a:solidFill>
              </a:rPr>
              <a:t>byte addresses</a:t>
            </a:r>
            <a:endParaRPr lang="en-US" dirty="0"/>
          </a:p>
          <a:p>
            <a:pPr lvl="1"/>
            <a:r>
              <a:rPr lang="en-US" dirty="0"/>
              <a:t>even when every access is a whole word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7223760" y="16276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dirty="0">
                <a:solidFill>
                  <a:srgbClr val="6E6E6E"/>
                </a:solidFill>
              </a:rPr>
              <a:t>32-bit memory, byte-addressable</a:t>
            </a:r>
            <a:endParaRPr lang="en-US" sz="1300" dirty="0"/>
          </a:p>
        </p:txBody>
      </p:sp>
      <p:sp>
        <p:nvSpPr>
          <p:cNvPr id="5" name="TextBox 5"/>
          <p:cNvSpPr txBox="1"/>
          <p:nvPr/>
        </p:nvSpPr>
        <p:spPr>
          <a:xfrm>
            <a:off x="7223760" y="1938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Word</a:t>
            </a:r>
            <a:endParaRPr lang="en-US" sz="1200" dirty="0"/>
          </a:p>
        </p:txBody>
      </p:sp>
      <p:sp>
        <p:nvSpPr>
          <p:cNvPr id="6" name="TextBox 6"/>
          <p:cNvSpPr txBox="1"/>
          <p:nvPr/>
        </p:nvSpPr>
        <p:spPr>
          <a:xfrm>
            <a:off x="8092440" y="19385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Byte addresses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7223760" y="22402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8092440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300" dirty="0"/>
          </a:p>
        </p:txBody>
      </p:sp>
      <p:sp>
        <p:nvSpPr>
          <p:cNvPr id="9" name="Shape 9"/>
          <p:cNvSpPr/>
          <p:nvPr/>
        </p:nvSpPr>
        <p:spPr>
          <a:xfrm>
            <a:off x="8659368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300" dirty="0"/>
          </a:p>
        </p:txBody>
      </p:sp>
      <p:sp>
        <p:nvSpPr>
          <p:cNvPr id="10" name="Shape 10"/>
          <p:cNvSpPr/>
          <p:nvPr/>
        </p:nvSpPr>
        <p:spPr>
          <a:xfrm>
            <a:off x="9226296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2</a:t>
            </a:r>
            <a:endParaRPr lang="en-US" sz="1300" dirty="0"/>
          </a:p>
        </p:txBody>
      </p:sp>
      <p:sp>
        <p:nvSpPr>
          <p:cNvPr id="11" name="Shape 11"/>
          <p:cNvSpPr/>
          <p:nvPr/>
        </p:nvSpPr>
        <p:spPr>
          <a:xfrm>
            <a:off x="9793224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3</a:t>
            </a:r>
            <a:endParaRPr lang="en-US" sz="1300" dirty="0"/>
          </a:p>
        </p:txBody>
      </p:sp>
      <p:sp>
        <p:nvSpPr>
          <p:cNvPr id="12" name="TextBox 12"/>
          <p:cNvSpPr txBox="1"/>
          <p:nvPr/>
        </p:nvSpPr>
        <p:spPr>
          <a:xfrm>
            <a:off x="7223760" y="26974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400" dirty="0"/>
          </a:p>
        </p:txBody>
      </p:sp>
      <p:sp>
        <p:nvSpPr>
          <p:cNvPr id="13" name="Shape 13"/>
          <p:cNvSpPr/>
          <p:nvPr/>
        </p:nvSpPr>
        <p:spPr>
          <a:xfrm>
            <a:off x="8092440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4</a:t>
            </a:r>
            <a:endParaRPr lang="en-US" sz="1300" dirty="0"/>
          </a:p>
        </p:txBody>
      </p:sp>
      <p:sp>
        <p:nvSpPr>
          <p:cNvPr id="14" name="Shape 14"/>
          <p:cNvSpPr/>
          <p:nvPr/>
        </p:nvSpPr>
        <p:spPr>
          <a:xfrm>
            <a:off x="8659368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5</a:t>
            </a:r>
            <a:endParaRPr lang="en-US" sz="1300" dirty="0"/>
          </a:p>
        </p:txBody>
      </p:sp>
      <p:sp>
        <p:nvSpPr>
          <p:cNvPr id="15" name="Shape 15"/>
          <p:cNvSpPr/>
          <p:nvPr/>
        </p:nvSpPr>
        <p:spPr>
          <a:xfrm>
            <a:off x="9226296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6</a:t>
            </a:r>
            <a:endParaRPr lang="en-US" sz="1300" dirty="0"/>
          </a:p>
        </p:txBody>
      </p:sp>
      <p:sp>
        <p:nvSpPr>
          <p:cNvPr id="16" name="Shape 16"/>
          <p:cNvSpPr/>
          <p:nvPr/>
        </p:nvSpPr>
        <p:spPr>
          <a:xfrm>
            <a:off x="9793224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7</a:t>
            </a:r>
            <a:endParaRPr lang="en-US" sz="1300" dirty="0"/>
          </a:p>
        </p:txBody>
      </p:sp>
      <p:sp>
        <p:nvSpPr>
          <p:cNvPr id="17" name="TextBox 17"/>
          <p:cNvSpPr txBox="1"/>
          <p:nvPr/>
        </p:nvSpPr>
        <p:spPr>
          <a:xfrm>
            <a:off x="7223760" y="31546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2</a:t>
            </a:r>
            <a:endParaRPr lang="en-US" sz="1400" dirty="0"/>
          </a:p>
        </p:txBody>
      </p:sp>
      <p:sp>
        <p:nvSpPr>
          <p:cNvPr id="18" name="Shape 18"/>
          <p:cNvSpPr/>
          <p:nvPr/>
        </p:nvSpPr>
        <p:spPr>
          <a:xfrm>
            <a:off x="8092440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8</a:t>
            </a:r>
            <a:endParaRPr lang="en-US" sz="1300" dirty="0"/>
          </a:p>
        </p:txBody>
      </p:sp>
      <p:sp>
        <p:nvSpPr>
          <p:cNvPr id="19" name="Shape 19"/>
          <p:cNvSpPr/>
          <p:nvPr/>
        </p:nvSpPr>
        <p:spPr>
          <a:xfrm>
            <a:off x="8659368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9</a:t>
            </a:r>
            <a:endParaRPr lang="en-US" sz="1300" dirty="0"/>
          </a:p>
        </p:txBody>
      </p:sp>
      <p:sp>
        <p:nvSpPr>
          <p:cNvPr id="20" name="Shape 20"/>
          <p:cNvSpPr/>
          <p:nvPr/>
        </p:nvSpPr>
        <p:spPr>
          <a:xfrm>
            <a:off x="9226296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10</a:t>
            </a:r>
            <a:endParaRPr lang="en-US" sz="1300" dirty="0"/>
          </a:p>
        </p:txBody>
      </p:sp>
      <p:sp>
        <p:nvSpPr>
          <p:cNvPr id="21" name="Shape 21"/>
          <p:cNvSpPr/>
          <p:nvPr/>
        </p:nvSpPr>
        <p:spPr>
          <a:xfrm>
            <a:off x="9793224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11</a:t>
            </a:r>
            <a:endParaRPr lang="en-US" sz="1300" dirty="0"/>
          </a:p>
        </p:txBody>
      </p:sp>
      <p:sp>
        <p:nvSpPr>
          <p:cNvPr id="22" name="TextBox 22"/>
          <p:cNvSpPr txBox="1"/>
          <p:nvPr/>
        </p:nvSpPr>
        <p:spPr>
          <a:xfrm>
            <a:off x="8092440" y="3584448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600" dirty="0">
                <a:solidFill>
                  <a:srgbClr val="6E6E6E"/>
                </a:solidFill>
              </a:rPr>
              <a:t>⋮</a:t>
            </a:r>
            <a:endParaRPr lang="en-US" sz="1600" dirty="0"/>
          </a:p>
        </p:txBody>
      </p:sp>
      <p:sp>
        <p:nvSpPr>
          <p:cNvPr id="23" name="TextBox 23"/>
          <p:cNvSpPr txBox="1"/>
          <p:nvPr/>
        </p:nvSpPr>
        <p:spPr>
          <a:xfrm>
            <a:off x="7223760" y="393192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ambria Math"/>
              </a:rPr>
              <a:t>𝑘</a:t>
            </a:r>
            <a:endParaRPr lang="en-US" sz="1400" dirty="0"/>
          </a:p>
        </p:txBody>
      </p:sp>
      <p:sp>
        <p:nvSpPr>
          <p:cNvPr id="24" name="Shape 24"/>
          <p:cNvSpPr/>
          <p:nvPr/>
        </p:nvSpPr>
        <p:spPr>
          <a:xfrm>
            <a:off x="8092440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</a:t>
            </a:r>
            <a:endParaRPr lang="en-US" sz="1100" dirty="0"/>
          </a:p>
        </p:txBody>
      </p:sp>
      <p:sp>
        <p:nvSpPr>
          <p:cNvPr id="25" name="Shape 25"/>
          <p:cNvSpPr/>
          <p:nvPr/>
        </p:nvSpPr>
        <p:spPr>
          <a:xfrm>
            <a:off x="8659368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4𝑘+1</a:t>
            </a:r>
            <a:endParaRPr lang="en-US" sz="1100" dirty="0"/>
          </a:p>
        </p:txBody>
      </p:sp>
      <p:sp>
        <p:nvSpPr>
          <p:cNvPr id="26" name="Shape 26"/>
          <p:cNvSpPr/>
          <p:nvPr/>
        </p:nvSpPr>
        <p:spPr>
          <a:xfrm>
            <a:off x="9226296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4𝑘+2</a:t>
            </a:r>
            <a:endParaRPr lang="en-US" sz="1100" dirty="0"/>
          </a:p>
        </p:txBody>
      </p:sp>
      <p:sp>
        <p:nvSpPr>
          <p:cNvPr id="27" name="Shape 27"/>
          <p:cNvSpPr/>
          <p:nvPr/>
        </p:nvSpPr>
        <p:spPr>
          <a:xfrm>
            <a:off x="9793224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4𝑘+3</a:t>
            </a:r>
            <a:endParaRPr lang="en-US" sz="1100" dirty="0"/>
          </a:p>
        </p:txBody>
      </p:sp>
      <p:sp>
        <p:nvSpPr>
          <p:cNvPr id="28" name="TextBox 28"/>
          <p:cNvSpPr txBox="1"/>
          <p:nvPr/>
        </p:nvSpPr>
        <p:spPr>
          <a:xfrm>
            <a:off x="8092440" y="45537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 32-bit byte address</a:t>
            </a:r>
            <a:endParaRPr lang="en-US" sz="1200" dirty="0"/>
          </a:p>
        </p:txBody>
      </p:sp>
      <p:sp>
        <p:nvSpPr>
          <p:cNvPr id="29" name="Shape 29"/>
          <p:cNvSpPr/>
          <p:nvPr/>
        </p:nvSpPr>
        <p:spPr>
          <a:xfrm>
            <a:off x="8092440" y="4828032"/>
            <a:ext cx="1920240" cy="56692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word index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330662"/>
                </a:solidFill>
              </a:rPr>
              <a:t>bits 31–2</a:t>
            </a:r>
            <a:endParaRPr lang="en-US" sz="1100" dirty="0"/>
          </a:p>
        </p:txBody>
      </p:sp>
      <p:sp>
        <p:nvSpPr>
          <p:cNvPr id="30" name="Shape 30"/>
          <p:cNvSpPr/>
          <p:nvPr/>
        </p:nvSpPr>
        <p:spPr>
          <a:xfrm>
            <a:off x="10012680" y="4828032"/>
            <a:ext cx="822960" cy="566928"/>
          </a:xfrm>
          <a:prstGeom prst="rect">
            <a:avLst/>
          </a:prstGeom>
          <a:solidFill>
            <a:srgbClr val="DCEFE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byte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00857C"/>
                </a:solidFill>
              </a:rPr>
              <a:t>1–0</a:t>
            </a:r>
            <a:endParaRPr lang="en-US" sz="1100" dirty="0"/>
          </a:p>
        </p:txBody>
      </p:sp>
      <p:sp>
        <p:nvSpPr>
          <p:cNvPr id="31" name="TextBox 31"/>
          <p:cNvSpPr txBox="1"/>
          <p:nvPr/>
        </p:nvSpPr>
        <p:spPr>
          <a:xfrm>
            <a:off x="8092440" y="54406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 xml:space="preserve">e.g. </a:t>
            </a:r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0x14</a:t>
            </a:r>
            <a:r>
              <a:rPr lang="en-US" sz="1300" dirty="0">
                <a:solidFill>
                  <a:srgbClr val="262626"/>
                </a:solidFill>
              </a:rPr>
              <a:t xml:space="preserve"> → word 5, byte 0</a:t>
            </a:r>
            <a:endParaRPr lang="en-US" sz="1300" dirty="0"/>
          </a:p>
        </p:txBody>
      </p:sp>
      <p:sp>
        <p:nvSpPr>
          <p:cNvPr id="32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and Word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126480" cy="3931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262626"/>
                </a:solidFill>
              </a:rPr>
              <a:t>A memory stores 64-bit words and is byte-addressable: byte address 0 is the first byte of word 0, and each word occupies consecutive byte addresses.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(a)</a:t>
            </a:r>
            <a:r>
              <a:rPr lang="en-US" sz="1800" dirty="0">
                <a:solidFill>
                  <a:srgbClr val="262626"/>
                </a:solidFill>
              </a:rPr>
              <a:t xml:space="preserve">	What is the byte address of word 13? Give it in decimal and in hexadecimal.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(b)</a:t>
            </a:r>
            <a:r>
              <a:rPr lang="en-US" sz="1800" dirty="0">
                <a:solidFill>
                  <a:srgbClr val="262626"/>
                </a:solidFill>
              </a:rPr>
              <a:t xml:space="preserve">	Which word contains byte address </a:t>
            </a:r>
            <a:r>
              <a:rPr lang="en-US" sz="1800" dirty="0">
                <a:solidFill>
                  <a:srgbClr val="330662"/>
                </a:solidFill>
                <a:latin typeface="Consolas"/>
                <a:cs typeface="Consolas"/>
              </a:rPr>
              <a:t>0x5C</a:t>
            </a:r>
            <a:r>
              <a:rPr lang="en-US" sz="1800" dirty="0">
                <a:solidFill>
                  <a:srgbClr val="262626"/>
                </a:solidFill>
              </a:rPr>
              <a:t>, and at which byte offset within that word?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(c)</a:t>
            </a:r>
            <a:r>
              <a:rPr lang="en-US" sz="1800" dirty="0">
                <a:solidFill>
                  <a:srgbClr val="262626"/>
                </a:solidFill>
              </a:rPr>
              <a:t xml:space="preserve">	The memory has a depth of 4096 words. How many address bits are needed with byte addressing? How many with word addressing?</a:t>
            </a:r>
            <a:endParaRPr lang="en-US" sz="1800" dirty="0"/>
          </a:p>
        </p:txBody>
      </p:sp>
      <p:sp>
        <p:nvSpPr>
          <p:cNvPr id="5" name="TextBox 5"/>
          <p:cNvSpPr txBox="1"/>
          <p:nvPr/>
        </p:nvSpPr>
        <p:spPr>
          <a:xfrm>
            <a:off x="7589520" y="1691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dirty="0">
                <a:solidFill>
                  <a:srgbClr val="6E6E6E"/>
                </a:solidFill>
              </a:rPr>
              <a:t>64-bit words: 8 bytes each</a:t>
            </a:r>
            <a:endParaRPr lang="en-US" sz="1300" dirty="0"/>
          </a:p>
        </p:txBody>
      </p:sp>
      <p:sp>
        <p:nvSpPr>
          <p:cNvPr id="6" name="TextBox 6"/>
          <p:cNvSpPr txBox="1"/>
          <p:nvPr/>
        </p:nvSpPr>
        <p:spPr>
          <a:xfrm>
            <a:off x="7589520" y="205740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8138160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8513064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100" dirty="0"/>
          </a:p>
        </p:txBody>
      </p:sp>
      <p:sp>
        <p:nvSpPr>
          <p:cNvPr id="9" name="Shape 9"/>
          <p:cNvSpPr/>
          <p:nvPr/>
        </p:nvSpPr>
        <p:spPr>
          <a:xfrm>
            <a:off x="8887968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2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9262872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3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9637776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4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10012680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5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10387584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6</a:t>
            </a:r>
            <a:endParaRPr lang="en-US" sz="1100" dirty="0"/>
          </a:p>
        </p:txBody>
      </p:sp>
      <p:sp>
        <p:nvSpPr>
          <p:cNvPr id="14" name="Shape 14"/>
          <p:cNvSpPr/>
          <p:nvPr/>
        </p:nvSpPr>
        <p:spPr>
          <a:xfrm>
            <a:off x="10762488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7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7589520" y="251460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300" dirty="0"/>
          </a:p>
        </p:txBody>
      </p:sp>
      <p:sp>
        <p:nvSpPr>
          <p:cNvPr id="16" name="Shape 16"/>
          <p:cNvSpPr/>
          <p:nvPr/>
        </p:nvSpPr>
        <p:spPr>
          <a:xfrm>
            <a:off x="8138160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8</a:t>
            </a:r>
            <a:endParaRPr lang="en-US" sz="1100" dirty="0"/>
          </a:p>
        </p:txBody>
      </p:sp>
      <p:sp>
        <p:nvSpPr>
          <p:cNvPr id="17" name="Shape 17"/>
          <p:cNvSpPr/>
          <p:nvPr/>
        </p:nvSpPr>
        <p:spPr>
          <a:xfrm>
            <a:off x="8513064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9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8887968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10</a:t>
            </a:r>
            <a:endParaRPr lang="en-US" sz="1100" dirty="0"/>
          </a:p>
        </p:txBody>
      </p:sp>
      <p:sp>
        <p:nvSpPr>
          <p:cNvPr id="19" name="Shape 19"/>
          <p:cNvSpPr/>
          <p:nvPr/>
        </p:nvSpPr>
        <p:spPr>
          <a:xfrm>
            <a:off x="9262872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11</a:t>
            </a:r>
            <a:endParaRPr lang="en-US" sz="1100" dirty="0"/>
          </a:p>
        </p:txBody>
      </p:sp>
      <p:sp>
        <p:nvSpPr>
          <p:cNvPr id="20" name="Shape 20"/>
          <p:cNvSpPr/>
          <p:nvPr/>
        </p:nvSpPr>
        <p:spPr>
          <a:xfrm>
            <a:off x="9637776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12</a:t>
            </a:r>
            <a:endParaRPr lang="en-US" sz="1100" dirty="0"/>
          </a:p>
        </p:txBody>
      </p:sp>
      <p:sp>
        <p:nvSpPr>
          <p:cNvPr id="21" name="Shape 21"/>
          <p:cNvSpPr/>
          <p:nvPr/>
        </p:nvSpPr>
        <p:spPr>
          <a:xfrm>
            <a:off x="10012680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13</a:t>
            </a:r>
            <a:endParaRPr lang="en-US" sz="1100" dirty="0"/>
          </a:p>
        </p:txBody>
      </p:sp>
      <p:sp>
        <p:nvSpPr>
          <p:cNvPr id="22" name="Shape 22"/>
          <p:cNvSpPr/>
          <p:nvPr/>
        </p:nvSpPr>
        <p:spPr>
          <a:xfrm>
            <a:off x="10387584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14</a:t>
            </a:r>
            <a:endParaRPr lang="en-US" sz="1100" dirty="0"/>
          </a:p>
        </p:txBody>
      </p:sp>
      <p:sp>
        <p:nvSpPr>
          <p:cNvPr id="23" name="Shape 23"/>
          <p:cNvSpPr/>
          <p:nvPr/>
        </p:nvSpPr>
        <p:spPr>
          <a:xfrm>
            <a:off x="10762488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15</a:t>
            </a:r>
            <a:endParaRPr lang="en-US" sz="1100" dirty="0"/>
          </a:p>
        </p:txBody>
      </p:sp>
      <p:sp>
        <p:nvSpPr>
          <p:cNvPr id="24" name="TextBox 24"/>
          <p:cNvSpPr txBox="1"/>
          <p:nvPr/>
        </p:nvSpPr>
        <p:spPr>
          <a:xfrm>
            <a:off x="8138160" y="2944368"/>
            <a:ext cx="2999232" cy="3291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600" dirty="0">
                <a:solidFill>
                  <a:srgbClr val="6E6E6E"/>
                </a:solidFill>
              </a:rPr>
              <a:t>⋮</a:t>
            </a:r>
            <a:endParaRPr lang="en-US" sz="1600" dirty="0"/>
          </a:p>
        </p:txBody>
      </p:sp>
      <p:sp>
        <p:nvSpPr>
          <p:cNvPr id="25" name="TextBox 25"/>
          <p:cNvSpPr txBox="1"/>
          <p:nvPr/>
        </p:nvSpPr>
        <p:spPr>
          <a:xfrm>
            <a:off x="7589520" y="342900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500" b="1" dirty="0">
                <a:solidFill>
                  <a:srgbClr val="57068C"/>
                </a:solidFill>
              </a:rPr>
              <a:t>Word 13 starts at byte ?</a:t>
            </a:r>
            <a:endParaRPr lang="en-US" sz="1500" dirty="0"/>
          </a:p>
        </p:txBody>
      </p:sp>
      <p:sp>
        <p:nvSpPr>
          <p:cNvPr id="26" name="TextBox 26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Byte and word addresses</a:t>
            </a:r>
            <a:endParaRPr lang="en-US" sz="1200" dirty="0"/>
          </a:p>
        </p:txBody>
      </p:sp>
      <p:sp>
        <p:nvSpPr>
          <p:cNvPr id="27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and Word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217920" cy="3931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(a)</a:t>
            </a:r>
            <a:r>
              <a:rPr lang="en-US" sz="1700" dirty="0">
                <a:solidFill>
                  <a:srgbClr val="262626"/>
                </a:solidFill>
              </a:rPr>
              <a:t xml:space="preserve">	8 bytes per word, so word 13 starts at 13 × 8 = </a:t>
            </a:r>
            <a:r>
              <a:rPr lang="en-US" sz="1700" b="1" dirty="0">
                <a:solidFill>
                  <a:srgbClr val="00857C"/>
                </a:solidFill>
              </a:rPr>
              <a:t>104</a:t>
            </a:r>
            <a:r>
              <a:rPr lang="en-US" sz="1700" dirty="0">
                <a:solidFill>
                  <a:srgbClr val="262626"/>
                </a:solidFill>
              </a:rPr>
              <a:t xml:space="preserve"> = </a:t>
            </a:r>
            <a:r>
              <a:rPr lang="en-US" sz="1700" b="1" dirty="0">
                <a:solidFill>
                  <a:srgbClr val="00857C"/>
                </a:solidFill>
                <a:latin typeface="Consolas"/>
                <a:cs typeface="Consolas"/>
              </a:rPr>
              <a:t>0x68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(b)</a:t>
            </a:r>
            <a:r>
              <a:rPr lang="en-US" sz="1700" dirty="0">
                <a:solidFill>
                  <a:srgbClr val="262626"/>
                </a:solidFill>
              </a:rPr>
              <a:t xml:space="preserve">	</a:t>
            </a:r>
            <a:r>
              <a:rPr lang="en-US" sz="1700" dirty="0">
                <a:solidFill>
                  <a:srgbClr val="330662"/>
                </a:solidFill>
                <a:latin typeface="Consolas"/>
                <a:cs typeface="Consolas"/>
              </a:rPr>
              <a:t>0x5C</a:t>
            </a:r>
            <a:r>
              <a:rPr lang="en-US" sz="1700" dirty="0">
                <a:solidFill>
                  <a:srgbClr val="262626"/>
                </a:solidFill>
              </a:rPr>
              <a:t xml:space="preserve"> = 92 = 8 × 11 + 4 → </a:t>
            </a:r>
            <a:r>
              <a:rPr lang="en-US" sz="1700" b="1" dirty="0">
                <a:solidFill>
                  <a:srgbClr val="00857C"/>
                </a:solidFill>
              </a:rPr>
              <a:t>word 11</a:t>
            </a:r>
            <a:r>
              <a:rPr lang="en-US" sz="1700" dirty="0">
                <a:solidFill>
                  <a:srgbClr val="262626"/>
                </a:solidFill>
              </a:rPr>
              <a:t xml:space="preserve">, </a:t>
            </a:r>
            <a:r>
              <a:rPr lang="en-US" sz="1700" b="1" dirty="0">
                <a:solidFill>
                  <a:srgbClr val="00857C"/>
                </a:solidFill>
              </a:rPr>
              <a:t>byte 4</a:t>
            </a:r>
            <a:endParaRPr lang="en-US" sz="1700" dirty="0"/>
          </a:p>
          <a:p>
            <a:pPr marL="411480" indent="0">
              <a:spcBef>
                <a:spcPts val="200"/>
              </a:spcBef>
            </a:pPr>
            <a:r>
              <a:rPr lang="en-US" sz="1500" dirty="0">
                <a:solidFill>
                  <a:srgbClr val="6E6E6E"/>
                </a:solidFill>
              </a:rPr>
              <a:t xml:space="preserve">word =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addr &gt;&gt; 3</a:t>
            </a:r>
            <a:r>
              <a:rPr lang="en-US" sz="1500" dirty="0">
                <a:solidFill>
                  <a:srgbClr val="6E6E6E"/>
                </a:solidFill>
              </a:rPr>
              <a:t xml:space="preserve">     byte =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addr &amp; 0x7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(c)</a:t>
            </a:r>
            <a:r>
              <a:rPr lang="en-US" sz="1700" dirty="0">
                <a:solidFill>
                  <a:srgbClr val="262626"/>
                </a:solidFill>
              </a:rPr>
              <a:t xml:space="preserve">	Word addressing: 4096 = 2</a:t>
            </a:r>
            <a:r>
              <a:rPr lang="en-US" sz="1700" baseline="30000" dirty="0">
                <a:solidFill>
                  <a:srgbClr val="262626"/>
                </a:solidFill>
              </a:rPr>
              <a:t>12</a:t>
            </a:r>
            <a:r>
              <a:rPr lang="en-US" sz="1700" dirty="0">
                <a:solidFill>
                  <a:srgbClr val="262626"/>
                </a:solidFill>
              </a:rPr>
              <a:t xml:space="preserve"> words → </a:t>
            </a:r>
            <a:r>
              <a:rPr lang="en-US" sz="1700" b="1" dirty="0">
                <a:solidFill>
                  <a:srgbClr val="00857C"/>
                </a:solidFill>
              </a:rPr>
              <a:t>12 bits</a:t>
            </a:r>
            <a:endParaRPr lang="en-US" sz="1700" dirty="0"/>
          </a:p>
          <a:p>
            <a:pPr marL="411480" indent="0">
              <a:spcBef>
                <a:spcPts val="200"/>
              </a:spcBef>
            </a:pPr>
            <a:r>
              <a:rPr lang="en-US" sz="1700" dirty="0">
                <a:solidFill>
                  <a:srgbClr val="262626"/>
                </a:solidFill>
              </a:rPr>
              <a:t>Byte addressing: 4096 × 8 = 2</a:t>
            </a:r>
            <a:r>
              <a:rPr lang="en-US" sz="1700" baseline="30000" dirty="0">
                <a:solidFill>
                  <a:srgbClr val="262626"/>
                </a:solidFill>
              </a:rPr>
              <a:t>15</a:t>
            </a:r>
            <a:r>
              <a:rPr lang="en-US" sz="1700" dirty="0">
                <a:solidFill>
                  <a:srgbClr val="262626"/>
                </a:solidFill>
              </a:rPr>
              <a:t xml:space="preserve"> bytes → </a:t>
            </a:r>
            <a:r>
              <a:rPr lang="en-US" sz="1700" b="1" dirty="0">
                <a:solidFill>
                  <a:srgbClr val="00857C"/>
                </a:solidFill>
              </a:rPr>
              <a:t>15 bits</a:t>
            </a:r>
            <a:endParaRPr lang="en-US" sz="1700" dirty="0"/>
          </a:p>
          <a:p>
            <a:pPr marL="411480" indent="0">
              <a:spcBef>
                <a:spcPts val="200"/>
              </a:spcBef>
            </a:pPr>
            <a:r>
              <a:rPr lang="en-US" sz="1500" dirty="0">
                <a:solidFill>
                  <a:srgbClr val="6E6E6E"/>
                </a:solidFill>
              </a:rPr>
              <a:t>The extra 3 bits select the byte within the word</a:t>
            </a:r>
            <a:endParaRPr lang="en-US" sz="1500" dirty="0"/>
          </a:p>
        </p:txBody>
      </p:sp>
      <p:sp>
        <p:nvSpPr>
          <p:cNvPr id="5" name="TextBox 5"/>
          <p:cNvSpPr txBox="1"/>
          <p:nvPr/>
        </p:nvSpPr>
        <p:spPr>
          <a:xfrm>
            <a:off x="7589520" y="1691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 byte address, 64-bit words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7589520" y="1993392"/>
            <a:ext cx="2377440" cy="56692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word index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330662"/>
                </a:solidFill>
              </a:rPr>
              <a:t>bits 14–3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9966960" y="1993392"/>
            <a:ext cx="1188720" cy="566928"/>
          </a:xfrm>
          <a:prstGeom prst="rect">
            <a:avLst/>
          </a:prstGeom>
          <a:solidFill>
            <a:srgbClr val="DCEFE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byte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00857C"/>
                </a:solidFill>
              </a:rPr>
              <a:t>2–0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7589520" y="301752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B4530F"/>
                </a:solidFill>
              </a:rPr>
              <a:t>Common error</a:t>
            </a:r>
            <a:endParaRPr lang="en-US" sz="1500" dirty="0"/>
          </a:p>
          <a:p>
            <a:r>
              <a:rPr lang="en-US" sz="1500" dirty="0">
                <a:solidFill>
                  <a:srgbClr val="262626"/>
                </a:solidFill>
              </a:rPr>
              <a:t>Using 4 bytes per word, the 32-bit habit, gives 52, word 23 and 14 bits.</a:t>
            </a:r>
            <a:endParaRPr lang="en-US" sz="1500" dirty="0"/>
          </a:p>
        </p:txBody>
      </p:sp>
      <p:sp>
        <p:nvSpPr>
          <p:cNvPr id="9" name="TextBox 9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Byte and word addresses</a:t>
            </a:r>
            <a:endParaRPr lang="en-US" sz="1200" dirty="0"/>
          </a:p>
        </p:txBody>
      </p:sp>
      <p:sp>
        <p:nvSpPr>
          <p:cNvPr id="10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Maps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5806440" cy="393192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20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700"/>
            </a:lvl2pPr>
          </a:lstStyle>
          <a:p>
            <a:r>
              <a:rPr lang="en-US" dirty="0"/>
              <a:t xml:space="preserve">Modules on a shared bus share one </a:t>
            </a:r>
            <a:r>
              <a:rPr lang="en-US" b="1" dirty="0">
                <a:solidFill>
                  <a:srgbClr val="57068C"/>
                </a:solidFill>
              </a:rPr>
              <a:t>global address space</a:t>
            </a:r>
            <a:endParaRPr lang="en-US" dirty="0"/>
          </a:p>
          <a:p>
            <a:r>
              <a:rPr lang="en-US" dirty="0"/>
              <a:t xml:space="preserve">Each module gets a </a:t>
            </a:r>
            <a:r>
              <a:rPr lang="en-US" b="1" dirty="0">
                <a:solidFill>
                  <a:srgbClr val="57068C"/>
                </a:solidFill>
              </a:rPr>
              <a:t>base address</a:t>
            </a:r>
            <a:r>
              <a:rPr lang="en-US" dirty="0"/>
              <a:t xml:space="preserve"> and a size</a:t>
            </a:r>
            <a:endParaRPr lang="en-US" dirty="0"/>
          </a:p>
          <a:p>
            <a:pPr lvl="1"/>
            <a:r>
              <a:rPr lang="en-US" dirty="0"/>
              <a:t>Size a power of two; base aligned to the size</a:t>
            </a:r>
            <a:endParaRPr lang="en-US" dirty="0"/>
          </a:p>
          <a:p>
            <a:r>
              <a:rPr lang="en-US" b="1" dirty="0">
                <a:solidFill>
                  <a:srgbClr val="57068C"/>
                </a:solidFill>
              </a:rPr>
              <a:t>Local address</a:t>
            </a:r>
            <a:r>
              <a:rPr lang="en-US" dirty="0"/>
              <a:t>: the offset within a module</a:t>
            </a:r>
            <a:endParaRPr lang="en-US" dirty="0"/>
          </a:p>
          <a:p>
            <a:pPr lvl="1"/>
            <a:r>
              <a:rPr lang="en-US" dirty="0"/>
              <a:t>Global address = base + local address</a:t>
            </a:r>
            <a:endParaRPr lang="en-US" dirty="0"/>
          </a:p>
          <a:p>
            <a:pPr lvl="1"/>
            <a:r>
              <a:rPr lang="en-US" dirty="0"/>
              <a:t>The module's decoder sees only the local address</a:t>
            </a:r>
            <a:endParaRPr lang="en-US" dirty="0"/>
          </a:p>
          <a:p>
            <a:r>
              <a:rPr lang="en-US" dirty="0"/>
              <a:t>Decoding a global address</a:t>
            </a:r>
            <a:endParaRPr lang="en-US" dirty="0"/>
          </a:p>
          <a:p>
            <a:pPr lvl="1"/>
            <a:r>
              <a:rPr lang="en-US" dirty="0"/>
              <a:t>Upper bits select the module</a:t>
            </a:r>
            <a:endParaRPr lang="en-US" dirty="0"/>
          </a:p>
          <a:p>
            <a:pPr lvl="1"/>
            <a:r>
              <a:rPr lang="en-US" dirty="0"/>
              <a:t>Lower bits are the local address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553212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Vitis also says “global memory” for off-chip DDR, a different meaning.</a:t>
            </a:r>
            <a:endParaRPr lang="en-US" sz="1200" dirty="0"/>
          </a:p>
        </p:txBody>
      </p:sp>
      <p:sp>
        <p:nvSpPr>
          <p:cNvPr id="5" name="TextBox 5"/>
          <p:cNvSpPr txBox="1"/>
          <p:nvPr/>
        </p:nvSpPr>
        <p:spPr>
          <a:xfrm>
            <a:off x="7132320" y="162763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Example address map (not to scale)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9189720" y="1965960"/>
            <a:ext cx="1965960" cy="96012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500" b="1" dirty="0">
                <a:solidFill>
                  <a:srgbClr val="330662"/>
                </a:solidFill>
              </a:rPr>
              <a:t>DDR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1 GB</a:t>
            </a:r>
            <a:endParaRPr lang="en-US" sz="1200" dirty="0"/>
          </a:p>
        </p:txBody>
      </p:sp>
      <p:sp>
        <p:nvSpPr>
          <p:cNvPr id="7" name="Shape 7"/>
          <p:cNvSpPr/>
          <p:nvPr/>
        </p:nvSpPr>
        <p:spPr>
          <a:xfrm>
            <a:off x="9189720" y="3154680"/>
            <a:ext cx="1965960" cy="68580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500" b="1" dirty="0">
                <a:solidFill>
                  <a:srgbClr val="00857C"/>
                </a:solidFill>
              </a:rPr>
              <a:t>BRAM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8 KB</a:t>
            </a:r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9189720" y="4069080"/>
            <a:ext cx="1965960" cy="68580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500" b="1" dirty="0">
                <a:solidFill>
                  <a:srgbClr val="330662"/>
                </a:solidFill>
              </a:rPr>
              <a:t>IP registers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4 KB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7086600" y="19659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0x0000_0000</a:t>
            </a:r>
            <a:endParaRPr lang="en-US" sz="1200" dirty="0"/>
          </a:p>
        </p:txBody>
      </p:sp>
      <p:sp>
        <p:nvSpPr>
          <p:cNvPr id="10" name="TextBox 10"/>
          <p:cNvSpPr txBox="1"/>
          <p:nvPr/>
        </p:nvSpPr>
        <p:spPr>
          <a:xfrm>
            <a:off x="7086600" y="26700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0x3FFF_FFFF</a:t>
            </a:r>
            <a:endParaRPr lang="en-US" sz="1200" dirty="0"/>
          </a:p>
        </p:txBody>
      </p:sp>
      <p:sp>
        <p:nvSpPr>
          <p:cNvPr id="11" name="TextBox 11"/>
          <p:cNvSpPr txBox="1"/>
          <p:nvPr/>
        </p:nvSpPr>
        <p:spPr>
          <a:xfrm>
            <a:off x="7086600" y="31546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endParaRPr lang="en-US" sz="1200" dirty="0"/>
          </a:p>
        </p:txBody>
      </p:sp>
      <p:sp>
        <p:nvSpPr>
          <p:cNvPr id="12" name="TextBox 12"/>
          <p:cNvSpPr txBox="1"/>
          <p:nvPr/>
        </p:nvSpPr>
        <p:spPr>
          <a:xfrm>
            <a:off x="7086600" y="35935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0x4000_1FFF</a:t>
            </a:r>
            <a:endParaRPr lang="en-US" sz="1200" dirty="0"/>
          </a:p>
        </p:txBody>
      </p:sp>
      <p:sp>
        <p:nvSpPr>
          <p:cNvPr id="13" name="TextBox 13"/>
          <p:cNvSpPr txBox="1"/>
          <p:nvPr/>
        </p:nvSpPr>
        <p:spPr>
          <a:xfrm>
            <a:off x="7086600" y="40690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0x4001_0000</a:t>
            </a:r>
            <a:endParaRPr lang="en-US" sz="1200" dirty="0"/>
          </a:p>
        </p:txBody>
      </p:sp>
      <p:sp>
        <p:nvSpPr>
          <p:cNvPr id="14" name="TextBox 14"/>
          <p:cNvSpPr txBox="1"/>
          <p:nvPr/>
        </p:nvSpPr>
        <p:spPr>
          <a:xfrm>
            <a:off x="7086600" y="45079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0x4001_0FFF</a:t>
            </a:r>
            <a:endParaRPr lang="en-US" sz="1200" dirty="0"/>
          </a:p>
        </p:txBody>
      </p:sp>
      <p:sp>
        <p:nvSpPr>
          <p:cNvPr id="15" name="Shape 15"/>
          <p:cNvSpPr/>
          <p:nvPr/>
        </p:nvSpPr>
        <p:spPr>
          <a:xfrm>
            <a:off x="7132320" y="4937760"/>
            <a:ext cx="4023360" cy="777240"/>
          </a:xfrm>
          <a:prstGeom prst="roundRect">
            <a:avLst>
              <a:gd name="adj" fmla="val 12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262626"/>
                </a:solidFill>
              </a:rPr>
              <a:t xml:space="preserve">Global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0x4000_0104</a:t>
            </a:r>
            <a:r>
              <a:rPr lang="en-US" sz="1400" dirty="0">
                <a:solidFill>
                  <a:srgbClr val="262626"/>
                </a:solidFill>
              </a:rPr>
              <a:t xml:space="preserve"> → </a:t>
            </a:r>
            <a:r>
              <a:rPr lang="en-US" sz="1400" b="1" dirty="0">
                <a:solidFill>
                  <a:srgbClr val="57068C"/>
                </a:solidFill>
              </a:rPr>
              <a:t>BRAM</a:t>
            </a:r>
            <a:endParaRPr lang="en-US" sz="14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 xml:space="preserve">local =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0x4000_0104</a:t>
            </a:r>
            <a:r>
              <a:rPr lang="en-US" sz="1200" dirty="0">
                <a:solidFill>
                  <a:srgbClr val="6E6E6E"/>
                </a:solidFill>
              </a:rPr>
              <a:t xml:space="preserve"> −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r>
              <a:rPr lang="en-US" sz="1200" dirty="0">
                <a:solidFill>
                  <a:srgbClr val="6E6E6E"/>
                </a:solidFill>
              </a:rPr>
              <a:t xml:space="preserve"> =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0x104</a:t>
            </a:r>
            <a:endParaRPr lang="en-US" sz="1200" dirty="0"/>
          </a:p>
        </p:txBody>
      </p:sp>
      <p:sp>
        <p:nvSpPr>
          <p:cNvPr id="16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and Local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126480" cy="397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262626"/>
                </a:solidFill>
              </a:rPr>
              <a:t>A processor bus uses 32-bit byte addresses. Three modules share it, each occupying a contiguous range of the global address space that starts at its base address.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What global address does the processor use to access word 100 of Memory B?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The processor reads global address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0x0000_2A0C</a:t>
            </a:r>
            <a:r>
              <a:rPr lang="en-US" sz="1600" dirty="0">
                <a:solidFill>
                  <a:srgbClr val="262626"/>
                </a:solidFill>
              </a:rPr>
              <a:t>. Which module responds? What is the local byte address, and which local word is it?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 xml:space="preserve">	What is the highest global address that belongs to Memory B? How many bits does Memory B need for its local byte address?</a:t>
            </a:r>
            <a:endParaRPr lang="en-US" sz="1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498080" y="1737360"/>
          <a:ext cx="361188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440"/>
                <a:gridCol w="1508760"/>
                <a:gridCol w="8686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Base address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Memory A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0x0000_0000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 KB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Memory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0x0001_0000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64 KB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IP registers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0x0002_0000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256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7498080" y="3429000"/>
            <a:ext cx="3611880" cy="146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>Both memories store 32-bit words.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262626"/>
                </a:solidFill>
              </a:rPr>
              <a:t>1 KB = 1024 bytes.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57068C"/>
                </a:solidFill>
              </a:rPr>
              <a:t>Local address</a:t>
            </a:r>
            <a:r>
              <a:rPr lang="en-US" sz="1300" dirty="0">
                <a:solidFill>
                  <a:srgbClr val="262626"/>
                </a:solidFill>
              </a:rPr>
              <a:t>: offset from the module's base address</a:t>
            </a:r>
            <a:endParaRPr lang="en-US" sz="1300" dirty="0"/>
          </a:p>
          <a:p>
            <a:r>
              <a:rPr lang="en-US" sz="1300" b="1" dirty="0">
                <a:solidFill>
                  <a:srgbClr val="57068C"/>
                </a:solidFill>
              </a:rPr>
              <a:t>Global address</a:t>
            </a:r>
            <a:r>
              <a:rPr lang="en-US" sz="1300" dirty="0">
                <a:solidFill>
                  <a:srgbClr val="262626"/>
                </a:solidFill>
              </a:rPr>
              <a:t xml:space="preserve"> = base + local address</a:t>
            </a:r>
            <a:endParaRPr lang="en-US" sz="1300" dirty="0"/>
          </a:p>
        </p:txBody>
      </p:sp>
      <p:sp>
        <p:nvSpPr>
          <p:cNvPr id="7" name="TextBox 7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Global and local addresses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and Local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309360" cy="397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Word 100 → local byte 100 × 4 = 400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0x190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Global: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0x0001_0000</a:t>
            </a:r>
            <a:r>
              <a:rPr lang="en-US" sz="1600" dirty="0">
                <a:solidFill>
                  <a:srgbClr val="262626"/>
                </a:solidFill>
              </a:rPr>
              <a:t xml:space="preserve"> +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0x190</a:t>
            </a:r>
            <a:r>
              <a:rPr lang="en-US" sz="1600" dirty="0">
                <a:solidFill>
                  <a:srgbClr val="262626"/>
                </a:solidFill>
              </a:rPr>
              <a:t xml:space="preserve"> =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0x0001_0190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Memory A spans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0x0000_0000</a:t>
            </a:r>
            <a:r>
              <a:rPr lang="en-US" sz="1600" dirty="0">
                <a:solidFill>
                  <a:srgbClr val="262626"/>
                </a:solidFill>
              </a:rPr>
              <a:t>–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0x0000_3FFF</a:t>
            </a:r>
            <a:r>
              <a:rPr lang="en-US" sz="1600" dirty="0">
                <a:solidFill>
                  <a:srgbClr val="262626"/>
                </a:solidFill>
              </a:rPr>
              <a:t xml:space="preserve"> (16 KB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0x4000</a:t>
            </a:r>
            <a:r>
              <a:rPr lang="en-US" sz="1600" dirty="0">
                <a:solidFill>
                  <a:srgbClr val="262626"/>
                </a:solidFill>
              </a:rPr>
              <a:t>)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0x2A0C</a:t>
            </a:r>
            <a:r>
              <a:rPr lang="en-US" sz="1600" dirty="0">
                <a:solidFill>
                  <a:srgbClr val="262626"/>
                </a:solidFill>
              </a:rPr>
              <a:t xml:space="preserve"> falls inside → </a:t>
            </a:r>
            <a:r>
              <a:rPr lang="en-US" sz="1600" b="1" dirty="0">
                <a:solidFill>
                  <a:srgbClr val="00857C"/>
                </a:solidFill>
              </a:rPr>
              <a:t>Memory A</a:t>
            </a:r>
            <a:r>
              <a:rPr lang="en-US" sz="1600" dirty="0">
                <a:solidFill>
                  <a:srgbClr val="262626"/>
                </a:solidFill>
              </a:rPr>
              <a:t xml:space="preserve">, local byte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0x2A0C</a:t>
            </a:r>
            <a:r>
              <a:rPr lang="en-US" sz="1600" dirty="0">
                <a:solidFill>
                  <a:srgbClr val="262626"/>
                </a:solidFill>
              </a:rPr>
              <a:t xml:space="preserve"> (10764)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Local word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0x2A0C</a:t>
            </a:r>
            <a:r>
              <a:rPr lang="en-US" sz="1600" dirty="0">
                <a:solidFill>
                  <a:srgbClr val="262626"/>
                </a:solidFill>
              </a:rPr>
              <a:t xml:space="preserve"> / 4 =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0xA83</a:t>
            </a:r>
            <a:r>
              <a:rPr lang="en-US" sz="1600" b="1" dirty="0">
                <a:solidFill>
                  <a:srgbClr val="00857C"/>
                </a:solidFill>
              </a:rPr>
              <a:t xml:space="preserve"> = 2691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 xml:space="preserve">	64 KB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0x1_0000</a:t>
            </a:r>
            <a:r>
              <a:rPr lang="en-US" sz="1600" dirty="0">
                <a:solidFill>
                  <a:srgbClr val="262626"/>
                </a:solidFill>
              </a:rPr>
              <a:t xml:space="preserve"> bytes → B ends at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0x0001_FFFF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Local byte addresses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</a:t>
            </a:r>
            <a:r>
              <a:rPr lang="en-US" sz="1600" dirty="0">
                <a:solidFill>
                  <a:srgbClr val="262626"/>
                </a:solidFill>
              </a:rPr>
              <a:t>–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0xFFFF</a:t>
            </a:r>
            <a:r>
              <a:rPr lang="en-US" sz="1600" dirty="0">
                <a:solidFill>
                  <a:srgbClr val="262626"/>
                </a:solidFill>
              </a:rPr>
              <a:t xml:space="preserve"> → </a:t>
            </a:r>
            <a:r>
              <a:rPr lang="en-US" sz="1600" b="1" dirty="0">
                <a:solidFill>
                  <a:srgbClr val="00857C"/>
                </a:solidFill>
              </a:rPr>
              <a:t>16 bits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9144000" y="1783080"/>
            <a:ext cx="2011680" cy="96012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Memory A · 16 KB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0x2A0C</a:t>
            </a:r>
            <a:r>
              <a:rPr lang="en-US" sz="1100" dirty="0">
                <a:solidFill>
                  <a:srgbClr val="00857C"/>
                </a:solidFill>
              </a:rPr>
              <a:t xml:space="preserve"> is here</a:t>
            </a:r>
            <a:endParaRPr lang="en-US" sz="1100" dirty="0"/>
          </a:p>
        </p:txBody>
      </p:sp>
      <p:sp>
        <p:nvSpPr>
          <p:cNvPr id="6" name="Shape 6"/>
          <p:cNvSpPr/>
          <p:nvPr/>
        </p:nvSpPr>
        <p:spPr>
          <a:xfrm>
            <a:off x="9144000" y="2971800"/>
            <a:ext cx="2011680" cy="128016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Memory B · 64 KB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00857C"/>
                </a:solidFill>
              </a:rPr>
              <a:t xml:space="preserve">word 100 at local </a:t>
            </a:r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0x190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9144000" y="4480560"/>
            <a:ext cx="2011680" cy="45720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330662"/>
                </a:solidFill>
              </a:rPr>
              <a:t>IP registers · 256 B</a:t>
            </a:r>
            <a:endParaRPr lang="en-US" sz="1200" dirty="0"/>
          </a:p>
        </p:txBody>
      </p:sp>
      <p:sp>
        <p:nvSpPr>
          <p:cNvPr id="8" name="TextBox 8"/>
          <p:cNvSpPr txBox="1"/>
          <p:nvPr/>
        </p:nvSpPr>
        <p:spPr>
          <a:xfrm>
            <a:off x="7452360" y="1783080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0x0000_0000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7452360" y="2487168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0x0000_3FFF</a:t>
            </a: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7452360" y="2971800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0x0001_0000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7452360" y="3995928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0x0001_FFFF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7452360" y="4480560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0x0002_0000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Global and local addresses</a:t>
            </a:r>
            <a:endParaRPr lang="en-US" sz="1200" dirty="0"/>
          </a:p>
        </p:txBody>
      </p:sp>
      <p:sp>
        <p:nvSpPr>
          <p:cNvPr id="14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Maps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5257800" cy="420624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20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700"/>
            </a:lvl2pPr>
          </a:lstStyle>
          <a:p>
            <a:r>
              <a:rPr lang="en-US" b="1" dirty="0">
                <a:solidFill>
                  <a:srgbClr val="57068C"/>
                </a:solidFill>
              </a:rPr>
              <a:t>Register map</a:t>
            </a:r>
            <a:r>
              <a:rPr lang="en-US" dirty="0"/>
              <a:t>: where each field lives</a:t>
            </a:r>
            <a:endParaRPr lang="en-US" dirty="0"/>
          </a:p>
          <a:p>
            <a:pPr lvl="1"/>
            <a:r>
              <a:rPr lang="en-US" dirty="0"/>
              <a:t>Offset from the IP's base, name, field bits, access</a:t>
            </a:r>
            <a:endParaRPr lang="en-US" dirty="0"/>
          </a:p>
          <a:p>
            <a:r>
              <a:rPr lang="en-US" dirty="0"/>
              <a:t>For now: no field spans two registers</a:t>
            </a:r>
            <a:endParaRPr lang="en-US" dirty="0"/>
          </a:p>
          <a:p>
            <a:pPr lvl="1"/>
            <a:r>
              <a:rPr lang="en-US" dirty="0"/>
              <a:t>Each field fits inside one 32-bit register</a:t>
            </a:r>
            <a:endParaRPr lang="en-US" dirty="0"/>
          </a:p>
          <a:p>
            <a:pPr lvl="1"/>
            <a:r>
              <a:rPr lang="en-US" dirty="0"/>
              <a:t>Tight packing comes later, with serialization</a:t>
            </a:r>
            <a:endParaRPr lang="en-US" dirty="0"/>
          </a:p>
          <a:p>
            <a:r>
              <a:rPr lang="en-US" dirty="0"/>
              <a:t xml:space="preserve">Unused upper bits are </a:t>
            </a:r>
            <a:r>
              <a:rPr lang="en-US" b="1" dirty="0">
                <a:solidFill>
                  <a:srgbClr val="57068C"/>
                </a:solidFill>
              </a:rPr>
              <a:t>zero padding</a:t>
            </a:r>
            <a:endParaRPr lang="en-US" dirty="0"/>
          </a:p>
          <a:p>
            <a:pPr lvl="1"/>
            <a:r>
              <a:rPr lang="en-US" dirty="0"/>
              <a:t>Read back as 0; ignored by the hardware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6675120" y="162763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Example: a vector-scaling IP</a:t>
            </a:r>
            <a:endParaRPr lang="en-US" sz="12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675120" y="1920240"/>
          <a:ext cx="448056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/>
                <a:gridCol w="1005840"/>
                <a:gridCol w="1691640"/>
                <a:gridCol w="91440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Offset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 bits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CTRL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start [0], done [1]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R/W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GAIN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7:0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R/W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0x08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LEN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9:0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R/W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SUM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23:0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6675120" y="406908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 xml:space="preserve">The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LEN</a:t>
            </a:r>
            <a:r>
              <a:rPr lang="en-US" sz="1200" dirty="0">
                <a:solidFill>
                  <a:srgbClr val="6E6E6E"/>
                </a:solidFill>
              </a:rPr>
              <a:t xml:space="preserve"> register: 32 bits</a:t>
            </a:r>
            <a:endParaRPr lang="en-US" sz="1200" dirty="0"/>
          </a:p>
        </p:txBody>
      </p:sp>
      <p:sp>
        <p:nvSpPr>
          <p:cNvPr id="7" name="Shape 7"/>
          <p:cNvSpPr/>
          <p:nvPr/>
        </p:nvSpPr>
        <p:spPr>
          <a:xfrm>
            <a:off x="6675120" y="4370832"/>
            <a:ext cx="3108960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6E6E6E"/>
                </a:solidFill>
              </a:rPr>
              <a:t>zero padding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22 bits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9784080" y="4370832"/>
            <a:ext cx="1371600" cy="54864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LEN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57068C"/>
                </a:solidFill>
              </a:rPr>
              <a:t>10 bits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6675120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31</a:t>
            </a: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9208008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10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9875520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9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10698480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100" dirty="0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Map of the Cubic IP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5806440" cy="397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500" dirty="0">
                <a:solidFill>
                  <a:srgbClr val="262626"/>
                </a:solidFill>
              </a:rPr>
              <a:t xml:space="preserve">The cubic IP computes </a:t>
            </a:r>
            <a:r>
              <a:rPr lang="en-US" sz="1500" dirty="0">
                <a:solidFill>
                  <a:srgbClr val="262626"/>
                </a:solidFill>
                <a:latin typeface="Cambria Math"/>
              </a:rPr>
              <a:t>𝑦[𝑖] = 𝑎₀ + 𝑎₁𝑥[𝑖] + 𝑎₂𝑥[𝑖]² + 𝑎₃𝑥[𝑖]³</a:t>
            </a:r>
            <a:r>
              <a:rPr lang="en-US" sz="1500" dirty="0">
                <a:solidFill>
                  <a:srgbClr val="262626"/>
                </a:solidFill>
              </a:rPr>
              <a:t xml:space="preserve"> over a vector of length </a:t>
            </a:r>
            <a:r>
              <a:rPr lang="en-US" sz="1500" dirty="0">
                <a:solidFill>
                  <a:srgbClr val="262626"/>
                </a:solidFill>
                <a:latin typeface="Cambria Math"/>
              </a:rPr>
              <a:t>𝑛</a:t>
            </a:r>
            <a:r>
              <a:rPr lang="en-US" sz="1500" dirty="0">
                <a:solidFill>
                  <a:srgbClr val="262626"/>
                </a:solidFill>
              </a:rPr>
              <a:t>. Its registers hold:</a:t>
            </a:r>
            <a:endParaRPr lang="en-US" sz="15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start</a:t>
            </a:r>
            <a:r>
              <a:rPr lang="en-US" sz="1500" dirty="0">
                <a:solidFill>
                  <a:srgbClr val="262626"/>
                </a:solidFill>
              </a:rPr>
              <a:t xml:space="preserve">,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done</a:t>
            </a:r>
            <a:r>
              <a:rPr lang="en-US" sz="1500" dirty="0">
                <a:solidFill>
                  <a:srgbClr val="262626"/>
                </a:solidFill>
              </a:rPr>
              <a:t xml:space="preserve">: 1 bit each, sharing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CTRL</a:t>
            </a:r>
            <a:r>
              <a:rPr lang="en-US" sz="1500" dirty="0">
                <a:solidFill>
                  <a:srgbClr val="262626"/>
                </a:solidFill>
              </a:rPr>
              <a:t xml:space="preserve"> (start = bit 0, done = bit 1)</a:t>
            </a:r>
            <a:endParaRPr lang="en-US" sz="15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a0</a:t>
            </a:r>
            <a:r>
              <a:rPr lang="en-US" sz="1500" dirty="0">
                <a:solidFill>
                  <a:srgbClr val="262626"/>
                </a:solidFill>
              </a:rPr>
              <a:t>–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a3</a:t>
            </a:r>
            <a:r>
              <a:rPr lang="en-US" sz="1500" dirty="0">
                <a:solidFill>
                  <a:srgbClr val="262626"/>
                </a:solidFill>
              </a:rPr>
              <a:t>: 16-bit signed coefficients</a:t>
            </a:r>
            <a:endParaRPr lang="en-US" sz="15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n</a:t>
            </a:r>
            <a:r>
              <a:rPr lang="en-US" sz="1500" dirty="0">
                <a:solidFill>
                  <a:srgbClr val="262626"/>
                </a:solidFill>
              </a:rPr>
              <a:t>: 12-bit unsigned vector length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500" b="1" dirty="0">
                <a:solidFill>
                  <a:srgbClr val="57068C"/>
                </a:solidFill>
              </a:rPr>
              <a:t>(a)</a:t>
            </a:r>
            <a:r>
              <a:rPr lang="en-US" sz="1500" dirty="0">
                <a:solidFill>
                  <a:srgbClr val="262626"/>
                </a:solidFill>
              </a:rPr>
              <a:t xml:space="preserve">	Write the register map: offset, field(s) and zero-padding bits for each register.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500" b="1" dirty="0">
                <a:solidFill>
                  <a:srgbClr val="57068C"/>
                </a:solidFill>
              </a:rPr>
              <a:t>(b)</a:t>
            </a:r>
            <a:r>
              <a:rPr lang="en-US" sz="1500" dirty="0">
                <a:solidFill>
                  <a:srgbClr val="262626"/>
                </a:solidFill>
              </a:rPr>
              <a:t xml:space="preserve">	The IP is mapped at base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r>
              <a:rPr lang="en-US" sz="1500" dirty="0">
                <a:solidFill>
                  <a:srgbClr val="262626"/>
                </a:solidFill>
              </a:rPr>
              <a:t xml:space="preserve">. What global address does the processor write to set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a2</a:t>
            </a:r>
            <a:r>
              <a:rPr lang="en-US" sz="1500" dirty="0">
                <a:solidFill>
                  <a:srgbClr val="262626"/>
                </a:solidFill>
              </a:rPr>
              <a:t>?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500" b="1" dirty="0">
                <a:solidFill>
                  <a:srgbClr val="57068C"/>
                </a:solidFill>
              </a:rPr>
              <a:t>(c)</a:t>
            </a:r>
            <a:r>
              <a:rPr lang="en-US" sz="1500" dirty="0">
                <a:solidFill>
                  <a:srgbClr val="262626"/>
                </a:solidFill>
              </a:rPr>
              <a:t xml:space="preserve">	The processor writes </a:t>
            </a:r>
            <a:r>
              <a:rPr lang="en-US" sz="1500" dirty="0">
                <a:solidFill>
                  <a:srgbClr val="262626"/>
                </a:solidFill>
                <a:latin typeface="Cambria Math"/>
              </a:rPr>
              <a:t>𝑎₂</a:t>
            </a:r>
            <a:r>
              <a:rPr lang="en-US" sz="1500" dirty="0">
                <a:solidFill>
                  <a:srgbClr val="262626"/>
                </a:solidFill>
              </a:rPr>
              <a:t xml:space="preserve"> = −3. What 32-bit value reads back, in hex? What number does code get if it treats that as a signed 32-bit integer?</a:t>
            </a:r>
            <a:endParaRPr lang="en-US" sz="1500" dirty="0"/>
          </a:p>
        </p:txBody>
      </p:sp>
      <p:sp>
        <p:nvSpPr>
          <p:cNvPr id="5" name="Shape 5"/>
          <p:cNvSpPr/>
          <p:nvPr/>
        </p:nvSpPr>
        <p:spPr>
          <a:xfrm>
            <a:off x="7178040" y="1691640"/>
            <a:ext cx="3977640" cy="1051560"/>
          </a:xfrm>
          <a:prstGeom prst="roundRect">
            <a:avLst>
              <a:gd name="adj" fmla="val 8000"/>
            </a:avLst>
          </a:prstGeom>
          <a:solidFill>
            <a:srgbClr val="EEE6F3"/>
          </a:solidFill>
          <a:ln>
            <a:noFill/>
          </a:ln>
        </p:spPr>
        <p:txBody>
          <a:bodyPr wrap="square" lIns="128016" tIns="64008" rIns="128016" bIns="64008" anchor="t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sz="1300" b="1" dirty="0">
                <a:solidFill>
                  <a:srgbClr val="57068C"/>
                </a:solidFill>
              </a:rPr>
              <a:t>Layout rules</a:t>
            </a:r>
            <a:endParaRPr lang="en-US" sz="1300" dirty="0"/>
          </a:p>
          <a:p>
            <a:r>
              <a:rPr lang="en-US" sz="1200" dirty="0">
                <a:solidFill>
                  <a:srgbClr val="262626"/>
                </a:solidFill>
              </a:rPr>
              <a:t>32-bit registers, one field each (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CTRL</a:t>
            </a:r>
            <a:r>
              <a:rPr lang="en-US" sz="1200" dirty="0">
                <a:solidFill>
                  <a:srgbClr val="262626"/>
                </a:solidFill>
              </a:rPr>
              <a:t xml:space="preserve"> holds both bits)</a:t>
            </a:r>
            <a:endParaRPr lang="en-US" sz="1200" dirty="0"/>
          </a:p>
          <a:p>
            <a:r>
              <a:rPr lang="en-US" sz="1200" dirty="0">
                <a:solidFill>
                  <a:srgbClr val="262626"/>
                </a:solidFill>
              </a:rPr>
              <a:t>Fields in the low bits, zero padding above</a:t>
            </a:r>
            <a:endParaRPr lang="en-US" sz="1200" dirty="0"/>
          </a:p>
          <a:p>
            <a:r>
              <a:rPr lang="en-US" sz="1200" dirty="0">
                <a:solidFill>
                  <a:srgbClr val="262626"/>
                </a:solidFill>
              </a:rPr>
              <a:t xml:space="preserve">Order from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0x00</a:t>
            </a:r>
            <a:r>
              <a:rPr lang="en-US" sz="1200" dirty="0">
                <a:solidFill>
                  <a:srgbClr val="262626"/>
                </a:solidFill>
              </a:rPr>
              <a:t xml:space="preserve">: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CTRL</a:t>
            </a:r>
            <a:r>
              <a:rPr lang="en-US" sz="1200" dirty="0">
                <a:solidFill>
                  <a:srgbClr val="262626"/>
                </a:solidFill>
              </a:rPr>
              <a:t xml:space="preserve"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a0</a:t>
            </a:r>
            <a:r>
              <a:rPr lang="en-US" sz="1200" dirty="0">
                <a:solidFill>
                  <a:srgbClr val="262626"/>
                </a:solidFill>
              </a:rPr>
              <a:t xml:space="preserve"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a1</a:t>
            </a:r>
            <a:r>
              <a:rPr lang="en-US" sz="1200" dirty="0">
                <a:solidFill>
                  <a:srgbClr val="262626"/>
                </a:solidFill>
              </a:rPr>
              <a:t xml:space="preserve"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a2</a:t>
            </a:r>
            <a:r>
              <a:rPr lang="en-US" sz="1200" dirty="0">
                <a:solidFill>
                  <a:srgbClr val="262626"/>
                </a:solidFill>
              </a:rPr>
              <a:t xml:space="preserve"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a3</a:t>
            </a:r>
            <a:r>
              <a:rPr lang="en-US" sz="1200" dirty="0">
                <a:solidFill>
                  <a:srgbClr val="262626"/>
                </a:solidFill>
              </a:rPr>
              <a:t xml:space="preserve"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n</a:t>
            </a:r>
            <a:endParaRPr lang="en-US" sz="12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78040" y="2926080"/>
          <a:ext cx="3977640" cy="2112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1051560"/>
                <a:gridCol w="1097280"/>
                <a:gridCol w="914400"/>
              </a:tblGrid>
              <a:tr h="301752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Offset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 bits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Padding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CTRL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a3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Register map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Map of the Cubic IP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See the table: registers sit 4 bytes apart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r>
              <a:rPr lang="en-US" sz="1600" dirty="0">
                <a:solidFill>
                  <a:srgbClr val="262626"/>
                </a:solidFill>
              </a:rPr>
              <a:t xml:space="preserve"> +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0x0C</a:t>
            </a:r>
            <a:r>
              <a:rPr lang="en-US" sz="1600" dirty="0">
                <a:solidFill>
                  <a:srgbClr val="262626"/>
                </a:solidFill>
              </a:rPr>
              <a:t xml:space="preserve"> =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0x4000_000C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 xml:space="preserve">	−3 in 16-bit two's complement is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0xFFFD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Zero padding → reads back as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0x0000_FFFD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As a signed 32-bit integer: </a:t>
            </a:r>
            <a:r>
              <a:rPr lang="en-US" sz="1600" b="1" dirty="0">
                <a:solidFill>
                  <a:srgbClr val="00857C"/>
                </a:solidFill>
              </a:rPr>
              <a:t>65533</a:t>
            </a:r>
            <a:r>
              <a:rPr lang="en-US" sz="1600" dirty="0">
                <a:solidFill>
                  <a:srgbClr val="262626"/>
                </a:solidFill>
              </a:rPr>
              <a:t>, not −3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1097280" y="45262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anchor="ctr" rtlCol="0">
            <a:noAutofit/>
          </a:bodyPr>
          <a:lstStyle/>
          <a:p>
            <a:r>
              <a:rPr lang="en-US" sz="1400" b="1" dirty="0">
                <a:solidFill>
                  <a:srgbClr val="B4530F"/>
                </a:solidFill>
              </a:rPr>
              <a:t>Watch out:</a:t>
            </a:r>
            <a:r>
              <a:rPr lang="en-US" sz="1400" dirty="0">
                <a:solidFill>
                  <a:srgbClr val="262626"/>
                </a:solidFill>
              </a:rPr>
              <a:t xml:space="preserve"> zero padding does not sign-extend.</a:t>
            </a:r>
            <a:endParaRPr lang="en-US" sz="1400" dirty="0"/>
          </a:p>
          <a:p>
            <a:r>
              <a:rPr lang="en-US" sz="1400" dirty="0">
                <a:solidFill>
                  <a:srgbClr val="262626"/>
                </a:solidFill>
              </a:rPr>
              <a:t>Software must sign-extend a padded signed field itself.</a:t>
            </a:r>
            <a:endParaRPr lang="en-US" sz="14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675120" y="1737360"/>
          <a:ext cx="4480560" cy="2304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/>
                <a:gridCol w="914400"/>
                <a:gridCol w="1783080"/>
                <a:gridCol w="960120"/>
              </a:tblGrid>
              <a:tr h="329184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Offset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 bits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Padding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CTRL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start [0], done [1]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0x08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0x10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a3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0x14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11:0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6675120" y="429768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 xml:space="preserve">The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a2</a:t>
            </a:r>
            <a:r>
              <a:rPr lang="en-US" sz="1200" dirty="0">
                <a:solidFill>
                  <a:srgbClr val="6E6E6E"/>
                </a:solidFill>
              </a:rPr>
              <a:t xml:space="preserve"> register after writing −3</a:t>
            </a:r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6675120" y="4572000"/>
            <a:ext cx="2240280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0000 0000 0000 0000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6E6E6E"/>
                </a:solidFill>
              </a:rPr>
              <a:t>bits 31–16: padding</a:t>
            </a:r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8915400" y="4572000"/>
            <a:ext cx="2240280" cy="56692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330662"/>
                </a:solidFill>
                <a:latin typeface="Consolas"/>
                <a:cs typeface="Consolas"/>
              </a:rPr>
              <a:t>1111 1111 1111 1101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57068C"/>
                </a:solidFill>
              </a:rPr>
              <a:t>bits 15–0: −3</a:t>
            </a:r>
            <a:endParaRPr lang="en-US" sz="1000" dirty="0"/>
          </a:p>
        </p:txBody>
      </p:sp>
      <p:sp>
        <p:nvSpPr>
          <p:cNvPr id="10" name="TextBox 10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Register map</a:t>
            </a:r>
            <a:endParaRPr lang="en-US" sz="1200" dirty="0"/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Each Value Live?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IN CLASS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3093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262626"/>
                </a:solidFill>
              </a:rPr>
              <a:t>Pick a computation that interests you: filtering in video processing, encryption, a neural-network layer, a matrix product. It must take at least one array, image or stream.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(a)</a:t>
            </a:r>
            <a:r>
              <a:rPr lang="en-US" sz="1700" dirty="0">
                <a:solidFill>
                  <a:srgbClr val="262626"/>
                </a:solidFill>
              </a:rPr>
              <a:t xml:space="preserve">	List the inputs and outputs, with a size or a rate for each.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(b)</a:t>
            </a:r>
            <a:r>
              <a:rPr lang="en-US" sz="1700" dirty="0">
                <a:solidFill>
                  <a:srgbClr val="262626"/>
                </a:solidFill>
              </a:rPr>
              <a:t xml:space="preserve">	Which would you hold in </a:t>
            </a:r>
            <a:r>
              <a:rPr lang="en-US" sz="1700" b="1" dirty="0">
                <a:solidFill>
                  <a:srgbClr val="57068C"/>
                </a:solidFill>
              </a:rPr>
              <a:t>registers</a:t>
            </a:r>
            <a:r>
              <a:rPr lang="en-US" sz="1700" dirty="0">
                <a:solidFill>
                  <a:srgbClr val="262626"/>
                </a:solidFill>
              </a:rPr>
              <a:t>? Why?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(c)</a:t>
            </a:r>
            <a:r>
              <a:rPr lang="en-US" sz="1700" dirty="0">
                <a:solidFill>
                  <a:srgbClr val="262626"/>
                </a:solidFill>
              </a:rPr>
              <a:t xml:space="preserve">	Which would you hold in </a:t>
            </a:r>
            <a:r>
              <a:rPr lang="en-US" sz="1700" b="1" dirty="0">
                <a:solidFill>
                  <a:srgbClr val="57068C"/>
                </a:solidFill>
              </a:rPr>
              <a:t>bulk storage</a:t>
            </a:r>
            <a:r>
              <a:rPr lang="en-US" sz="1700" dirty="0">
                <a:solidFill>
                  <a:srgbClr val="262626"/>
                </a:solidFill>
              </a:rPr>
              <a:t>? Why?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(d)</a:t>
            </a:r>
            <a:r>
              <a:rPr lang="en-US" sz="1700" dirty="0">
                <a:solidFill>
                  <a:srgbClr val="262626"/>
                </a:solidFill>
              </a:rPr>
              <a:t xml:space="preserve">	Choose a problem size. Give the register map, and the size of the bulk storage in words.</a:t>
            </a:r>
            <a:endParaRPr lang="en-US" sz="1700" dirty="0"/>
          </a:p>
        </p:txBody>
      </p:sp>
      <p:sp>
        <p:nvSpPr>
          <p:cNvPr id="5" name="Shape 5"/>
          <p:cNvSpPr/>
          <p:nvPr/>
        </p:nvSpPr>
        <p:spPr>
          <a:xfrm>
            <a:off x="7680960" y="169164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EEE6F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 b="1" dirty="0">
                <a:solidFill>
                  <a:srgbClr val="57068C"/>
                </a:solidFill>
              </a:rPr>
              <a:t>Decide per value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62626"/>
                </a:solidFill>
              </a:rPr>
              <a:t>Registers: parallel access, available to the datapath, higher area per bit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Bulk storage: one word per access, much higher density</a:t>
            </a:r>
            <a:endParaRPr lang="en-US" sz="1300" dirty="0"/>
          </a:p>
        </p:txBody>
      </p:sp>
      <p:sp>
        <p:nvSpPr>
          <p:cNvPr id="6" name="TextBox 6"/>
          <p:cNvSpPr txBox="1"/>
          <p:nvPr/>
        </p:nvSpPr>
        <p:spPr>
          <a:xfrm>
            <a:off x="7680960" y="35204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How the data crosses into the IP is the next section, and units 5 and 9.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Storage partitioning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57068C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14629</TotalTime>
  <Words>2804</Words>
  <Application>Microsoft Office PowerPoint</Application>
  <PresentationFormat>Widescreen</PresentationFormat>
  <Paragraphs>626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Cambria Math</vt:lpstr>
      <vt:lpstr>Wingdings</vt:lpstr>
      <vt:lpstr>Retrospect</vt:lpstr>
      <vt:lpstr>Unit 4  Memory and Basic Processor Interfaces</vt:lpstr>
      <vt:lpstr>Learning Objectives</vt:lpstr>
      <vt:lpstr>Outline</vt:lpstr>
      <vt:lpstr>Addressable Memory</vt:lpstr>
      <vt:lpstr>Sequential vs Random Access</vt:lpstr>
      <vt:lpstr>Typical RAM Architecture</vt:lpstr>
      <vt:lpstr>Bus</vt:lpstr>
      <vt:lpstr>High Impedance</vt:lpstr>
      <vt:lpstr>High Impedance on a Data Bus</vt:lpstr>
      <vt:lpstr>External vs. Internal Memory</vt:lpstr>
      <vt:lpstr>External vs. Internal Compared</vt:lpstr>
      <vt:lpstr>Example Memory Internal Sizes</vt:lpstr>
      <vt:lpstr>Example:  Video</vt:lpstr>
      <vt:lpstr>Registers vs. Block Memory</vt:lpstr>
      <vt:lpstr>Memory Mapped Registers</vt:lpstr>
      <vt:lpstr>Example</vt:lpstr>
      <vt:lpstr>Outline</vt:lpstr>
      <vt:lpstr>AXI4-Lite Protocol</vt:lpstr>
      <vt:lpstr>AXI4-Lite Use Case:  Processor to Hardware IP</vt:lpstr>
      <vt:lpstr>Master-Slave and Transactions</vt:lpstr>
      <vt:lpstr>Review:  AXI4-Lite Write Protocol</vt:lpstr>
      <vt:lpstr>Example AXI4-Lite Write</vt:lpstr>
      <vt:lpstr>Example AXI4-Lite Write With Stall</vt:lpstr>
      <vt:lpstr>Theoretical Optimal Write Throughput</vt:lpstr>
      <vt:lpstr>Practical AXI4-Lite Latency</vt:lpstr>
      <vt:lpstr>AXI4-Lite Read Protocol</vt:lpstr>
      <vt:lpstr>Example Read Timing</vt:lpstr>
      <vt:lpstr>Theoretical Optimal Read Throughput</vt:lpstr>
      <vt:lpstr>Outline</vt:lpstr>
      <vt:lpstr>Example:  Connecting a Simple IP </vt:lpstr>
      <vt:lpstr>HLS vs. RTL</vt:lpstr>
      <vt:lpstr>HLS vs. RTL FPGA Design Flow</vt:lpstr>
      <vt:lpstr>Bad vs. Good HLS Code Write</vt:lpstr>
      <vt:lpstr>Vitis HLS</vt:lpstr>
      <vt:lpstr>FPGA Board Components</vt:lpstr>
      <vt:lpstr>Target Architecture</vt:lpstr>
      <vt:lpstr>IP Source Code</vt:lpstr>
      <vt:lpstr>Module Declaration</vt:lpstr>
      <vt:lpstr>Module Declaration</vt:lpstr>
      <vt:lpstr>Module Declaration</vt:lpstr>
      <vt:lpstr>Vitis HLS Testbench</vt:lpstr>
      <vt:lpstr>Vitis HLS Flow Described in Flow Panel</vt:lpstr>
      <vt:lpstr>Synthesis Output</vt:lpstr>
      <vt:lpstr>Synthesis Report</vt:lpstr>
      <vt:lpstr>RTL Simulation</vt:lpstr>
      <vt:lpstr>RTL Simulation over Multiple Interactions</vt:lpstr>
      <vt:lpstr>Execution Model</vt:lpstr>
      <vt:lpstr>Deploying on an FPGA 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537</cp:revision>
  <cp:lastPrinted>2018-09-04T19:00:14Z</cp:lastPrinted>
  <dcterms:created xsi:type="dcterms:W3CDTF">2015-03-22T11:15:32Z</dcterms:created>
  <dcterms:modified xsi:type="dcterms:W3CDTF">2026-09-22T15:13:01Z</dcterms:modified>
</cp:coreProperties>
</file>