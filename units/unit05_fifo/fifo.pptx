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8" r:id="rId2"/>
    <p:sldId id="271" r:id="rId3"/>
    <p:sldId id="367" r:id="rId4"/>
    <p:sldId id="300" r:id="rId5"/>
    <p:sldId id="299" r:id="rId8"/>
    <p:sldId id="301" r:id="rId9"/>
    <p:sldId id="302" r:id="rId10"/>
    <p:sldId id="304" r:id="rId11"/>
    <p:sldId id="303" r:id="rId12"/>
    <p:sldId id="368" r:id="rId71"/>
    <p:sldId id="306" r:id="rId13"/>
    <p:sldId id="307" r:id="rId14"/>
    <p:sldId id="305" r:id="rId15"/>
    <p:sldId id="308" r:id="rId16"/>
    <p:sldId id="309" r:id="rId17"/>
    <p:sldId id="310" r:id="rId18"/>
    <p:sldId id="311" r:id="rId19"/>
    <p:sldId id="313" r:id="rId20"/>
    <p:sldId id="314" r:id="rId21"/>
    <p:sldId id="312" r:id="rId22"/>
    <p:sldId id="315" r:id="rId23"/>
    <p:sldId id="318" r:id="rId25"/>
    <p:sldId id="319" r:id="rId26"/>
    <p:sldId id="295" r:id="rId27"/>
    <p:sldId id="320" r:id="rId28"/>
    <p:sldId id="321" r:id="rId29"/>
    <p:sldId id="333" r:id="rId30"/>
    <p:sldId id="369" r:id="rId72"/>
    <p:sldId id="338" r:id="rId35"/>
    <p:sldId id="339" r:id="rId36"/>
    <p:sldId id="340" r:id="rId37"/>
    <p:sldId id="341" r:id="rId38"/>
    <p:sldId id="322" r:id="rId39"/>
    <p:sldId id="323" r:id="rId40"/>
    <p:sldId id="342" r:id="rId41"/>
    <p:sldId id="326" r:id="rId42"/>
    <p:sldId id="327" r:id="rId43"/>
    <p:sldId id="343" r:id="rId44"/>
    <p:sldId id="329" r:id="rId45"/>
    <p:sldId id="348" r:id="rId46"/>
    <p:sldId id="349" r:id="rId47"/>
    <p:sldId id="370" r:id="rId73"/>
    <p:sldId id="371" r:id="rId74"/>
    <p:sldId id="345" r:id="rId49"/>
    <p:sldId id="346" r:id="rId50"/>
    <p:sldId id="372" r:id="rId75"/>
    <p:sldId id="356" r:id="rId52"/>
    <p:sldId id="358" r:id="rId53"/>
    <p:sldId id="357" r:id="rId54"/>
    <p:sldId id="373" r:id="rId76"/>
    <p:sldId id="353" r:id="rId55"/>
    <p:sldId id="354" r:id="rId56"/>
    <p:sldId id="374" r:id="rId77"/>
    <p:sldId id="375" r:id="rId78"/>
    <p:sldId id="376" r:id="rId79"/>
    <p:sldId id="377" r:id="rId80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E0F8E0"/>
    <a:srgbClr val="92278F"/>
    <a:srgbClr val="CADEB2"/>
    <a:srgbClr val="C9D3BD"/>
    <a:srgbClr val="FBF9FB"/>
    <a:srgbClr val="EAE5EB"/>
    <a:srgbClr val="CCFF99"/>
    <a:srgbClr val="E3DFF7"/>
    <a:srgbClr val="DEE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5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2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56" Type="http://schemas.openxmlformats.org/officeDocument/2006/relationships/slide" Target="slides/slide55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55" Type="http://schemas.openxmlformats.org/officeDocument/2006/relationships/slide" Target="slides/slide54.xml"/>  <Relationship Id="rId71" Type="http://schemas.openxmlformats.org/officeDocument/2006/relationships/slide" Target="slides/slide65.xml"/>
  <Relationship Id="rId72" Type="http://schemas.openxmlformats.org/officeDocument/2006/relationships/slide" Target="slides/slide66.xml"/>
  <Relationship Id="rId73" Type="http://schemas.openxmlformats.org/officeDocument/2006/relationships/slide" Target="slides/slide67.xml"/>
  <Relationship Id="rId74" Type="http://schemas.openxmlformats.org/officeDocument/2006/relationships/slide" Target="slides/slide68.xml"/>
  <Relationship Id="rId75" Type="http://schemas.openxmlformats.org/officeDocument/2006/relationships/slide" Target="slides/slide69.xml"/>
  <Relationship Id="rId76" Type="http://schemas.openxmlformats.org/officeDocument/2006/relationships/slide" Target="slides/slide70.xml"/>
  <Relationship Id="rId77" Type="http://schemas.openxmlformats.org/officeDocument/2006/relationships/slide" Target="slides/slide71.xml"/>
  <Relationship Id="rId78" Type="http://schemas.openxmlformats.org/officeDocument/2006/relationships/slide" Target="slides/slide72.xml"/>
  <Relationship Id="rId79" Type="http://schemas.openxmlformats.org/officeDocument/2006/relationships/slide" Target="slides/slide73.xml"/>
  <Relationship Id="rId80" Type="http://schemas.openxmlformats.org/officeDocument/2006/relationships/slide" Target="slides/slide74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u5_time_wastage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u5_load_factor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u5_frame_backlog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u5_axis_stall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0.png"/><Relationship Id="rId4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180.png"/><Relationship Id="rId4" Type="http://schemas.openxmlformats.org/officeDocument/2006/relationships/image" Target="../media/image1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u5_burst_timing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u5_tlast_solution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5 </a:t>
            </a:r>
            <a:br>
              <a:rPr lang="en-US" sz="6600" dirty="0"/>
            </a:br>
            <a:r>
              <a:rPr lang="en-US" sz="6600" dirty="0"/>
              <a:t>FIFOs and Streaming Interfaces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ECE-GY 6463:  Advanced Hardware Design</a:t>
            </a:r>
          </a:p>
          <a:p>
            <a:r>
              <a:rPr lang="en-US"/>
              <a:t>Profs. Sundeep Rangan, Siddharth Garg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97280" y="1645920"/>
          <a:ext cx="10058400" cy="3520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6160"/>
                <a:gridCol w="6492240"/>
              </a:tblGrid>
              <a:tr h="502920"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Skill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You will be able to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Work out FIFO timing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Find the cycle each element is written, read and finished, and when a full FIFO stalls the producer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Size memory for a data stream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Compute a FIFO's element width and total size from its fields and its depth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Compare producer and consumer rates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Decide whether a consumer keeps up, when a stream finishes, and how burstiness sets the FIFO depth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Time a valid/ready handshake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Apply registered backpressure: when TREADY drops, and the cycle a stalled transfer completes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Describe AXI4-Stream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Find the cycles that carry a transfer, and where a packet framed by TLAST ends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Serialize and deserialize structured data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Pack a header into 32-bit words and write the code, moving fixed-point fields by their bit pattern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097280" y="53492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 xml:space="preserve">Each skill is assessed by problems in the LLM grader.  The demos add what no problem tests yet: streaming kernels in Vitis HLS, and command-response messages with transaction IDs and error codes.</a:t>
            </a:r>
            <a:endParaRPr lang="en-US" sz="12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06090-7855-C9DD-9DCE-79F23A247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F1046-19E3-684C-BF02-3202C3AC3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2E55E-752B-0314-96D7-EC9755044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■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r>
              <a:rPr lang="en-US" sz="2400" dirty="0"/>
              <a:t>FIFOs</a:t>
            </a:r>
          </a:p>
          <a:p>
            <a:r>
              <a:rPr lang="en-US" sz="2400" dirty="0"/>
              <a:t>AXI4-Stream: Pure Streaming</a:t>
            </a:r>
          </a:p>
          <a:p>
            <a:r>
              <a:rPr lang="en-US" sz="2400" dirty="0"/>
              <a:t>Limitations of Pure Streaming with Vitis </a:t>
            </a:r>
          </a:p>
          <a:p>
            <a:r>
              <a:rPr lang="en-US" sz="2400" dirty="0"/>
              <a:t>AXI4-Stream: Packets and Serialization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B35C6-D5A6-B2D1-5BD1-DCD4DD949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B6917E2-2003-804F-5C92-A006B1A8BC5F}"/>
              </a:ext>
            </a:extLst>
          </p:cNvPr>
          <p:cNvSpPr/>
          <p:nvPr/>
        </p:nvSpPr>
        <p:spPr>
          <a:xfrm>
            <a:off x="388510" y="1539277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416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The Cost of a Register Interface</a:t>
            </a:r>
          </a:p>
        </p:txBody>
      </p:sp>
      <p:sp>
        <p:nvSpPr>
          <p:cNvPr id="3" name="Shape 3"/>
          <p:cNvSpPr/>
          <p:nvPr/>
        </p:nvSpPr>
        <p:spPr>
          <a:xfrm>
            <a:off x="685800" y="1527048"/>
            <a:ext cx="342900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F6FA8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3000" b="1" dirty="0">
                <a:solidFill>
                  <a:srgbClr val="2F6FA8"/>
                </a:solidFill>
              </a:rPr>
              <a:t>22</a:t>
            </a:r>
            <a:endParaRPr lang="en-US" sz="3000" dirty="0"/>
          </a:p>
          <a:p>
            <a:pPr algn="ctr"/>
            <a:r>
              <a:rPr lang="en-US" sz="1200" dirty="0">
                <a:solidFill>
                  <a:srgbClr val="6E6E6E"/>
                </a:solidFill>
              </a:rPr>
              <a:t>cycles of bus traffic per call</a:t>
            </a:r>
            <a:endParaRPr lang="en-US" sz="1200" dirty="0"/>
          </a:p>
        </p:txBody>
      </p:sp>
      <p:sp>
        <p:nvSpPr>
          <p:cNvPr id="4" name="Shape 4"/>
          <p:cNvSpPr/>
          <p:nvPr/>
        </p:nvSpPr>
        <p:spPr>
          <a:xfrm>
            <a:off x="4315968" y="1527048"/>
            <a:ext cx="342900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57068C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3000" b="1" dirty="0">
                <a:solidFill>
                  <a:srgbClr val="57068C"/>
                </a:solidFill>
              </a:rPr>
              <a:t>5</a:t>
            </a:r>
            <a:endParaRPr lang="en-US" sz="3000" dirty="0"/>
          </a:p>
          <a:p>
            <a:pPr algn="ctr"/>
            <a:r>
              <a:rPr lang="en-US" sz="1200" dirty="0">
                <a:solidFill>
                  <a:srgbClr val="6E6E6E"/>
                </a:solidFill>
              </a:rPr>
              <a:t>cycles of actual computation</a:t>
            </a:r>
            <a:endParaRPr lang="en-US" sz="1200" dirty="0"/>
          </a:p>
        </p:txBody>
      </p:sp>
      <p:sp>
        <p:nvSpPr>
          <p:cNvPr id="5" name="Shape 5"/>
          <p:cNvSpPr/>
          <p:nvPr/>
        </p:nvSpPr>
        <p:spPr>
          <a:xfrm>
            <a:off x="7946136" y="1527048"/>
            <a:ext cx="3429000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4530F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3000" b="1" dirty="0">
                <a:solidFill>
                  <a:srgbClr val="B4530F"/>
                </a:solidFill>
              </a:rPr>
              <a:t>1</a:t>
            </a:r>
            <a:endParaRPr lang="en-US" sz="3000" dirty="0"/>
          </a:p>
          <a:p>
            <a:pPr algn="ctr"/>
            <a:r>
              <a:rPr lang="en-US" sz="1200" dirty="0">
                <a:solidFill>
                  <a:srgbClr val="6E6E6E"/>
                </a:solidFill>
              </a:rPr>
              <a:t>call at a time: nothing is queued</a:t>
            </a:r>
            <a:endParaRPr lang="en-US" sz="1200" dirty="0"/>
          </a:p>
        </p:txBody>
      </p:sp>
      <p:sp>
        <p:nvSpPr>
          <p:cNvPr id="6" name="TextBox 6"/>
          <p:cNvSpPr txBox="1"/>
          <p:nvPr/>
        </p:nvSpPr>
        <p:spPr>
          <a:xfrm>
            <a:off x="685800" y="278892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b="1" dirty="0">
                <a:solidFill>
                  <a:srgbClr val="6E6E6E"/>
                </a:solidFill>
              </a:rPr>
              <a:t>PROBLEM 1: HANDSHAKE OVERHEAD</a:t>
            </a:r>
            <a:endParaRPr lang="en-US" sz="1200" dirty="0"/>
          </a:p>
        </p:txBody>
      </p:sp>
      <p:sp>
        <p:nvSpPr>
          <p:cNvPr id="7" name="TextBox 7"/>
          <p:cNvSpPr txBox="1"/>
          <p:nvPr/>
        </p:nvSpPr>
        <p:spPr>
          <a:xfrm>
            <a:off x="685800" y="3108960"/>
            <a:ext cx="5394960" cy="1737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37744" indent="-237744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>Every value is its own AXI4-Lite transaction: address, data, response</a:t>
            </a:r>
            <a:endParaRPr lang="en-US" sz="15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 xml:space="preserve">About </a:t>
            </a:r>
            <a:r>
              <a:rPr lang="en-US" sz="1500" b="1" dirty="0">
                <a:solidFill>
                  <a:srgbClr val="57068C"/>
                </a:solidFill>
              </a:rPr>
              <a:t>3 cycles</a:t>
            </a:r>
            <a:r>
              <a:rPr lang="en-US" sz="1500" dirty="0">
                <a:solidFill>
                  <a:srgbClr val="262626"/>
                </a:solidFill>
              </a:rPr>
              <a:t xml:space="preserve"> per register transfer</a:t>
            </a:r>
            <a:endParaRPr lang="en-US" sz="15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 xml:space="preserve">Guaranteed delivery and flow control, paid for </a:t>
            </a:r>
            <a:r>
              <a:rPr lang="en-US" sz="1500" b="1" dirty="0">
                <a:solidFill>
                  <a:srgbClr val="57068C"/>
                </a:solidFill>
              </a:rPr>
              <a:t>per value</a:t>
            </a:r>
            <a:endParaRPr lang="en-US" sz="1500" dirty="0"/>
          </a:p>
        </p:txBody>
      </p:sp>
      <p:sp>
        <p:nvSpPr>
          <p:cNvPr id="8" name="TextBox 8"/>
          <p:cNvSpPr txBox="1"/>
          <p:nvPr/>
        </p:nvSpPr>
        <p:spPr>
          <a:xfrm>
            <a:off x="6355080" y="27889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b="1" dirty="0">
                <a:solidFill>
                  <a:srgbClr val="6E6E6E"/>
                </a:solidFill>
              </a:rPr>
              <a:t>PROBLEM 2: POLLING</a:t>
            </a:r>
            <a:endParaRPr lang="en-US" sz="1200" dirty="0"/>
          </a:p>
        </p:txBody>
      </p:sp>
      <p:sp>
        <p:nvSpPr>
          <p:cNvPr id="9" name="TextBox 9"/>
          <p:cNvSpPr txBox="1"/>
          <p:nvPr/>
        </p:nvSpPr>
        <p:spPr>
          <a:xfrm>
            <a:off x="6355080" y="3108960"/>
            <a:ext cx="5120640" cy="1737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37744" indent="-237744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 xml:space="preserve">The processor starts the IP, then </a:t>
            </a:r>
            <a:r>
              <a:rPr lang="en-US" sz="1500" b="1" dirty="0">
                <a:solidFill>
                  <a:srgbClr val="57068C"/>
                </a:solidFill>
              </a:rPr>
              <a:t>asks repeatedly</a:t>
            </a:r>
            <a:r>
              <a:rPr lang="en-US" sz="1500" dirty="0">
                <a:solidFill>
                  <a:srgbClr val="262626"/>
                </a:solidFill>
              </a:rPr>
              <a:t xml:space="preserve"> whether it is done</a:t>
            </a:r>
            <a:endParaRPr lang="en-US" sz="15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 xml:space="preserve">The IP sits </a:t>
            </a:r>
            <a:r>
              <a:rPr lang="en-US" sz="1500" b="1" dirty="0">
                <a:solidFill>
                  <a:srgbClr val="57068C"/>
                </a:solidFill>
              </a:rPr>
              <a:t>idle</a:t>
            </a:r>
            <a:r>
              <a:rPr lang="en-US" sz="1500" dirty="0">
                <a:solidFill>
                  <a:srgbClr val="262626"/>
                </a:solidFill>
              </a:rPr>
              <a:t xml:space="preserve"> while the processor writes inputs and reads outputs</a:t>
            </a:r>
            <a:endParaRPr lang="en-US" sz="15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>Neither side can work ahead of the other</a:t>
            </a:r>
            <a:endParaRPr lang="en-US" sz="1500" dirty="0"/>
          </a:p>
        </p:txBody>
      </p:sp>
      <p:sp>
        <p:nvSpPr>
          <p:cNvPr id="10" name="Shape 10"/>
          <p:cNvSpPr/>
          <p:nvPr/>
        </p:nvSpPr>
        <p:spPr>
          <a:xfrm>
            <a:off x="685800" y="4983480"/>
            <a:ext cx="10789920" cy="685800"/>
          </a:xfrm>
          <a:prstGeom prst="rect">
            <a:avLst/>
          </a:prstGeom>
          <a:solidFill>
            <a:srgbClr val="EEE6F3"/>
          </a:solidFill>
          <a:ln w="15875">
            <a:solidFill>
              <a:srgbClr val="57068C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700" dirty="0">
                <a:solidFill>
                  <a:srgbClr val="262626"/>
                </a:solidFill>
              </a:rPr>
              <a:t xml:space="preserve">This unit: put a </a:t>
            </a:r>
            <a:r>
              <a:rPr lang="en-US" sz="1700" b="1" dirty="0">
                <a:solidFill>
                  <a:srgbClr val="57068C"/>
                </a:solidFill>
              </a:rPr>
              <a:t>FIFO</a:t>
            </a:r>
            <a:r>
              <a:rPr lang="en-US" sz="1700" dirty="0">
                <a:solidFill>
                  <a:srgbClr val="262626"/>
                </a:solidFill>
              </a:rPr>
              <a:t xml:space="preserve"> between them, so each side runs at its own pace.</a:t>
            </a:r>
            <a:endParaRPr lang="en-US" sz="1700" dirty="0"/>
          </a:p>
        </p:txBody>
      </p:sp>
      <p:sp>
        <p:nvSpPr>
          <p:cNvPr id="11" name="TextBox 11"/>
          <p:cNvSpPr txBox="1"/>
          <p:nvPr/>
        </p:nvSpPr>
        <p:spPr>
          <a:xfrm>
            <a:off x="685800" y="57150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100" dirty="0">
                <a:solidFill>
                  <a:srgbClr val="6E6E6E"/>
                </a:solidFill>
              </a:rPr>
              <a:t>Figures measured in unit 4's scalar-function demo.</a:t>
            </a:r>
            <a:endParaRPr lang="en-US" sz="1100" dirty="0"/>
          </a:p>
        </p:txBody>
      </p:sp>
      <p:sp>
        <p:nvSpPr>
          <p:cNvPr id="12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the Time Goes</a:t>
            </a:r>
          </a:p>
        </p:txBody>
      </p:sp>
      <p:pic>
        <p:nvPicPr>
          <p:cNvPr id="3" name="Picture 3" descr="time_wast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554480"/>
            <a:ext cx="9692640" cy="3981114"/>
          </a:xfrm>
          <a:prstGeom prst="rect">
            <a:avLst/>
          </a:prstGeom>
        </p:spPr>
      </p:pic>
      <p:sp>
        <p:nvSpPr>
          <p:cNvPr id="4" name="Shape 4"/>
          <p:cNvSpPr/>
          <p:nvPr/>
        </p:nvSpPr>
        <p:spPr>
          <a:xfrm>
            <a:off x="685800" y="5321808"/>
            <a:ext cx="10789920" cy="566928"/>
          </a:xfrm>
          <a:prstGeom prst="roundRect">
            <a:avLst>
              <a:gd name="adj" fmla="val 20000"/>
            </a:avLst>
          </a:prstGeom>
          <a:solidFill>
            <a:srgbClr val="F7F3FA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600" dirty="0">
                <a:solidFill>
                  <a:srgbClr val="262626"/>
                </a:solidFill>
              </a:rPr>
              <a:t xml:space="preserve">A FIFO </a:t>
            </a:r>
            <a:r>
              <a:rPr lang="en-US" sz="1600" b="1" dirty="0">
                <a:solidFill>
                  <a:srgbClr val="57068C"/>
                </a:solidFill>
              </a:rPr>
              <a:t>decouples</a:t>
            </a:r>
            <a:r>
              <a:rPr lang="en-US" sz="1600" dirty="0">
                <a:solidFill>
                  <a:srgbClr val="262626"/>
                </a:solidFill>
              </a:rPr>
              <a:t xml:space="preserve"> the two sides in time: the processor queues work and leaves, and the IP runs job after job.</a:t>
            </a:r>
            <a:endParaRPr lang="en-US" sz="16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6949440" cy="4297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2000" b="1" dirty="0">
                <a:solidFill>
                  <a:srgbClr val="57068C"/>
                </a:solidFill>
              </a:rPr>
              <a:t>FIFO</a:t>
            </a:r>
            <a:r>
              <a:rPr lang="en-US" sz="2000" dirty="0">
                <a:solidFill>
                  <a:srgbClr val="262626"/>
                </a:solidFill>
              </a:rPr>
              <a:t xml:space="preserve"> (first-in, first-out): a hardware queue</a:t>
            </a:r>
            <a:endParaRPr lang="en-US" sz="20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700" dirty="0">
                <a:solidFill>
                  <a:srgbClr val="262626"/>
                </a:solidFill>
              </a:rPr>
              <a:t xml:space="preserve">Stores elements from a </a:t>
            </a:r>
            <a:r>
              <a:rPr lang="en-US" sz="1700" b="1" dirty="0">
                <a:solidFill>
                  <a:srgbClr val="57068C"/>
                </a:solidFill>
              </a:rPr>
              <a:t>producer</a:t>
            </a:r>
            <a:r>
              <a:rPr lang="en-US" sz="1700" dirty="0">
                <a:solidFill>
                  <a:srgbClr val="262626"/>
                </a:solidFill>
              </a:rPr>
              <a:t xml:space="preserve"> in order of arrival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700" dirty="0">
                <a:solidFill>
                  <a:srgbClr val="262626"/>
                </a:solidFill>
              </a:rPr>
              <a:t xml:space="preserve">Returns them to a </a:t>
            </a:r>
            <a:r>
              <a:rPr lang="en-US" sz="1700" b="1" dirty="0">
                <a:solidFill>
                  <a:srgbClr val="57068C"/>
                </a:solidFill>
              </a:rPr>
              <a:t>consumer</a:t>
            </a:r>
            <a:r>
              <a:rPr lang="en-US" sz="1700" dirty="0">
                <a:solidFill>
                  <a:srgbClr val="262626"/>
                </a:solidFill>
              </a:rPr>
              <a:t xml:space="preserve"> in the same order</a:t>
            </a:r>
            <a:endParaRPr lang="en-US" sz="1700" dirty="0"/>
          </a:p>
          <a:p>
            <a:pPr marL="274320" indent="-274320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2000" b="1" dirty="0">
                <a:solidFill>
                  <a:srgbClr val="57068C"/>
                </a:solidFill>
              </a:rPr>
              <a:t>Decouples</a:t>
            </a:r>
            <a:r>
              <a:rPr lang="en-US" sz="2000" dirty="0">
                <a:solidFill>
                  <a:srgbClr val="262626"/>
                </a:solidFill>
              </a:rPr>
              <a:t xml:space="preserve"> producer and consumer timing</a:t>
            </a:r>
            <a:endParaRPr lang="en-US" sz="20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700" dirty="0">
                <a:solidFill>
                  <a:srgbClr val="262626"/>
                </a:solidFill>
              </a:rPr>
              <a:t>Each side runs at its own pace</a:t>
            </a:r>
            <a:endParaRPr lang="en-US" sz="1700" dirty="0"/>
          </a:p>
          <a:p>
            <a:pPr marL="274320" indent="-274320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2000" dirty="0">
                <a:solidFill>
                  <a:srgbClr val="262626"/>
                </a:solidFill>
              </a:rPr>
              <a:t xml:space="preserve">Built-in </a:t>
            </a:r>
            <a:r>
              <a:rPr lang="en-US" sz="2000" b="1" dirty="0">
                <a:solidFill>
                  <a:srgbClr val="57068C"/>
                </a:solidFill>
              </a:rPr>
              <a:t>flow control</a:t>
            </a:r>
            <a:endParaRPr lang="en-US" sz="20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700" dirty="0">
                <a:solidFill>
                  <a:srgbClr val="262626"/>
                </a:solidFill>
              </a:rPr>
              <a:t>The producer waits while the FIFO is full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700" dirty="0">
                <a:solidFill>
                  <a:srgbClr val="262626"/>
                </a:solidFill>
              </a:rPr>
              <a:t>The consumer waits while it is empty</a:t>
            </a:r>
            <a:endParaRPr lang="en-US" sz="1700" dirty="0"/>
          </a:p>
          <a:p>
            <a:pPr marL="274320" indent="-274320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2000" dirty="0">
                <a:solidFill>
                  <a:srgbClr val="262626"/>
                </a:solidFill>
              </a:rPr>
              <a:t xml:space="preserve">Absorbs </a:t>
            </a:r>
            <a:r>
              <a:rPr lang="en-US" sz="2000" b="1" dirty="0">
                <a:solidFill>
                  <a:srgbClr val="57068C"/>
                </a:solidFill>
              </a:rPr>
              <a:t>bursts</a:t>
            </a:r>
            <a:r>
              <a:rPr lang="en-US" sz="2000" dirty="0">
                <a:solidFill>
                  <a:srgbClr val="262626"/>
                </a:solidFill>
              </a:rPr>
              <a:t xml:space="preserve"> of data, and enables </a:t>
            </a:r>
            <a:r>
              <a:rPr lang="en-US" sz="2000" b="1" dirty="0">
                <a:solidFill>
                  <a:srgbClr val="57068C"/>
                </a:solidFill>
              </a:rPr>
              <a:t>streaming</a:t>
            </a:r>
            <a:endParaRPr lang="en-US" sz="2000" dirty="0"/>
          </a:p>
        </p:txBody>
      </p:sp>
      <p:sp>
        <p:nvSpPr>
          <p:cNvPr id="4" name="TextBox 4"/>
          <p:cNvSpPr txBox="1"/>
          <p:nvPr/>
        </p:nvSpPr>
        <p:spPr>
          <a:xfrm>
            <a:off x="8229600" y="1600200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500" b="1" dirty="0">
                <a:solidFill>
                  <a:srgbClr val="2F6FA8"/>
                </a:solidFill>
              </a:rPr>
              <a:t>Producer</a:t>
            </a:r>
            <a:endParaRPr lang="en-US" sz="1500" dirty="0"/>
          </a:p>
        </p:txBody>
      </p:sp>
      <p:cxnSp>
        <p:nvCxnSpPr>
          <p:cNvPr id="5" name="Connector 5"/>
          <p:cNvCxnSpPr/>
          <p:nvPr/>
        </p:nvCxnSpPr>
        <p:spPr>
          <a:xfrm>
            <a:off x="9464040" y="1920240"/>
            <a:ext cx="0" cy="320040"/>
          </a:xfrm>
          <a:prstGeom prst="straightConnector1">
            <a:avLst/>
          </a:prstGeom>
          <a:ln w="25400">
            <a:solidFill>
              <a:srgbClr val="2F6FA8"/>
            </a:solidFill>
            <a:tailEnd type="triangle" w="med" len="med"/>
          </a:ln>
        </p:spPr>
      </p:cxnSp>
      <p:sp>
        <p:nvSpPr>
          <p:cNvPr id="6" name="Shape 6"/>
          <p:cNvSpPr/>
          <p:nvPr/>
        </p:nvSpPr>
        <p:spPr>
          <a:xfrm>
            <a:off x="8778240" y="2286000"/>
            <a:ext cx="1371600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endParaRPr lang="en-US" sz="1400" dirty="0"/>
          </a:p>
        </p:txBody>
      </p:sp>
      <p:sp>
        <p:nvSpPr>
          <p:cNvPr id="7" name="Shape 7"/>
          <p:cNvSpPr/>
          <p:nvPr/>
        </p:nvSpPr>
        <p:spPr>
          <a:xfrm>
            <a:off x="8778240" y="2670048"/>
            <a:ext cx="1371600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endParaRPr lang="en-US" sz="1400" dirty="0"/>
          </a:p>
        </p:txBody>
      </p:sp>
      <p:sp>
        <p:nvSpPr>
          <p:cNvPr id="8" name="Shape 8"/>
          <p:cNvSpPr/>
          <p:nvPr/>
        </p:nvSpPr>
        <p:spPr>
          <a:xfrm>
            <a:off x="8778240" y="3054096"/>
            <a:ext cx="1371600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endParaRPr lang="en-US" sz="1400" dirty="0"/>
          </a:p>
        </p:txBody>
      </p:sp>
      <p:sp>
        <p:nvSpPr>
          <p:cNvPr id="9" name="Shape 9"/>
          <p:cNvSpPr/>
          <p:nvPr/>
        </p:nvSpPr>
        <p:spPr>
          <a:xfrm>
            <a:off x="8778240" y="3438144"/>
            <a:ext cx="1371600" cy="384048"/>
          </a:xfrm>
          <a:prstGeom prst="rect">
            <a:avLst/>
          </a:prstGeom>
          <a:solidFill>
            <a:srgbClr val="57068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endParaRPr lang="en-US" sz="1400" dirty="0"/>
          </a:p>
        </p:txBody>
      </p:sp>
      <p:sp>
        <p:nvSpPr>
          <p:cNvPr id="10" name="Shape 10"/>
          <p:cNvSpPr/>
          <p:nvPr/>
        </p:nvSpPr>
        <p:spPr>
          <a:xfrm>
            <a:off x="8778240" y="3822192"/>
            <a:ext cx="1371600" cy="384048"/>
          </a:xfrm>
          <a:prstGeom prst="rect">
            <a:avLst/>
          </a:prstGeom>
          <a:solidFill>
            <a:srgbClr val="57068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endParaRPr lang="en-US" sz="1400" dirty="0"/>
          </a:p>
        </p:txBody>
      </p:sp>
      <p:sp>
        <p:nvSpPr>
          <p:cNvPr id="11" name="Shape 11"/>
          <p:cNvSpPr/>
          <p:nvPr/>
        </p:nvSpPr>
        <p:spPr>
          <a:xfrm>
            <a:off x="8778240" y="4206240"/>
            <a:ext cx="1371600" cy="384048"/>
          </a:xfrm>
          <a:prstGeom prst="rect">
            <a:avLst/>
          </a:prstGeom>
          <a:solidFill>
            <a:srgbClr val="57068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endParaRPr lang="en-US" sz="1400" dirty="0"/>
          </a:p>
        </p:txBody>
      </p:sp>
      <p:cxnSp>
        <p:nvCxnSpPr>
          <p:cNvPr id="12" name="Connector 12"/>
          <p:cNvCxnSpPr/>
          <p:nvPr/>
        </p:nvCxnSpPr>
        <p:spPr>
          <a:xfrm>
            <a:off x="9464040" y="4636008"/>
            <a:ext cx="0" cy="320040"/>
          </a:xfrm>
          <a:prstGeom prst="straightConnector1">
            <a:avLst/>
          </a:prstGeom>
          <a:ln w="25400">
            <a:solidFill>
              <a:srgbClr val="00857C"/>
            </a:solidFill>
            <a:tailEnd type="triangle" w="med" len="med"/>
          </a:ln>
        </p:spPr>
      </p:cxnSp>
      <p:sp>
        <p:nvSpPr>
          <p:cNvPr id="13" name="TextBox 13"/>
          <p:cNvSpPr txBox="1"/>
          <p:nvPr/>
        </p:nvSpPr>
        <p:spPr>
          <a:xfrm>
            <a:off x="8229600" y="4983480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500" b="1" dirty="0">
                <a:solidFill>
                  <a:srgbClr val="00857C"/>
                </a:solidFill>
              </a:rPr>
              <a:t>Consumer</a:t>
            </a:r>
            <a:endParaRPr lang="en-US" sz="1500" dirty="0"/>
          </a:p>
        </p:txBody>
      </p:sp>
      <p:sp>
        <p:nvSpPr>
          <p:cNvPr id="14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FIFO Terminology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6583680" cy="4297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2000" b="1" dirty="0">
                <a:solidFill>
                  <a:srgbClr val="57068C"/>
                </a:solidFill>
              </a:rPr>
              <a:t>Producer</a:t>
            </a:r>
            <a:r>
              <a:rPr lang="en-US" sz="2000" dirty="0">
                <a:solidFill>
                  <a:srgbClr val="262626"/>
                </a:solidFill>
              </a:rPr>
              <a:t>: the module that writes to the FIFO</a:t>
            </a:r>
            <a:endParaRPr lang="en-US" sz="20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700" dirty="0">
                <a:solidFill>
                  <a:srgbClr val="262626"/>
                </a:solidFill>
              </a:rPr>
              <a:t>Each write adds an element</a:t>
            </a:r>
            <a:endParaRPr lang="en-US" sz="1700" dirty="0"/>
          </a:p>
          <a:p>
            <a:pPr marL="274320" indent="-274320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2000" b="1" dirty="0">
                <a:solidFill>
                  <a:srgbClr val="57068C"/>
                </a:solidFill>
              </a:rPr>
              <a:t>Consumer</a:t>
            </a:r>
            <a:r>
              <a:rPr lang="en-US" sz="2000" dirty="0">
                <a:solidFill>
                  <a:srgbClr val="262626"/>
                </a:solidFill>
              </a:rPr>
              <a:t>: the module that reads from it</a:t>
            </a:r>
            <a:endParaRPr lang="en-US" sz="20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700" dirty="0">
                <a:solidFill>
                  <a:srgbClr val="262626"/>
                </a:solidFill>
              </a:rPr>
              <a:t>Each read removes an element</a:t>
            </a:r>
            <a:endParaRPr lang="en-US" sz="1700" dirty="0"/>
          </a:p>
          <a:p>
            <a:pPr marL="274320" indent="-274320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2000" b="1" dirty="0">
                <a:solidFill>
                  <a:srgbClr val="57068C"/>
                </a:solidFill>
              </a:rPr>
              <a:t>Element</a:t>
            </a:r>
            <a:r>
              <a:rPr lang="en-US" sz="2000" dirty="0">
                <a:solidFill>
                  <a:srgbClr val="262626"/>
                </a:solidFill>
              </a:rPr>
              <a:t>: one item stored in the FIFO</a:t>
            </a:r>
            <a:endParaRPr lang="en-US" sz="2000" dirty="0"/>
          </a:p>
          <a:p>
            <a:pPr marL="274320" indent="-274320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2000" b="1" dirty="0">
                <a:solidFill>
                  <a:srgbClr val="57068C"/>
                </a:solidFill>
              </a:rPr>
              <a:t>Element width</a:t>
            </a:r>
            <a:r>
              <a:rPr lang="en-US" sz="2000" dirty="0">
                <a:solidFill>
                  <a:srgbClr val="262626"/>
                </a:solidFill>
              </a:rPr>
              <a:t>: the size of each element, in bits or bytes</a:t>
            </a:r>
            <a:endParaRPr lang="en-US" sz="2000" dirty="0"/>
          </a:p>
          <a:p>
            <a:pPr marL="274320" indent="-274320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2000" b="1" dirty="0">
                <a:solidFill>
                  <a:srgbClr val="57068C"/>
                </a:solidFill>
              </a:rPr>
              <a:t>Depth</a:t>
            </a:r>
            <a:r>
              <a:rPr lang="en-US" sz="2000" dirty="0">
                <a:solidFill>
                  <a:srgbClr val="262626"/>
                </a:solidFill>
              </a:rPr>
              <a:t>: the maximum number of elements</a:t>
            </a:r>
            <a:endParaRPr lang="en-US" sz="2000" dirty="0"/>
          </a:p>
          <a:p>
            <a:pPr marL="274320" indent="-274320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2000" b="1" dirty="0">
                <a:solidFill>
                  <a:srgbClr val="57068C"/>
                </a:solidFill>
              </a:rPr>
              <a:t>Size</a:t>
            </a:r>
            <a:r>
              <a:rPr lang="en-US" sz="2000" dirty="0">
                <a:solidFill>
                  <a:srgbClr val="262626"/>
                </a:solidFill>
              </a:rPr>
              <a:t xml:space="preserve"> = depth × element width</a:t>
            </a:r>
            <a:endParaRPr lang="en-US" sz="2000" dirty="0"/>
          </a:p>
        </p:txBody>
      </p:sp>
      <p:sp>
        <p:nvSpPr>
          <p:cNvPr id="4" name="TextBox 4"/>
          <p:cNvSpPr txBox="1"/>
          <p:nvPr/>
        </p:nvSpPr>
        <p:spPr>
          <a:xfrm>
            <a:off x="8503920" y="1600200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500" b="1" dirty="0">
                <a:solidFill>
                  <a:srgbClr val="2F6FA8"/>
                </a:solidFill>
              </a:rPr>
              <a:t>Producer</a:t>
            </a:r>
            <a:endParaRPr lang="en-US" sz="1500" dirty="0"/>
          </a:p>
        </p:txBody>
      </p:sp>
      <p:cxnSp>
        <p:nvCxnSpPr>
          <p:cNvPr id="5" name="Connector 5"/>
          <p:cNvCxnSpPr/>
          <p:nvPr/>
        </p:nvCxnSpPr>
        <p:spPr>
          <a:xfrm>
            <a:off x="9738360" y="1920240"/>
            <a:ext cx="0" cy="320040"/>
          </a:xfrm>
          <a:prstGeom prst="straightConnector1">
            <a:avLst/>
          </a:prstGeom>
          <a:ln w="25400">
            <a:solidFill>
              <a:srgbClr val="2F6FA8"/>
            </a:solidFill>
            <a:tailEnd type="triangle" w="med" len="med"/>
          </a:ln>
        </p:spPr>
      </p:cxnSp>
      <p:sp>
        <p:nvSpPr>
          <p:cNvPr id="6" name="Shape 6"/>
          <p:cNvSpPr/>
          <p:nvPr/>
        </p:nvSpPr>
        <p:spPr>
          <a:xfrm>
            <a:off x="9052560" y="2286000"/>
            <a:ext cx="1371600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endParaRPr lang="en-US" sz="1400" dirty="0"/>
          </a:p>
        </p:txBody>
      </p:sp>
      <p:sp>
        <p:nvSpPr>
          <p:cNvPr id="7" name="Shape 7"/>
          <p:cNvSpPr/>
          <p:nvPr/>
        </p:nvSpPr>
        <p:spPr>
          <a:xfrm>
            <a:off x="9052560" y="2670048"/>
            <a:ext cx="1371600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endParaRPr lang="en-US" sz="1400" dirty="0"/>
          </a:p>
        </p:txBody>
      </p:sp>
      <p:sp>
        <p:nvSpPr>
          <p:cNvPr id="8" name="Shape 8"/>
          <p:cNvSpPr/>
          <p:nvPr/>
        </p:nvSpPr>
        <p:spPr>
          <a:xfrm>
            <a:off x="9052560" y="3054096"/>
            <a:ext cx="1371600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endParaRPr lang="en-US" sz="1400" dirty="0"/>
          </a:p>
        </p:txBody>
      </p:sp>
      <p:sp>
        <p:nvSpPr>
          <p:cNvPr id="9" name="Shape 9"/>
          <p:cNvSpPr/>
          <p:nvPr/>
        </p:nvSpPr>
        <p:spPr>
          <a:xfrm>
            <a:off x="9052560" y="3438144"/>
            <a:ext cx="1371600" cy="384048"/>
          </a:xfrm>
          <a:prstGeom prst="rect">
            <a:avLst/>
          </a:prstGeom>
          <a:solidFill>
            <a:srgbClr val="57068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endParaRPr lang="en-US" sz="1400" dirty="0"/>
          </a:p>
        </p:txBody>
      </p:sp>
      <p:sp>
        <p:nvSpPr>
          <p:cNvPr id="10" name="Shape 10"/>
          <p:cNvSpPr/>
          <p:nvPr/>
        </p:nvSpPr>
        <p:spPr>
          <a:xfrm>
            <a:off x="9052560" y="3822192"/>
            <a:ext cx="1371600" cy="384048"/>
          </a:xfrm>
          <a:prstGeom prst="rect">
            <a:avLst/>
          </a:prstGeom>
          <a:solidFill>
            <a:srgbClr val="57068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endParaRPr lang="en-US" sz="1400" dirty="0"/>
          </a:p>
        </p:txBody>
      </p:sp>
      <p:sp>
        <p:nvSpPr>
          <p:cNvPr id="11" name="Shape 11"/>
          <p:cNvSpPr/>
          <p:nvPr/>
        </p:nvSpPr>
        <p:spPr>
          <a:xfrm>
            <a:off x="9052560" y="4206240"/>
            <a:ext cx="1371600" cy="384048"/>
          </a:xfrm>
          <a:prstGeom prst="rect">
            <a:avLst/>
          </a:prstGeom>
          <a:solidFill>
            <a:srgbClr val="57068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endParaRPr lang="en-US" sz="1400" dirty="0"/>
          </a:p>
        </p:txBody>
      </p:sp>
      <p:cxnSp>
        <p:nvCxnSpPr>
          <p:cNvPr id="12" name="Connector 12"/>
          <p:cNvCxnSpPr/>
          <p:nvPr/>
        </p:nvCxnSpPr>
        <p:spPr>
          <a:xfrm>
            <a:off x="9738360" y="4636008"/>
            <a:ext cx="0" cy="320040"/>
          </a:xfrm>
          <a:prstGeom prst="straightConnector1">
            <a:avLst/>
          </a:prstGeom>
          <a:ln w="25400">
            <a:solidFill>
              <a:srgbClr val="00857C"/>
            </a:solidFill>
            <a:tailEnd type="triangle" w="med" len="med"/>
          </a:ln>
        </p:spPr>
      </p:cxnSp>
      <p:sp>
        <p:nvSpPr>
          <p:cNvPr id="13" name="TextBox 13"/>
          <p:cNvSpPr txBox="1"/>
          <p:nvPr/>
        </p:nvSpPr>
        <p:spPr>
          <a:xfrm>
            <a:off x="8503920" y="4983480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500" b="1" dirty="0">
                <a:solidFill>
                  <a:srgbClr val="00857C"/>
                </a:solidFill>
              </a:rPr>
              <a:t>Consumer</a:t>
            </a:r>
            <a:endParaRPr lang="en-US" sz="1500" dirty="0"/>
          </a:p>
        </p:txBody>
      </p:sp>
      <p:cxnSp>
        <p:nvCxnSpPr>
          <p:cNvPr id="14" name="Connector 14"/>
          <p:cNvCxnSpPr/>
          <p:nvPr/>
        </p:nvCxnSpPr>
        <p:spPr>
          <a:xfrm flipH="1">
            <a:off x="9089136" y="2478024"/>
            <a:ext cx="649224" cy="0"/>
          </a:xfrm>
          <a:prstGeom prst="straightConnector1">
            <a:avLst/>
          </a:prstGeom>
          <a:ln w="12700">
            <a:solidFill>
              <a:srgbClr val="6E6E6E"/>
            </a:solidFill>
            <a:tailEnd type="triangle" w="med" len="med"/>
          </a:ln>
        </p:spPr>
      </p:cxnSp>
      <p:cxnSp>
        <p:nvCxnSpPr>
          <p:cNvPr id="15" name="Connector 15"/>
          <p:cNvCxnSpPr/>
          <p:nvPr/>
        </p:nvCxnSpPr>
        <p:spPr>
          <a:xfrm>
            <a:off x="9738360" y="2478024"/>
            <a:ext cx="649224" cy="0"/>
          </a:xfrm>
          <a:prstGeom prst="straightConnector1">
            <a:avLst/>
          </a:prstGeom>
          <a:ln w="12700">
            <a:solidFill>
              <a:srgbClr val="6E6E6E"/>
            </a:solidFill>
            <a:tailEnd type="triangle" w="med" len="med"/>
          </a:ln>
        </p:spPr>
      </p:cxnSp>
      <p:sp>
        <p:nvSpPr>
          <p:cNvPr id="16" name="TextBox 16"/>
          <p:cNvSpPr txBox="1"/>
          <p:nvPr/>
        </p:nvSpPr>
        <p:spPr>
          <a:xfrm>
            <a:off x="7178040" y="2322576"/>
            <a:ext cx="178308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en-US" sz="1300" dirty="0">
                <a:solidFill>
                  <a:srgbClr val="262626"/>
                </a:solidFill>
              </a:rPr>
              <a:t>element width</a:t>
            </a:r>
            <a:endParaRPr lang="en-US" sz="1300" dirty="0"/>
          </a:p>
        </p:txBody>
      </p:sp>
      <p:cxnSp>
        <p:nvCxnSpPr>
          <p:cNvPr id="17" name="Connector 17"/>
          <p:cNvCxnSpPr/>
          <p:nvPr/>
        </p:nvCxnSpPr>
        <p:spPr>
          <a:xfrm>
            <a:off x="10607040" y="2286000"/>
            <a:ext cx="0" cy="2304288"/>
          </a:xfrm>
          <a:prstGeom prst="straightConnector1">
            <a:avLst/>
          </a:prstGeom>
          <a:ln w="12700">
            <a:solidFill>
              <a:srgbClr val="6E6E6E"/>
            </a:solidFill>
          </a:ln>
        </p:spPr>
      </p:cxnSp>
      <p:sp>
        <p:nvSpPr>
          <p:cNvPr id="18" name="TextBox 18"/>
          <p:cNvSpPr txBox="1"/>
          <p:nvPr/>
        </p:nvSpPr>
        <p:spPr>
          <a:xfrm>
            <a:off x="10698480" y="3284525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300" dirty="0">
                <a:solidFill>
                  <a:srgbClr val="262626"/>
                </a:solidFill>
              </a:rPr>
              <a:t>depth</a:t>
            </a:r>
            <a:endParaRPr lang="en-US" sz="1300" dirty="0"/>
          </a:p>
        </p:txBody>
      </p:sp>
      <p:cxnSp>
        <p:nvCxnSpPr>
          <p:cNvPr id="19" name="Connector 19"/>
          <p:cNvCxnSpPr/>
          <p:nvPr/>
        </p:nvCxnSpPr>
        <p:spPr>
          <a:xfrm>
            <a:off x="8549640" y="4014216"/>
            <a:ext cx="457200" cy="0"/>
          </a:xfrm>
          <a:prstGeom prst="straightConnector1">
            <a:avLst/>
          </a:prstGeom>
          <a:ln w="15875">
            <a:solidFill>
              <a:srgbClr val="57068C"/>
            </a:solidFill>
            <a:tailEnd type="triangle" w="med" len="med"/>
          </a:ln>
        </p:spPr>
      </p:cxnSp>
      <p:sp>
        <p:nvSpPr>
          <p:cNvPr id="20" name="TextBox 20"/>
          <p:cNvSpPr txBox="1"/>
          <p:nvPr/>
        </p:nvSpPr>
        <p:spPr>
          <a:xfrm>
            <a:off x="6812280" y="3858768"/>
            <a:ext cx="169164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/>
            <a:r>
              <a:rPr lang="en-US" sz="1300" dirty="0">
                <a:solidFill>
                  <a:srgbClr val="57068C"/>
                </a:solidFill>
              </a:rPr>
              <a:t>one element</a:t>
            </a:r>
            <a:endParaRPr lang="en-US" sz="1300" dirty="0"/>
          </a:p>
        </p:txBody>
      </p:sp>
      <p:sp>
        <p:nvSpPr>
          <p:cNvPr id="21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FIFO Order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6583680" cy="4297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2000" dirty="0">
                <a:solidFill>
                  <a:srgbClr val="262626"/>
                </a:solidFill>
              </a:rPr>
              <a:t>The producer writes A, then B, then C</a:t>
            </a:r>
            <a:endParaRPr lang="en-US" sz="2000" dirty="0"/>
          </a:p>
          <a:p>
            <a:pPr marL="274320" indent="-274320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2000" dirty="0">
                <a:solidFill>
                  <a:srgbClr val="262626"/>
                </a:solidFill>
              </a:rPr>
              <a:t xml:space="preserve">A is at the </a:t>
            </a:r>
            <a:r>
              <a:rPr lang="en-US" sz="2000" b="1" dirty="0">
                <a:solidFill>
                  <a:srgbClr val="57068C"/>
                </a:solidFill>
              </a:rPr>
              <a:t>head</a:t>
            </a:r>
            <a:r>
              <a:rPr lang="en-US" sz="2000" dirty="0">
                <a:solidFill>
                  <a:srgbClr val="262626"/>
                </a:solidFill>
              </a:rPr>
              <a:t>: the oldest element</a:t>
            </a:r>
            <a:endParaRPr lang="en-US" sz="2000" dirty="0"/>
          </a:p>
          <a:p>
            <a:pPr marL="274320" indent="-274320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2000" dirty="0">
                <a:solidFill>
                  <a:srgbClr val="262626"/>
                </a:solidFill>
              </a:rPr>
              <a:t xml:space="preserve">C is at the </a:t>
            </a:r>
            <a:r>
              <a:rPr lang="en-US" sz="2000" b="1" dirty="0">
                <a:solidFill>
                  <a:srgbClr val="57068C"/>
                </a:solidFill>
              </a:rPr>
              <a:t>tail</a:t>
            </a:r>
            <a:r>
              <a:rPr lang="en-US" sz="2000" dirty="0">
                <a:solidFill>
                  <a:srgbClr val="262626"/>
                </a:solidFill>
              </a:rPr>
              <a:t>: the newest</a:t>
            </a:r>
            <a:endParaRPr lang="en-US" sz="2000" dirty="0"/>
          </a:p>
          <a:p>
            <a:pPr marL="274320" indent="-274320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2000" dirty="0">
                <a:solidFill>
                  <a:srgbClr val="262626"/>
                </a:solidFill>
              </a:rPr>
              <a:t>The consumer reads from the head</a:t>
            </a:r>
            <a:endParaRPr lang="en-US" sz="20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700" dirty="0">
                <a:solidFill>
                  <a:srgbClr val="262626"/>
                </a:solidFill>
              </a:rPr>
              <a:t>It reads A, B, C: the order they were written</a:t>
            </a:r>
            <a:endParaRPr lang="en-US" sz="1700" dirty="0"/>
          </a:p>
          <a:p>
            <a:pPr marL="274320" indent="-274320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2000" dirty="0">
                <a:solidFill>
                  <a:srgbClr val="262626"/>
                </a:solidFill>
              </a:rPr>
              <a:t>No reordering, and no addresses</a:t>
            </a:r>
            <a:endParaRPr lang="en-US" sz="20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700" dirty="0">
                <a:solidFill>
                  <a:srgbClr val="262626"/>
                </a:solidFill>
              </a:rPr>
              <a:t>Contrast the random-access memory of unit 4</a:t>
            </a:r>
            <a:endParaRPr lang="en-US" sz="1700" dirty="0"/>
          </a:p>
        </p:txBody>
      </p:sp>
      <p:sp>
        <p:nvSpPr>
          <p:cNvPr id="4" name="TextBox 4"/>
          <p:cNvSpPr txBox="1"/>
          <p:nvPr/>
        </p:nvSpPr>
        <p:spPr>
          <a:xfrm>
            <a:off x="8229600" y="1600200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500" b="1" dirty="0">
                <a:solidFill>
                  <a:srgbClr val="2F6FA8"/>
                </a:solidFill>
              </a:rPr>
              <a:t>Producer</a:t>
            </a:r>
            <a:endParaRPr lang="en-US" sz="1500" dirty="0"/>
          </a:p>
        </p:txBody>
      </p:sp>
      <p:cxnSp>
        <p:nvCxnSpPr>
          <p:cNvPr id="5" name="Connector 5"/>
          <p:cNvCxnSpPr/>
          <p:nvPr/>
        </p:nvCxnSpPr>
        <p:spPr>
          <a:xfrm>
            <a:off x="9464040" y="1920240"/>
            <a:ext cx="0" cy="320040"/>
          </a:xfrm>
          <a:prstGeom prst="straightConnector1">
            <a:avLst/>
          </a:prstGeom>
          <a:ln w="25400">
            <a:solidFill>
              <a:srgbClr val="2F6FA8"/>
            </a:solidFill>
            <a:tailEnd type="triangle" w="med" len="med"/>
          </a:ln>
        </p:spPr>
      </p:cxnSp>
      <p:sp>
        <p:nvSpPr>
          <p:cNvPr id="6" name="Shape 6"/>
          <p:cNvSpPr/>
          <p:nvPr/>
        </p:nvSpPr>
        <p:spPr>
          <a:xfrm>
            <a:off x="8778240" y="2286000"/>
            <a:ext cx="1371600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endParaRPr lang="en-US" sz="1400" dirty="0"/>
          </a:p>
        </p:txBody>
      </p:sp>
      <p:sp>
        <p:nvSpPr>
          <p:cNvPr id="7" name="Shape 7"/>
          <p:cNvSpPr/>
          <p:nvPr/>
        </p:nvSpPr>
        <p:spPr>
          <a:xfrm>
            <a:off x="8778240" y="2670048"/>
            <a:ext cx="1371600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endParaRPr lang="en-US" sz="1400" dirty="0"/>
          </a:p>
        </p:txBody>
      </p:sp>
      <p:sp>
        <p:nvSpPr>
          <p:cNvPr id="8" name="Shape 8"/>
          <p:cNvSpPr/>
          <p:nvPr/>
        </p:nvSpPr>
        <p:spPr>
          <a:xfrm>
            <a:off x="8778240" y="3054096"/>
            <a:ext cx="1371600" cy="384048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endParaRPr lang="en-US" sz="1400" dirty="0"/>
          </a:p>
        </p:txBody>
      </p:sp>
      <p:sp>
        <p:nvSpPr>
          <p:cNvPr id="9" name="Shape 9"/>
          <p:cNvSpPr/>
          <p:nvPr/>
        </p:nvSpPr>
        <p:spPr>
          <a:xfrm>
            <a:off x="8778240" y="3438144"/>
            <a:ext cx="1371600" cy="384048"/>
          </a:xfrm>
          <a:prstGeom prst="rect">
            <a:avLst/>
          </a:prstGeom>
          <a:solidFill>
            <a:srgbClr val="57068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0" name="Shape 10"/>
          <p:cNvSpPr/>
          <p:nvPr/>
        </p:nvSpPr>
        <p:spPr>
          <a:xfrm>
            <a:off x="8778240" y="3822192"/>
            <a:ext cx="1371600" cy="384048"/>
          </a:xfrm>
          <a:prstGeom prst="rect">
            <a:avLst/>
          </a:prstGeom>
          <a:solidFill>
            <a:srgbClr val="57068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Shape 11"/>
          <p:cNvSpPr/>
          <p:nvPr/>
        </p:nvSpPr>
        <p:spPr>
          <a:xfrm>
            <a:off x="8778240" y="4206240"/>
            <a:ext cx="1371600" cy="384048"/>
          </a:xfrm>
          <a:prstGeom prst="rect">
            <a:avLst/>
          </a:prstGeom>
          <a:solidFill>
            <a:srgbClr val="57068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cxnSp>
        <p:nvCxnSpPr>
          <p:cNvPr id="12" name="Connector 12"/>
          <p:cNvCxnSpPr/>
          <p:nvPr/>
        </p:nvCxnSpPr>
        <p:spPr>
          <a:xfrm>
            <a:off x="9464040" y="4636008"/>
            <a:ext cx="0" cy="320040"/>
          </a:xfrm>
          <a:prstGeom prst="straightConnector1">
            <a:avLst/>
          </a:prstGeom>
          <a:ln w="25400">
            <a:solidFill>
              <a:srgbClr val="00857C"/>
            </a:solidFill>
            <a:tailEnd type="triangle" w="med" len="med"/>
          </a:ln>
        </p:spPr>
      </p:cxnSp>
      <p:sp>
        <p:nvSpPr>
          <p:cNvPr id="13" name="TextBox 13"/>
          <p:cNvSpPr txBox="1"/>
          <p:nvPr/>
        </p:nvSpPr>
        <p:spPr>
          <a:xfrm>
            <a:off x="8229600" y="4983480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500" b="1" dirty="0">
                <a:solidFill>
                  <a:srgbClr val="00857C"/>
                </a:solidFill>
              </a:rPr>
              <a:t>Consumer</a:t>
            </a:r>
            <a:endParaRPr lang="en-US" sz="1500" dirty="0"/>
          </a:p>
        </p:txBody>
      </p:sp>
      <p:sp>
        <p:nvSpPr>
          <p:cNvPr id="14" name="TextBox 14"/>
          <p:cNvSpPr txBox="1"/>
          <p:nvPr/>
        </p:nvSpPr>
        <p:spPr>
          <a:xfrm>
            <a:off x="10287000" y="3483864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400" dirty="0">
                <a:solidFill>
                  <a:srgbClr val="262626"/>
                </a:solidFill>
              </a:rPr>
              <a:t>← tail</a:t>
            </a:r>
            <a:endParaRPr lang="en-US" sz="1400" dirty="0"/>
          </a:p>
        </p:txBody>
      </p:sp>
      <p:sp>
        <p:nvSpPr>
          <p:cNvPr id="15" name="TextBox 15"/>
          <p:cNvSpPr txBox="1"/>
          <p:nvPr/>
        </p:nvSpPr>
        <p:spPr>
          <a:xfrm>
            <a:off x="10287000" y="4251960"/>
            <a:ext cx="118872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400" dirty="0">
                <a:solidFill>
                  <a:srgbClr val="262626"/>
                </a:solidFill>
              </a:rPr>
              <a:t>← head</a:t>
            </a:r>
            <a:endParaRPr lang="en-US" sz="1400" dirty="0"/>
          </a:p>
        </p:txBody>
      </p:sp>
      <p:sp>
        <p:nvSpPr>
          <p:cNvPr id="16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Sizing FIFOs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PRACTICE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685800" y="1645920"/>
            <a:ext cx="6309360" cy="38404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262626"/>
                </a:solidFill>
              </a:rPr>
              <a:t xml:space="preserve">A FIFO buffer stores commands with three fields.  Here </a:t>
            </a:r>
            <a:r>
              <a:rPr lang="en-US" sz="1800" dirty="0">
                <a:solidFill>
                  <a:srgbClr val="330662"/>
                </a:solidFill>
                <a:latin typeface="Consolas"/>
                <a:cs typeface="Consolas"/>
              </a:rPr>
              <a:t>ap_int&lt;n&gt;</a:t>
            </a:r>
            <a:r>
              <a:rPr lang="en-US" sz="1800" dirty="0">
                <a:solidFill>
                  <a:srgbClr val="262626"/>
                </a:solidFill>
              </a:rPr>
              <a:t xml:space="preserve"> is an integer with n bits.  Assume the fields are packed with no padding.</a:t>
            </a:r>
            <a:endParaRPr lang="en-US" sz="1800" dirty="0"/>
          </a:p>
          <a:p>
            <a:pPr marL="411480" indent="-411480">
              <a:spcBef>
                <a:spcPts val="900"/>
              </a:spcBef>
            </a:pPr>
            <a:r>
              <a:rPr lang="en-US" sz="1800" b="1" dirty="0">
                <a:solidFill>
                  <a:srgbClr val="57068C"/>
                </a:solidFill>
              </a:rPr>
              <a:t>(a)</a:t>
            </a:r>
            <a:r>
              <a:rPr lang="en-US" sz="1800" dirty="0">
                <a:solidFill>
                  <a:srgbClr val="262626"/>
                </a:solidFill>
              </a:rPr>
              <a:t xml:space="preserve">	What is the element width in bytes?</a:t>
            </a:r>
            <a:endParaRPr lang="en-US" sz="1800" dirty="0"/>
          </a:p>
          <a:p>
            <a:pPr marL="411480" indent="-411480">
              <a:spcBef>
                <a:spcPts val="900"/>
              </a:spcBef>
            </a:pPr>
            <a:r>
              <a:rPr lang="en-US" sz="1800" b="1" dirty="0">
                <a:solidFill>
                  <a:srgbClr val="57068C"/>
                </a:solidFill>
              </a:rPr>
              <a:t>(b)</a:t>
            </a:r>
            <a:r>
              <a:rPr lang="en-US" sz="1800" dirty="0">
                <a:solidFill>
                  <a:srgbClr val="262626"/>
                </a:solidFill>
              </a:rPr>
              <a:t xml:space="preserve">	If the FIFO has a depth of 32 elements, what is the total size of the FIFO in bytes?</a:t>
            </a:r>
            <a:endParaRPr lang="en-US" sz="1800" dirty="0"/>
          </a:p>
        </p:txBody>
      </p:sp>
      <p:sp>
        <p:nvSpPr>
          <p:cNvPr id="5" name="Shape 5"/>
          <p:cNvSpPr/>
          <p:nvPr/>
        </p:nvSpPr>
        <p:spPr>
          <a:xfrm>
            <a:off x="7360920" y="1737360"/>
            <a:ext cx="4114800" cy="1691640"/>
          </a:xfrm>
          <a:prstGeom prst="rect">
            <a:avLst/>
          </a:prstGeom>
          <a:solidFill>
            <a:srgbClr val="F4F4F7"/>
          </a:solidFill>
          <a:ln w="9525">
            <a:solidFill>
              <a:srgbClr val="BFBFBF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struct Command {</a:t>
            </a:r>
            <a:endParaRPr lang="en-US" sz="1400" dirty="0"/>
          </a:p>
          <a:p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 xml:space="preserve">    ap_int&lt;16&gt; command_id;</a:t>
            </a:r>
            <a:endParaRPr lang="en-US" sz="1400" dirty="0"/>
          </a:p>
          <a:p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 xml:space="preserve">    ap_int&lt;32&gt; operand1;</a:t>
            </a:r>
            <a:endParaRPr lang="en-US" sz="1400" dirty="0"/>
          </a:p>
          <a:p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 xml:space="preserve">    ap_int&lt;32&gt; operand2;</a:t>
            </a:r>
            <a:endParaRPr lang="en-US" sz="1400" dirty="0"/>
          </a:p>
          <a:p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};</a:t>
            </a:r>
            <a:endParaRPr lang="en-US" sz="1400" dirty="0"/>
          </a:p>
        </p:txBody>
      </p:sp>
      <p:sp>
        <p:nvSpPr>
          <p:cNvPr id="6" name="TextBox 6"/>
          <p:cNvSpPr txBox="1"/>
          <p:nvPr/>
        </p:nvSpPr>
        <p:spPr>
          <a:xfrm>
            <a:off x="68580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5 › Sizing FIFOs</a:t>
            </a:r>
            <a:endParaRPr lang="en-US" sz="1200" dirty="0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FIFO Timing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PRACTICE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685800" y="1645920"/>
            <a:ext cx="6035040" cy="39319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 dirty="0">
                <a:solidFill>
                  <a:srgbClr val="262626"/>
                </a:solidFill>
              </a:rPr>
              <a:t xml:space="preserve">A producer writes A, B and C into a FIFO at cycles 0, 1 and 6.  An element can be read on the cycle after it is written.</a:t>
            </a:r>
            <a:endParaRPr lang="en-US" sz="1600" dirty="0"/>
          </a:p>
          <a:p>
            <a:pPr>
              <a:spcAft>
                <a:spcPts val="400"/>
              </a:spcAft>
            </a:pPr>
            <a:r>
              <a:rPr lang="en-US" sz="1600" dirty="0">
                <a:solidFill>
                  <a:srgbClr val="262626"/>
                </a:solidFill>
              </a:rPr>
              <a:t xml:space="preserve">After reading an element in cycle R, the consumer processes it in R+1, and can read the next one in R+2 at the earliest.  It starts idle and reads as soon as it can.</a:t>
            </a:r>
            <a:endParaRPr lang="en-US" sz="1600" dirty="0"/>
          </a:p>
          <a:p>
            <a:r>
              <a:rPr lang="en-US" sz="1600" dirty="0">
                <a:solidFill>
                  <a:srgbClr val="262626"/>
                </a:solidFill>
              </a:rPr>
              <a:t>At which cycle does the consumer read:</a:t>
            </a:r>
            <a:endParaRPr lang="en-US" sz="1600" dirty="0"/>
          </a:p>
          <a:p>
            <a:pPr marL="411480" indent="-411480">
              <a:spcBef>
                <a:spcPts val="4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(a)</a:t>
            </a:r>
            <a:r>
              <a:rPr lang="en-US" sz="1600" dirty="0">
                <a:solidFill>
                  <a:srgbClr val="262626"/>
                </a:solidFill>
              </a:rPr>
              <a:t xml:space="preserve">	A?</a:t>
            </a:r>
            <a:endParaRPr lang="en-US" sz="1600" dirty="0"/>
          </a:p>
          <a:p>
            <a:pPr marL="411480" indent="-411480">
              <a:spcBef>
                <a:spcPts val="4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(b)</a:t>
            </a:r>
            <a:r>
              <a:rPr lang="en-US" sz="1600" dirty="0">
                <a:solidFill>
                  <a:srgbClr val="262626"/>
                </a:solidFill>
              </a:rPr>
              <a:t xml:space="preserve">	B?</a:t>
            </a:r>
            <a:endParaRPr lang="en-US" sz="1600" dirty="0"/>
          </a:p>
          <a:p>
            <a:pPr marL="411480" indent="-411480">
              <a:spcBef>
                <a:spcPts val="4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(c)</a:t>
            </a:r>
            <a:r>
              <a:rPr lang="en-US" sz="1600" dirty="0">
                <a:solidFill>
                  <a:srgbClr val="262626"/>
                </a:solidFill>
              </a:rPr>
              <a:t xml:space="preserve">	C?</a:t>
            </a:r>
            <a:endParaRPr lang="en-US" sz="1600" dirty="0"/>
          </a:p>
        </p:txBody>
      </p:sp>
      <p:sp>
        <p:nvSpPr>
          <p:cNvPr id="5" name="TextBox 5"/>
          <p:cNvSpPr txBox="1"/>
          <p:nvPr/>
        </p:nvSpPr>
        <p:spPr>
          <a:xfrm>
            <a:off x="7086600" y="164592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Work it cycle by cycle</a:t>
            </a:r>
            <a:endParaRPr lang="en-US" sz="1200" dirty="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086600" y="1938528"/>
          <a:ext cx="4389120" cy="3291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/>
                <a:gridCol w="1143000"/>
                <a:gridCol w="1143000"/>
                <a:gridCol w="141732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Cycle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Producer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FIFO after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Consumer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write A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write B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write C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68580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5 › FIFO timing</a:t>
            </a:r>
            <a:endParaRPr lang="en-US" sz="1200" dirty="0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FIFO Timing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0857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SOLUTION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685800" y="1645920"/>
            <a:ext cx="6035040" cy="29260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411480" indent="-411480">
              <a:spcBef>
                <a:spcPts val="9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(a)</a:t>
            </a:r>
            <a:r>
              <a:rPr lang="en-US" sz="1700" dirty="0">
                <a:solidFill>
                  <a:srgbClr val="262626"/>
                </a:solidFill>
              </a:rPr>
              <a:t xml:space="preserve">	A is read at </a:t>
            </a:r>
            <a:r>
              <a:rPr lang="en-US" sz="1700" b="1" dirty="0">
                <a:solidFill>
                  <a:srgbClr val="00857C"/>
                </a:solidFill>
              </a:rPr>
              <a:t>cycle 1</a:t>
            </a:r>
            <a:r>
              <a:rPr lang="en-US" sz="1700" dirty="0">
                <a:solidFill>
                  <a:srgbClr val="262626"/>
                </a:solidFill>
              </a:rPr>
              <a:t>, the first cycle after it is written</a:t>
            </a:r>
            <a:endParaRPr lang="en-US" sz="1700" dirty="0"/>
          </a:p>
          <a:p>
            <a:pPr marL="411480" indent="-411480">
              <a:spcBef>
                <a:spcPts val="9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(b)</a:t>
            </a:r>
            <a:r>
              <a:rPr lang="en-US" sz="1700" dirty="0">
                <a:solidFill>
                  <a:srgbClr val="262626"/>
                </a:solidFill>
              </a:rPr>
              <a:t xml:space="preserve">	B is in the FIFO from cycle 2, but the consumer is processing A: read at </a:t>
            </a:r>
            <a:r>
              <a:rPr lang="en-US" sz="1700" b="1" dirty="0">
                <a:solidFill>
                  <a:srgbClr val="00857C"/>
                </a:solidFill>
              </a:rPr>
              <a:t>cycle 3</a:t>
            </a:r>
            <a:endParaRPr lang="en-US" sz="1700" dirty="0"/>
          </a:p>
          <a:p>
            <a:pPr marL="411480" indent="-411480">
              <a:spcBef>
                <a:spcPts val="9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(c)</a:t>
            </a:r>
            <a:r>
              <a:rPr lang="en-US" sz="1700" dirty="0">
                <a:solidFill>
                  <a:srgbClr val="262626"/>
                </a:solidFill>
              </a:rPr>
              <a:t xml:space="preserve">	The consumer is free from cycle 5, but C arrives at 6: read at </a:t>
            </a:r>
            <a:r>
              <a:rPr lang="en-US" sz="1700" b="1" dirty="0">
                <a:solidFill>
                  <a:srgbClr val="00857C"/>
                </a:solidFill>
              </a:rPr>
              <a:t>cycle 7</a:t>
            </a:r>
            <a:endParaRPr lang="en-US" sz="1700" dirty="0"/>
          </a:p>
        </p:txBody>
      </p:sp>
      <p:sp>
        <p:nvSpPr>
          <p:cNvPr id="5" name="Shape 5"/>
          <p:cNvSpPr/>
          <p:nvPr/>
        </p:nvSpPr>
        <p:spPr>
          <a:xfrm>
            <a:off x="685800" y="4343400"/>
            <a:ext cx="6035040" cy="1097280"/>
          </a:xfrm>
          <a:prstGeom prst="roundRect">
            <a:avLst>
              <a:gd name="adj" fmla="val 8000"/>
            </a:avLst>
          </a:prstGeom>
          <a:solidFill>
            <a:srgbClr val="F7F3FA"/>
          </a:solidFill>
          <a:ln w="12700">
            <a:solidFill>
              <a:srgbClr val="D5C4E3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500" b="1" dirty="0">
                <a:solidFill>
                  <a:srgbClr val="57068C"/>
                </a:solidFill>
              </a:rPr>
              <a:t>Two limits</a:t>
            </a:r>
            <a:endParaRPr lang="en-US" sz="1500" dirty="0"/>
          </a:p>
          <a:p>
            <a:r>
              <a:rPr lang="en-US" sz="1400" dirty="0">
                <a:solidFill>
                  <a:srgbClr val="262626"/>
                </a:solidFill>
              </a:rPr>
              <a:t>An element waits for a busy consumer (B), or the consumer waits for an element (C).</a:t>
            </a:r>
            <a:endParaRPr lang="en-US" sz="1400" dirty="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086600" y="1938528"/>
          <a:ext cx="4389120" cy="3291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/>
                <a:gridCol w="1143000"/>
                <a:gridCol w="1143000"/>
                <a:gridCol w="141732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Cycle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Producer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FIFO after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Consumer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write A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[A]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idle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write B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[B]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read A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[B]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process A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[ ]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read B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[ ]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process B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[ ]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idle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write C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[C]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idle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[ ]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read C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68580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5 › FIFO timing</a:t>
            </a:r>
            <a:endParaRPr lang="en-US" sz="1200" dirty="0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FIFO Overflow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6858000" cy="4297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2000" dirty="0">
                <a:solidFill>
                  <a:srgbClr val="262626"/>
                </a:solidFill>
              </a:rPr>
              <a:t xml:space="preserve">The producer has an element, but the FIFO is </a:t>
            </a:r>
            <a:r>
              <a:rPr lang="en-US" sz="2000" b="1" dirty="0">
                <a:solidFill>
                  <a:srgbClr val="57068C"/>
                </a:solidFill>
              </a:rPr>
              <a:t>full</a:t>
            </a:r>
            <a:endParaRPr lang="en-US" sz="2000" dirty="0"/>
          </a:p>
          <a:p>
            <a:pPr marL="274320" indent="-274320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2000" b="1" dirty="0">
                <a:solidFill>
                  <a:srgbClr val="57068C"/>
                </a:solidFill>
              </a:rPr>
              <a:t>Blocking write</a:t>
            </a:r>
            <a:endParaRPr lang="en-US" sz="20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700" dirty="0">
                <a:solidFill>
                  <a:srgbClr val="262626"/>
                </a:solidFill>
              </a:rPr>
              <a:t>The FIFO deasserts READY; the producer waits and retries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700" dirty="0">
                <a:solidFill>
                  <a:srgbClr val="262626"/>
                </a:solidFill>
              </a:rPr>
              <a:t>The default for hardware interfaces, AXI4-Stream included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700" dirty="0">
                <a:solidFill>
                  <a:srgbClr val="262626"/>
                </a:solidFill>
              </a:rPr>
              <a:t>Also called a stall, backpressure or flow control</a:t>
            </a:r>
            <a:endParaRPr lang="en-US" sz="1700" dirty="0"/>
          </a:p>
          <a:p>
            <a:pPr marL="274320" indent="-274320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2000" b="1" dirty="0">
                <a:solidFill>
                  <a:srgbClr val="57068C"/>
                </a:solidFill>
              </a:rPr>
              <a:t>Drop</a:t>
            </a:r>
            <a:endParaRPr lang="en-US" sz="20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700" dirty="0">
                <a:solidFill>
                  <a:srgbClr val="262626"/>
                </a:solidFill>
              </a:rPr>
              <a:t>An element is discarded: the new one (tail drop), or one already queued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700" dirty="0">
                <a:solidFill>
                  <a:srgbClr val="262626"/>
                </a:solidFill>
              </a:rPr>
              <a:t>Common in network routers</a:t>
            </a:r>
            <a:endParaRPr lang="en-US" sz="1700" dirty="0"/>
          </a:p>
        </p:txBody>
      </p:sp>
      <p:sp>
        <p:nvSpPr>
          <p:cNvPr id="4" name="TextBox 4"/>
          <p:cNvSpPr txBox="1"/>
          <p:nvPr/>
        </p:nvSpPr>
        <p:spPr>
          <a:xfrm>
            <a:off x="8229600" y="1600200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500" b="1" dirty="0">
                <a:solidFill>
                  <a:srgbClr val="2F6FA8"/>
                </a:solidFill>
              </a:rPr>
              <a:t>Producer</a:t>
            </a:r>
            <a:endParaRPr lang="en-US" sz="1500" dirty="0"/>
          </a:p>
        </p:txBody>
      </p:sp>
      <p:cxnSp>
        <p:nvCxnSpPr>
          <p:cNvPr id="5" name="Connector 5"/>
          <p:cNvCxnSpPr/>
          <p:nvPr/>
        </p:nvCxnSpPr>
        <p:spPr>
          <a:xfrm>
            <a:off x="9464040" y="1920240"/>
            <a:ext cx="0" cy="320040"/>
          </a:xfrm>
          <a:prstGeom prst="straightConnector1">
            <a:avLst/>
          </a:prstGeom>
          <a:ln w="25400">
            <a:solidFill>
              <a:srgbClr val="2F6FA8"/>
            </a:solidFill>
            <a:tailEnd type="triangle" w="med" len="med"/>
          </a:ln>
        </p:spPr>
      </p:cxnSp>
      <p:sp>
        <p:nvSpPr>
          <p:cNvPr id="6" name="Shape 6"/>
          <p:cNvSpPr/>
          <p:nvPr/>
        </p:nvSpPr>
        <p:spPr>
          <a:xfrm>
            <a:off x="8778240" y="2286000"/>
            <a:ext cx="1371600" cy="384048"/>
          </a:xfrm>
          <a:prstGeom prst="rect">
            <a:avLst/>
          </a:prstGeom>
          <a:solidFill>
            <a:srgbClr val="57068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F</a:t>
            </a:r>
            <a:endParaRPr lang="en-US" sz="1400" dirty="0"/>
          </a:p>
        </p:txBody>
      </p:sp>
      <p:sp>
        <p:nvSpPr>
          <p:cNvPr id="7" name="Shape 7"/>
          <p:cNvSpPr/>
          <p:nvPr/>
        </p:nvSpPr>
        <p:spPr>
          <a:xfrm>
            <a:off x="8778240" y="2670048"/>
            <a:ext cx="1371600" cy="384048"/>
          </a:xfrm>
          <a:prstGeom prst="rect">
            <a:avLst/>
          </a:prstGeom>
          <a:solidFill>
            <a:srgbClr val="57068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E</a:t>
            </a:r>
            <a:endParaRPr lang="en-US" sz="1400" dirty="0"/>
          </a:p>
        </p:txBody>
      </p:sp>
      <p:sp>
        <p:nvSpPr>
          <p:cNvPr id="8" name="Shape 8"/>
          <p:cNvSpPr/>
          <p:nvPr/>
        </p:nvSpPr>
        <p:spPr>
          <a:xfrm>
            <a:off x="8778240" y="3054096"/>
            <a:ext cx="1371600" cy="384048"/>
          </a:xfrm>
          <a:prstGeom prst="rect">
            <a:avLst/>
          </a:prstGeom>
          <a:solidFill>
            <a:srgbClr val="57068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9" name="Shape 9"/>
          <p:cNvSpPr/>
          <p:nvPr/>
        </p:nvSpPr>
        <p:spPr>
          <a:xfrm>
            <a:off x="8778240" y="3438144"/>
            <a:ext cx="1371600" cy="384048"/>
          </a:xfrm>
          <a:prstGeom prst="rect">
            <a:avLst/>
          </a:prstGeom>
          <a:solidFill>
            <a:srgbClr val="57068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10" name="Shape 10"/>
          <p:cNvSpPr/>
          <p:nvPr/>
        </p:nvSpPr>
        <p:spPr>
          <a:xfrm>
            <a:off x="8778240" y="3822192"/>
            <a:ext cx="1371600" cy="384048"/>
          </a:xfrm>
          <a:prstGeom prst="rect">
            <a:avLst/>
          </a:prstGeom>
          <a:solidFill>
            <a:srgbClr val="57068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Shape 11"/>
          <p:cNvSpPr/>
          <p:nvPr/>
        </p:nvSpPr>
        <p:spPr>
          <a:xfrm>
            <a:off x="8778240" y="4206240"/>
            <a:ext cx="1371600" cy="384048"/>
          </a:xfrm>
          <a:prstGeom prst="rect">
            <a:avLst/>
          </a:prstGeom>
          <a:solidFill>
            <a:srgbClr val="57068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cxnSp>
        <p:nvCxnSpPr>
          <p:cNvPr id="12" name="Connector 12"/>
          <p:cNvCxnSpPr/>
          <p:nvPr/>
        </p:nvCxnSpPr>
        <p:spPr>
          <a:xfrm>
            <a:off x="9464040" y="4636008"/>
            <a:ext cx="0" cy="320040"/>
          </a:xfrm>
          <a:prstGeom prst="straightConnector1">
            <a:avLst/>
          </a:prstGeom>
          <a:ln w="25400">
            <a:solidFill>
              <a:srgbClr val="00857C"/>
            </a:solidFill>
            <a:tailEnd type="triangle" w="med" len="med"/>
          </a:ln>
        </p:spPr>
      </p:cxnSp>
      <p:sp>
        <p:nvSpPr>
          <p:cNvPr id="13" name="TextBox 13"/>
          <p:cNvSpPr txBox="1"/>
          <p:nvPr/>
        </p:nvSpPr>
        <p:spPr>
          <a:xfrm>
            <a:off x="8229600" y="4983480"/>
            <a:ext cx="246888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500" b="1" dirty="0">
                <a:solidFill>
                  <a:srgbClr val="00857C"/>
                </a:solidFill>
              </a:rPr>
              <a:t>Consumer</a:t>
            </a:r>
            <a:endParaRPr lang="en-US" sz="1500" dirty="0"/>
          </a:p>
        </p:txBody>
      </p:sp>
      <p:sp>
        <p:nvSpPr>
          <p:cNvPr id="14" name="Shape 14"/>
          <p:cNvSpPr/>
          <p:nvPr/>
        </p:nvSpPr>
        <p:spPr>
          <a:xfrm>
            <a:off x="10469880" y="1554480"/>
            <a:ext cx="502920" cy="384048"/>
          </a:xfrm>
          <a:prstGeom prst="rect">
            <a:avLst/>
          </a:prstGeom>
          <a:solidFill>
            <a:srgbClr val="FCEEE3"/>
          </a:solidFill>
          <a:ln w="15875">
            <a:solidFill>
              <a:srgbClr val="B4530F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400" b="1" dirty="0">
                <a:solidFill>
                  <a:srgbClr val="B4530F"/>
                </a:solidFill>
              </a:rPr>
              <a:t>G</a:t>
            </a:r>
            <a:endParaRPr lang="en-US" sz="1400" dirty="0"/>
          </a:p>
        </p:txBody>
      </p:sp>
      <p:sp>
        <p:nvSpPr>
          <p:cNvPr id="15" name="TextBox 15"/>
          <p:cNvSpPr txBox="1"/>
          <p:nvPr/>
        </p:nvSpPr>
        <p:spPr>
          <a:xfrm>
            <a:off x="10241280" y="1984248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200" dirty="0">
                <a:solidFill>
                  <a:srgbClr val="B4530F"/>
                </a:solidFill>
              </a:rPr>
              <a:t>full: wait
or drop</a:t>
            </a:r>
            <a:endParaRPr lang="en-US" sz="1200" dirty="0"/>
          </a:p>
        </p:txBody>
      </p:sp>
      <p:sp>
        <p:nvSpPr>
          <p:cNvPr id="16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FIFO Write Stall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PRACTICE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685800" y="1645920"/>
            <a:ext cx="6675120" cy="3977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US" sz="1600" dirty="0">
                <a:solidFill>
                  <a:srgbClr val="262626"/>
                </a:solidFill>
              </a:rPr>
              <a:t>A producer has elements A, B, C and D, available for writing at the earliest in cycles 0, 1, 2 and 3.</a:t>
            </a:r>
            <a:endParaRPr lang="en-US" sz="16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 xml:space="preserve">The FIFO holds </a:t>
            </a:r>
            <a:r>
              <a:rPr lang="en-US" sz="1500" b="1" dirty="0">
                <a:solidFill>
                  <a:srgbClr val="57068C"/>
                </a:solidFill>
              </a:rPr>
              <a:t>2 elements</a:t>
            </a:r>
            <a:r>
              <a:rPr lang="en-US" sz="1500" dirty="0">
                <a:solidFill>
                  <a:srgbClr val="262626"/>
                </a:solidFill>
              </a:rPr>
              <a:t xml:space="preserve">.  A write can occur only if the FIFO was not full after the previous cycle; otherwise the producer </a:t>
            </a:r>
            <a:r>
              <a:rPr lang="en-US" sz="1500" b="1" dirty="0">
                <a:solidFill>
                  <a:srgbClr val="57068C"/>
                </a:solidFill>
              </a:rPr>
              <a:t>stalls</a:t>
            </a:r>
            <a:r>
              <a:rPr lang="en-US" sz="1500" dirty="0">
                <a:solidFill>
                  <a:srgbClr val="262626"/>
                </a:solidFill>
              </a:rPr>
              <a:t xml:space="preserve"> and retries each cycle.</a:t>
            </a:r>
            <a:endParaRPr lang="en-US" sz="15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>An element written in cycle N can be read, and removed, in N+1 at the earliest.</a:t>
            </a:r>
            <a:endParaRPr lang="en-US" sz="15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 xml:space="preserve">A read in cycle R is processed in R+1 and R+2; the next read is at R+3 at the earliest.  The consumer starts idle.</a:t>
            </a:r>
            <a:endParaRPr lang="en-US" sz="1500" dirty="0"/>
          </a:p>
          <a:p>
            <a:pPr>
              <a:spcBef>
                <a:spcPts val="1000"/>
              </a:spcBef>
            </a:pPr>
            <a:r>
              <a:rPr lang="en-US" sz="1600" dirty="0">
                <a:solidFill>
                  <a:srgbClr val="262626"/>
                </a:solidFill>
              </a:rPr>
              <a:t xml:space="preserve">For each element, give the cycle its write </a:t>
            </a:r>
            <a:r>
              <a:rPr lang="en-US" sz="1600" b="1" dirty="0">
                <a:solidFill>
                  <a:srgbClr val="57068C"/>
                </a:solidFill>
              </a:rPr>
              <a:t>succeeds</a:t>
            </a:r>
            <a:r>
              <a:rPr lang="en-US" sz="1600" dirty="0">
                <a:solidFill>
                  <a:srgbClr val="262626"/>
                </a:solidFill>
              </a:rPr>
              <a:t>, and the last cycle of its processing:</a:t>
            </a: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(a)</a:t>
            </a:r>
            <a:r>
              <a:rPr lang="en-US" sz="1600" dirty="0">
                <a:solidFill>
                  <a:srgbClr val="262626"/>
                </a:solidFill>
              </a:rPr>
              <a:t xml:space="preserve">  A      </a:t>
            </a:r>
            <a:r>
              <a:rPr lang="en-US" sz="1600" b="1" dirty="0">
                <a:solidFill>
                  <a:srgbClr val="57068C"/>
                </a:solidFill>
              </a:rPr>
              <a:t>(b)</a:t>
            </a:r>
            <a:r>
              <a:rPr lang="en-US" sz="1600" dirty="0">
                <a:solidFill>
                  <a:srgbClr val="262626"/>
                </a:solidFill>
              </a:rPr>
              <a:t xml:space="preserve">  B      </a:t>
            </a:r>
            <a:r>
              <a:rPr lang="en-US" sz="1600" b="1" dirty="0">
                <a:solidFill>
                  <a:srgbClr val="57068C"/>
                </a:solidFill>
              </a:rPr>
              <a:t>(c)</a:t>
            </a:r>
            <a:r>
              <a:rPr lang="en-US" sz="1600" dirty="0">
                <a:solidFill>
                  <a:srgbClr val="262626"/>
                </a:solidFill>
              </a:rPr>
              <a:t xml:space="preserve">  C      </a:t>
            </a:r>
            <a:r>
              <a:rPr lang="en-US" sz="1600" b="1" dirty="0">
                <a:solidFill>
                  <a:srgbClr val="57068C"/>
                </a:solidFill>
              </a:rPr>
              <a:t>(d)</a:t>
            </a:r>
            <a:r>
              <a:rPr lang="en-US" sz="1600" dirty="0">
                <a:solidFill>
                  <a:srgbClr val="262626"/>
                </a:solidFill>
              </a:rPr>
              <a:t xml:space="preserve">  D</a:t>
            </a:r>
            <a:endParaRPr lang="en-US" sz="1600" dirty="0"/>
          </a:p>
        </p:txBody>
      </p:sp>
      <p:sp>
        <p:nvSpPr>
          <p:cNvPr id="5" name="Shape 5"/>
          <p:cNvSpPr/>
          <p:nvPr/>
        </p:nvSpPr>
        <p:spPr>
          <a:xfrm>
            <a:off x="7726680" y="1737360"/>
            <a:ext cx="3749040" cy="1920240"/>
          </a:xfrm>
          <a:prstGeom prst="roundRect">
            <a:avLst>
              <a:gd name="adj" fmla="val 8000"/>
            </a:avLst>
          </a:prstGeom>
          <a:solidFill>
            <a:srgbClr val="EEE6F3"/>
          </a:solidFill>
          <a:ln>
            <a:noFill/>
          </a:ln>
        </p:spPr>
        <p:txBody>
          <a:bodyPr wrap="square" lIns="146304" tIns="73152" rIns="146304" bIns="73152" anchor="t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500" b="1" dirty="0">
                <a:solidFill>
                  <a:srgbClr val="57068C"/>
                </a:solidFill>
              </a:rPr>
              <a:t>Work it cycle by cycle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262626"/>
                </a:solidFill>
              </a:rPr>
              <a:t>For each cycle: what the producer does, what the FIFO holds at the end of it, and what the consumer does.</a:t>
            </a:r>
            <a:endParaRPr lang="en-US" sz="1400" dirty="0"/>
          </a:p>
          <a:p>
            <a:r>
              <a:rPr lang="en-US" sz="1400" dirty="0">
                <a:solidFill>
                  <a:srgbClr val="262626"/>
                </a:solidFill>
              </a:rPr>
              <a:t>The FIFO state at the end of a cycle decides the next cycle's write.</a:t>
            </a:r>
            <a:endParaRPr lang="en-US" sz="1400" dirty="0"/>
          </a:p>
        </p:txBody>
      </p:sp>
      <p:sp>
        <p:nvSpPr>
          <p:cNvPr id="6" name="TextBox 6"/>
          <p:cNvSpPr txBox="1"/>
          <p:nvPr/>
        </p:nvSpPr>
        <p:spPr>
          <a:xfrm>
            <a:off x="68580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5 › FIFO write stall</a:t>
            </a:r>
            <a:endParaRPr lang="en-US" sz="1200" dirty="0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FIFO Write Stall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0857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SOLUTION</a:t>
            </a:r>
            <a:endParaRPr lang="en-US" sz="1300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685800" y="1645920"/>
          <a:ext cx="4937760" cy="37307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7240"/>
                <a:gridCol w="1325880"/>
                <a:gridCol w="1463040"/>
                <a:gridCol w="1371600"/>
              </a:tblGrid>
              <a:tr h="310896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Cycle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Producer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FIFO after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Consumer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write A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[A]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idle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write B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[B]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read A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write C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[B, C] full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process A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B4530F"/>
                          </a:solidFill>
                        </a:rPr>
                        <a:t>D stalls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[B, C] full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process A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B4530F"/>
                          </a:solidFill>
                        </a:rPr>
                        <a:t>D stalls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[C]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read B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write D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[C, D] full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process B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[C, D] full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process B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[D]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read C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8–9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[D]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process C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[ ]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read D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11–12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[ ]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process D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6080760" y="164592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Write succeeds · processing ends</a:t>
            </a:r>
            <a:endParaRPr lang="en-US" sz="1200" dirty="0"/>
          </a:p>
        </p:txBody>
      </p:sp>
      <p:sp>
        <p:nvSpPr>
          <p:cNvPr id="6" name="TextBox 6"/>
          <p:cNvSpPr txBox="1"/>
          <p:nvPr/>
        </p:nvSpPr>
        <p:spPr>
          <a:xfrm>
            <a:off x="6080760" y="1920240"/>
            <a:ext cx="5394960" cy="1737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411480" indent="-411480">
              <a:spcBef>
                <a:spcPts val="4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(a)</a:t>
            </a:r>
            <a:r>
              <a:rPr lang="en-US" sz="1700" dirty="0">
                <a:solidFill>
                  <a:srgbClr val="262626"/>
                </a:solidFill>
              </a:rPr>
              <a:t xml:space="preserve">	A: </a:t>
            </a:r>
            <a:r>
              <a:rPr lang="en-US" sz="1700" b="1" dirty="0">
                <a:solidFill>
                  <a:srgbClr val="00857C"/>
                </a:solidFill>
              </a:rPr>
              <a:t>cycle 0</a:t>
            </a:r>
            <a:r>
              <a:rPr lang="en-US" sz="1700" dirty="0">
                <a:solidFill>
                  <a:srgbClr val="262626"/>
                </a:solidFill>
              </a:rPr>
              <a:t xml:space="preserve"> · </a:t>
            </a:r>
            <a:r>
              <a:rPr lang="en-US" sz="1700" b="1" dirty="0">
                <a:solidFill>
                  <a:srgbClr val="00857C"/>
                </a:solidFill>
              </a:rPr>
              <a:t>cycle 3</a:t>
            </a:r>
            <a:endParaRPr lang="en-US" sz="1700" dirty="0"/>
          </a:p>
          <a:p>
            <a:pPr marL="411480" indent="-411480">
              <a:spcBef>
                <a:spcPts val="4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(b)</a:t>
            </a:r>
            <a:r>
              <a:rPr lang="en-US" sz="1700" dirty="0">
                <a:solidFill>
                  <a:srgbClr val="262626"/>
                </a:solidFill>
              </a:rPr>
              <a:t xml:space="preserve">	B: </a:t>
            </a:r>
            <a:r>
              <a:rPr lang="en-US" sz="1700" b="1" dirty="0">
                <a:solidFill>
                  <a:srgbClr val="00857C"/>
                </a:solidFill>
              </a:rPr>
              <a:t>cycle 1</a:t>
            </a:r>
            <a:r>
              <a:rPr lang="en-US" sz="1700" dirty="0">
                <a:solidFill>
                  <a:srgbClr val="262626"/>
                </a:solidFill>
              </a:rPr>
              <a:t xml:space="preserve"> · </a:t>
            </a:r>
            <a:r>
              <a:rPr lang="en-US" sz="1700" b="1" dirty="0">
                <a:solidFill>
                  <a:srgbClr val="00857C"/>
                </a:solidFill>
              </a:rPr>
              <a:t>cycle 6</a:t>
            </a:r>
            <a:endParaRPr lang="en-US" sz="1700" dirty="0"/>
          </a:p>
          <a:p>
            <a:pPr marL="411480" indent="-411480">
              <a:spcBef>
                <a:spcPts val="4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(c)</a:t>
            </a:r>
            <a:r>
              <a:rPr lang="en-US" sz="1700" dirty="0">
                <a:solidFill>
                  <a:srgbClr val="262626"/>
                </a:solidFill>
              </a:rPr>
              <a:t xml:space="preserve">	C: </a:t>
            </a:r>
            <a:r>
              <a:rPr lang="en-US" sz="1700" b="1" dirty="0">
                <a:solidFill>
                  <a:srgbClr val="00857C"/>
                </a:solidFill>
              </a:rPr>
              <a:t>cycle 2</a:t>
            </a:r>
            <a:r>
              <a:rPr lang="en-US" sz="1700" dirty="0">
                <a:solidFill>
                  <a:srgbClr val="262626"/>
                </a:solidFill>
              </a:rPr>
              <a:t xml:space="preserve"> · </a:t>
            </a:r>
            <a:r>
              <a:rPr lang="en-US" sz="1700" b="1" dirty="0">
                <a:solidFill>
                  <a:srgbClr val="00857C"/>
                </a:solidFill>
              </a:rPr>
              <a:t>cycle 9</a:t>
            </a:r>
            <a:endParaRPr lang="en-US" sz="1700" dirty="0"/>
          </a:p>
          <a:p>
            <a:pPr marL="411480" indent="-411480">
              <a:spcBef>
                <a:spcPts val="4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(d)</a:t>
            </a:r>
            <a:r>
              <a:rPr lang="en-US" sz="1700" dirty="0">
                <a:solidFill>
                  <a:srgbClr val="262626"/>
                </a:solidFill>
              </a:rPr>
              <a:t xml:space="preserve">	D: </a:t>
            </a:r>
            <a:r>
              <a:rPr lang="en-US" sz="1700" b="1" dirty="0">
                <a:solidFill>
                  <a:srgbClr val="00857C"/>
                </a:solidFill>
              </a:rPr>
              <a:t>cycle 5</a:t>
            </a:r>
            <a:r>
              <a:rPr lang="en-US" sz="1700" dirty="0">
                <a:solidFill>
                  <a:srgbClr val="262626"/>
                </a:solidFill>
              </a:rPr>
              <a:t xml:space="preserve"> · </a:t>
            </a:r>
            <a:r>
              <a:rPr lang="en-US" sz="1700" b="1" dirty="0">
                <a:solidFill>
                  <a:srgbClr val="00857C"/>
                </a:solidFill>
              </a:rPr>
              <a:t>cycle 12</a:t>
            </a:r>
            <a:endParaRPr lang="en-US" sz="1700" dirty="0"/>
          </a:p>
        </p:txBody>
      </p:sp>
      <p:sp>
        <p:nvSpPr>
          <p:cNvPr id="7" name="Shape 7"/>
          <p:cNvSpPr/>
          <p:nvPr/>
        </p:nvSpPr>
        <p:spPr>
          <a:xfrm>
            <a:off x="6080760" y="3794760"/>
            <a:ext cx="5394960" cy="1463040"/>
          </a:xfrm>
          <a:prstGeom prst="roundRect">
            <a:avLst>
              <a:gd name="adj" fmla="val 8000"/>
            </a:avLst>
          </a:prstGeom>
          <a:solidFill>
            <a:srgbClr val="FCEEE3"/>
          </a:solidFill>
          <a:ln>
            <a:noFill/>
          </a:ln>
        </p:spPr>
        <p:txBody>
          <a:bodyPr wrap="square" lIns="146304" tIns="73152" rIns="146304" bIns="73152" anchor="t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500" b="1" dirty="0">
                <a:solidFill>
                  <a:srgbClr val="B4530F"/>
                </a:solidFill>
              </a:rPr>
              <a:t>Why not cycle 4 for D?</a:t>
            </a:r>
            <a:endParaRPr lang="en-US" sz="1500" dirty="0"/>
          </a:p>
          <a:p>
            <a:r>
              <a:rPr lang="en-US" sz="1400" dirty="0">
                <a:solidFill>
                  <a:srgbClr val="262626"/>
                </a:solidFill>
              </a:rPr>
              <a:t xml:space="preserve">B is read in cycle 4, but the write decision uses the FIFO state after cycle 3, which is full.  The slot freed in cycle 4 is usable in cycle 5.</a:t>
            </a:r>
            <a:endParaRPr lang="en-US" sz="1400" dirty="0"/>
          </a:p>
        </p:txBody>
      </p:sp>
      <p:sp>
        <p:nvSpPr>
          <p:cNvPr id="8" name="TextBox 8"/>
          <p:cNvSpPr txBox="1"/>
          <p:nvPr/>
        </p:nvSpPr>
        <p:spPr>
          <a:xfrm>
            <a:off x="68580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5 › FIFO write stall</a:t>
            </a:r>
            <a:endParaRPr lang="en-US" sz="1200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 and Consumer Rates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10789920" cy="2286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2000" b="1" dirty="0">
                <a:solidFill>
                  <a:srgbClr val="57068C"/>
                </a:solidFill>
              </a:rPr>
              <a:t>Producer rate</a:t>
            </a:r>
            <a:r>
              <a:rPr lang="en-US" sz="2000" dirty="0">
                <a:solidFill>
                  <a:srgbClr val="262626"/>
                </a:solidFill>
              </a:rPr>
              <a:t xml:space="preserve"> λ: the average number of elements written per unit time</a:t>
            </a:r>
            <a:endParaRPr lang="en-US" sz="20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700" dirty="0">
                <a:solidFill>
                  <a:srgbClr val="262626"/>
                </a:solidFill>
              </a:rPr>
              <a:t xml:space="preserve">Per clock cycle, per second, …  If the producer sends jobs, it is the workload</a:t>
            </a:r>
            <a:endParaRPr lang="en-US" sz="1700" dirty="0"/>
          </a:p>
          <a:p>
            <a:pPr marL="274320" indent="-274320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2000" b="1" dirty="0">
                <a:solidFill>
                  <a:srgbClr val="57068C"/>
                </a:solidFill>
              </a:rPr>
              <a:t>Consumer rate</a:t>
            </a:r>
            <a:r>
              <a:rPr lang="en-US" sz="2000" dirty="0">
                <a:solidFill>
                  <a:srgbClr val="262626"/>
                </a:solidFill>
              </a:rPr>
              <a:t xml:space="preserve"> μ: the maximum number of reads per unit time</a:t>
            </a:r>
            <a:endParaRPr lang="en-US" sz="20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700" dirty="0">
                <a:solidFill>
                  <a:srgbClr val="262626"/>
                </a:solidFill>
              </a:rPr>
              <a:t>If each element must be processed, it is the consumer's throughput</a:t>
            </a:r>
            <a:endParaRPr lang="en-US" sz="17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700" dirty="0">
                <a:solidFill>
                  <a:srgbClr val="262626"/>
                </a:solidFill>
              </a:rPr>
              <a:t xml:space="preserve">With a varying cost per element: 1 / the </a:t>
            </a:r>
            <a:r>
              <a:rPr lang="en-US" sz="1700" b="1" dirty="0">
                <a:solidFill>
                  <a:srgbClr val="57068C"/>
                </a:solidFill>
              </a:rPr>
              <a:t>average</a:t>
            </a:r>
            <a:r>
              <a:rPr lang="en-US" sz="1700" dirty="0">
                <a:solidFill>
                  <a:srgbClr val="262626"/>
                </a:solidFill>
              </a:rPr>
              <a:t xml:space="preserve"> time per element</a:t>
            </a:r>
            <a:endParaRPr lang="en-US" sz="1700" dirty="0"/>
          </a:p>
        </p:txBody>
      </p:sp>
      <p:sp>
        <p:nvSpPr>
          <p:cNvPr id="4" name="Shape 4"/>
          <p:cNvSpPr/>
          <p:nvPr/>
        </p:nvSpPr>
        <p:spPr>
          <a:xfrm>
            <a:off x="1097280" y="3977640"/>
            <a:ext cx="2103120" cy="777240"/>
          </a:xfrm>
          <a:prstGeom prst="rect">
            <a:avLst/>
          </a:prstGeom>
          <a:solidFill>
            <a:srgbClr val="EAF0F7"/>
          </a:solidFill>
          <a:ln w="12700">
            <a:solidFill>
              <a:srgbClr val="B9CCE0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600" b="1" dirty="0">
                <a:solidFill>
                  <a:srgbClr val="2F6FA8"/>
                </a:solidFill>
              </a:rPr>
              <a:t>Producer</a:t>
            </a:r>
            <a:endParaRPr lang="en-US" sz="1600" dirty="0"/>
          </a:p>
        </p:txBody>
      </p:sp>
      <p:cxnSp>
        <p:nvCxnSpPr>
          <p:cNvPr id="5" name="Connector 5"/>
          <p:cNvCxnSpPr/>
          <p:nvPr/>
        </p:nvCxnSpPr>
        <p:spPr>
          <a:xfrm>
            <a:off x="3246120" y="4361688"/>
            <a:ext cx="914400" cy="0"/>
          </a:xfrm>
          <a:prstGeom prst="straightConnector1">
            <a:avLst/>
          </a:prstGeom>
          <a:ln w="25400">
            <a:solidFill>
              <a:srgbClr val="2F6FA8"/>
            </a:solidFill>
            <a:tailEnd type="triangle" w="med" len="med"/>
          </a:ln>
        </p:spPr>
      </p:cxnSp>
      <p:sp>
        <p:nvSpPr>
          <p:cNvPr id="6" name="TextBox 6"/>
          <p:cNvSpPr txBox="1"/>
          <p:nvPr/>
        </p:nvSpPr>
        <p:spPr>
          <a:xfrm>
            <a:off x="3246120" y="3959352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800" b="1" dirty="0">
                <a:solidFill>
                  <a:srgbClr val="2F6FA8"/>
                </a:solidFill>
              </a:rPr>
              <a:t>λ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4206240" y="4069080"/>
            <a:ext cx="384048" cy="59436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sp>
        <p:nvSpPr>
          <p:cNvPr id="8" name="Shape 8"/>
          <p:cNvSpPr/>
          <p:nvPr/>
        </p:nvSpPr>
        <p:spPr>
          <a:xfrm>
            <a:off x="4590288" y="4069080"/>
            <a:ext cx="384048" cy="59436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sp>
        <p:nvSpPr>
          <p:cNvPr id="9" name="Shape 9"/>
          <p:cNvSpPr/>
          <p:nvPr/>
        </p:nvSpPr>
        <p:spPr>
          <a:xfrm>
            <a:off x="4974336" y="4069080"/>
            <a:ext cx="384048" cy="594360"/>
          </a:xfrm>
          <a:prstGeom prst="rect">
            <a:avLst/>
          </a:prstGeom>
          <a:solidFill>
            <a:srgbClr val="57068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sp>
        <p:nvSpPr>
          <p:cNvPr id="10" name="Shape 10"/>
          <p:cNvSpPr/>
          <p:nvPr/>
        </p:nvSpPr>
        <p:spPr>
          <a:xfrm>
            <a:off x="5358384" y="4069080"/>
            <a:ext cx="384048" cy="594360"/>
          </a:xfrm>
          <a:prstGeom prst="rect">
            <a:avLst/>
          </a:prstGeom>
          <a:solidFill>
            <a:srgbClr val="57068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5742432" y="4069080"/>
            <a:ext cx="384048" cy="594360"/>
          </a:xfrm>
          <a:prstGeom prst="rect">
            <a:avLst/>
          </a:prstGeom>
          <a:solidFill>
            <a:srgbClr val="57068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cxnSp>
        <p:nvCxnSpPr>
          <p:cNvPr id="12" name="Connector 12"/>
          <p:cNvCxnSpPr/>
          <p:nvPr/>
        </p:nvCxnSpPr>
        <p:spPr>
          <a:xfrm>
            <a:off x="6217920" y="4361688"/>
            <a:ext cx="914400" cy="0"/>
          </a:xfrm>
          <a:prstGeom prst="straightConnector1">
            <a:avLst/>
          </a:prstGeom>
          <a:ln w="25400">
            <a:solidFill>
              <a:srgbClr val="00857C"/>
            </a:solidFill>
            <a:tailEnd type="triangle" w="med" len="med"/>
          </a:ln>
        </p:spPr>
      </p:cxnSp>
      <p:sp>
        <p:nvSpPr>
          <p:cNvPr id="13" name="TextBox 13"/>
          <p:cNvSpPr txBox="1"/>
          <p:nvPr/>
        </p:nvSpPr>
        <p:spPr>
          <a:xfrm>
            <a:off x="6217920" y="3959352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/>
            <a:r>
              <a:rPr lang="en-US" sz="1800" b="1" dirty="0">
                <a:solidFill>
                  <a:srgbClr val="00857C"/>
                </a:solidFill>
              </a:rPr>
              <a:t>μ</a:t>
            </a:r>
            <a:endParaRPr lang="en-US" sz="1800" dirty="0"/>
          </a:p>
        </p:txBody>
      </p:sp>
      <p:sp>
        <p:nvSpPr>
          <p:cNvPr id="14" name="Shape 14"/>
          <p:cNvSpPr/>
          <p:nvPr/>
        </p:nvSpPr>
        <p:spPr>
          <a:xfrm>
            <a:off x="7178040" y="3977640"/>
            <a:ext cx="2103120" cy="777240"/>
          </a:xfrm>
          <a:prstGeom prst="rect">
            <a:avLst/>
          </a:prstGeom>
          <a:solidFill>
            <a:srgbClr val="DCEFEC"/>
          </a:solidFill>
          <a:ln w="12700">
            <a:solidFill>
              <a:srgbClr val="9FD3CC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600" b="1" dirty="0">
                <a:solidFill>
                  <a:srgbClr val="00857C"/>
                </a:solidFill>
              </a:rPr>
              <a:t>Consumer</a:t>
            </a:r>
            <a:endParaRPr lang="en-US" sz="1600" dirty="0"/>
          </a:p>
        </p:txBody>
      </p:sp>
      <p:sp>
        <p:nvSpPr>
          <p:cNvPr id="15" name="Shape 15"/>
          <p:cNvSpPr/>
          <p:nvPr/>
        </p:nvSpPr>
        <p:spPr>
          <a:xfrm>
            <a:off x="9555480" y="3749040"/>
            <a:ext cx="1920240" cy="1234440"/>
          </a:xfrm>
          <a:prstGeom prst="roundRect">
            <a:avLst>
              <a:gd name="adj" fmla="val 8000"/>
            </a:avLst>
          </a:prstGeom>
          <a:solidFill>
            <a:srgbClr val="EEE6F3"/>
          </a:solidFill>
          <a:ln>
            <a:noFill/>
          </a:ln>
        </p:spPr>
        <p:txBody>
          <a:bodyPr wrap="square" lIns="146304" tIns="73152" rIns="146304" bIns="7315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6E6E6E"/>
                </a:solidFill>
              </a:rPr>
              <a:t>Load factor</a:t>
            </a:r>
            <a:endParaRPr lang="en-US" sz="1300" dirty="0"/>
          </a:p>
          <a:p>
            <a:pPr algn="ctr"/>
            <a:r>
              <a:rPr lang="en-US" sz="2400" b="1" dirty="0">
                <a:solidFill>
                  <a:srgbClr val="57068C"/>
                </a:solidFill>
              </a:rPr>
              <a:t>ρ = λ / μ</a:t>
            </a:r>
            <a:endParaRPr lang="en-US" sz="2400" dirty="0"/>
          </a:p>
        </p:txBody>
      </p:sp>
      <p:sp>
        <p:nvSpPr>
          <p:cNvPr id="16" name="TextBox 16"/>
          <p:cNvSpPr txBox="1"/>
          <p:nvPr/>
        </p:nvSpPr>
        <p:spPr>
          <a:xfrm>
            <a:off x="1097280" y="50749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500" dirty="0">
                <a:solidFill>
                  <a:srgbClr val="262626"/>
                </a:solidFill>
              </a:rPr>
              <a:t xml:space="preserve">ρ compares the averages.  Whether the FIFO stays small depends on ρ, and also on how bursty the arrivals are: next.</a:t>
            </a:r>
            <a:endParaRPr lang="en-US" sz="1500" dirty="0"/>
          </a:p>
        </p:txBody>
      </p:sp>
      <p:sp>
        <p:nvSpPr>
          <p:cNvPr id="1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Factor and Stability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685800" y="1691640"/>
          <a:ext cx="5669280" cy="3337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7320"/>
                <a:gridCol w="1463040"/>
                <a:gridCol w="2788920"/>
              </a:tblGrid>
              <a:tr h="41148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Load factor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 hardware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the FIFO does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 xml:space="preserve">ρ &lt; 1  stable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Under-utilized: headroom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 xml:space="preserve">Drains between bursts.  Short-term stalls or drops are still possible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 xml:space="preserve">ρ = 1  critical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Fully utilized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 xml:space="preserve">No headroom.  Only perfectly regular traffic keeps up; with any randomness the backlog keeps growing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 xml:space="preserve">ρ &gt; 1  unstable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Over-subscribed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 xml:space="preserve">Grows without bound.  With backpressure the producer falls ever further behind; without it, elements are dropped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4" descr="load_fact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691640"/>
            <a:ext cx="4937760" cy="2697995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6537960" y="502920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100" dirty="0">
                <a:solidFill>
                  <a:srgbClr val="6E6E6E"/>
                </a:solidFill>
              </a:rPr>
              <a:t xml:space="preserve">Random arrivals and departures, same random seed, unbounded FIFO.  Queueing theory names the three regimes.</a:t>
            </a:r>
            <a:endParaRPr lang="en-US" sz="1100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 and FIFO Depth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PRACTICE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685800" y="1645920"/>
            <a:ext cx="10789920" cy="4023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>
              <a:spcAft>
                <a:spcPts val="200"/>
              </a:spcAft>
            </a:pPr>
            <a:r>
              <a:rPr lang="en-US" sz="1600" dirty="0">
                <a:solidFill>
                  <a:srgbClr val="262626"/>
                </a:solidFill>
              </a:rPr>
              <a:t xml:space="preserve">A vision accelerator processes frames one at a time.  Each frame takes </a:t>
            </a:r>
            <a:r>
              <a:rPr lang="en-US" sz="1600" b="1" dirty="0">
                <a:solidFill>
                  <a:srgbClr val="57068C"/>
                </a:solidFill>
              </a:rPr>
              <a:t>5 ms</a:t>
            </a:r>
            <a:r>
              <a:rPr lang="en-US" sz="1600" dirty="0">
                <a:solidFill>
                  <a:srgbClr val="262626"/>
                </a:solidFill>
              </a:rPr>
              <a:t xml:space="preserve">; on the </a:t>
            </a:r>
            <a:r>
              <a:rPr lang="en-US" sz="1600" b="1" dirty="0">
                <a:solidFill>
                  <a:srgbClr val="57068C"/>
                </a:solidFill>
              </a:rPr>
              <a:t>10%</a:t>
            </a:r>
            <a:r>
              <a:rPr lang="en-US" sz="1600" dirty="0">
                <a:solidFill>
                  <a:srgbClr val="262626"/>
                </a:solidFill>
              </a:rPr>
              <a:t xml:space="preserve"> of frames with an object of interest it takes an extra 100 ms, </a:t>
            </a:r>
            <a:r>
              <a:rPr lang="en-US" sz="1600" b="1" dirty="0">
                <a:solidFill>
                  <a:srgbClr val="57068C"/>
                </a:solidFill>
              </a:rPr>
              <a:t>105 ms</a:t>
            </a:r>
            <a:r>
              <a:rPr lang="en-US" sz="1600" dirty="0">
                <a:solidFill>
                  <a:srgbClr val="262626"/>
                </a:solidFill>
              </a:rPr>
              <a:t xml:space="preserve"> in all.</a:t>
            </a:r>
            <a:endParaRPr lang="en-US" sz="1600" dirty="0"/>
          </a:p>
          <a:p>
            <a:pPr marL="411480" indent="-411480">
              <a:spcBef>
                <a:spcPts val="8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(a)</a:t>
            </a:r>
            <a:r>
              <a:rPr lang="en-US" sz="1600" dirty="0">
                <a:solidFill>
                  <a:srgbClr val="262626"/>
                </a:solidFill>
              </a:rPr>
              <a:t xml:space="preserve">	What is the maximum frame rate the accelerator can sustain without its input FIFO growing without bound?</a:t>
            </a:r>
            <a:endParaRPr lang="en-US" sz="1600" dirty="0"/>
          </a:p>
          <a:p>
            <a:pPr marL="411480" indent="-411480">
              <a:spcBef>
                <a:spcPts val="8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(b)</a:t>
            </a:r>
            <a:r>
              <a:rPr lang="en-US" sz="1600" dirty="0">
                <a:solidFill>
                  <a:srgbClr val="262626"/>
                </a:solidFill>
              </a:rPr>
              <a:t xml:space="preserve">	Frames now arrive at </a:t>
            </a:r>
            <a:r>
              <a:rPr lang="en-US" sz="1600" b="1" dirty="0">
                <a:solidFill>
                  <a:srgbClr val="57068C"/>
                </a:solidFill>
              </a:rPr>
              <a:t>50 frames/s</a:t>
            </a:r>
            <a:r>
              <a:rPr lang="en-US" sz="1600" dirty="0">
                <a:solidFill>
                  <a:srgbClr val="262626"/>
                </a:solidFill>
              </a:rPr>
              <a:t xml:space="preserve">, one every 20 ms.  Rank these patterns of expensive frames by how large the input FIFO typically needs to be, smallest first, and explain:</a:t>
            </a:r>
            <a:endParaRPr lang="en-US" sz="1600" dirty="0"/>
          </a:p>
          <a:p>
            <a:pPr marL="411480" indent="0">
              <a:spcBef>
                <a:spcPts val="600"/>
              </a:spcBef>
            </a:pPr>
            <a:r>
              <a:rPr lang="en-US" sz="1500" dirty="0">
                <a:solidFill>
                  <a:srgbClr val="262626"/>
                </a:solidFill>
              </a:rPr>
              <a:t xml:space="preserve">(i)  Uniform: every 10th frame — 0, 10, 20, …</a:t>
            </a:r>
            <a:endParaRPr lang="en-US" sz="1500" dirty="0"/>
          </a:p>
          <a:p>
            <a:pPr marL="411480" indent="0">
              <a:spcBef>
                <a:spcPts val="200"/>
              </a:spcBef>
            </a:pPr>
            <a:r>
              <a:rPr lang="en-US" sz="1500" dirty="0">
                <a:solidFill>
                  <a:srgbClr val="262626"/>
                </a:solidFill>
              </a:rPr>
              <a:t xml:space="preserve">(ii)  Bursty: runs of 10 — frames 0–9, then 100–109, then 200–209, …</a:t>
            </a:r>
            <a:endParaRPr lang="en-US" sz="1500" dirty="0"/>
          </a:p>
          <a:p>
            <a:pPr marL="411480" indent="0">
              <a:spcBef>
                <a:spcPts val="200"/>
              </a:spcBef>
            </a:pPr>
            <a:r>
              <a:rPr lang="en-US" sz="1500" dirty="0">
                <a:solidFill>
                  <a:srgbClr val="262626"/>
                </a:solidFill>
              </a:rPr>
              <a:t xml:space="preserve">(iii)  Random: each frame independently, with probability 10%</a:t>
            </a:r>
            <a:endParaRPr lang="en-US" sz="1500" dirty="0"/>
          </a:p>
        </p:txBody>
      </p:sp>
      <p:sp>
        <p:nvSpPr>
          <p:cNvPr id="5" name="TextBox 5"/>
          <p:cNvSpPr txBox="1"/>
          <p:nvPr/>
        </p:nvSpPr>
        <p:spPr>
          <a:xfrm>
            <a:off x="68580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5 › Accelerator throughput and FIFO depth</a:t>
            </a:r>
            <a:endParaRPr lang="en-US" sz="1200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 and FIFO Depth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0857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SOLUTION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685800" y="1645920"/>
            <a:ext cx="5669280" cy="3977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(a)</a:t>
            </a:r>
            <a:r>
              <a:rPr lang="en-US" sz="1600" dirty="0">
                <a:solidFill>
                  <a:srgbClr val="262626"/>
                </a:solidFill>
              </a:rPr>
              <a:t xml:space="preserve">	Average time: 0.9 × 5 + 0.1 × 105 = 15 ms</a:t>
            </a:r>
            <a:endParaRPr lang="en-US" sz="1600" dirty="0"/>
          </a:p>
          <a:p>
            <a:pPr marL="411480" indent="0">
              <a:spcBef>
                <a:spcPts val="200"/>
              </a:spcBef>
            </a:pPr>
            <a:r>
              <a:rPr lang="en-US" sz="1600" dirty="0">
                <a:solidFill>
                  <a:srgbClr val="262626"/>
                </a:solidFill>
              </a:rPr>
              <a:t xml:space="preserve">Maximum rate: 1 / 15 ms ≈ </a:t>
            </a:r>
            <a:r>
              <a:rPr lang="en-US" sz="1600" b="1" dirty="0">
                <a:solidFill>
                  <a:srgbClr val="00857C"/>
                </a:solidFill>
              </a:rPr>
              <a:t>66.7 frames/s</a:t>
            </a:r>
            <a:endParaRPr lang="en-US" sz="1600" dirty="0"/>
          </a:p>
          <a:p>
            <a:pPr marL="411480" indent="-411480">
              <a:spcBef>
                <a:spcPts val="12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(b)</a:t>
            </a:r>
            <a:r>
              <a:rPr lang="en-US" sz="1600" dirty="0">
                <a:solidFill>
                  <a:srgbClr val="262626"/>
                </a:solidFill>
              </a:rPr>
              <a:t xml:space="preserve">	</a:t>
            </a:r>
            <a:r>
              <a:rPr lang="en-US" sz="1600" b="1" dirty="0">
                <a:solidFill>
                  <a:srgbClr val="00857C"/>
                </a:solidFill>
              </a:rPr>
              <a:t>(i) uniform &lt; (iii) random &lt; (ii) bursty</a:t>
            </a:r>
            <a:endParaRPr lang="en-US" sz="1600" dirty="0"/>
          </a:p>
          <a:p>
            <a:pPr marL="411480" indent="0">
              <a:spcBef>
                <a:spcPts val="200"/>
              </a:spcBef>
            </a:pPr>
            <a:r>
              <a:rPr lang="en-US" sz="1400" dirty="0">
                <a:solidFill>
                  <a:srgbClr val="262626"/>
                </a:solidFill>
              </a:rPr>
              <a:t xml:space="preserve">The average load is the same in all three.  What differs is how the expensive frames cluster, and a cluster builds a backlog the FIFO must hold while the accelerator falls behind.</a:t>
            </a:r>
            <a:endParaRPr lang="en-US" sz="1400" dirty="0"/>
          </a:p>
          <a:p>
            <a:pPr marL="411480" indent="0">
              <a:spcBef>
                <a:spcPts val="600"/>
              </a:spcBef>
            </a:pPr>
            <a:r>
              <a:rPr lang="en-US" sz="1400" dirty="0">
                <a:solidFill>
                  <a:srgbClr val="6E6E6E"/>
                </a:solidFill>
              </a:rPr>
              <a:t>Uniform: about 105 / 20 ≈ 5 frames arrive during one expensive frame, and drain before the next.</a:t>
            </a:r>
            <a:endParaRPr lang="en-US" sz="1400" dirty="0"/>
          </a:p>
          <a:p>
            <a:pPr marL="411480" indent="0">
              <a:spcBef>
                <a:spcPts val="400"/>
              </a:spcBef>
            </a:pPr>
            <a:r>
              <a:rPr lang="en-US" sz="1400" dirty="0">
                <a:solidFill>
                  <a:srgbClr val="6E6E6E"/>
                </a:solidFill>
              </a:rPr>
              <a:t>Bursty: 10 × 105 = 1050 ms, while about 52 frames arrive: a backlog of 40–50.</a:t>
            </a:r>
            <a:endParaRPr lang="en-US" sz="1400" dirty="0"/>
          </a:p>
        </p:txBody>
      </p:sp>
      <p:pic>
        <p:nvPicPr>
          <p:cNvPr id="5" name="Picture 5" descr="frame_backlo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00200"/>
            <a:ext cx="5080000" cy="3429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583680" y="5074920"/>
            <a:ext cx="4892040" cy="548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100" dirty="0">
                <a:solidFill>
                  <a:srgbClr val="6E6E6E"/>
                </a:solidFill>
              </a:rPr>
              <a:t xml:space="preserve">Simulated at 50 frames/s.  The random pattern is one draw: its peak varies from run to run, and is unbounded in principle.</a:t>
            </a:r>
            <a:endParaRPr lang="en-US" sz="1100" dirty="0"/>
          </a:p>
        </p:txBody>
      </p:sp>
      <p:sp>
        <p:nvSpPr>
          <p:cNvPr id="7" name="TextBox 7"/>
          <p:cNvSpPr txBox="1"/>
          <p:nvPr/>
        </p:nvSpPr>
        <p:spPr>
          <a:xfrm>
            <a:off x="68580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5 › Accelerator throughput and FIFO depth</a:t>
            </a:r>
            <a:endParaRPr lang="en-US" sz="1200" dirty="0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1BA35-C332-8E9F-5FCC-3B3A41B81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2E2B6-408F-6E7A-28FF-F41013D5A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■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r>
              <a:rPr lang="en-US" dirty="0"/>
              <a:t>Models arrivals and departures probabilistically</a:t>
            </a:r>
          </a:p>
          <a:p>
            <a:r>
              <a:rPr lang="en-US" dirty="0"/>
              <a:t>Used widely in networking research</a:t>
            </a:r>
          </a:p>
          <a:p>
            <a:pPr lvl="1"/>
            <a:r>
              <a:rPr lang="en-US" dirty="0"/>
              <a:t>Determine probabilities of buffer overflow</a:t>
            </a:r>
          </a:p>
          <a:p>
            <a:pPr lvl="1"/>
            <a:r>
              <a:rPr lang="en-US" dirty="0"/>
              <a:t>Optimal routing and drop policies</a:t>
            </a:r>
          </a:p>
          <a:p>
            <a:pPr lvl="1"/>
            <a:r>
              <a:rPr lang="en-US" dirty="0"/>
              <a:t>Also used in network on chip</a:t>
            </a:r>
          </a:p>
          <a:p>
            <a:r>
              <a:rPr lang="en-US" dirty="0"/>
              <a:t>But requires mathematics</a:t>
            </a:r>
          </a:p>
          <a:p>
            <a:pPr lvl="1"/>
            <a:r>
              <a:rPr lang="en-US" dirty="0"/>
              <a:t>Markov chains, probability</a:t>
            </a:r>
          </a:p>
          <a:p>
            <a:r>
              <a:rPr lang="en-US" dirty="0"/>
              <a:t>Take NYU’s networking theory class if interested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B146D-2C48-3D54-AC4B-ECFF8EB7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4091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B3870-5002-81CC-6D20-261A50976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DB2BD-2AA3-23BA-757E-D2E1B38F1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F6C3E-7D0E-9EB6-BDAF-705BE6004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■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r>
              <a:rPr lang="en-US" sz="2400" dirty="0"/>
              <a:t>FIFOs</a:t>
            </a:r>
          </a:p>
          <a:p>
            <a:r>
              <a:rPr lang="en-US" sz="2400" dirty="0"/>
              <a:t>AXI4-Stream: Pure Streaming</a:t>
            </a:r>
          </a:p>
          <a:p>
            <a:r>
              <a:rPr lang="en-US" sz="2400" dirty="0"/>
              <a:t>Limitations of Pure Streaming with Vitis </a:t>
            </a:r>
          </a:p>
          <a:p>
            <a:r>
              <a:rPr lang="en-US" sz="2400" dirty="0"/>
              <a:t>AXI4-Stream: Packets and Serialization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DF439-F3B6-7497-BB7A-B34894BEC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AD596BE-4218-D8B3-75F5-2875E0870DFF}"/>
              </a:ext>
            </a:extLst>
          </p:cNvPr>
          <p:cNvSpPr/>
          <p:nvPr/>
        </p:nvSpPr>
        <p:spPr>
          <a:xfrm>
            <a:off x="368303" y="1962372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5121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C78DB-E84F-C669-1EBD-55F84AF8A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3AC9A02-D1E0-FB38-9E5E-EC004CB20ECA}"/>
              </a:ext>
            </a:extLst>
          </p:cNvPr>
          <p:cNvSpPr/>
          <p:nvPr/>
        </p:nvSpPr>
        <p:spPr>
          <a:xfrm>
            <a:off x="6162041" y="2788639"/>
            <a:ext cx="1633162" cy="3003466"/>
          </a:xfrm>
          <a:prstGeom prst="roundRect">
            <a:avLst/>
          </a:prstGeom>
          <a:solidFill>
            <a:srgbClr val="EAF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C9B131A-5B41-E2BA-B3F2-4EDF19972997}"/>
              </a:ext>
            </a:extLst>
          </p:cNvPr>
          <p:cNvSpPr/>
          <p:nvPr/>
        </p:nvSpPr>
        <p:spPr>
          <a:xfrm>
            <a:off x="8180459" y="2788638"/>
            <a:ext cx="2983861" cy="3060677"/>
          </a:xfrm>
          <a:prstGeom prst="roundRect">
            <a:avLst/>
          </a:prstGeom>
          <a:solidFill>
            <a:srgbClr val="FBF9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1D16FF-D251-E131-AA0C-7EBB4731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 Streaming FIFO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5B2E2-5995-6D8D-2956-68FC01ECC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45" y="1539277"/>
            <a:ext cx="4681886" cy="4329817"/>
          </a:xfrm>
        </p:spPr>
        <p:txBody>
          <a:bodyPr/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■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r>
              <a:rPr lang="en-US" dirty="0"/>
              <a:t>Consider a PS sending jobs to accelerator</a:t>
            </a:r>
          </a:p>
          <a:p>
            <a:r>
              <a:rPr lang="en-US" dirty="0"/>
              <a:t>Use FIFOs for jobs and responses</a:t>
            </a:r>
          </a:p>
          <a:p>
            <a:r>
              <a:rPr lang="en-US" dirty="0"/>
              <a:t>Decouples for timing</a:t>
            </a:r>
          </a:p>
          <a:p>
            <a:pPr lvl="1"/>
            <a:r>
              <a:rPr lang="en-US" dirty="0"/>
              <a:t>Transfer of data of the PS</a:t>
            </a:r>
          </a:p>
          <a:p>
            <a:pPr lvl="1"/>
            <a:r>
              <a:rPr lang="en-US" dirty="0"/>
              <a:t>Processing of data in the HW</a:t>
            </a:r>
          </a:p>
          <a:p>
            <a:r>
              <a:rPr lang="en-US" dirty="0"/>
              <a:t>Enables efficient burst transfers</a:t>
            </a:r>
          </a:p>
          <a:p>
            <a:pPr lvl="1"/>
            <a:r>
              <a:rPr lang="en-US" dirty="0"/>
              <a:t>Many elements can be transferred at once</a:t>
            </a:r>
          </a:p>
          <a:p>
            <a:pPr lvl="1"/>
            <a:r>
              <a:rPr lang="en-US" dirty="0"/>
              <a:t>Reduces handshaking overhead</a:t>
            </a:r>
          </a:p>
          <a:p>
            <a:r>
              <a:rPr lang="en-US" dirty="0"/>
              <a:t>Both PS and HW run at their own pace</a:t>
            </a:r>
          </a:p>
          <a:p>
            <a:r>
              <a:rPr lang="en-US" dirty="0"/>
              <a:t>If some jobs need a lot of time</a:t>
            </a:r>
          </a:p>
          <a:p>
            <a:pPr lvl="1"/>
            <a:r>
              <a:rPr lang="en-US" dirty="0"/>
              <a:t>Job FIFO buffers the jobs to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69E31-D437-933E-D225-DA6EA07DE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D78363-FB72-FB95-BDF0-52A95A5778E3}"/>
              </a:ext>
            </a:extLst>
          </p:cNvPr>
          <p:cNvSpPr txBox="1"/>
          <p:nvPr/>
        </p:nvSpPr>
        <p:spPr>
          <a:xfrm>
            <a:off x="6501537" y="2032471"/>
            <a:ext cx="11780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2F6FA8"/>
                </a:solidFill>
              </a:rPr>
              <a:t>Processing</a:t>
            </a:r>
            <a:br>
              <a:rPr lang="en-US" dirty="0">
                <a:solidFill>
                  <a:srgbClr val="2F6FA8"/>
                </a:solidFill>
              </a:rPr>
            </a:br>
            <a:r>
              <a:rPr lang="en-US" dirty="0">
                <a:solidFill>
                  <a:srgbClr val="2F6FA8"/>
                </a:solidFill>
              </a:rPr>
              <a:t>System 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DB0AF31-901B-574C-CCDF-F46DB0F984DD}"/>
              </a:ext>
            </a:extLst>
          </p:cNvPr>
          <p:cNvGrpSpPr/>
          <p:nvPr/>
        </p:nvGrpSpPr>
        <p:grpSpPr>
          <a:xfrm>
            <a:off x="8705577" y="3239646"/>
            <a:ext cx="641095" cy="606822"/>
            <a:chOff x="7020134" y="1975969"/>
            <a:chExt cx="641095" cy="60682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61555FD-2874-75C0-AA22-3C7569243195}"/>
                </a:ext>
              </a:extLst>
            </p:cNvPr>
            <p:cNvSpPr/>
            <p:nvPr/>
          </p:nvSpPr>
          <p:spPr>
            <a:xfrm rot="16200000">
              <a:off x="6772029" y="222603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F1A8684-F09E-B920-9C73-D6E8796855EF}"/>
                </a:ext>
              </a:extLst>
            </p:cNvPr>
            <p:cNvSpPr/>
            <p:nvPr/>
          </p:nvSpPr>
          <p:spPr>
            <a:xfrm rot="16200000">
              <a:off x="6878721" y="222799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03C433C-8BC6-D13B-0B6D-D72A59FD03AB}"/>
                </a:ext>
              </a:extLst>
            </p:cNvPr>
            <p:cNvSpPr/>
            <p:nvPr/>
          </p:nvSpPr>
          <p:spPr>
            <a:xfrm rot="16200000">
              <a:off x="6984544" y="222407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F86DCE7-B2B5-4A23-78FD-1708022B12E0}"/>
                </a:ext>
              </a:extLst>
            </p:cNvPr>
            <p:cNvSpPr/>
            <p:nvPr/>
          </p:nvSpPr>
          <p:spPr>
            <a:xfrm rot="16200000">
              <a:off x="7095160" y="2226034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CE3ECF7-5361-8045-FBAA-3339A815D4AF}"/>
                </a:ext>
              </a:extLst>
            </p:cNvPr>
            <p:cNvSpPr/>
            <p:nvPr/>
          </p:nvSpPr>
          <p:spPr>
            <a:xfrm rot="16200000">
              <a:off x="7199740" y="2227346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700C96E-E735-4057-15BC-7836CAC01DB7}"/>
                </a:ext>
              </a:extLst>
            </p:cNvPr>
            <p:cNvSpPr/>
            <p:nvPr/>
          </p:nvSpPr>
          <p:spPr>
            <a:xfrm rot="16200000">
              <a:off x="7306432" y="2225382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526A2B4-6370-A0BC-67AC-C46D98ACF9AA}"/>
              </a:ext>
            </a:extLst>
          </p:cNvPr>
          <p:cNvGrpSpPr/>
          <p:nvPr/>
        </p:nvGrpSpPr>
        <p:grpSpPr>
          <a:xfrm rot="10800000">
            <a:off x="6948302" y="4615146"/>
            <a:ext cx="641095" cy="606822"/>
            <a:chOff x="7020134" y="1975969"/>
            <a:chExt cx="641095" cy="606822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7A3C151-54AC-DF82-DBB8-F72DFC361F03}"/>
                </a:ext>
              </a:extLst>
            </p:cNvPr>
            <p:cNvSpPr/>
            <p:nvPr/>
          </p:nvSpPr>
          <p:spPr>
            <a:xfrm rot="16200000">
              <a:off x="6772029" y="222603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7393976-E7FA-C219-3910-7EFBC204AF83}"/>
                </a:ext>
              </a:extLst>
            </p:cNvPr>
            <p:cNvSpPr/>
            <p:nvPr/>
          </p:nvSpPr>
          <p:spPr>
            <a:xfrm rot="16200000">
              <a:off x="6878721" y="222799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A11375A-E6FA-9C3A-0712-81753DEDB63B}"/>
                </a:ext>
              </a:extLst>
            </p:cNvPr>
            <p:cNvSpPr/>
            <p:nvPr/>
          </p:nvSpPr>
          <p:spPr>
            <a:xfrm rot="16200000">
              <a:off x="6984544" y="222407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99C5C68-6B59-1412-D846-9147FA7853D7}"/>
                </a:ext>
              </a:extLst>
            </p:cNvPr>
            <p:cNvSpPr/>
            <p:nvPr/>
          </p:nvSpPr>
          <p:spPr>
            <a:xfrm rot="16200000">
              <a:off x="7095160" y="2226034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1914E26-4546-05BD-1855-4DCA87D3460D}"/>
                </a:ext>
              </a:extLst>
            </p:cNvPr>
            <p:cNvSpPr/>
            <p:nvPr/>
          </p:nvSpPr>
          <p:spPr>
            <a:xfrm rot="16200000">
              <a:off x="7199740" y="2227346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431A4B8-59F8-137F-EE56-5EEDA8B24D94}"/>
                </a:ext>
              </a:extLst>
            </p:cNvPr>
            <p:cNvSpPr/>
            <p:nvPr/>
          </p:nvSpPr>
          <p:spPr>
            <a:xfrm rot="16200000">
              <a:off x="7306432" y="2225382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793E9D6-B297-4499-DCE1-8554CC14ED65}"/>
              </a:ext>
            </a:extLst>
          </p:cNvPr>
          <p:cNvSpPr/>
          <p:nvPr/>
        </p:nvSpPr>
        <p:spPr>
          <a:xfrm>
            <a:off x="9699158" y="3155268"/>
            <a:ext cx="1067793" cy="2229095"/>
          </a:xfrm>
          <a:prstGeom prst="roundRect">
            <a:avLst/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925A39-6A23-A4A8-A033-B6003C4FA8CA}"/>
              </a:ext>
            </a:extLst>
          </p:cNvPr>
          <p:cNvSpPr txBox="1"/>
          <p:nvPr/>
        </p:nvSpPr>
        <p:spPr>
          <a:xfrm>
            <a:off x="8575400" y="2882541"/>
            <a:ext cx="8881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Job FIFO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ADBE03C-D765-0EEE-4E1F-38ED1B2842B7}"/>
              </a:ext>
            </a:extLst>
          </p:cNvPr>
          <p:cNvSpPr txBox="1"/>
          <p:nvPr/>
        </p:nvSpPr>
        <p:spPr>
          <a:xfrm>
            <a:off x="6413155" y="5272326"/>
            <a:ext cx="14039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Response FIFO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201613-0952-5751-3B2D-194E9C436B6D}"/>
              </a:ext>
            </a:extLst>
          </p:cNvPr>
          <p:cNvSpPr txBox="1"/>
          <p:nvPr/>
        </p:nvSpPr>
        <p:spPr>
          <a:xfrm>
            <a:off x="9714767" y="3930148"/>
            <a:ext cx="1067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Processing</a:t>
            </a:r>
            <a:br>
              <a:rPr lang="en-US" sz="1600" dirty="0"/>
            </a:br>
            <a:r>
              <a:rPr lang="en-US" sz="1600" dirty="0"/>
              <a:t>Engine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57D225-D69C-B6AA-7904-6A77C5FFCF5C}"/>
              </a:ext>
            </a:extLst>
          </p:cNvPr>
          <p:cNvSpPr txBox="1"/>
          <p:nvPr/>
        </p:nvSpPr>
        <p:spPr>
          <a:xfrm>
            <a:off x="9081584" y="2032472"/>
            <a:ext cx="1235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57068C"/>
                </a:solidFill>
              </a:rPr>
              <a:t>Hardware</a:t>
            </a:r>
            <a:br>
              <a:rPr lang="en-US" dirty="0">
                <a:solidFill>
                  <a:srgbClr val="57068C"/>
                </a:solidFill>
              </a:rPr>
            </a:br>
            <a:r>
              <a:rPr lang="en-US" dirty="0">
                <a:solidFill>
                  <a:srgbClr val="57068C"/>
                </a:solidFill>
              </a:rPr>
              <a:t>accelerator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BA69F4C-EED6-0773-5D98-B41A7CF78036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6836415" y="3543057"/>
            <a:ext cx="186916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220846A-4F36-BCF4-0BAA-9C1D8A86DB81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7589397" y="4918557"/>
            <a:ext cx="206478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ED3E05A-9BB8-0B4E-E824-AEFFCB5B9686}"/>
              </a:ext>
            </a:extLst>
          </p:cNvPr>
          <p:cNvCxnSpPr>
            <a:cxnSpLocks/>
          </p:cNvCxnSpPr>
          <p:nvPr/>
        </p:nvCxnSpPr>
        <p:spPr>
          <a:xfrm>
            <a:off x="9376027" y="3541097"/>
            <a:ext cx="35962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DE37F4C-5CC7-7CC8-2AAB-10B42A210FA6}"/>
              </a:ext>
            </a:extLst>
          </p:cNvPr>
          <p:cNvCxnSpPr>
            <a:cxnSpLocks/>
          </p:cNvCxnSpPr>
          <p:nvPr/>
        </p:nvCxnSpPr>
        <p:spPr>
          <a:xfrm flipH="1">
            <a:off x="6341933" y="4918557"/>
            <a:ext cx="560544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99315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23B12-83AC-2896-FA1E-592D71D32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AXI4-Stream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9AD7B-4D55-8EE2-C903-F930FF449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888265" cy="4329817"/>
          </a:xfrm>
        </p:spPr>
        <p:txBody>
          <a:bodyPr>
            <a:normAutofit lnSpcReduction="10000"/>
          </a:bodyPr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■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r>
              <a:rPr lang="en-US" dirty="0"/>
              <a:t>Industry standard streaming protocol</a:t>
            </a:r>
          </a:p>
          <a:p>
            <a:pPr lvl="1"/>
            <a:r>
              <a:rPr lang="en-US" dirty="0"/>
              <a:t>Available as the interface to many Xilinx IP blocks</a:t>
            </a:r>
          </a:p>
          <a:p>
            <a:r>
              <a:rPr lang="en-US" dirty="0"/>
              <a:t>Pre-built in Vitis HLS</a:t>
            </a:r>
          </a:p>
          <a:p>
            <a:pPr lvl="1"/>
            <a:r>
              <a:rPr lang="en-US" dirty="0"/>
              <a:t>All FIFO management is done for you</a:t>
            </a:r>
          </a:p>
          <a:p>
            <a:r>
              <a:rPr lang="en-US" dirty="0"/>
              <a:t>Part of the AXI4 family:</a:t>
            </a:r>
          </a:p>
          <a:p>
            <a:pPr lvl="1"/>
            <a:r>
              <a:rPr lang="en-US" dirty="0"/>
              <a:t>AXI4-Lite:  Covered last unit</a:t>
            </a:r>
          </a:p>
          <a:p>
            <a:pPr lvl="1"/>
            <a:r>
              <a:rPr lang="en-US" dirty="0"/>
              <a:t>AXI4-Stream:  This unit</a:t>
            </a:r>
          </a:p>
          <a:p>
            <a:pPr lvl="1"/>
            <a:r>
              <a:rPr lang="en-US" dirty="0"/>
              <a:t>AXI4 (full, memory-mapped):  later</a:t>
            </a:r>
          </a:p>
          <a:p>
            <a:r>
              <a:rPr lang="en-US" dirty="0"/>
              <a:t>Core signals: TDATA, TVALID and TREADY</a:t>
            </a:r>
          </a:p>
          <a:p>
            <a:r>
              <a:rPr lang="en-US" dirty="0"/>
              <a:t>Optional signals:</a:t>
            </a:r>
          </a:p>
          <a:p>
            <a:pPr lvl="1"/>
            <a:r>
              <a:rPr lang="en-US" dirty="0"/>
              <a:t>TLAST, marking the end of a packet: later in this unit</a:t>
            </a:r>
          </a:p>
          <a:p>
            <a:pPr lvl="1"/>
            <a:r>
              <a:rPr lang="en-US" dirty="0"/>
              <a:t>TKEEP, TSTRB, TID, TDEST, TUSER: not covered here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CED33-C447-B1C5-1294-561832FEE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F257E85-5882-F89E-9C35-A30367D867F0}"/>
              </a:ext>
            </a:extLst>
          </p:cNvPr>
          <p:cNvSpPr/>
          <p:nvPr/>
        </p:nvSpPr>
        <p:spPr>
          <a:xfrm>
            <a:off x="6969170" y="2185608"/>
            <a:ext cx="1178016" cy="3003466"/>
          </a:xfrm>
          <a:prstGeom prst="roundRect">
            <a:avLst/>
          </a:prstGeom>
          <a:solidFill>
            <a:srgbClr val="EAF0F7"/>
          </a:solidFill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DA42526-18DD-503F-6CB3-AAE9372AB9D4}"/>
              </a:ext>
            </a:extLst>
          </p:cNvPr>
          <p:cNvSpPr/>
          <p:nvPr/>
        </p:nvSpPr>
        <p:spPr>
          <a:xfrm>
            <a:off x="9308827" y="2199967"/>
            <a:ext cx="2429244" cy="3060677"/>
          </a:xfrm>
          <a:prstGeom prst="roundRect">
            <a:avLst/>
          </a:prstGeom>
          <a:solidFill>
            <a:srgbClr val="FBF9FB"/>
          </a:solidFill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B6A41F-2A78-ABEA-FC04-6672D7EE09AB}"/>
              </a:ext>
            </a:extLst>
          </p:cNvPr>
          <p:cNvSpPr txBox="1"/>
          <p:nvPr/>
        </p:nvSpPr>
        <p:spPr>
          <a:xfrm>
            <a:off x="6972472" y="1443801"/>
            <a:ext cx="11780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2F6FA8"/>
                </a:solidFill>
              </a:rPr>
              <a:t>Processing</a:t>
            </a:r>
            <a:br>
              <a:rPr lang="en-US" dirty="0">
                <a:solidFill>
                  <a:srgbClr val="2F6FA8"/>
                </a:solidFill>
              </a:rPr>
            </a:br>
            <a:r>
              <a:rPr lang="en-US" dirty="0">
                <a:solidFill>
                  <a:srgbClr val="2F6FA8"/>
                </a:solidFill>
              </a:rPr>
              <a:t>System 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9EAE544-2E4B-B0E0-96FE-3BCF92C7A925}"/>
              </a:ext>
            </a:extLst>
          </p:cNvPr>
          <p:cNvGrpSpPr/>
          <p:nvPr/>
        </p:nvGrpSpPr>
        <p:grpSpPr>
          <a:xfrm>
            <a:off x="9486545" y="2650975"/>
            <a:ext cx="641095" cy="606822"/>
            <a:chOff x="7020134" y="1975969"/>
            <a:chExt cx="641095" cy="606822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6DE0B71-77A5-B31D-6431-7DBF4B8DC4A9}"/>
                </a:ext>
              </a:extLst>
            </p:cNvPr>
            <p:cNvSpPr/>
            <p:nvPr/>
          </p:nvSpPr>
          <p:spPr>
            <a:xfrm rot="16200000">
              <a:off x="6772029" y="222603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9F94B85-D43C-DD28-5EEF-00A8A62DC0A9}"/>
                </a:ext>
              </a:extLst>
            </p:cNvPr>
            <p:cNvSpPr/>
            <p:nvPr/>
          </p:nvSpPr>
          <p:spPr>
            <a:xfrm rot="16200000">
              <a:off x="6878721" y="222799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113BB36-49DD-AAD0-1FCB-391245F47812}"/>
                </a:ext>
              </a:extLst>
            </p:cNvPr>
            <p:cNvSpPr/>
            <p:nvPr/>
          </p:nvSpPr>
          <p:spPr>
            <a:xfrm rot="16200000">
              <a:off x="6984544" y="222407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B13DF42-4B87-7C36-E287-6133E23C9D2F}"/>
                </a:ext>
              </a:extLst>
            </p:cNvPr>
            <p:cNvSpPr/>
            <p:nvPr/>
          </p:nvSpPr>
          <p:spPr>
            <a:xfrm rot="16200000">
              <a:off x="7095160" y="2226034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102845A-DAAE-10B4-27BF-99AB5096B979}"/>
                </a:ext>
              </a:extLst>
            </p:cNvPr>
            <p:cNvSpPr/>
            <p:nvPr/>
          </p:nvSpPr>
          <p:spPr>
            <a:xfrm rot="16200000">
              <a:off x="7199740" y="2227346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13F9CBA-D6C0-19F2-4DB3-ACC82AB85629}"/>
                </a:ext>
              </a:extLst>
            </p:cNvPr>
            <p:cNvSpPr/>
            <p:nvPr/>
          </p:nvSpPr>
          <p:spPr>
            <a:xfrm rot="16200000">
              <a:off x="7306432" y="2225382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9A17F25-0B45-7864-B9A5-F2F233024996}"/>
              </a:ext>
            </a:extLst>
          </p:cNvPr>
          <p:cNvGrpSpPr/>
          <p:nvPr/>
        </p:nvGrpSpPr>
        <p:grpSpPr>
          <a:xfrm rot="10800000">
            <a:off x="7277259" y="4039537"/>
            <a:ext cx="641095" cy="606822"/>
            <a:chOff x="7020134" y="1975969"/>
            <a:chExt cx="641095" cy="606822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A6DC5226-D709-E33C-0F13-F83E23FFD8AC}"/>
                </a:ext>
              </a:extLst>
            </p:cNvPr>
            <p:cNvSpPr/>
            <p:nvPr/>
          </p:nvSpPr>
          <p:spPr>
            <a:xfrm rot="16200000">
              <a:off x="6772029" y="222603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72AB4E1-F8B4-CB29-96AD-3CB4365BFBD5}"/>
                </a:ext>
              </a:extLst>
            </p:cNvPr>
            <p:cNvSpPr/>
            <p:nvPr/>
          </p:nvSpPr>
          <p:spPr>
            <a:xfrm rot="16200000">
              <a:off x="6878721" y="222799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C8E1F49-1512-2851-7C65-FF3B49EDFB10}"/>
                </a:ext>
              </a:extLst>
            </p:cNvPr>
            <p:cNvSpPr/>
            <p:nvPr/>
          </p:nvSpPr>
          <p:spPr>
            <a:xfrm rot="16200000">
              <a:off x="6984544" y="222407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AD4A250-C9F4-F282-E46E-F3224FC0B68B}"/>
                </a:ext>
              </a:extLst>
            </p:cNvPr>
            <p:cNvSpPr/>
            <p:nvPr/>
          </p:nvSpPr>
          <p:spPr>
            <a:xfrm rot="16200000">
              <a:off x="7095160" y="2226034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CD1DBC2-95AA-E0E0-BF5A-2521BF88122A}"/>
                </a:ext>
              </a:extLst>
            </p:cNvPr>
            <p:cNvSpPr/>
            <p:nvPr/>
          </p:nvSpPr>
          <p:spPr>
            <a:xfrm rot="16200000">
              <a:off x="7199740" y="2227346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F9A20C4-90E3-EA1E-415E-ED4FE952C81B}"/>
                </a:ext>
              </a:extLst>
            </p:cNvPr>
            <p:cNvSpPr/>
            <p:nvPr/>
          </p:nvSpPr>
          <p:spPr>
            <a:xfrm rot="16200000">
              <a:off x="7306432" y="2225382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86ADB61-E84C-2225-2F43-96A1C2E496D3}"/>
              </a:ext>
            </a:extLst>
          </p:cNvPr>
          <p:cNvSpPr/>
          <p:nvPr/>
        </p:nvSpPr>
        <p:spPr>
          <a:xfrm>
            <a:off x="10480126" y="2566597"/>
            <a:ext cx="1067793" cy="2229095"/>
          </a:xfrm>
          <a:prstGeom prst="roundRect">
            <a:avLst/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8388DB4-0C64-24CD-C1C6-FB52B5712C0E}"/>
              </a:ext>
            </a:extLst>
          </p:cNvPr>
          <p:cNvSpPr txBox="1"/>
          <p:nvPr/>
        </p:nvSpPr>
        <p:spPr>
          <a:xfrm>
            <a:off x="8164149" y="4380829"/>
            <a:ext cx="108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Response</a:t>
            </a:r>
            <a:br>
              <a:rPr lang="en-US" sz="1400" dirty="0"/>
            </a:br>
            <a:r>
              <a:rPr lang="en-US" sz="1400" dirty="0"/>
              <a:t>AXI4-stream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B220F1-3BCB-874A-0B1C-266D3BEB8447}"/>
              </a:ext>
            </a:extLst>
          </p:cNvPr>
          <p:cNvSpPr txBox="1"/>
          <p:nvPr/>
        </p:nvSpPr>
        <p:spPr>
          <a:xfrm>
            <a:off x="10495735" y="3341477"/>
            <a:ext cx="1067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Processing</a:t>
            </a:r>
            <a:br>
              <a:rPr lang="en-US" sz="1600" dirty="0"/>
            </a:br>
            <a:r>
              <a:rPr lang="en-US" sz="1600" dirty="0"/>
              <a:t>Engine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380FA5-2CCB-4067-FB01-FE8B24C466B3}"/>
              </a:ext>
            </a:extLst>
          </p:cNvPr>
          <p:cNvSpPr txBox="1"/>
          <p:nvPr/>
        </p:nvSpPr>
        <p:spPr>
          <a:xfrm>
            <a:off x="9862552" y="1443801"/>
            <a:ext cx="1235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57068C"/>
                </a:solidFill>
              </a:rPr>
              <a:t>Hardware</a:t>
            </a:r>
            <a:br>
              <a:rPr lang="en-US" dirty="0">
                <a:solidFill>
                  <a:srgbClr val="57068C"/>
                </a:solidFill>
              </a:rPr>
            </a:br>
            <a:r>
              <a:rPr lang="en-US" dirty="0">
                <a:solidFill>
                  <a:srgbClr val="57068C"/>
                </a:solidFill>
              </a:rPr>
              <a:t>accelerator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C490F8C-3EFF-C9BE-EE98-428E478108AF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7617383" y="2954386"/>
            <a:ext cx="186916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3885E95-8047-4F12-97AC-05F3FD186D1A}"/>
              </a:ext>
            </a:extLst>
          </p:cNvPr>
          <p:cNvCxnSpPr>
            <a:cxnSpLocks/>
            <a:endCxn id="42" idx="0"/>
          </p:cNvCxnSpPr>
          <p:nvPr/>
        </p:nvCxnSpPr>
        <p:spPr>
          <a:xfrm flipH="1">
            <a:off x="7918354" y="4342948"/>
            <a:ext cx="235911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6663D5A-1282-7BE9-40D4-6A5E359C3C87}"/>
              </a:ext>
            </a:extLst>
          </p:cNvPr>
          <p:cNvCxnSpPr>
            <a:cxnSpLocks/>
          </p:cNvCxnSpPr>
          <p:nvPr/>
        </p:nvCxnSpPr>
        <p:spPr>
          <a:xfrm>
            <a:off x="10156995" y="2952426"/>
            <a:ext cx="35962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1AE27CCC-6313-14AA-55DB-E6D443D7EFBD}"/>
              </a:ext>
            </a:extLst>
          </p:cNvPr>
          <p:cNvSpPr txBox="1"/>
          <p:nvPr/>
        </p:nvSpPr>
        <p:spPr>
          <a:xfrm>
            <a:off x="8147186" y="3013583"/>
            <a:ext cx="1081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Command</a:t>
            </a:r>
            <a:br>
              <a:rPr lang="en-US" sz="1400" dirty="0"/>
            </a:br>
            <a:r>
              <a:rPr lang="en-US" sz="1400" dirty="0"/>
              <a:t>AXI4-stream</a:t>
            </a:r>
          </a:p>
        </p:txBody>
      </p:sp>
    </p:spTree>
    <p:extLst>
      <p:ext uri="{BB962C8B-B14F-4D97-AF65-F5344CB8AC3E}">
        <p14:creationId xmlns:p14="http://schemas.microsoft.com/office/powerpoint/2010/main" val="21299043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7B4CC-8E80-B401-1F51-91A208654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E2A44-B3ED-6D68-D99A-91F419D50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AXI4-Stream Terminology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8605C-8513-5563-A40B-65E05526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16D6BA6-5A4A-1F95-238F-27D2573D5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435" y="3218061"/>
            <a:ext cx="9442384" cy="2586752"/>
          </a:xfrm>
        </p:spPr>
        <p:txBody>
          <a:bodyPr>
            <a:normAutofit/>
          </a:bodyPr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■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r>
              <a:rPr lang="en-US" dirty="0"/>
              <a:t>Each AXI4-Stream is </a:t>
            </a:r>
            <a:r>
              <a:rPr lang="en-US" dirty="0" err="1"/>
              <a:t>uni</a:t>
            </a:r>
            <a:r>
              <a:rPr lang="en-US" dirty="0"/>
              <a:t>-directional</a:t>
            </a:r>
          </a:p>
          <a:p>
            <a:r>
              <a:rPr lang="en-US" dirty="0"/>
              <a:t>Transmitter is the producer / sender</a:t>
            </a:r>
          </a:p>
          <a:p>
            <a:pPr lvl="1"/>
            <a:r>
              <a:rPr lang="en-US" dirty="0"/>
              <a:t>Could be PS sending jobs  or HW accelerator returning responses</a:t>
            </a:r>
          </a:p>
          <a:p>
            <a:r>
              <a:rPr lang="en-US" dirty="0"/>
              <a:t>Receiver is the consumer</a:t>
            </a:r>
          </a:p>
          <a:p>
            <a:pPr lvl="1"/>
            <a:r>
              <a:rPr lang="en-US" dirty="0"/>
              <a:t>Could be PS receiving response or HW accelerator receiving jobs</a:t>
            </a:r>
          </a:p>
          <a:p>
            <a:r>
              <a:rPr lang="en-US" dirty="0"/>
              <a:t>FIFO is typically realized on the receiver side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5AAD0F-6F85-3087-D6F6-6EF577FB61A3}"/>
              </a:ext>
            </a:extLst>
          </p:cNvPr>
          <p:cNvSpPr txBox="1"/>
          <p:nvPr/>
        </p:nvSpPr>
        <p:spPr>
          <a:xfrm>
            <a:off x="2958932" y="1435529"/>
            <a:ext cx="2221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F6FA8"/>
                </a:solidFill>
              </a:rPr>
              <a:t>TRANSMITTER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8BE24C-B98C-FD49-8BEA-9BB1DC7BB816}"/>
              </a:ext>
            </a:extLst>
          </p:cNvPr>
          <p:cNvSpPr txBox="1"/>
          <p:nvPr/>
        </p:nvSpPr>
        <p:spPr>
          <a:xfrm>
            <a:off x="7311051" y="1460747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F6FA8"/>
                </a:solidFill>
              </a:rPr>
              <a:t>RECEIVER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8BB4000-2C69-03A2-5412-38BF51AFDD04}"/>
              </a:ext>
            </a:extLst>
          </p:cNvPr>
          <p:cNvSpPr/>
          <p:nvPr/>
        </p:nvSpPr>
        <p:spPr>
          <a:xfrm>
            <a:off x="3057593" y="1860857"/>
            <a:ext cx="1633162" cy="1175773"/>
          </a:xfrm>
          <a:prstGeom prst="roundRect">
            <a:avLst/>
          </a:prstGeom>
          <a:solidFill>
            <a:srgbClr val="EAF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CD6882B-E257-1390-28A3-6B94E7D066CF}"/>
              </a:ext>
            </a:extLst>
          </p:cNvPr>
          <p:cNvSpPr/>
          <p:nvPr/>
        </p:nvSpPr>
        <p:spPr>
          <a:xfrm>
            <a:off x="6581767" y="1860857"/>
            <a:ext cx="2062391" cy="1175773"/>
          </a:xfrm>
          <a:prstGeom prst="roundRect">
            <a:avLst/>
          </a:prstGeom>
          <a:solidFill>
            <a:srgbClr val="FBF9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9ADFD99-14AB-F597-B418-4B1050CA7ABE}"/>
              </a:ext>
            </a:extLst>
          </p:cNvPr>
          <p:cNvGrpSpPr/>
          <p:nvPr/>
        </p:nvGrpSpPr>
        <p:grpSpPr>
          <a:xfrm>
            <a:off x="7236486" y="2198760"/>
            <a:ext cx="641095" cy="606822"/>
            <a:chOff x="7020134" y="1975969"/>
            <a:chExt cx="641095" cy="60682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78D13DC-1B65-84C6-B94C-E3739999AEBC}"/>
                </a:ext>
              </a:extLst>
            </p:cNvPr>
            <p:cNvSpPr/>
            <p:nvPr/>
          </p:nvSpPr>
          <p:spPr>
            <a:xfrm rot="16200000">
              <a:off x="6772029" y="222603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9AA6D2E-7364-DCE3-7662-77B1826759B9}"/>
                </a:ext>
              </a:extLst>
            </p:cNvPr>
            <p:cNvSpPr/>
            <p:nvPr/>
          </p:nvSpPr>
          <p:spPr>
            <a:xfrm rot="16200000">
              <a:off x="6878721" y="222799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8C13C66-4CCC-1F63-F39B-4CE32243F75D}"/>
                </a:ext>
              </a:extLst>
            </p:cNvPr>
            <p:cNvSpPr/>
            <p:nvPr/>
          </p:nvSpPr>
          <p:spPr>
            <a:xfrm rot="16200000">
              <a:off x="6984544" y="222407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554818D-3BA4-6983-BE64-C2E4033043C4}"/>
                </a:ext>
              </a:extLst>
            </p:cNvPr>
            <p:cNvSpPr/>
            <p:nvPr/>
          </p:nvSpPr>
          <p:spPr>
            <a:xfrm rot="16200000">
              <a:off x="7095160" y="2226034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79B0B48-6034-59DD-A732-839CD60BC9AB}"/>
                </a:ext>
              </a:extLst>
            </p:cNvPr>
            <p:cNvSpPr/>
            <p:nvPr/>
          </p:nvSpPr>
          <p:spPr>
            <a:xfrm rot="16200000">
              <a:off x="7199740" y="2227346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C9D0687-31A3-1B4D-AE36-E400BE2FCD03}"/>
                </a:ext>
              </a:extLst>
            </p:cNvPr>
            <p:cNvSpPr/>
            <p:nvPr/>
          </p:nvSpPr>
          <p:spPr>
            <a:xfrm rot="16200000">
              <a:off x="7306432" y="2225382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2565C347-B5B5-53F6-F0E0-6C2277E325C2}"/>
              </a:ext>
            </a:extLst>
          </p:cNvPr>
          <p:cNvSpPr txBox="1"/>
          <p:nvPr/>
        </p:nvSpPr>
        <p:spPr>
          <a:xfrm>
            <a:off x="7314480" y="1860857"/>
            <a:ext cx="5595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FIFO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A768640-E7A3-E795-42BA-E91641AB7540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4705432" y="2502171"/>
            <a:ext cx="2531054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rgbClr val="57068C"/>
          </a:lnRef>
          <a:fillRef idx="0">
            <a:srgbClr val="57068C"/>
          </a:fillRef>
          <a:effectRef idx="0">
            <a:srgbClr val="57068C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E31F59E-1E7F-9EA8-A25D-F40BAE4C32A9}"/>
              </a:ext>
            </a:extLst>
          </p:cNvPr>
          <p:cNvCxnSpPr>
            <a:cxnSpLocks/>
          </p:cNvCxnSpPr>
          <p:nvPr/>
        </p:nvCxnSpPr>
        <p:spPr>
          <a:xfrm>
            <a:off x="7906936" y="2500211"/>
            <a:ext cx="35962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rgbClr val="57068C"/>
          </a:lnRef>
          <a:fillRef idx="0">
            <a:srgbClr val="57068C"/>
          </a:fillRef>
          <a:effectRef idx="0">
            <a:srgbClr val="57068C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CCA2E0F-84DB-0D64-F538-AFB6E557B827}"/>
              </a:ext>
            </a:extLst>
          </p:cNvPr>
          <p:cNvSpPr txBox="1"/>
          <p:nvPr/>
        </p:nvSpPr>
        <p:spPr>
          <a:xfrm>
            <a:off x="5112236" y="2138961"/>
            <a:ext cx="1223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AXI4-Stream</a:t>
            </a:r>
          </a:p>
        </p:txBody>
      </p:sp>
      <p:sp>
        <p:nvSpPr>
          <p:cNvPr id="901" name="TextBox 901"/>
          <p:cNvSpPr txBox="1"/>
          <p:nvPr/>
        </p:nvSpPr>
        <p:spPr>
          <a:xfrm>
            <a:off x="1097280" y="568756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300" dirty="0">
                <a:solidFill>
                  <a:srgbClr val="6E6E6E"/>
                </a:solidFill>
              </a:rPr>
              <a:t>Called master and slave in older texts, and still in Vitis.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1983255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45613-702A-2993-EBB1-565D9AD35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5F23A-DA10-57DD-95C7-2E2ED0631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AXI4-Stream Protocol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A3944-7820-B702-0350-2E9279FD4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EC82CA7-B3E7-DA28-4A84-119F09390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8803" y="1769792"/>
            <a:ext cx="6008502" cy="4152223"/>
          </a:xfrm>
        </p:spPr>
        <p:txBody>
          <a:bodyPr>
            <a:normAutofit/>
          </a:bodyPr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■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r>
              <a:rPr lang="en-US" dirty="0"/>
              <a:t>Receiver asserts TREADY when it can accept data</a:t>
            </a:r>
          </a:p>
          <a:p>
            <a:pPr lvl="1"/>
            <a:r>
              <a:rPr lang="en-US" dirty="0"/>
              <a:t>Typically, when FIFO has space</a:t>
            </a:r>
          </a:p>
          <a:p>
            <a:r>
              <a:rPr lang="en-US" dirty="0"/>
              <a:t>On any cycle it has data, the transmitter:</a:t>
            </a:r>
          </a:p>
          <a:p>
            <a:pPr lvl="1"/>
            <a:r>
              <a:rPr lang="en-US" dirty="0"/>
              <a:t>Places data on TDATA</a:t>
            </a:r>
          </a:p>
          <a:p>
            <a:pPr lvl="1"/>
            <a:r>
              <a:rPr lang="en-US" dirty="0"/>
              <a:t>Asserts TVALID</a:t>
            </a:r>
          </a:p>
          <a:p>
            <a:r>
              <a:rPr lang="en-US" dirty="0"/>
              <a:t>If TREADY=TVALID=1, there is a transfer</a:t>
            </a:r>
          </a:p>
          <a:p>
            <a:pPr lvl="1"/>
            <a:r>
              <a:rPr lang="en-US" dirty="0"/>
              <a:t>Otherwise it holds TVALID and TDATA until TREADY=1</a:t>
            </a:r>
          </a:p>
          <a:p>
            <a:r>
              <a:rPr lang="en-US" dirty="0"/>
              <a:t>Receiver processes FIFO at its own pace</a:t>
            </a:r>
          </a:p>
          <a:p>
            <a:pPr lvl="1"/>
            <a:r>
              <a:rPr lang="en-US" dirty="0"/>
              <a:t>Backpressure to transmitter via TREADY</a:t>
            </a:r>
          </a:p>
          <a:p>
            <a:r>
              <a:rPr lang="en-US" dirty="0"/>
              <a:t>At most one element transfers per cycle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3B5D90-7A5A-1782-040B-60D12B1943FD}"/>
              </a:ext>
            </a:extLst>
          </p:cNvPr>
          <p:cNvSpPr txBox="1"/>
          <p:nvPr/>
        </p:nvSpPr>
        <p:spPr>
          <a:xfrm>
            <a:off x="6675399" y="1534647"/>
            <a:ext cx="2221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F6FA8"/>
                </a:solidFill>
              </a:rPr>
              <a:t>TRANSMITTER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B1FCE0-7EE2-4242-6E31-7C8A54957CAD}"/>
              </a:ext>
            </a:extLst>
          </p:cNvPr>
          <p:cNvSpPr txBox="1"/>
          <p:nvPr/>
        </p:nvSpPr>
        <p:spPr>
          <a:xfrm>
            <a:off x="10379981" y="1516425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F6FA8"/>
                </a:solidFill>
              </a:rPr>
              <a:t>RECEIVER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553DCAF-99E0-61A8-56BC-B20A7333000F}"/>
              </a:ext>
            </a:extLst>
          </p:cNvPr>
          <p:cNvSpPr/>
          <p:nvPr/>
        </p:nvSpPr>
        <p:spPr>
          <a:xfrm>
            <a:off x="6969846" y="1959025"/>
            <a:ext cx="1163703" cy="1473502"/>
          </a:xfrm>
          <a:prstGeom prst="roundRect">
            <a:avLst/>
          </a:prstGeom>
          <a:solidFill>
            <a:srgbClr val="EAF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9841E3F-ECD3-50F3-81FA-12CCDD6F3E1C}"/>
              </a:ext>
            </a:extLst>
          </p:cNvPr>
          <p:cNvSpPr/>
          <p:nvPr/>
        </p:nvSpPr>
        <p:spPr>
          <a:xfrm>
            <a:off x="10012558" y="1959025"/>
            <a:ext cx="1645562" cy="1473502"/>
          </a:xfrm>
          <a:prstGeom prst="roundRect">
            <a:avLst/>
          </a:prstGeom>
          <a:solidFill>
            <a:srgbClr val="FBF9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14815F3-5325-7C5E-0065-3284B658154C}"/>
              </a:ext>
            </a:extLst>
          </p:cNvPr>
          <p:cNvGrpSpPr/>
          <p:nvPr/>
        </p:nvGrpSpPr>
        <p:grpSpPr>
          <a:xfrm>
            <a:off x="10426252" y="2348278"/>
            <a:ext cx="641095" cy="606822"/>
            <a:chOff x="7020134" y="1975969"/>
            <a:chExt cx="641095" cy="60682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4203FB6-B7F6-F2A5-2D87-1240E461F962}"/>
                </a:ext>
              </a:extLst>
            </p:cNvPr>
            <p:cNvSpPr/>
            <p:nvPr/>
          </p:nvSpPr>
          <p:spPr>
            <a:xfrm rot="16200000">
              <a:off x="6772029" y="222603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D89446A-01A7-2FC9-01E4-446E1415DE3B}"/>
                </a:ext>
              </a:extLst>
            </p:cNvPr>
            <p:cNvSpPr/>
            <p:nvPr/>
          </p:nvSpPr>
          <p:spPr>
            <a:xfrm rot="16200000">
              <a:off x="6878721" y="222799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B30B714-7329-44C3-A403-8EF0B4A93867}"/>
                </a:ext>
              </a:extLst>
            </p:cNvPr>
            <p:cNvSpPr/>
            <p:nvPr/>
          </p:nvSpPr>
          <p:spPr>
            <a:xfrm rot="16200000">
              <a:off x="6984544" y="222407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50EABAD-1F59-ED2B-0F8A-661732034055}"/>
                </a:ext>
              </a:extLst>
            </p:cNvPr>
            <p:cNvSpPr/>
            <p:nvPr/>
          </p:nvSpPr>
          <p:spPr>
            <a:xfrm rot="16200000">
              <a:off x="7095160" y="2226034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FB4F1BC-4CCC-4006-0743-8BDB72C0EBDB}"/>
                </a:ext>
              </a:extLst>
            </p:cNvPr>
            <p:cNvSpPr/>
            <p:nvPr/>
          </p:nvSpPr>
          <p:spPr>
            <a:xfrm rot="16200000">
              <a:off x="7199740" y="2227346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2A1D077-C2DC-E096-A170-9FB2AF0B60E5}"/>
                </a:ext>
              </a:extLst>
            </p:cNvPr>
            <p:cNvSpPr/>
            <p:nvPr/>
          </p:nvSpPr>
          <p:spPr>
            <a:xfrm rot="16200000">
              <a:off x="7306432" y="2225382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27809C4-787B-8BE9-BFAA-0D9B934D2F14}"/>
              </a:ext>
            </a:extLst>
          </p:cNvPr>
          <p:cNvSpPr txBox="1"/>
          <p:nvPr/>
        </p:nvSpPr>
        <p:spPr>
          <a:xfrm>
            <a:off x="10504246" y="2010375"/>
            <a:ext cx="5595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FIFO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E7C7581-E70C-BF88-8661-D89B44E7DE03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>
            <a:off x="8133549" y="2695776"/>
            <a:ext cx="1879009" cy="0"/>
          </a:xfrm>
          <a:prstGeom prst="straightConnector1">
            <a:avLst/>
          </a:prstGeom>
          <a:ln w="25400">
            <a:solidFill>
              <a:srgbClr val="2F6FA8"/>
            </a:solidFill>
            <a:tailEnd type="triangle"/>
          </a:ln>
        </p:spPr>
        <p:style>
          <a:lnRef idx="1">
            <a:srgbClr val="57068C"/>
          </a:lnRef>
          <a:fillRef idx="0">
            <a:srgbClr val="57068C"/>
          </a:fillRef>
          <a:effectRef idx="0">
            <a:srgbClr val="57068C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958A812-64E7-7F9E-7B32-C023C6E37034}"/>
              </a:ext>
            </a:extLst>
          </p:cNvPr>
          <p:cNvCxnSpPr>
            <a:cxnSpLocks/>
          </p:cNvCxnSpPr>
          <p:nvPr/>
        </p:nvCxnSpPr>
        <p:spPr>
          <a:xfrm>
            <a:off x="11096702" y="2649729"/>
            <a:ext cx="35962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rgbClr val="57068C"/>
          </a:lnRef>
          <a:fillRef idx="0">
            <a:srgbClr val="57068C"/>
          </a:fillRef>
          <a:effectRef idx="0">
            <a:srgbClr val="57068C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C74303C-79DE-1F27-B6BB-D9146E13F544}"/>
              </a:ext>
            </a:extLst>
          </p:cNvPr>
          <p:cNvCxnSpPr>
            <a:cxnSpLocks/>
          </p:cNvCxnSpPr>
          <p:nvPr/>
        </p:nvCxnSpPr>
        <p:spPr>
          <a:xfrm flipH="1">
            <a:off x="8133549" y="2236560"/>
            <a:ext cx="187900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rgbClr val="57068C"/>
          </a:lnRef>
          <a:fillRef idx="0">
            <a:srgbClr val="57068C"/>
          </a:fillRef>
          <a:effectRef idx="0">
            <a:srgbClr val="57068C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43BDD81-35F4-018F-1BF6-8E860A6BA8F1}"/>
              </a:ext>
            </a:extLst>
          </p:cNvPr>
          <p:cNvCxnSpPr>
            <a:cxnSpLocks/>
          </p:cNvCxnSpPr>
          <p:nvPr/>
        </p:nvCxnSpPr>
        <p:spPr>
          <a:xfrm>
            <a:off x="8133549" y="3134913"/>
            <a:ext cx="1899169" cy="0"/>
          </a:xfrm>
          <a:prstGeom prst="straightConnector1">
            <a:avLst/>
          </a:prstGeom>
          <a:ln w="25400">
            <a:solidFill>
              <a:srgbClr val="2F6FA8"/>
            </a:solidFill>
            <a:tailEnd type="triangle"/>
          </a:ln>
        </p:spPr>
        <p:style>
          <a:lnRef idx="1">
            <a:srgbClr val="57068C"/>
          </a:lnRef>
          <a:fillRef idx="0">
            <a:srgbClr val="57068C"/>
          </a:fillRef>
          <a:effectRef idx="0">
            <a:srgbClr val="57068C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17A202C-50CD-477A-E09A-04C9B278A92F}"/>
              </a:ext>
            </a:extLst>
          </p:cNvPr>
          <p:cNvSpPr txBox="1"/>
          <p:nvPr/>
        </p:nvSpPr>
        <p:spPr>
          <a:xfrm>
            <a:off x="8610876" y="2325220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F6FA8"/>
                </a:solidFill>
              </a:rPr>
              <a:t>TDATA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9D6353E-8B96-FA41-376D-557F5B172481}"/>
              </a:ext>
            </a:extLst>
          </p:cNvPr>
          <p:cNvSpPr txBox="1"/>
          <p:nvPr/>
        </p:nvSpPr>
        <p:spPr>
          <a:xfrm>
            <a:off x="8592849" y="2754882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F6FA8"/>
                </a:solidFill>
              </a:rPr>
              <a:t>TVALID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989C1E-A76C-844A-B0BF-EAFD014DE2B6}"/>
              </a:ext>
            </a:extLst>
          </p:cNvPr>
          <p:cNvSpPr txBox="1"/>
          <p:nvPr/>
        </p:nvSpPr>
        <p:spPr>
          <a:xfrm>
            <a:off x="8566557" y="1802932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F6FA8"/>
                </a:solidFill>
              </a:rPr>
              <a:t>TREADY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2540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Backpressure on AXI4-Stream</a:t>
            </a:r>
          </a:p>
        </p:txBody>
      </p:sp>
      <p:pic>
        <p:nvPicPr>
          <p:cNvPr id="3" name="Picture 3" descr="axis_stal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36192"/>
            <a:ext cx="9570065" cy="292608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85800" y="4526280"/>
            <a:ext cx="6675120" cy="1188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37744" indent="-237744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262626"/>
                </a:solidFill>
              </a:rPr>
              <a:t>The FIFO write-stall problem, on the wires: A–D offered at cycles 0–3, FIFO depth 2</a:t>
            </a:r>
            <a:endParaRPr lang="en-US" sz="1400" dirty="0"/>
          </a:p>
          <a:p>
            <a:pPr marL="237744" indent="-237744">
              <a:spcBef>
                <a:spcPts val="4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400" b="1" dirty="0">
                <a:solidFill>
                  <a:srgbClr val="57068C"/>
                </a:solidFill>
              </a:rPr>
              <a:t>Registered TREADY</a:t>
            </a:r>
            <a:r>
              <a:rPr lang="en-US" sz="1400" dirty="0">
                <a:solidFill>
                  <a:srgbClr val="262626"/>
                </a:solidFill>
              </a:rPr>
              <a:t>: high in a cycle if the FIFO was not full after the previous one</a:t>
            </a:r>
            <a:endParaRPr lang="en-US" sz="1400" dirty="0"/>
          </a:p>
          <a:p>
            <a:pPr marL="237744" indent="-237744">
              <a:spcBef>
                <a:spcPts val="4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262626"/>
                </a:solidFill>
              </a:rPr>
              <a:t xml:space="preserve">D waits with </a:t>
            </a:r>
            <a:r>
              <a:rPr lang="en-US" sz="1400" b="1" dirty="0">
                <a:solidFill>
                  <a:srgbClr val="57068C"/>
                </a:solidFill>
              </a:rPr>
              <a:t>TVALID held high</a:t>
            </a:r>
            <a:r>
              <a:rPr lang="en-US" sz="1400" dirty="0">
                <a:solidFill>
                  <a:srgbClr val="262626"/>
                </a:solidFill>
              </a:rPr>
              <a:t xml:space="preserve"> until TREADY returns in cycle 5</a:t>
            </a:r>
            <a:endParaRPr lang="en-US" sz="1400" dirty="0"/>
          </a:p>
        </p:txBody>
      </p:sp>
      <p:sp>
        <p:nvSpPr>
          <p:cNvPr id="5" name="Shape 5"/>
          <p:cNvSpPr/>
          <p:nvPr/>
        </p:nvSpPr>
        <p:spPr>
          <a:xfrm>
            <a:off x="7635240" y="4526280"/>
            <a:ext cx="3840480" cy="1097280"/>
          </a:xfrm>
          <a:prstGeom prst="roundRect">
            <a:avLst>
              <a:gd name="adj" fmla="val 8000"/>
            </a:avLst>
          </a:prstGeom>
          <a:solidFill>
            <a:srgbClr val="F7F3FA"/>
          </a:solidFill>
          <a:ln w="12700">
            <a:solidFill>
              <a:srgbClr val="D5C4E3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r>
              <a:rPr lang="en-US" sz="1300" dirty="0">
                <a:solidFill>
                  <a:srgbClr val="262626"/>
                </a:solidFill>
              </a:rPr>
              <a:t>TREADY high with TVALID low (cycles 8–9) is not a transfer: the receiver is ready, the transmitter has nothing to send.</a:t>
            </a:r>
            <a:endParaRPr lang="en-US" sz="1300" dirty="0"/>
          </a:p>
        </p:txBody>
      </p:sp>
      <p:sp>
        <p:nvSpPr>
          <p:cNvPr id="6" name="TextBox 6"/>
          <p:cNvSpPr txBox="1"/>
          <p:nvPr/>
        </p:nvSpPr>
        <p:spPr>
          <a:xfrm>
            <a:off x="685800" y="571500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Homework in the LLM grader: Unit 5 › AXI4-Stream timing, AXI4-Stream timing with stalls, Non-pipelined slave throughput</a:t>
            </a:r>
            <a:endParaRPr lang="en-US" sz="1200" dirty="0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4834E-FA8B-C135-9DF5-92181CC45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2D5C5-FB7E-7E68-F51F-4851331E2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 Streaming Squared Average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6DB995-C144-FE16-8E51-8D6CA5884A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430176" cy="4329817"/>
              </a:xfrm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 dirty="0"/>
                  <a:t>Given:</a:t>
                </a:r>
              </a:p>
              <a:p>
                <a:pPr lvl="1"/>
                <a:r>
                  <a:rPr lang="en-US" dirty="0"/>
                  <a:t>Input stream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Compute output stream: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 …+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b="0" dirty="0"/>
                  <a:t> is a fixed window size</a:t>
                </a:r>
              </a:p>
              <a:p>
                <a:r>
                  <a:rPr lang="en-US" dirty="0"/>
                  <a:t>Models an average power</a:t>
                </a:r>
                <a:endParaRPr lang="en-US" b="0" dirty="0"/>
              </a:p>
              <a:p>
                <a:r>
                  <a:rPr lang="en-US" dirty="0"/>
                  <a:t>Use </a:t>
                </a:r>
                <a:r>
                  <a:rPr lang="en-US" dirty="0">
                    <a:solidFill>
                      <a:srgbClr val="2F6FA8"/>
                    </a:solidFill>
                  </a:rPr>
                  <a:t>AXI4-Stream</a:t>
                </a:r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6DB995-C144-FE16-8E51-8D6CA5884A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430176" cy="4329817"/>
              </a:xfrm>
              <a:blipFill>
                <a:blip r:embed="rId2"/>
                <a:stretch>
                  <a:fillRect l="-2694" t="-1549"/>
                </a:stretch>
              </a:blipFill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FA59F-42EC-3865-AF42-3317DFD19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78415C0-9680-0501-6AD2-3B54A27B0D95}"/>
              </a:ext>
            </a:extLst>
          </p:cNvPr>
          <p:cNvSpPr/>
          <p:nvPr/>
        </p:nvSpPr>
        <p:spPr>
          <a:xfrm>
            <a:off x="9308827" y="2793691"/>
            <a:ext cx="2429244" cy="2466953"/>
          </a:xfrm>
          <a:prstGeom prst="roundRect">
            <a:avLst/>
          </a:prstGeom>
          <a:solidFill>
            <a:srgbClr val="FBF9FB"/>
          </a:solidFill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DCF1576-860C-4EFA-F443-00329772F204}"/>
              </a:ext>
            </a:extLst>
          </p:cNvPr>
          <p:cNvGrpSpPr/>
          <p:nvPr/>
        </p:nvGrpSpPr>
        <p:grpSpPr>
          <a:xfrm>
            <a:off x="9529868" y="3240322"/>
            <a:ext cx="641095" cy="606822"/>
            <a:chOff x="7020134" y="1975969"/>
            <a:chExt cx="641095" cy="60682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49CA6F4-2EF2-539C-67B9-EE1EB5C751BF}"/>
                </a:ext>
              </a:extLst>
            </p:cNvPr>
            <p:cNvSpPr/>
            <p:nvPr/>
          </p:nvSpPr>
          <p:spPr>
            <a:xfrm rot="16200000">
              <a:off x="6772029" y="222603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rgbClr val="57068C"/>
            </a:fillRef>
            <a:effectRef idx="0">
              <a:srgbClr val="57068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B14B93D-9BE6-BA65-9E43-928CF08F55D8}"/>
                </a:ext>
              </a:extLst>
            </p:cNvPr>
            <p:cNvSpPr/>
            <p:nvPr/>
          </p:nvSpPr>
          <p:spPr>
            <a:xfrm rot="16200000">
              <a:off x="6878721" y="222799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rgbClr val="57068C"/>
            </a:fillRef>
            <a:effectRef idx="0">
              <a:srgbClr val="57068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C6B3FB6-7073-3BB6-3486-9E4EBB71371B}"/>
                </a:ext>
              </a:extLst>
            </p:cNvPr>
            <p:cNvSpPr/>
            <p:nvPr/>
          </p:nvSpPr>
          <p:spPr>
            <a:xfrm rot="16200000">
              <a:off x="6984544" y="222407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rgbClr val="57068C"/>
            </a:fillRef>
            <a:effectRef idx="0">
              <a:srgbClr val="57068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91C4367-5111-4039-992F-73431F3C5889}"/>
                </a:ext>
              </a:extLst>
            </p:cNvPr>
            <p:cNvSpPr/>
            <p:nvPr/>
          </p:nvSpPr>
          <p:spPr>
            <a:xfrm rot="16200000">
              <a:off x="7095160" y="2226034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rgbClr val="57068C"/>
            </a:fillRef>
            <a:effectRef idx="0">
              <a:srgbClr val="57068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32DB9E-90B0-E146-1E4E-41CABFE29FB8}"/>
                </a:ext>
              </a:extLst>
            </p:cNvPr>
            <p:cNvSpPr/>
            <p:nvPr/>
          </p:nvSpPr>
          <p:spPr>
            <a:xfrm rot="16200000">
              <a:off x="7199740" y="2227346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rgbClr val="57068C"/>
            </a:fillRef>
            <a:effectRef idx="0">
              <a:srgbClr val="57068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FB5E49-6CBF-3FCA-8DF2-1CD49DDD8759}"/>
                </a:ext>
              </a:extLst>
            </p:cNvPr>
            <p:cNvSpPr/>
            <p:nvPr/>
          </p:nvSpPr>
          <p:spPr>
            <a:xfrm rot="16200000">
              <a:off x="7306432" y="2225382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rgbClr val="57068C"/>
            </a:fillRef>
            <a:effectRef idx="0">
              <a:srgbClr val="57068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4F626B9-27C5-EB15-E3B6-E395F7E7628B}"/>
              </a:ext>
            </a:extLst>
          </p:cNvPr>
          <p:cNvSpPr/>
          <p:nvPr/>
        </p:nvSpPr>
        <p:spPr>
          <a:xfrm>
            <a:off x="10523449" y="3155945"/>
            <a:ext cx="1067793" cy="1691446"/>
          </a:xfrm>
          <a:prstGeom prst="roundRect">
            <a:avLst/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95A05C-17CF-C50F-304D-804CC74ABEDF}"/>
              </a:ext>
            </a:extLst>
          </p:cNvPr>
          <p:cNvSpPr txBox="1"/>
          <p:nvPr/>
        </p:nvSpPr>
        <p:spPr>
          <a:xfrm>
            <a:off x="10513250" y="3651609"/>
            <a:ext cx="11054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Squared</a:t>
            </a:r>
            <a:br>
              <a:rPr lang="en-US" sz="1600" dirty="0"/>
            </a:br>
            <a:r>
              <a:rPr lang="en-US" sz="1600" dirty="0"/>
              <a:t>average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A5F387-093C-4A75-9EBD-125350F0EFF8}"/>
              </a:ext>
            </a:extLst>
          </p:cNvPr>
          <p:cNvSpPr txBox="1"/>
          <p:nvPr/>
        </p:nvSpPr>
        <p:spPr>
          <a:xfrm>
            <a:off x="9942367" y="1898093"/>
            <a:ext cx="1235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57068C"/>
                </a:solidFill>
              </a:rPr>
              <a:t>Hardware</a:t>
            </a:r>
            <a:br>
              <a:rPr lang="en-US" dirty="0">
                <a:solidFill>
                  <a:srgbClr val="57068C"/>
                </a:solidFill>
              </a:rPr>
            </a:br>
            <a:r>
              <a:rPr lang="en-US" dirty="0">
                <a:solidFill>
                  <a:srgbClr val="57068C"/>
                </a:solidFill>
              </a:rPr>
              <a:t>accelerator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E700C3F-FF82-01FB-9D2A-D067A91638BE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111866" y="3541773"/>
            <a:ext cx="1418002" cy="196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DD486A6-4C16-99B2-3A05-DF845B8C65B3}"/>
              </a:ext>
            </a:extLst>
          </p:cNvPr>
          <p:cNvCxnSpPr>
            <a:cxnSpLocks/>
          </p:cNvCxnSpPr>
          <p:nvPr/>
        </p:nvCxnSpPr>
        <p:spPr>
          <a:xfrm flipH="1">
            <a:off x="8055213" y="4514166"/>
            <a:ext cx="235911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C815A0F-1D45-D817-BCCD-DF48C80FAC24}"/>
              </a:ext>
            </a:extLst>
          </p:cNvPr>
          <p:cNvCxnSpPr>
            <a:cxnSpLocks/>
          </p:cNvCxnSpPr>
          <p:nvPr/>
        </p:nvCxnSpPr>
        <p:spPr>
          <a:xfrm>
            <a:off x="10200318" y="3541773"/>
            <a:ext cx="35962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2D6B157-C058-FFA9-05FE-5FB66590DB2E}"/>
                  </a:ext>
                </a:extLst>
              </p:cNvPr>
              <p:cNvSpPr txBox="1"/>
              <p:nvPr/>
            </p:nvSpPr>
            <p:spPr>
              <a:xfrm>
                <a:off x="8003203" y="3599195"/>
                <a:ext cx="11228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br>
                  <a:rPr lang="en-US" sz="1400" dirty="0"/>
                </a:br>
                <a:r>
                  <a:rPr lang="en-US" sz="1400" dirty="0"/>
                  <a:t>Input stream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B75F29D-A3FF-8280-9F46-D51CFAC50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3203" y="3599195"/>
                <a:ext cx="1122871" cy="523220"/>
              </a:xfrm>
              <a:prstGeom prst="rect">
                <a:avLst/>
              </a:prstGeom>
              <a:blipFill>
                <a:blip r:embed="rId3"/>
                <a:stretch>
                  <a:fillRect l="-1630" r="-543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F91B494-544A-81E0-4D62-A817769CB58C}"/>
                  </a:ext>
                </a:extLst>
              </p:cNvPr>
              <p:cNvSpPr txBox="1"/>
              <p:nvPr/>
            </p:nvSpPr>
            <p:spPr>
              <a:xfrm>
                <a:off x="8067713" y="4644308"/>
                <a:ext cx="11228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br>
                  <a:rPr lang="en-US" sz="1400" dirty="0"/>
                </a:br>
                <a:r>
                  <a:rPr lang="en-US" sz="1400" dirty="0"/>
                  <a:t>Output stream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0E43C0E-A107-7EFC-4D00-B4046CEBD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7713" y="4644308"/>
                <a:ext cx="1122871" cy="523220"/>
              </a:xfrm>
              <a:prstGeom prst="rect">
                <a:avLst/>
              </a:prstGeom>
              <a:blipFill>
                <a:blip r:embed="rId4"/>
                <a:stretch>
                  <a:fillRect l="-1622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486EE26F-BD33-57CA-88BA-335A5F5DB072}"/>
              </a:ext>
            </a:extLst>
          </p:cNvPr>
          <p:cNvSpPr txBox="1"/>
          <p:nvPr/>
        </p:nvSpPr>
        <p:spPr>
          <a:xfrm>
            <a:off x="6389179" y="3916168"/>
            <a:ext cx="1223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6FA8"/>
                </a:solidFill>
              </a:rPr>
              <a:t>AXI4-Stream</a:t>
            </a:r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3D7AEA35-CC01-0BA2-B6CA-36DDB6B6D911}"/>
              </a:ext>
            </a:extLst>
          </p:cNvPr>
          <p:cNvSpPr/>
          <p:nvPr/>
        </p:nvSpPr>
        <p:spPr>
          <a:xfrm>
            <a:off x="7608519" y="3300578"/>
            <a:ext cx="486633" cy="1593332"/>
          </a:xfrm>
          <a:prstGeom prst="leftBrace">
            <a:avLst/>
          </a:prstGeom>
          <a:ln w="25400">
            <a:solidFill>
              <a:srgbClr val="2F6F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9556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0BD8C-983A-11E6-76CA-4A0329157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95910-65BD-7761-88DA-CF3FE3A57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89106-F195-7360-430E-C3E4D67D1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■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r>
              <a:rPr lang="en-US" sz="2400" dirty="0"/>
              <a:t>FIFOs</a:t>
            </a:r>
          </a:p>
          <a:p>
            <a:r>
              <a:rPr lang="en-US" sz="2400" dirty="0"/>
              <a:t>AXI4-Stream: Pure Streaming</a:t>
            </a:r>
          </a:p>
          <a:p>
            <a:r>
              <a:rPr lang="en-US" sz="2400" dirty="0"/>
              <a:t>Limitations of Pure Streaming with Vitis </a:t>
            </a:r>
          </a:p>
          <a:p>
            <a:r>
              <a:rPr lang="en-US" sz="2400" dirty="0"/>
              <a:t>AXI4-Stream: Packets and Serialization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E6615-7924-6397-D46B-393BB3457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34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6377EE0-061A-C483-9A5C-D197F179DC48}"/>
              </a:ext>
            </a:extLst>
          </p:cNvPr>
          <p:cNvSpPr/>
          <p:nvPr/>
        </p:nvSpPr>
        <p:spPr>
          <a:xfrm>
            <a:off x="384535" y="2530490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729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F3662-4814-66CD-8A0F-689EA01A4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Pure Streaming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44DD5-EA7D-74FD-D20A-1FF655B3A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■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r>
              <a:rPr lang="en-US" sz="2400" dirty="0"/>
              <a:t>Problem 1:  Many operations fundamentally operate in blocks</a:t>
            </a:r>
          </a:p>
          <a:p>
            <a:pPr lvl="1"/>
            <a:r>
              <a:rPr lang="en-US" sz="2200" dirty="0"/>
              <a:t>Pure streaming interface does not natively have a block boundary</a:t>
            </a:r>
          </a:p>
          <a:p>
            <a:endParaRPr lang="en-US" sz="2400" dirty="0"/>
          </a:p>
          <a:p>
            <a:r>
              <a:rPr lang="en-US" sz="2400" dirty="0"/>
              <a:t>Problem 2: Hard to synchronize control and data</a:t>
            </a:r>
          </a:p>
          <a:p>
            <a:endParaRPr lang="en-US" sz="2400" dirty="0"/>
          </a:p>
          <a:p>
            <a:r>
              <a:rPr lang="en-US" sz="2400" dirty="0"/>
              <a:t>Problem 3:  Vitis is not well-equipped to simulate continuous kernels</a:t>
            </a:r>
          </a:p>
          <a:p>
            <a:pPr lvl="1"/>
            <a:r>
              <a:rPr lang="en-US" sz="2200" dirty="0"/>
              <a:t>Vitis has a fundamentally flawed execution model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90469-2CA7-2554-BD71-B81B55CFB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873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6BAE9-A99A-B1D5-056A-C6D9731CA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1:  Block-Based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CB80C-7281-957C-B816-B9607E43A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■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r>
              <a:rPr lang="en-US" sz="2400" dirty="0"/>
              <a:t>Many problems naturally work on blocks</a:t>
            </a:r>
          </a:p>
          <a:p>
            <a:r>
              <a:rPr lang="en-US" sz="2400" dirty="0"/>
              <a:t>Need to know boundaries</a:t>
            </a:r>
          </a:p>
          <a:p>
            <a:r>
              <a:rPr lang="en-US" sz="2400" dirty="0"/>
              <a:t>Ex:  Image processing</a:t>
            </a:r>
          </a:p>
          <a:p>
            <a:pPr lvl="1"/>
            <a:r>
              <a:rPr lang="en-US" sz="2200" dirty="0"/>
              <a:t>Each input is an image</a:t>
            </a:r>
          </a:p>
          <a:p>
            <a:pPr lvl="1"/>
            <a:r>
              <a:rPr lang="en-US" sz="2200" dirty="0"/>
              <a:t>Images have a first and last element</a:t>
            </a:r>
          </a:p>
          <a:p>
            <a:pPr lvl="1"/>
            <a:r>
              <a:rPr lang="en-US" sz="2200" dirty="0"/>
              <a:t>Scanned in some particular order (e.g. row-wise)</a:t>
            </a:r>
          </a:p>
          <a:p>
            <a:r>
              <a:rPr lang="en-US" sz="2400" dirty="0"/>
              <a:t>Ex 2:  Matrix multiply</a:t>
            </a:r>
          </a:p>
          <a:p>
            <a:pPr lvl="1"/>
            <a:r>
              <a:rPr lang="en-US" sz="2200" dirty="0"/>
              <a:t>Module needs two matrices</a:t>
            </a:r>
          </a:p>
          <a:p>
            <a:pPr lvl="1"/>
            <a:r>
              <a:rPr lang="en-US" sz="2200" dirty="0"/>
              <a:t>Each has to be read in some order</a:t>
            </a:r>
          </a:p>
          <a:p>
            <a:r>
              <a:rPr lang="en-US" sz="2400" dirty="0"/>
              <a:t>Pure streaming is not natively good for these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09420-EA90-62A6-D9E7-71E67A6C2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36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6773A57-F8E1-D7DC-31E1-3B3FE85DFD5F}"/>
              </a:ext>
            </a:extLst>
          </p:cNvPr>
          <p:cNvGrpSpPr/>
          <p:nvPr/>
        </p:nvGrpSpPr>
        <p:grpSpPr>
          <a:xfrm>
            <a:off x="9959521" y="2117134"/>
            <a:ext cx="852527" cy="602910"/>
            <a:chOff x="7684440" y="2394551"/>
            <a:chExt cx="852527" cy="60291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A1FA232-7B04-88C0-5AEB-1A3CDC6D57B3}"/>
                </a:ext>
              </a:extLst>
            </p:cNvPr>
            <p:cNvSpPr/>
            <p:nvPr/>
          </p:nvSpPr>
          <p:spPr>
            <a:xfrm rot="5400000">
              <a:off x="8182170" y="2642656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346943B-EA2C-8A30-1369-A855BA364DC0}"/>
                </a:ext>
              </a:extLst>
            </p:cNvPr>
            <p:cNvSpPr/>
            <p:nvPr/>
          </p:nvSpPr>
          <p:spPr>
            <a:xfrm rot="5400000">
              <a:off x="8075478" y="2642656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79EA44-F5E7-94CB-76DE-2FDF54759EE4}"/>
                </a:ext>
              </a:extLst>
            </p:cNvPr>
            <p:cNvSpPr/>
            <p:nvPr/>
          </p:nvSpPr>
          <p:spPr>
            <a:xfrm rot="5400000">
              <a:off x="7968786" y="2642656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25182F-E434-C388-37B4-66312EE53AD6}"/>
                </a:ext>
              </a:extLst>
            </p:cNvPr>
            <p:cNvSpPr/>
            <p:nvPr/>
          </p:nvSpPr>
          <p:spPr>
            <a:xfrm rot="5400000">
              <a:off x="7862094" y="2642656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4B80257-4B12-E845-0A03-C0B71196AA81}"/>
                </a:ext>
              </a:extLst>
            </p:cNvPr>
            <p:cNvSpPr/>
            <p:nvPr/>
          </p:nvSpPr>
          <p:spPr>
            <a:xfrm rot="5400000">
              <a:off x="7756411" y="2642664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4AFD88-9C7B-70AA-EE90-C579EA486E06}"/>
                </a:ext>
              </a:extLst>
            </p:cNvPr>
            <p:cNvSpPr/>
            <p:nvPr/>
          </p:nvSpPr>
          <p:spPr>
            <a:xfrm rot="5400000">
              <a:off x="7649719" y="2642664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DA48B6-8565-010D-9E99-331EB5C7E301}"/>
                </a:ext>
              </a:extLst>
            </p:cNvPr>
            <p:cNvSpPr/>
            <p:nvPr/>
          </p:nvSpPr>
          <p:spPr>
            <a:xfrm rot="5400000">
              <a:off x="7543027" y="2642664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9748D0F-3FF5-FD90-ED86-1608EBA9D57D}"/>
                </a:ext>
              </a:extLst>
            </p:cNvPr>
            <p:cNvSpPr/>
            <p:nvPr/>
          </p:nvSpPr>
          <p:spPr>
            <a:xfrm rot="5400000">
              <a:off x="7436335" y="2642664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B48160C-FBB6-9DED-6530-D7AB4DD29D74}"/>
              </a:ext>
            </a:extLst>
          </p:cNvPr>
          <p:cNvSpPr/>
          <p:nvPr/>
        </p:nvSpPr>
        <p:spPr>
          <a:xfrm>
            <a:off x="9941233" y="3840506"/>
            <a:ext cx="875144" cy="594901"/>
          </a:xfrm>
          <a:prstGeom prst="rect">
            <a:avLst/>
          </a:prstGeom>
          <a:solidFill>
            <a:srgbClr val="DCEF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8F8E03-B4AF-57B7-8632-028F96CEBB96}"/>
              </a:ext>
            </a:extLst>
          </p:cNvPr>
          <p:cNvSpPr txBox="1"/>
          <p:nvPr/>
        </p:nvSpPr>
        <p:spPr>
          <a:xfrm>
            <a:off x="9319941" y="1568982"/>
            <a:ext cx="22309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Individual elements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399824-1CCC-4B96-ED04-8B3F10EAE52A}"/>
              </a:ext>
            </a:extLst>
          </p:cNvPr>
          <p:cNvSpPr txBox="1"/>
          <p:nvPr/>
        </p:nvSpPr>
        <p:spPr>
          <a:xfrm>
            <a:off x="9483198" y="4552085"/>
            <a:ext cx="21403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Blocks of elements</a:t>
            </a:r>
          </a:p>
        </p:txBody>
      </p:sp>
    </p:spTree>
    <p:extLst>
      <p:ext uri="{BB962C8B-B14F-4D97-AF65-F5344CB8AC3E}">
        <p14:creationId xmlns:p14="http://schemas.microsoft.com/office/powerpoint/2010/main" val="15046867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FE840-DF5E-B3B0-CF12-5B0F26E8D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2:  Control-Data Synchronization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462485-FB20-BE40-988E-A46EA09DCD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6372027" cy="4329817"/>
              </a:xfrm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 sz="2400" dirty="0"/>
                  <a:t>This problem is more subtle</a:t>
                </a:r>
              </a:p>
              <a:p>
                <a:r>
                  <a:rPr lang="en-US" sz="2400" dirty="0"/>
                  <a:t>Consider a parametrized streaming function:</a:t>
                </a:r>
                <a:br>
                  <a:rPr lang="en-US" sz="2400" dirty="0"/>
                </a:br>
                <a:br>
                  <a:rPr lang="en-US" sz="240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 : some parameter that changes slowly</a:t>
                </a:r>
              </a:p>
              <a:p>
                <a:r>
                  <a:rPr lang="en-US" sz="2200" dirty="0"/>
                  <a:t>For example, streaming polynomial: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462485-FB20-BE40-988E-A46EA09DCD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6372027" cy="4329817"/>
              </a:xfrm>
              <a:blipFill>
                <a:blip r:embed="rId2"/>
                <a:stretch>
                  <a:fillRect l="-2679" t="-1972"/>
                </a:stretch>
              </a:blipFill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04275-84AB-DD14-ABAA-850882449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37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1A6D5B5-6727-5E19-C396-8166D8C89543}"/>
              </a:ext>
            </a:extLst>
          </p:cNvPr>
          <p:cNvSpPr/>
          <p:nvPr/>
        </p:nvSpPr>
        <p:spPr>
          <a:xfrm>
            <a:off x="9308827" y="2199967"/>
            <a:ext cx="2429244" cy="3060677"/>
          </a:xfrm>
          <a:prstGeom prst="roundRect">
            <a:avLst/>
          </a:prstGeom>
          <a:solidFill>
            <a:srgbClr val="FBF9FB"/>
          </a:solidFill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41B830F-E587-85BE-37AA-DAE3C44E0618}"/>
              </a:ext>
            </a:extLst>
          </p:cNvPr>
          <p:cNvGrpSpPr/>
          <p:nvPr/>
        </p:nvGrpSpPr>
        <p:grpSpPr>
          <a:xfrm>
            <a:off x="9529868" y="3240322"/>
            <a:ext cx="641095" cy="606822"/>
            <a:chOff x="7020134" y="1975969"/>
            <a:chExt cx="641095" cy="60682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7682924-7703-E627-2315-499A8DDF609E}"/>
                </a:ext>
              </a:extLst>
            </p:cNvPr>
            <p:cNvSpPr/>
            <p:nvPr/>
          </p:nvSpPr>
          <p:spPr>
            <a:xfrm rot="16200000">
              <a:off x="6772029" y="222603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rgbClr val="57068C"/>
            </a:fillRef>
            <a:effectRef idx="0">
              <a:srgbClr val="57068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2C4739E-C9B4-F791-A335-C902379FBEC5}"/>
                </a:ext>
              </a:extLst>
            </p:cNvPr>
            <p:cNvSpPr/>
            <p:nvPr/>
          </p:nvSpPr>
          <p:spPr>
            <a:xfrm rot="16200000">
              <a:off x="6878721" y="222799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rgbClr val="57068C"/>
            </a:fillRef>
            <a:effectRef idx="0">
              <a:srgbClr val="57068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F0328FC-BB24-1B76-FB55-A13071EB82C7}"/>
                </a:ext>
              </a:extLst>
            </p:cNvPr>
            <p:cNvSpPr/>
            <p:nvPr/>
          </p:nvSpPr>
          <p:spPr>
            <a:xfrm rot="16200000">
              <a:off x="6984544" y="222407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rgbClr val="57068C"/>
            </a:fillRef>
            <a:effectRef idx="0">
              <a:srgbClr val="57068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F37AE4-800A-D228-0F47-17CD70C034E4}"/>
                </a:ext>
              </a:extLst>
            </p:cNvPr>
            <p:cNvSpPr/>
            <p:nvPr/>
          </p:nvSpPr>
          <p:spPr>
            <a:xfrm rot="16200000">
              <a:off x="7095160" y="2226034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rgbClr val="57068C"/>
            </a:fillRef>
            <a:effectRef idx="0">
              <a:srgbClr val="57068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75BC797-6DC4-75C7-0D75-3AC33CDDD486}"/>
                </a:ext>
              </a:extLst>
            </p:cNvPr>
            <p:cNvSpPr/>
            <p:nvPr/>
          </p:nvSpPr>
          <p:spPr>
            <a:xfrm rot="16200000">
              <a:off x="7199740" y="2227346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rgbClr val="57068C"/>
            </a:fillRef>
            <a:effectRef idx="0">
              <a:srgbClr val="57068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ADA11EF-39E2-93CE-3561-E1EB891D501F}"/>
                </a:ext>
              </a:extLst>
            </p:cNvPr>
            <p:cNvSpPr/>
            <p:nvPr/>
          </p:nvSpPr>
          <p:spPr>
            <a:xfrm rot="16200000">
              <a:off x="7306432" y="2225382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rgbClr val="57068C"/>
            </a:fillRef>
            <a:effectRef idx="0">
              <a:srgbClr val="57068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0792FC3-3705-2C42-3515-7D2703835B0F}"/>
              </a:ext>
            </a:extLst>
          </p:cNvPr>
          <p:cNvSpPr/>
          <p:nvPr/>
        </p:nvSpPr>
        <p:spPr>
          <a:xfrm>
            <a:off x="10523449" y="3155945"/>
            <a:ext cx="1067793" cy="1691446"/>
          </a:xfrm>
          <a:prstGeom prst="roundRect">
            <a:avLst/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5FE37C-E69E-0D3A-39B1-4983F8A74432}"/>
              </a:ext>
            </a:extLst>
          </p:cNvPr>
          <p:cNvSpPr txBox="1"/>
          <p:nvPr/>
        </p:nvSpPr>
        <p:spPr>
          <a:xfrm>
            <a:off x="10513250" y="3651609"/>
            <a:ext cx="11054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Polynomial</a:t>
            </a:r>
            <a:br>
              <a:rPr lang="en-US" sz="1600" dirty="0"/>
            </a:br>
            <a:r>
              <a:rPr lang="en-US" sz="1600" dirty="0"/>
              <a:t>Eval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D15F19-C6ED-B62E-5593-6F8ACB805BF0}"/>
              </a:ext>
            </a:extLst>
          </p:cNvPr>
          <p:cNvSpPr txBox="1"/>
          <p:nvPr/>
        </p:nvSpPr>
        <p:spPr>
          <a:xfrm>
            <a:off x="9862552" y="1443801"/>
            <a:ext cx="1235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57068C"/>
                </a:solidFill>
              </a:rPr>
              <a:t>Hardware</a:t>
            </a:r>
            <a:br>
              <a:rPr lang="en-US" dirty="0">
                <a:solidFill>
                  <a:srgbClr val="57068C"/>
                </a:solidFill>
              </a:rPr>
            </a:br>
            <a:r>
              <a:rPr lang="en-US" dirty="0">
                <a:solidFill>
                  <a:srgbClr val="57068C"/>
                </a:solidFill>
              </a:rPr>
              <a:t>accelerator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3189944-1D27-6435-AF27-1AD68CDD0112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8111866" y="3541773"/>
            <a:ext cx="1418002" cy="196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1753ED5-FC2E-42BF-5645-76505FBB81C7}"/>
              </a:ext>
            </a:extLst>
          </p:cNvPr>
          <p:cNvCxnSpPr>
            <a:cxnSpLocks/>
          </p:cNvCxnSpPr>
          <p:nvPr/>
        </p:nvCxnSpPr>
        <p:spPr>
          <a:xfrm flipH="1">
            <a:off x="8055213" y="4514166"/>
            <a:ext cx="235911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601920C-9349-4BA6-F4E6-C7937FAC783C}"/>
              </a:ext>
            </a:extLst>
          </p:cNvPr>
          <p:cNvCxnSpPr>
            <a:cxnSpLocks/>
          </p:cNvCxnSpPr>
          <p:nvPr/>
        </p:nvCxnSpPr>
        <p:spPr>
          <a:xfrm>
            <a:off x="10200318" y="3541773"/>
            <a:ext cx="35962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89F446E-55EC-A60D-D150-C1A1EEBA53CA}"/>
                  </a:ext>
                </a:extLst>
              </p:cNvPr>
              <p:cNvSpPr txBox="1"/>
              <p:nvPr/>
            </p:nvSpPr>
            <p:spPr>
              <a:xfrm>
                <a:off x="8003203" y="3599195"/>
                <a:ext cx="119436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br>
                  <a:rPr lang="en-US" sz="1400" dirty="0"/>
                </a:br>
                <a:r>
                  <a:rPr lang="en-US" sz="1400" dirty="0"/>
                  <a:t>Input </a:t>
                </a:r>
                <a:r>
                  <a:rPr lang="en-US" sz="1600" dirty="0"/>
                  <a:t>stream</a:t>
                </a:r>
                <a:endParaRPr lang="en-US" sz="1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89F446E-55EC-A60D-D150-C1A1EEBA5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3203" y="3599195"/>
                <a:ext cx="1194366" cy="553998"/>
              </a:xfrm>
              <a:prstGeom prst="rect">
                <a:avLst/>
              </a:prstGeom>
              <a:blipFill>
                <a:blip r:embed="rId3"/>
                <a:stretch>
                  <a:fillRect l="-1531" r="-1531" b="-131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36FA922-D21B-212A-5F9F-EA85AC7141B1}"/>
                  </a:ext>
                </a:extLst>
              </p:cNvPr>
              <p:cNvSpPr txBox="1"/>
              <p:nvPr/>
            </p:nvSpPr>
            <p:spPr>
              <a:xfrm>
                <a:off x="8067713" y="4644308"/>
                <a:ext cx="11228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br>
                  <a:rPr lang="en-US" sz="1400" dirty="0"/>
                </a:br>
                <a:r>
                  <a:rPr lang="en-US" sz="1400" dirty="0"/>
                  <a:t>Output stream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36FA922-D21B-212A-5F9F-EA85AC714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7713" y="4644308"/>
                <a:ext cx="1122871" cy="523220"/>
              </a:xfrm>
              <a:prstGeom prst="rect">
                <a:avLst/>
              </a:prstGeom>
              <a:blipFill>
                <a:blip r:embed="rId4"/>
                <a:stretch>
                  <a:fillRect l="-1622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D1E1F048-3534-3047-E15E-A80487127116}"/>
              </a:ext>
            </a:extLst>
          </p:cNvPr>
          <p:cNvSpPr/>
          <p:nvPr/>
        </p:nvSpPr>
        <p:spPr>
          <a:xfrm>
            <a:off x="9511946" y="2384258"/>
            <a:ext cx="483663" cy="672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EAE41CA-05E5-5A36-550C-9B89EC02BE9B}"/>
              </a:ext>
            </a:extLst>
          </p:cNvPr>
          <p:cNvCxnSpPr>
            <a:cxnSpLocks/>
          </p:cNvCxnSpPr>
          <p:nvPr/>
        </p:nvCxnSpPr>
        <p:spPr>
          <a:xfrm>
            <a:off x="8003203" y="2711804"/>
            <a:ext cx="152666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B45B32F7-713E-6E80-3012-DD05856E63A3}"/>
              </a:ext>
            </a:extLst>
          </p:cNvPr>
          <p:cNvCxnSpPr>
            <a:endCxn id="13" idx="0"/>
          </p:cNvCxnSpPr>
          <p:nvPr/>
        </p:nvCxnSpPr>
        <p:spPr>
          <a:xfrm>
            <a:off x="10027004" y="2711804"/>
            <a:ext cx="1030342" cy="444141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29FD316-50C8-C169-DE64-D1F0A1069722}"/>
                  </a:ext>
                </a:extLst>
              </p:cNvPr>
              <p:cNvSpPr txBox="1"/>
              <p:nvPr/>
            </p:nvSpPr>
            <p:spPr>
              <a:xfrm>
                <a:off x="8228265" y="2266630"/>
                <a:ext cx="96930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Control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29FD316-50C8-C169-DE64-D1F0A1069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8265" y="2266630"/>
                <a:ext cx="969304" cy="338554"/>
              </a:xfrm>
              <a:prstGeom prst="rect">
                <a:avLst/>
              </a:prstGeom>
              <a:blipFill>
                <a:blip r:embed="rId5"/>
                <a:stretch>
                  <a:fillRect l="-3774"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33506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40F28-2AB9-7E76-DA4B-1FE8E5E04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Solution:  Mix AXI4-Lite and AXI4-Stream?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6B61BD-F756-F3AB-83A5-D87590EB0C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430176" cy="4329817"/>
              </a:xfrm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 dirty="0"/>
                  <a:t>Given:</a:t>
                </a:r>
              </a:p>
              <a:p>
                <a:pPr lvl="1"/>
                <a:r>
                  <a:rPr lang="en-US" dirty="0"/>
                  <a:t>Input stream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Polynomial coefficients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 (change slowly)</a:t>
                </a:r>
              </a:p>
              <a:p>
                <a:r>
                  <a:rPr lang="en-US" dirty="0"/>
                  <a:t>Compute output stream: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 …+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b="0" dirty="0"/>
              </a:p>
              <a:p>
                <a:r>
                  <a:rPr lang="en-US" dirty="0"/>
                  <a:t>Set coefficients via </a:t>
                </a:r>
                <a:r>
                  <a:rPr lang="en-US" dirty="0">
                    <a:solidFill>
                      <a:srgbClr val="00857C"/>
                    </a:solidFill>
                  </a:rPr>
                  <a:t>AXI4-Lite</a:t>
                </a:r>
              </a:p>
              <a:p>
                <a:pPr lvl="1"/>
                <a:r>
                  <a:rPr lang="en-US" dirty="0"/>
                  <a:t>Assume they change slowly</a:t>
                </a:r>
              </a:p>
              <a:p>
                <a:pPr lvl="1"/>
                <a:r>
                  <a:rPr lang="en-US" dirty="0"/>
                  <a:t>Do not need fast read / write</a:t>
                </a:r>
              </a:p>
              <a:p>
                <a:pPr lvl="1"/>
                <a:r>
                  <a:rPr lang="en-US" dirty="0"/>
                  <a:t>But benefit from continuous access</a:t>
                </a:r>
              </a:p>
              <a:p>
                <a:r>
                  <a:rPr lang="en-US" dirty="0"/>
                  <a:t> Use </a:t>
                </a:r>
                <a:r>
                  <a:rPr lang="en-US" dirty="0">
                    <a:solidFill>
                      <a:srgbClr val="2F6FA8"/>
                    </a:solidFill>
                  </a:rPr>
                  <a:t>AXI4-Stream</a:t>
                </a:r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6B61BD-F756-F3AB-83A5-D87590EB0C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430176" cy="4329817"/>
              </a:xfrm>
              <a:blipFill>
                <a:blip r:embed="rId2"/>
                <a:stretch>
                  <a:fillRect l="-2694" t="-1549"/>
                </a:stretch>
              </a:blipFill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0E17F-009E-FEF1-A284-B18904D95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38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E33FEDE-EDFB-2BE4-A2DD-DEE8A4A9F803}"/>
              </a:ext>
            </a:extLst>
          </p:cNvPr>
          <p:cNvSpPr/>
          <p:nvPr/>
        </p:nvSpPr>
        <p:spPr>
          <a:xfrm>
            <a:off x="9308827" y="2199967"/>
            <a:ext cx="2429244" cy="3060677"/>
          </a:xfrm>
          <a:prstGeom prst="roundRect">
            <a:avLst/>
          </a:prstGeom>
          <a:solidFill>
            <a:srgbClr val="FBF9FB"/>
          </a:solidFill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D5E7704-C593-E863-AFCF-7CD3582E115A}"/>
              </a:ext>
            </a:extLst>
          </p:cNvPr>
          <p:cNvGrpSpPr/>
          <p:nvPr/>
        </p:nvGrpSpPr>
        <p:grpSpPr>
          <a:xfrm>
            <a:off x="9529868" y="3240322"/>
            <a:ext cx="641095" cy="606822"/>
            <a:chOff x="7020134" y="1975969"/>
            <a:chExt cx="641095" cy="60682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C7237CF-611A-6530-B714-48971C688C60}"/>
                </a:ext>
              </a:extLst>
            </p:cNvPr>
            <p:cNvSpPr/>
            <p:nvPr/>
          </p:nvSpPr>
          <p:spPr>
            <a:xfrm rot="16200000">
              <a:off x="6772029" y="222603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rgbClr val="57068C"/>
            </a:fillRef>
            <a:effectRef idx="0">
              <a:srgbClr val="57068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3BAE03D-1AF1-A187-AE46-3BBFEA4EB6C2}"/>
                </a:ext>
              </a:extLst>
            </p:cNvPr>
            <p:cNvSpPr/>
            <p:nvPr/>
          </p:nvSpPr>
          <p:spPr>
            <a:xfrm rot="16200000">
              <a:off x="6878721" y="222799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rgbClr val="57068C"/>
            </a:fillRef>
            <a:effectRef idx="0">
              <a:srgbClr val="57068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F699862-2418-5A23-1271-A292C26FC8DA}"/>
                </a:ext>
              </a:extLst>
            </p:cNvPr>
            <p:cNvSpPr/>
            <p:nvPr/>
          </p:nvSpPr>
          <p:spPr>
            <a:xfrm rot="16200000">
              <a:off x="6984544" y="222407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rgbClr val="57068C"/>
            </a:fillRef>
            <a:effectRef idx="0">
              <a:srgbClr val="57068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F08A57E-06D1-9306-756A-AC5570587B34}"/>
                </a:ext>
              </a:extLst>
            </p:cNvPr>
            <p:cNvSpPr/>
            <p:nvPr/>
          </p:nvSpPr>
          <p:spPr>
            <a:xfrm rot="16200000">
              <a:off x="7095160" y="2226034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rgbClr val="57068C"/>
            </a:fillRef>
            <a:effectRef idx="0">
              <a:srgbClr val="57068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D7CF8AB-8296-4E91-500A-6B5BB9C2296D}"/>
                </a:ext>
              </a:extLst>
            </p:cNvPr>
            <p:cNvSpPr/>
            <p:nvPr/>
          </p:nvSpPr>
          <p:spPr>
            <a:xfrm rot="16200000">
              <a:off x="7199740" y="2227346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rgbClr val="57068C"/>
            </a:fillRef>
            <a:effectRef idx="0">
              <a:srgbClr val="57068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5CFA737-899B-F3C4-64C6-D4A1E4244155}"/>
                </a:ext>
              </a:extLst>
            </p:cNvPr>
            <p:cNvSpPr/>
            <p:nvPr/>
          </p:nvSpPr>
          <p:spPr>
            <a:xfrm rot="16200000">
              <a:off x="7306432" y="2225382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rgbClr val="57068C"/>
            </a:fillRef>
            <a:effectRef idx="0">
              <a:srgbClr val="57068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9F14320-A7ED-5E9C-4DA6-110C4B1CCEA1}"/>
              </a:ext>
            </a:extLst>
          </p:cNvPr>
          <p:cNvSpPr/>
          <p:nvPr/>
        </p:nvSpPr>
        <p:spPr>
          <a:xfrm>
            <a:off x="10523449" y="3155945"/>
            <a:ext cx="1067793" cy="1691446"/>
          </a:xfrm>
          <a:prstGeom prst="roundRect">
            <a:avLst/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99B8F1-1C75-0B65-B91A-0377E8854222}"/>
              </a:ext>
            </a:extLst>
          </p:cNvPr>
          <p:cNvSpPr txBox="1"/>
          <p:nvPr/>
        </p:nvSpPr>
        <p:spPr>
          <a:xfrm>
            <a:off x="10513250" y="3651609"/>
            <a:ext cx="11054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Polynomial</a:t>
            </a:r>
            <a:br>
              <a:rPr lang="en-US" sz="1600" dirty="0"/>
            </a:br>
            <a:r>
              <a:rPr lang="en-US" sz="1600" dirty="0"/>
              <a:t>Eval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DEB889-C36D-02DA-9EAB-1FCE58BDB2FD}"/>
              </a:ext>
            </a:extLst>
          </p:cNvPr>
          <p:cNvSpPr txBox="1"/>
          <p:nvPr/>
        </p:nvSpPr>
        <p:spPr>
          <a:xfrm>
            <a:off x="9862552" y="1443801"/>
            <a:ext cx="1235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57068C"/>
                </a:solidFill>
              </a:rPr>
              <a:t>Hardware</a:t>
            </a:r>
            <a:br>
              <a:rPr lang="en-US" dirty="0">
                <a:solidFill>
                  <a:srgbClr val="57068C"/>
                </a:solidFill>
              </a:rPr>
            </a:br>
            <a:r>
              <a:rPr lang="en-US" dirty="0">
                <a:solidFill>
                  <a:srgbClr val="57068C"/>
                </a:solidFill>
              </a:rPr>
              <a:t>accelerator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8F14970-E186-B5FE-3C56-74C87EC227A9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111866" y="3541773"/>
            <a:ext cx="1418002" cy="196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80E7D3F-50C5-1CE4-0ED3-2DB1A43E535C}"/>
              </a:ext>
            </a:extLst>
          </p:cNvPr>
          <p:cNvCxnSpPr>
            <a:cxnSpLocks/>
          </p:cNvCxnSpPr>
          <p:nvPr/>
        </p:nvCxnSpPr>
        <p:spPr>
          <a:xfrm flipH="1">
            <a:off x="8055213" y="4514166"/>
            <a:ext cx="235911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13C9957-9F5A-27DC-7889-1BF7E298E3FE}"/>
              </a:ext>
            </a:extLst>
          </p:cNvPr>
          <p:cNvCxnSpPr>
            <a:cxnSpLocks/>
          </p:cNvCxnSpPr>
          <p:nvPr/>
        </p:nvCxnSpPr>
        <p:spPr>
          <a:xfrm>
            <a:off x="10200318" y="3541773"/>
            <a:ext cx="35962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B75F29D-A3FF-8280-9F46-D51CFAC50F41}"/>
                  </a:ext>
                </a:extLst>
              </p:cNvPr>
              <p:cNvSpPr txBox="1"/>
              <p:nvPr/>
            </p:nvSpPr>
            <p:spPr>
              <a:xfrm>
                <a:off x="8003203" y="3599195"/>
                <a:ext cx="11228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br>
                  <a:rPr lang="en-US" sz="1400" dirty="0"/>
                </a:br>
                <a:r>
                  <a:rPr lang="en-US" sz="1400" dirty="0"/>
                  <a:t>Input stream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B75F29D-A3FF-8280-9F46-D51CFAC50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3203" y="3599195"/>
                <a:ext cx="1122871" cy="523220"/>
              </a:xfrm>
              <a:prstGeom prst="rect">
                <a:avLst/>
              </a:prstGeom>
              <a:blipFill>
                <a:blip r:embed="rId3"/>
                <a:stretch>
                  <a:fillRect l="-1630" r="-543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0E43C0E-A107-7EFC-4D00-B4046CEBD08F}"/>
                  </a:ext>
                </a:extLst>
              </p:cNvPr>
              <p:cNvSpPr txBox="1"/>
              <p:nvPr/>
            </p:nvSpPr>
            <p:spPr>
              <a:xfrm>
                <a:off x="8067713" y="4644308"/>
                <a:ext cx="11228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br>
                  <a:rPr lang="en-US" sz="1400" dirty="0"/>
                </a:br>
                <a:r>
                  <a:rPr lang="en-US" sz="1400" dirty="0"/>
                  <a:t>Output stream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0E43C0E-A107-7EFC-4D00-B4046CEBD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7713" y="4644308"/>
                <a:ext cx="1122871" cy="523220"/>
              </a:xfrm>
              <a:prstGeom prst="rect">
                <a:avLst/>
              </a:prstGeom>
              <a:blipFill>
                <a:blip r:embed="rId4"/>
                <a:stretch>
                  <a:fillRect l="-1622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CDC90BAE-CD71-694B-02E0-4F4C3B0F800F}"/>
              </a:ext>
            </a:extLst>
          </p:cNvPr>
          <p:cNvSpPr/>
          <p:nvPr/>
        </p:nvSpPr>
        <p:spPr>
          <a:xfrm>
            <a:off x="9511946" y="2384258"/>
            <a:ext cx="483663" cy="672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DE32BEC-6D48-67D0-A25D-75DE00424484}"/>
              </a:ext>
            </a:extLst>
          </p:cNvPr>
          <p:cNvCxnSpPr>
            <a:cxnSpLocks/>
          </p:cNvCxnSpPr>
          <p:nvPr/>
        </p:nvCxnSpPr>
        <p:spPr>
          <a:xfrm>
            <a:off x="8003203" y="2711804"/>
            <a:ext cx="152666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E6B23AD-2A9F-1405-6F48-63580721CFDE}"/>
              </a:ext>
            </a:extLst>
          </p:cNvPr>
          <p:cNvSpPr txBox="1"/>
          <p:nvPr/>
        </p:nvSpPr>
        <p:spPr>
          <a:xfrm>
            <a:off x="6793816" y="2517778"/>
            <a:ext cx="9294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857C"/>
                </a:solidFill>
              </a:rPr>
              <a:t>AXI4-Lite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4286D636-6F72-7429-BCE0-F364D0E29B61}"/>
              </a:ext>
            </a:extLst>
          </p:cNvPr>
          <p:cNvCxnSpPr>
            <a:endCxn id="22" idx="0"/>
          </p:cNvCxnSpPr>
          <p:nvPr/>
        </p:nvCxnSpPr>
        <p:spPr>
          <a:xfrm>
            <a:off x="10027004" y="2711804"/>
            <a:ext cx="1030342" cy="444141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A5CBA31-FA73-08DB-5299-7139C1E2E521}"/>
                  </a:ext>
                </a:extLst>
              </p:cNvPr>
              <p:cNvSpPr txBox="1"/>
              <p:nvPr/>
            </p:nvSpPr>
            <p:spPr>
              <a:xfrm>
                <a:off x="8082390" y="2188584"/>
                <a:ext cx="104368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br>
                  <a:rPr lang="en-US" sz="1400" dirty="0"/>
                </a:br>
                <a:r>
                  <a:rPr lang="en-US" sz="1400" dirty="0"/>
                  <a:t>Coefficients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A5CBA31-FA73-08DB-5299-7139C1E2E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2390" y="2188584"/>
                <a:ext cx="1043684" cy="523220"/>
              </a:xfrm>
              <a:prstGeom prst="rect">
                <a:avLst/>
              </a:prstGeom>
              <a:blipFill>
                <a:blip r:embed="rId5"/>
                <a:stretch>
                  <a:fillRect l="-1754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CB7D4E75-9FB7-DCF2-5EC1-2D4AFC236D22}"/>
              </a:ext>
            </a:extLst>
          </p:cNvPr>
          <p:cNvSpPr txBox="1"/>
          <p:nvPr/>
        </p:nvSpPr>
        <p:spPr>
          <a:xfrm>
            <a:off x="6389179" y="3916168"/>
            <a:ext cx="1223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6FA8"/>
                </a:solidFill>
              </a:rPr>
              <a:t>AXI4-Stream</a:t>
            </a:r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A1F7CBD7-FF91-5EDB-F0F7-7FD71E35D23E}"/>
              </a:ext>
            </a:extLst>
          </p:cNvPr>
          <p:cNvSpPr/>
          <p:nvPr/>
        </p:nvSpPr>
        <p:spPr>
          <a:xfrm>
            <a:off x="7608519" y="3300578"/>
            <a:ext cx="486633" cy="1593332"/>
          </a:xfrm>
          <a:prstGeom prst="leftBrace">
            <a:avLst/>
          </a:prstGeom>
          <a:ln w="25400">
            <a:solidFill>
              <a:srgbClr val="2F6F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7986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F8DD9-D689-C136-686B-250F756F4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Potential HLS Module Definition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00AAD-678E-5849-3980-7B73A0083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528F30-13F6-C17F-7168-24AE62B29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245" y="1539277"/>
            <a:ext cx="5546960" cy="43567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D5E90A-53B0-E890-43F2-3BFA447AA349}"/>
              </a:ext>
            </a:extLst>
          </p:cNvPr>
          <p:cNvSpPr txBox="1"/>
          <p:nvPr/>
        </p:nvSpPr>
        <p:spPr>
          <a:xfrm>
            <a:off x="7459252" y="2489576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Coefficients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BE190AB-F68C-5137-12AD-563827B4616A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2490536" y="2672996"/>
            <a:ext cx="4968716" cy="124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524F565-9BDC-3154-3371-1A194ECEE6F0}"/>
              </a:ext>
            </a:extLst>
          </p:cNvPr>
          <p:cNvSpPr txBox="1"/>
          <p:nvPr/>
        </p:nvSpPr>
        <p:spPr>
          <a:xfrm>
            <a:off x="7459252" y="1906948"/>
            <a:ext cx="2580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and output streams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9981F50-1504-3831-2F21-671FB5535D75}"/>
              </a:ext>
            </a:extLst>
          </p:cNvPr>
          <p:cNvCxnSpPr>
            <a:cxnSpLocks/>
          </p:cNvCxnSpPr>
          <p:nvPr/>
        </p:nvCxnSpPr>
        <p:spPr>
          <a:xfrm flipH="1">
            <a:off x="4400234" y="2092861"/>
            <a:ext cx="302105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7E03B4B-8F9B-B4A2-A610-292ED5DE2E2F}"/>
              </a:ext>
            </a:extLst>
          </p:cNvPr>
          <p:cNvCxnSpPr>
            <a:cxnSpLocks/>
          </p:cNvCxnSpPr>
          <p:nvPr/>
        </p:nvCxnSpPr>
        <p:spPr>
          <a:xfrm flipH="1">
            <a:off x="5128487" y="3512459"/>
            <a:ext cx="209577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81A497C-4466-7C15-48C2-3653885E0A90}"/>
              </a:ext>
            </a:extLst>
          </p:cNvPr>
          <p:cNvSpPr txBox="1"/>
          <p:nvPr/>
        </p:nvSpPr>
        <p:spPr>
          <a:xfrm>
            <a:off x="7303484" y="3084791"/>
            <a:ext cx="38890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Declares that variables are AXI4-Stream</a:t>
            </a:r>
            <a:br>
              <a:rPr lang="en-US" dirty="0"/>
            </a:br>
            <a:r>
              <a:rPr lang="en-US" dirty="0"/>
              <a:t>Does not state if transmitter or receiver.</a:t>
            </a:r>
          </a:p>
          <a:p>
            <a:r>
              <a:rPr lang="en-US" dirty="0"/>
              <a:t>Direction will be inferred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9870DE9-667B-2004-AD5B-31CC5FFD26C9}"/>
              </a:ext>
            </a:extLst>
          </p:cNvPr>
          <p:cNvCxnSpPr>
            <a:cxnSpLocks/>
          </p:cNvCxnSpPr>
          <p:nvPr/>
        </p:nvCxnSpPr>
        <p:spPr>
          <a:xfrm flipH="1">
            <a:off x="5402133" y="4432753"/>
            <a:ext cx="209577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66A138C-16A1-B4C1-22E8-2C68F357D6C1}"/>
              </a:ext>
            </a:extLst>
          </p:cNvPr>
          <p:cNvSpPr txBox="1"/>
          <p:nvPr/>
        </p:nvSpPr>
        <p:spPr>
          <a:xfrm>
            <a:off x="7528982" y="4248087"/>
            <a:ext cx="2435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AXI4-Stream FIFO depth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ED31DBD-6E6C-4E73-8DD5-CD730D71419F}"/>
              </a:ext>
            </a:extLst>
          </p:cNvPr>
          <p:cNvCxnSpPr>
            <a:cxnSpLocks/>
          </p:cNvCxnSpPr>
          <p:nvPr/>
        </p:nvCxnSpPr>
        <p:spPr>
          <a:xfrm flipH="1">
            <a:off x="6126480" y="5418722"/>
            <a:ext cx="137143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1C01BC5-B1F6-4502-186E-C3E55096B925}"/>
              </a:ext>
            </a:extLst>
          </p:cNvPr>
          <p:cNvSpPr txBox="1"/>
          <p:nvPr/>
        </p:nvSpPr>
        <p:spPr>
          <a:xfrm>
            <a:off x="7604035" y="5234056"/>
            <a:ext cx="3799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Declares that coefficients are AXI4-Lite</a:t>
            </a:r>
          </a:p>
        </p:txBody>
      </p:sp>
    </p:spTree>
    <p:extLst>
      <p:ext uri="{BB962C8B-B14F-4D97-AF65-F5344CB8AC3E}">
        <p14:creationId xmlns:p14="http://schemas.microsoft.com/office/powerpoint/2010/main" val="29944498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10E7D-5B85-2DF5-A5F3-47C9B2BC8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83C80-EBEF-55BC-734A-F49377062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Mixing AXI4-Lite and AXI4-Stream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F5ED36-AE50-F133-92AF-669600BBEC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79" y="1539277"/>
                <a:ext cx="6200435" cy="4329817"/>
              </a:xfrm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 dirty="0">
                    <a:solidFill>
                      <a:srgbClr val="57068C"/>
                    </a:solidFill>
                  </a:rPr>
                  <a:t>Problem</a:t>
                </a:r>
                <a:r>
                  <a:rPr lang="en-US" dirty="0"/>
                  <a:t>:  How do we </a:t>
                </a:r>
                <a:r>
                  <a:rPr lang="en-US" dirty="0">
                    <a:solidFill>
                      <a:srgbClr val="57068C"/>
                    </a:solidFill>
                  </a:rPr>
                  <a:t>synchronize</a:t>
                </a:r>
                <a:r>
                  <a:rPr lang="en-US" dirty="0"/>
                  <a:t> control and data?</a:t>
                </a:r>
              </a:p>
              <a:p>
                <a:r>
                  <a:rPr lang="en-US" dirty="0"/>
                  <a:t>Control and data are typically fed by different sources</a:t>
                </a:r>
              </a:p>
              <a:p>
                <a:r>
                  <a:rPr lang="en-US" dirty="0"/>
                  <a:t>Exact timing of control is indeterminate.</a:t>
                </a:r>
              </a:p>
              <a:p>
                <a:r>
                  <a:rPr lang="en-US" dirty="0"/>
                  <a:t>Bad:  </a:t>
                </a:r>
                <a:r>
                  <a:rPr lang="en-US" i="1" dirty="0"/>
                  <a:t>“Change control around now”</a:t>
                </a:r>
              </a:p>
              <a:p>
                <a:r>
                  <a:rPr lang="en-US" dirty="0"/>
                  <a:t>Good:  </a:t>
                </a:r>
              </a:p>
              <a:p>
                <a:pPr lvl="1"/>
                <a:r>
                  <a:rPr lang="en-US" dirty="0"/>
                  <a:t>Index samples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“</a:t>
                </a:r>
                <a:r>
                  <a:rPr lang="en-US" i="1" dirty="0"/>
                  <a:t>Apply this control precisely on 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=1000</m:t>
                    </m:r>
                  </m:oMath>
                </a14:m>
                <a:r>
                  <a:rPr lang="en-US" i="1" dirty="0"/>
                  <a:t>”</a:t>
                </a:r>
              </a:p>
              <a:p>
                <a:r>
                  <a:rPr lang="en-US" dirty="0"/>
                  <a:t>This synchronization needs additional logic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F5ED36-AE50-F133-92AF-669600BBEC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79" y="1539277"/>
                <a:ext cx="6200435" cy="4329817"/>
              </a:xfrm>
              <a:blipFill>
                <a:blip r:embed="rId2"/>
                <a:stretch>
                  <a:fillRect l="-2360" t="-1549"/>
                </a:stretch>
              </a:blipFill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DFC31-6765-C014-D02C-59835B0A2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40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71D3C24-91E1-965D-2741-11B2C9D1568D}"/>
              </a:ext>
            </a:extLst>
          </p:cNvPr>
          <p:cNvSpPr/>
          <p:nvPr/>
        </p:nvSpPr>
        <p:spPr>
          <a:xfrm>
            <a:off x="9308827" y="2199967"/>
            <a:ext cx="2429244" cy="3060677"/>
          </a:xfrm>
          <a:prstGeom prst="roundRect">
            <a:avLst/>
          </a:prstGeom>
          <a:solidFill>
            <a:srgbClr val="FBF9FB"/>
          </a:solidFill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633E3F4-3798-D68A-74F2-A99473D089DB}"/>
              </a:ext>
            </a:extLst>
          </p:cNvPr>
          <p:cNvGrpSpPr/>
          <p:nvPr/>
        </p:nvGrpSpPr>
        <p:grpSpPr>
          <a:xfrm>
            <a:off x="9529868" y="3240322"/>
            <a:ext cx="641095" cy="606822"/>
            <a:chOff x="7020134" y="1975969"/>
            <a:chExt cx="641095" cy="60682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AAD7A2F-B0BE-D020-24A3-DDD52ACD67FF}"/>
                </a:ext>
              </a:extLst>
            </p:cNvPr>
            <p:cNvSpPr/>
            <p:nvPr/>
          </p:nvSpPr>
          <p:spPr>
            <a:xfrm rot="16200000">
              <a:off x="6772029" y="222603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rgbClr val="57068C"/>
            </a:fillRef>
            <a:effectRef idx="0">
              <a:srgbClr val="57068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8EDA8D7-4616-0885-D454-E424B743C72C}"/>
                </a:ext>
              </a:extLst>
            </p:cNvPr>
            <p:cNvSpPr/>
            <p:nvPr/>
          </p:nvSpPr>
          <p:spPr>
            <a:xfrm rot="16200000">
              <a:off x="6878721" y="222799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rgbClr val="57068C"/>
            </a:fillRef>
            <a:effectRef idx="0">
              <a:srgbClr val="57068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03F7C54-371C-1FBE-F2E5-1C77E98F89F3}"/>
                </a:ext>
              </a:extLst>
            </p:cNvPr>
            <p:cNvSpPr/>
            <p:nvPr/>
          </p:nvSpPr>
          <p:spPr>
            <a:xfrm rot="16200000">
              <a:off x="6984544" y="222407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rgbClr val="57068C"/>
            </a:fillRef>
            <a:effectRef idx="0">
              <a:srgbClr val="57068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8F9DE6-9416-EFEE-B8E5-323F95147CC0}"/>
                </a:ext>
              </a:extLst>
            </p:cNvPr>
            <p:cNvSpPr/>
            <p:nvPr/>
          </p:nvSpPr>
          <p:spPr>
            <a:xfrm rot="16200000">
              <a:off x="7095160" y="2226034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rgbClr val="57068C"/>
            </a:fillRef>
            <a:effectRef idx="0">
              <a:srgbClr val="57068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48EE19C-75F7-F0FC-D3D4-F82D57FC2A57}"/>
                </a:ext>
              </a:extLst>
            </p:cNvPr>
            <p:cNvSpPr/>
            <p:nvPr/>
          </p:nvSpPr>
          <p:spPr>
            <a:xfrm rot="16200000">
              <a:off x="7199740" y="2227346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rgbClr val="57068C"/>
            </a:fillRef>
            <a:effectRef idx="0">
              <a:srgbClr val="57068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066287A-AB17-B813-8B2E-216C1A06B6D6}"/>
                </a:ext>
              </a:extLst>
            </p:cNvPr>
            <p:cNvSpPr/>
            <p:nvPr/>
          </p:nvSpPr>
          <p:spPr>
            <a:xfrm rot="16200000">
              <a:off x="7306432" y="2225382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rgbClr val="57068C"/>
            </a:fillRef>
            <a:effectRef idx="0">
              <a:srgbClr val="57068C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033F903-0490-FCED-C733-5015E1F83BDE}"/>
              </a:ext>
            </a:extLst>
          </p:cNvPr>
          <p:cNvSpPr/>
          <p:nvPr/>
        </p:nvSpPr>
        <p:spPr>
          <a:xfrm>
            <a:off x="10523449" y="3155945"/>
            <a:ext cx="1067793" cy="1691446"/>
          </a:xfrm>
          <a:prstGeom prst="roundRect">
            <a:avLst/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D12FB2-A56E-8F0E-C6F9-ED620D9A3808}"/>
              </a:ext>
            </a:extLst>
          </p:cNvPr>
          <p:cNvSpPr txBox="1"/>
          <p:nvPr/>
        </p:nvSpPr>
        <p:spPr>
          <a:xfrm>
            <a:off x="10513250" y="3651609"/>
            <a:ext cx="11054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Polynomial</a:t>
            </a:r>
            <a:br>
              <a:rPr lang="en-US" sz="1600" dirty="0"/>
            </a:br>
            <a:r>
              <a:rPr lang="en-US" sz="1600" dirty="0"/>
              <a:t>Eval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5C70AE-56AD-0323-A205-3418A87B523C}"/>
              </a:ext>
            </a:extLst>
          </p:cNvPr>
          <p:cNvSpPr txBox="1"/>
          <p:nvPr/>
        </p:nvSpPr>
        <p:spPr>
          <a:xfrm>
            <a:off x="9862552" y="1443801"/>
            <a:ext cx="1235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57068C"/>
                </a:solidFill>
              </a:rPr>
              <a:t>Hardware</a:t>
            </a:r>
            <a:br>
              <a:rPr lang="en-US" dirty="0">
                <a:solidFill>
                  <a:srgbClr val="57068C"/>
                </a:solidFill>
              </a:rPr>
            </a:br>
            <a:r>
              <a:rPr lang="en-US" dirty="0">
                <a:solidFill>
                  <a:srgbClr val="57068C"/>
                </a:solidFill>
              </a:rPr>
              <a:t>accelerator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E1485A0-6443-2777-D2CE-F6CD746BB1B5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111866" y="3541773"/>
            <a:ext cx="1418002" cy="196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524C696-F016-58B9-6581-4457C8687D27}"/>
              </a:ext>
            </a:extLst>
          </p:cNvPr>
          <p:cNvCxnSpPr>
            <a:cxnSpLocks/>
          </p:cNvCxnSpPr>
          <p:nvPr/>
        </p:nvCxnSpPr>
        <p:spPr>
          <a:xfrm flipH="1">
            <a:off x="8055213" y="4514166"/>
            <a:ext cx="235911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FB18755-3D31-C537-1427-CD28FFCD3F0E}"/>
              </a:ext>
            </a:extLst>
          </p:cNvPr>
          <p:cNvCxnSpPr>
            <a:cxnSpLocks/>
          </p:cNvCxnSpPr>
          <p:nvPr/>
        </p:nvCxnSpPr>
        <p:spPr>
          <a:xfrm>
            <a:off x="10200318" y="3541773"/>
            <a:ext cx="35962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32ADA7A-A35B-EA41-62CE-71EB0F7EB362}"/>
                  </a:ext>
                </a:extLst>
              </p:cNvPr>
              <p:cNvSpPr txBox="1"/>
              <p:nvPr/>
            </p:nvSpPr>
            <p:spPr>
              <a:xfrm>
                <a:off x="8003203" y="3599195"/>
                <a:ext cx="11228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br>
                  <a:rPr lang="en-US" sz="1400" dirty="0"/>
                </a:br>
                <a:r>
                  <a:rPr lang="en-US" sz="1400" dirty="0"/>
                  <a:t>Input stream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B75F29D-A3FF-8280-9F46-D51CFAC50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3203" y="3599195"/>
                <a:ext cx="1122871" cy="523220"/>
              </a:xfrm>
              <a:prstGeom prst="rect">
                <a:avLst/>
              </a:prstGeom>
              <a:blipFill>
                <a:blip r:embed="rId3"/>
                <a:stretch>
                  <a:fillRect l="-1630" r="-543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9A8C674-BC65-A030-3EF3-7250F486C4F2}"/>
                  </a:ext>
                </a:extLst>
              </p:cNvPr>
              <p:cNvSpPr txBox="1"/>
              <p:nvPr/>
            </p:nvSpPr>
            <p:spPr>
              <a:xfrm>
                <a:off x="8067713" y="4644308"/>
                <a:ext cx="11228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br>
                  <a:rPr lang="en-US" sz="1400" dirty="0"/>
                </a:br>
                <a:r>
                  <a:rPr lang="en-US" sz="1400" dirty="0"/>
                  <a:t>Output stream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0E43C0E-A107-7EFC-4D00-B4046CEBD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7713" y="4644308"/>
                <a:ext cx="1122871" cy="523220"/>
              </a:xfrm>
              <a:prstGeom prst="rect">
                <a:avLst/>
              </a:prstGeom>
              <a:blipFill>
                <a:blip r:embed="rId4"/>
                <a:stretch>
                  <a:fillRect l="-1622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31">
            <a:extLst>
              <a:ext uri="{FF2B5EF4-FFF2-40B4-BE49-F238E27FC236}">
                <a16:creationId xmlns:a16="http://schemas.microsoft.com/office/drawing/2014/main" id="{2CB74CD2-004E-BDD8-4418-4B6802B1DD8D}"/>
              </a:ext>
            </a:extLst>
          </p:cNvPr>
          <p:cNvSpPr/>
          <p:nvPr/>
        </p:nvSpPr>
        <p:spPr>
          <a:xfrm>
            <a:off x="9511946" y="2384258"/>
            <a:ext cx="483663" cy="672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F189D5C-AD26-AF1D-7EB3-FE8FC2282F5D}"/>
              </a:ext>
            </a:extLst>
          </p:cNvPr>
          <p:cNvCxnSpPr>
            <a:cxnSpLocks/>
          </p:cNvCxnSpPr>
          <p:nvPr/>
        </p:nvCxnSpPr>
        <p:spPr>
          <a:xfrm>
            <a:off x="8003203" y="2711804"/>
            <a:ext cx="1526665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3269603-DD17-5248-AECB-269FF125E1D4}"/>
              </a:ext>
            </a:extLst>
          </p:cNvPr>
          <p:cNvSpPr txBox="1"/>
          <p:nvPr/>
        </p:nvSpPr>
        <p:spPr>
          <a:xfrm>
            <a:off x="6793816" y="2517778"/>
            <a:ext cx="9294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857C"/>
                </a:solidFill>
              </a:rPr>
              <a:t>AXI4-Lite</a:t>
            </a: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7E255F11-FC77-04B7-7834-9283E7C7A440}"/>
              </a:ext>
            </a:extLst>
          </p:cNvPr>
          <p:cNvCxnSpPr>
            <a:endCxn id="22" idx="0"/>
          </p:cNvCxnSpPr>
          <p:nvPr/>
        </p:nvCxnSpPr>
        <p:spPr>
          <a:xfrm>
            <a:off x="10027004" y="2711804"/>
            <a:ext cx="1030342" cy="444141"/>
          </a:xfrm>
          <a:prstGeom prst="bentConnector2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89865A4-9C5D-95AF-08C7-606B1E65AAD8}"/>
                  </a:ext>
                </a:extLst>
              </p:cNvPr>
              <p:cNvSpPr txBox="1"/>
              <p:nvPr/>
            </p:nvSpPr>
            <p:spPr>
              <a:xfrm>
                <a:off x="8082390" y="2188584"/>
                <a:ext cx="104368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br>
                  <a:rPr lang="en-US" sz="1400" dirty="0"/>
                </a:br>
                <a:r>
                  <a:rPr lang="en-US" sz="1400" dirty="0"/>
                  <a:t>Coefficients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A5CBA31-FA73-08DB-5299-7139C1E2E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2390" y="2188584"/>
                <a:ext cx="1043684" cy="523220"/>
              </a:xfrm>
              <a:prstGeom prst="rect">
                <a:avLst/>
              </a:prstGeom>
              <a:blipFill>
                <a:blip r:embed="rId5"/>
                <a:stretch>
                  <a:fillRect l="-1754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091DC8FB-AF1B-81F2-043C-7B3FBCC8D6AC}"/>
              </a:ext>
            </a:extLst>
          </p:cNvPr>
          <p:cNvSpPr txBox="1"/>
          <p:nvPr/>
        </p:nvSpPr>
        <p:spPr>
          <a:xfrm>
            <a:off x="6389179" y="3916168"/>
            <a:ext cx="1223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F6FA8"/>
                </a:solidFill>
              </a:rPr>
              <a:t>AXI4-Stream</a:t>
            </a:r>
          </a:p>
        </p:txBody>
      </p:sp>
      <p:sp>
        <p:nvSpPr>
          <p:cNvPr id="41" name="Left Brace 40">
            <a:extLst>
              <a:ext uri="{FF2B5EF4-FFF2-40B4-BE49-F238E27FC236}">
                <a16:creationId xmlns:a16="http://schemas.microsoft.com/office/drawing/2014/main" id="{ADA2C7D3-D2ED-377D-08F6-7BA7679E4093}"/>
              </a:ext>
            </a:extLst>
          </p:cNvPr>
          <p:cNvSpPr/>
          <p:nvPr/>
        </p:nvSpPr>
        <p:spPr>
          <a:xfrm>
            <a:off x="7608519" y="3300578"/>
            <a:ext cx="486633" cy="1593332"/>
          </a:xfrm>
          <a:prstGeom prst="leftBrace">
            <a:avLst/>
          </a:prstGeom>
          <a:ln w="25400">
            <a:solidFill>
              <a:srgbClr val="2F6F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 descr="Green checkmark icon - Free green check mark icons">
            <a:extLst>
              <a:ext uri="{FF2B5EF4-FFF2-40B4-BE49-F238E27FC236}">
                <a16:creationId xmlns:a16="http://schemas.microsoft.com/office/drawing/2014/main" id="{E0C31F0D-8B36-6177-5951-2E7B7E30E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950" y="3651609"/>
            <a:ext cx="694582" cy="650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Simple red cross mark icon. Vector. 26529438 Vector Art at ...">
            <a:extLst>
              <a:ext uri="{FF2B5EF4-FFF2-40B4-BE49-F238E27FC236}">
                <a16:creationId xmlns:a16="http://schemas.microsoft.com/office/drawing/2014/main" id="{2557DCEE-64DE-EE93-A1BD-EF3AE9179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44" y="2752097"/>
            <a:ext cx="647406" cy="609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52179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9D8A3-8CAC-3489-F17A-FC0A69502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3:  Vitis’ Flawed Execution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A00C6-EA1A-E68E-F96B-F66F04FBA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D56979-8544-F878-BF94-1997D1755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561" y="2535989"/>
            <a:ext cx="3440199" cy="2895986"/>
          </a:xfrm>
          <a:prstGeom prst="rect">
            <a:avLst/>
          </a:prstGeom>
        </p:spPr>
      </p:pic>
      <p:pic>
        <p:nvPicPr>
          <p:cNvPr id="9" name="Picture 2" descr="Coder Female: Over 977 Royalty-Free Licensable Stock Illustrations &amp;  Drawings | Shutterstock">
            <a:extLst>
              <a:ext uri="{FF2B5EF4-FFF2-40B4-BE49-F238E27FC236}">
                <a16:creationId xmlns:a16="http://schemas.microsoft.com/office/drawing/2014/main" id="{63F03467-C3D9-B770-07FE-2CD3076C68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8" t="-28" r="17239" b="23451"/>
          <a:stretch>
            <a:fillRect/>
          </a:stretch>
        </p:blipFill>
        <p:spPr bwMode="auto">
          <a:xfrm>
            <a:off x="377452" y="3211742"/>
            <a:ext cx="1108222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A3F805-6192-6429-5B78-60BCD7332208}"/>
              </a:ext>
            </a:extLst>
          </p:cNvPr>
          <p:cNvSpPr txBox="1"/>
          <p:nvPr/>
        </p:nvSpPr>
        <p:spPr>
          <a:xfrm>
            <a:off x="377452" y="4374095"/>
            <a:ext cx="117384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Software</a:t>
            </a:r>
            <a:r>
              <a:rPr lang="en-US" dirty="0"/>
              <a:t> </a:t>
            </a:r>
          </a:p>
          <a:p>
            <a:r>
              <a:rPr lang="en-US" dirty="0"/>
              <a:t>developer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B57396A-AC7C-9434-B8EE-53863DBCBC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187" y="3569944"/>
            <a:ext cx="3870493" cy="1158829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F44929B8-119F-1755-FE43-DC78713BFBB5}"/>
              </a:ext>
            </a:extLst>
          </p:cNvPr>
          <p:cNvSpPr/>
          <p:nvPr/>
        </p:nvSpPr>
        <p:spPr>
          <a:xfrm>
            <a:off x="5293872" y="3909506"/>
            <a:ext cx="1665215" cy="38173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peech Bubble: Oval 14">
            <a:extLst>
              <a:ext uri="{FF2B5EF4-FFF2-40B4-BE49-F238E27FC236}">
                <a16:creationId xmlns:a16="http://schemas.microsoft.com/office/drawing/2014/main" id="{3AC3F76C-6150-BC2C-1F68-1199B6E0AC8B}"/>
              </a:ext>
            </a:extLst>
          </p:cNvPr>
          <p:cNvSpPr/>
          <p:nvPr/>
        </p:nvSpPr>
        <p:spPr>
          <a:xfrm>
            <a:off x="640482" y="1589714"/>
            <a:ext cx="1930744" cy="1303060"/>
          </a:xfrm>
          <a:prstGeom prst="wedgeEllipseCallou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4EF294-0BE1-6A29-E0B4-14CE885BFE42}"/>
              </a:ext>
            </a:extLst>
          </p:cNvPr>
          <p:cNvSpPr txBox="1"/>
          <p:nvPr/>
        </p:nvSpPr>
        <p:spPr>
          <a:xfrm>
            <a:off x="1010343" y="1799040"/>
            <a:ext cx="13186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I need to </a:t>
            </a:r>
          </a:p>
          <a:p>
            <a:r>
              <a:rPr lang="en-US" i="1" dirty="0"/>
              <a:t>accelerate this step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F8678BD-AE9C-CFD3-229B-0F90C1D62B68}"/>
              </a:ext>
            </a:extLst>
          </p:cNvPr>
          <p:cNvSpPr/>
          <p:nvPr/>
        </p:nvSpPr>
        <p:spPr>
          <a:xfrm>
            <a:off x="1396822" y="3871519"/>
            <a:ext cx="3548488" cy="502576"/>
          </a:xfrm>
          <a:prstGeom prst="ellipse">
            <a:avLst/>
          </a:prstGeom>
          <a:noFill/>
          <a:ln w="28575">
            <a:solidFill>
              <a:srgbClr val="B453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85A85F2-E5E1-4505-351B-EA1C26909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1164" y="2178938"/>
            <a:ext cx="3870493" cy="1250062"/>
          </a:xfrm>
        </p:spPr>
        <p:txBody>
          <a:bodyPr/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■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pPr marL="0" indent="0">
              <a:buNone/>
            </a:pPr>
            <a:r>
              <a:rPr lang="en-US" dirty="0">
                <a:solidFill>
                  <a:srgbClr val="57068C"/>
                </a:solidFill>
              </a:rPr>
              <a:t>Vitis generated RTL equivalent code</a:t>
            </a:r>
          </a:p>
          <a:p>
            <a:pPr lvl="1"/>
            <a:r>
              <a:rPr lang="en-US" dirty="0"/>
              <a:t>Drop-in replacement for SW call</a:t>
            </a:r>
          </a:p>
          <a:p>
            <a:pPr lvl="1"/>
            <a:r>
              <a:rPr lang="en-US" dirty="0"/>
              <a:t>Called with sequential manner</a:t>
            </a:r>
          </a:p>
        </p:txBody>
      </p:sp>
      <p:pic>
        <p:nvPicPr>
          <p:cNvPr id="1026" name="Picture 2" descr="Xilinx Vitis HLS introduction - imperix">
            <a:extLst>
              <a:ext uri="{FF2B5EF4-FFF2-40B4-BE49-F238E27FC236}">
                <a16:creationId xmlns:a16="http://schemas.microsoft.com/office/drawing/2014/main" id="{B755EA6D-7FEC-F9C7-AA6B-68A2623D6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6499" y="3112434"/>
            <a:ext cx="1328399" cy="759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35923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E3804-C62C-29CE-9D97-2FCB0D377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Vitis Execution Model Flaws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350C821-4BCD-67D0-0E93-669FB75409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828082"/>
              </p:ext>
            </p:extLst>
          </p:nvPr>
        </p:nvGraphicFramePr>
        <p:xfrm>
          <a:off x="1096963" y="1539874"/>
          <a:ext cx="10058397" cy="2332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7444">
                  <a:extLst>
                    <a:ext uri="{9D8B030D-6E8A-4147-A177-3AD203B41FA5}">
                      <a16:colId xmlns:a16="http://schemas.microsoft.com/office/drawing/2014/main" val="1733473567"/>
                    </a:ext>
                  </a:extLst>
                </a:gridCol>
                <a:gridCol w="3338819">
                  <a:extLst>
                    <a:ext uri="{9D8B030D-6E8A-4147-A177-3AD203B41FA5}">
                      <a16:colId xmlns:a16="http://schemas.microsoft.com/office/drawing/2014/main" val="3475919425"/>
                    </a:ext>
                  </a:extLst>
                </a:gridCol>
                <a:gridCol w="4012134">
                  <a:extLst>
                    <a:ext uri="{9D8B030D-6E8A-4147-A177-3AD203B41FA5}">
                      <a16:colId xmlns:a16="http://schemas.microsoft.com/office/drawing/2014/main" val="1529927841"/>
                    </a:ext>
                  </a:extLst>
                </a:gridCol>
              </a:tblGrid>
              <a:tr h="526174">
                <a:tc>
                  <a:txBody>
                    <a:bodyPr/>
                    <a:lstStyle/>
                    <a:p>
                      <a:r>
                        <a:rPr lang="en-US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Vitis Assumption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Proper hardware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465373"/>
                  </a:ext>
                </a:extLst>
              </a:tr>
              <a:tr h="558683">
                <a:tc>
                  <a:txBody>
                    <a:bodyPr/>
                    <a:lstStyle/>
                    <a:p>
                      <a:r>
                        <a:rPr lang="en-US" dirty="0"/>
                        <a:t>Execution paradigm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Module is “called” like a C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Modules operate continuously and</a:t>
                      </a:r>
                    </a:p>
                    <a:p>
                      <a:r>
                        <a:rPr lang="en-US" dirty="0"/>
                        <a:t>respond to events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656429"/>
                  </a:ext>
                </a:extLst>
              </a:tr>
              <a:tr h="558683">
                <a:tc>
                  <a:txBody>
                    <a:bodyPr/>
                    <a:lstStyle/>
                    <a:p>
                      <a:r>
                        <a:rPr lang="en-US" dirty="0"/>
                        <a:t>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C-like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Hardware channels e.g., FIFOs and memory-mapped interfaces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48549"/>
                  </a:ext>
                </a:extLst>
              </a:tr>
              <a:tr h="526174">
                <a:tc>
                  <a:txBody>
                    <a:bodyPr/>
                    <a:lstStyle/>
                    <a:p>
                      <a:r>
                        <a:rPr lang="en-US" dirty="0"/>
                        <a:t>Concurrent behavior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Obscured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Made explicit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91163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456E9-E376-BF30-2016-ACD456E6C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42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7E48C1E-3D31-79A1-8C4B-9118AA8A8985}"/>
              </a:ext>
            </a:extLst>
          </p:cNvPr>
          <p:cNvSpPr/>
          <p:nvPr/>
        </p:nvSpPr>
        <p:spPr>
          <a:xfrm>
            <a:off x="2592196" y="4688952"/>
            <a:ext cx="6048463" cy="914400"/>
          </a:xfrm>
          <a:prstGeom prst="roundRect">
            <a:avLst/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57068C"/>
                </a:solidFill>
              </a:rPr>
              <a:t>Hardware is not software</a:t>
            </a:r>
          </a:p>
        </p:txBody>
      </p:sp>
      <p:pic>
        <p:nvPicPr>
          <p:cNvPr id="7" name="Picture 2" descr="Green checkmark icon - Free green check mark icons">
            <a:extLst>
              <a:ext uri="{FF2B5EF4-FFF2-40B4-BE49-F238E27FC236}">
                <a16:creationId xmlns:a16="http://schemas.microsoft.com/office/drawing/2014/main" id="{F0C8E41E-D704-1BCC-6209-2690A3E38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6934" y="3725872"/>
            <a:ext cx="694582" cy="650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Simple red cross mark icon. Vector. 26529438 Vector Art at ...">
            <a:extLst>
              <a:ext uri="{FF2B5EF4-FFF2-40B4-BE49-F238E27FC236}">
                <a16:creationId xmlns:a16="http://schemas.microsoft.com/office/drawing/2014/main" id="{F211B40B-71D0-8A28-BEE0-41933CDA7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809" y="3767170"/>
            <a:ext cx="647406" cy="609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8267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91C57-3EB2-E520-3514-96F45A754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F8EE6-3A00-1929-A4E2-F8C5EB596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F4F66-AFF9-131D-D8D9-51EDD9E61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■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r>
              <a:rPr lang="en-US" sz="2400" dirty="0"/>
              <a:t>FIFOs</a:t>
            </a:r>
          </a:p>
          <a:p>
            <a:r>
              <a:rPr lang="en-US" sz="2400" dirty="0"/>
              <a:t>AXI4-Stream: Pure Streaming</a:t>
            </a:r>
          </a:p>
          <a:p>
            <a:r>
              <a:rPr lang="en-US" sz="2400" dirty="0"/>
              <a:t>Limitations of Pure Streaming with Vitis </a:t>
            </a:r>
          </a:p>
          <a:p>
            <a:r>
              <a:rPr lang="en-US" sz="2400" dirty="0"/>
              <a:t>AXI4-Stream: Packets and Serialization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089C7-64A4-F7F7-8D7D-6B9FA02B6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2AF7767E-346E-8A29-770D-91E1C9B11D02}"/>
              </a:ext>
            </a:extLst>
          </p:cNvPr>
          <p:cNvSpPr/>
          <p:nvPr/>
        </p:nvSpPr>
        <p:spPr>
          <a:xfrm>
            <a:off x="349172" y="3005372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4389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F70C8-5A01-AF1E-0680-FE73C5B40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04340-A292-4750-DABC-C181D7255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vs. Packetized Streaming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AF082E-5A4F-E08C-546F-E956403BA9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5368059" cy="4329817"/>
              </a:xfrm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 sz="2400" dirty="0">
                    <a:solidFill>
                      <a:srgbClr val="57068C"/>
                    </a:solidFill>
                  </a:rPr>
                  <a:t>Pure streaming</a:t>
                </a:r>
              </a:p>
              <a:p>
                <a:pPr lvl="1"/>
                <a:r>
                  <a:rPr lang="en-US" sz="2000" dirty="0"/>
                  <a:t>Module processes one </a:t>
                </a:r>
                <a:r>
                  <a:rPr lang="en-US" sz="2000" dirty="0">
                    <a:solidFill>
                      <a:srgbClr val="00857C"/>
                    </a:solidFill>
                  </a:rPr>
                  <a:t>data element </a:t>
                </a:r>
                <a:r>
                  <a:rPr lang="en-US" sz="2000" dirty="0"/>
                  <a:t>at a time</a:t>
                </a:r>
              </a:p>
              <a:p>
                <a:pPr lvl="1"/>
                <a:r>
                  <a:rPr lang="en-US" sz="2000" dirty="0"/>
                  <a:t>Ex: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pPr lvl="1"/>
                <a:r>
                  <a:rPr lang="en-US" sz="2000" dirty="0">
                    <a:solidFill>
                      <a:srgbClr val="2F6FA8"/>
                    </a:solidFill>
                  </a:rPr>
                  <a:t>Control</a:t>
                </a:r>
                <a:r>
                  <a:rPr lang="en-US" sz="2000" dirty="0"/>
                  <a:t> (e.g.,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) set in a separate path</a:t>
                </a:r>
              </a:p>
              <a:p>
                <a:pPr lvl="1"/>
                <a:endParaRPr lang="en-US" sz="2000" dirty="0"/>
              </a:p>
              <a:p>
                <a:r>
                  <a:rPr lang="en-US" sz="2400" dirty="0">
                    <a:solidFill>
                      <a:srgbClr val="57068C"/>
                    </a:solidFill>
                  </a:rPr>
                  <a:t>Packet streaming</a:t>
                </a:r>
              </a:p>
              <a:p>
                <a:pPr lvl="1"/>
                <a:r>
                  <a:rPr lang="en-US" sz="2000" dirty="0"/>
                  <a:t>Module processes data in </a:t>
                </a:r>
                <a:r>
                  <a:rPr lang="en-US" sz="2000" dirty="0">
                    <a:solidFill>
                      <a:srgbClr val="57068C"/>
                    </a:solidFill>
                  </a:rPr>
                  <a:t>blocks</a:t>
                </a:r>
                <a:r>
                  <a:rPr lang="en-US" sz="2000" dirty="0"/>
                  <a:t> or </a:t>
                </a:r>
                <a:r>
                  <a:rPr lang="en-US" sz="2000" dirty="0">
                    <a:solidFill>
                      <a:srgbClr val="57068C"/>
                    </a:solidFill>
                  </a:rPr>
                  <a:t>packets</a:t>
                </a:r>
              </a:p>
              <a:p>
                <a:pPr lvl="1"/>
                <a:r>
                  <a:rPr lang="en-US" sz="2000" dirty="0"/>
                  <a:t>Control may be sent with packet</a:t>
                </a:r>
              </a:p>
              <a:p>
                <a:pPr lvl="1"/>
                <a:endParaRPr lang="en-US" sz="200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AF082E-5A4F-E08C-546F-E956403BA9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5368059" cy="4329817"/>
              </a:xfrm>
              <a:blipFill>
                <a:blip r:embed="rId2"/>
                <a:stretch>
                  <a:fillRect l="-3178" t="-1972"/>
                </a:stretch>
              </a:blipFill>
            </p:spPr>
            <p:txBody>
              <a:bodyPr/>
              <a:lstStyle>
                <a:lvl1pPr marL="274320" indent="-274320">
                  <a:buClr>
                    <a:srgbClr val="57068C"/>
                  </a:buClr>
                  <a:buSzPct val="70000"/>
                  <a:buFont typeface="Arial"/>
                  <a:buChar char="■"/>
                </a:lvl1pPr>
                <a:lvl2pPr marL="621792" indent="-228600">
                  <a:buClr>
                    <a:srgbClr val="999999"/>
                  </a:buClr>
                  <a:buSzPct val="100000"/>
                  <a:buFont typeface="Arial"/>
                  <a:buChar char="–"/>
                </a:lvl2pPr>
              </a:lstStyle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7E6F8-218E-5D07-D287-333953A71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44</a:t>
            </a:fld>
            <a:endParaRPr lang="en-US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791202F-68B2-84C1-C614-43542C9C8361}"/>
              </a:ext>
            </a:extLst>
          </p:cNvPr>
          <p:cNvSpPr/>
          <p:nvPr/>
        </p:nvSpPr>
        <p:spPr>
          <a:xfrm>
            <a:off x="9025291" y="2261257"/>
            <a:ext cx="1067793" cy="840568"/>
          </a:xfrm>
          <a:prstGeom prst="roundRect">
            <a:avLst/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rgbClr val="57068C"/>
          </a:fillRef>
          <a:effectRef idx="0">
            <a:srgbClr val="57068C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32D5E5-988E-9E2E-8F77-36936A012DD2}"/>
              </a:ext>
            </a:extLst>
          </p:cNvPr>
          <p:cNvSpPr txBox="1"/>
          <p:nvPr/>
        </p:nvSpPr>
        <p:spPr>
          <a:xfrm>
            <a:off x="8906604" y="3110648"/>
            <a:ext cx="130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57068C"/>
                </a:solidFill>
              </a:rPr>
              <a:t>HW module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7196C10-DE0A-03D4-491E-CA386772EF90}"/>
              </a:ext>
            </a:extLst>
          </p:cNvPr>
          <p:cNvCxnSpPr>
            <a:cxnSpLocks/>
          </p:cNvCxnSpPr>
          <p:nvPr/>
        </p:nvCxnSpPr>
        <p:spPr>
          <a:xfrm>
            <a:off x="8612365" y="2733856"/>
            <a:ext cx="359622" cy="0"/>
          </a:xfrm>
          <a:prstGeom prst="straightConnector1">
            <a:avLst/>
          </a:prstGeom>
          <a:ln w="25400">
            <a:solidFill>
              <a:srgbClr val="0085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7CDC7AE-D497-A49A-115D-3852963E2A9F}"/>
              </a:ext>
            </a:extLst>
          </p:cNvPr>
          <p:cNvGrpSpPr/>
          <p:nvPr/>
        </p:nvGrpSpPr>
        <p:grpSpPr>
          <a:xfrm>
            <a:off x="7684440" y="2394551"/>
            <a:ext cx="852527" cy="602910"/>
            <a:chOff x="7684440" y="2394551"/>
            <a:chExt cx="852527" cy="60291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62A5C8-3523-5074-7980-5F42F3BBBC33}"/>
                </a:ext>
              </a:extLst>
            </p:cNvPr>
            <p:cNvSpPr/>
            <p:nvPr/>
          </p:nvSpPr>
          <p:spPr>
            <a:xfrm rot="5400000">
              <a:off x="8182170" y="2642656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B740196-42E4-F405-0FB1-BB62CB6873E8}"/>
                </a:ext>
              </a:extLst>
            </p:cNvPr>
            <p:cNvSpPr/>
            <p:nvPr/>
          </p:nvSpPr>
          <p:spPr>
            <a:xfrm rot="5400000">
              <a:off x="8075478" y="2642656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84F7601-9099-5A75-BDDD-B597CD854ABA}"/>
                </a:ext>
              </a:extLst>
            </p:cNvPr>
            <p:cNvSpPr/>
            <p:nvPr/>
          </p:nvSpPr>
          <p:spPr>
            <a:xfrm rot="5400000">
              <a:off x="7968786" y="2642656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2D6ACD-3F57-CEFE-C841-6550695CED89}"/>
                </a:ext>
              </a:extLst>
            </p:cNvPr>
            <p:cNvSpPr/>
            <p:nvPr/>
          </p:nvSpPr>
          <p:spPr>
            <a:xfrm rot="5400000">
              <a:off x="7862094" y="2642656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20A58D6-19AB-1FBE-024A-532101551F24}"/>
                </a:ext>
              </a:extLst>
            </p:cNvPr>
            <p:cNvSpPr/>
            <p:nvPr/>
          </p:nvSpPr>
          <p:spPr>
            <a:xfrm rot="5400000">
              <a:off x="7756411" y="2642664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3632D8-4FDF-4B83-3E29-42E5C29CBB67}"/>
                </a:ext>
              </a:extLst>
            </p:cNvPr>
            <p:cNvSpPr/>
            <p:nvPr/>
          </p:nvSpPr>
          <p:spPr>
            <a:xfrm rot="5400000">
              <a:off x="7649719" y="2642664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4502DF-DABD-8D39-37BA-63ECD638D454}"/>
                </a:ext>
              </a:extLst>
            </p:cNvPr>
            <p:cNvSpPr/>
            <p:nvPr/>
          </p:nvSpPr>
          <p:spPr>
            <a:xfrm rot="5400000">
              <a:off x="7543027" y="2642664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C1505C4-C807-A40C-9888-71857CB5D910}"/>
                </a:ext>
              </a:extLst>
            </p:cNvPr>
            <p:cNvSpPr/>
            <p:nvPr/>
          </p:nvSpPr>
          <p:spPr>
            <a:xfrm rot="5400000">
              <a:off x="7436335" y="2642664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64865E1-E4D6-26A9-1CA9-40F282B1A5C2}"/>
              </a:ext>
            </a:extLst>
          </p:cNvPr>
          <p:cNvCxnSpPr>
            <a:cxnSpLocks/>
          </p:cNvCxnSpPr>
          <p:nvPr/>
        </p:nvCxnSpPr>
        <p:spPr>
          <a:xfrm>
            <a:off x="7204253" y="2717981"/>
            <a:ext cx="359622" cy="0"/>
          </a:xfrm>
          <a:prstGeom prst="straightConnector1">
            <a:avLst/>
          </a:prstGeom>
          <a:ln w="25400">
            <a:solidFill>
              <a:srgbClr val="0085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8BA8799-1C32-B2BE-156F-012F92BC4BEF}"/>
              </a:ext>
            </a:extLst>
          </p:cNvPr>
          <p:cNvCxnSpPr>
            <a:cxnSpLocks/>
          </p:cNvCxnSpPr>
          <p:nvPr/>
        </p:nvCxnSpPr>
        <p:spPr>
          <a:xfrm>
            <a:off x="10167432" y="2702103"/>
            <a:ext cx="359622" cy="0"/>
          </a:xfrm>
          <a:prstGeom prst="straightConnector1">
            <a:avLst/>
          </a:prstGeom>
          <a:ln w="25400">
            <a:solidFill>
              <a:srgbClr val="0085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374DCF47-833D-7AB6-AE85-DF3010432AB5}"/>
              </a:ext>
            </a:extLst>
          </p:cNvPr>
          <p:cNvSpPr/>
          <p:nvPr/>
        </p:nvSpPr>
        <p:spPr>
          <a:xfrm>
            <a:off x="8243564" y="1653065"/>
            <a:ext cx="266730" cy="505870"/>
          </a:xfrm>
          <a:prstGeom prst="rect">
            <a:avLst/>
          </a:prstGeom>
          <a:solidFill>
            <a:srgbClr val="EAF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D784176-E37C-2DF4-EC33-B73405912C9A}"/>
              </a:ext>
            </a:extLst>
          </p:cNvPr>
          <p:cNvSpPr txBox="1"/>
          <p:nvPr/>
        </p:nvSpPr>
        <p:spPr>
          <a:xfrm>
            <a:off x="7204253" y="1721334"/>
            <a:ext cx="877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2F6FA8"/>
                </a:solidFill>
              </a:rPr>
              <a:t>Control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E8DED9-986D-CF57-E609-6A15386DFD97}"/>
              </a:ext>
            </a:extLst>
          </p:cNvPr>
          <p:cNvSpPr txBox="1"/>
          <p:nvPr/>
        </p:nvSpPr>
        <p:spPr>
          <a:xfrm>
            <a:off x="6431918" y="2348649"/>
            <a:ext cx="1152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857C"/>
                </a:solidFill>
              </a:rPr>
              <a:t>Input data</a:t>
            </a:r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EF11C7E7-25FA-56BB-0701-B4F5EDF9324F}"/>
              </a:ext>
            </a:extLst>
          </p:cNvPr>
          <p:cNvCxnSpPr>
            <a:endCxn id="22" idx="0"/>
          </p:cNvCxnSpPr>
          <p:nvPr/>
        </p:nvCxnSpPr>
        <p:spPr>
          <a:xfrm>
            <a:off x="8612365" y="1906000"/>
            <a:ext cx="946823" cy="355257"/>
          </a:xfrm>
          <a:prstGeom prst="bentConnector2">
            <a:avLst/>
          </a:prstGeom>
          <a:ln w="19050">
            <a:solidFill>
              <a:srgbClr val="2F6F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39B194B-6EA8-EBE2-827C-C702DF545BDC}"/>
              </a:ext>
            </a:extLst>
          </p:cNvPr>
          <p:cNvSpPr txBox="1"/>
          <p:nvPr/>
        </p:nvSpPr>
        <p:spPr>
          <a:xfrm>
            <a:off x="10367588" y="2025219"/>
            <a:ext cx="1324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857C"/>
                </a:solidFill>
              </a:rPr>
              <a:t>Output data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6056BC7-9E8D-E642-E70B-32BF32BFCC25}"/>
              </a:ext>
            </a:extLst>
          </p:cNvPr>
          <p:cNvGrpSpPr/>
          <p:nvPr/>
        </p:nvGrpSpPr>
        <p:grpSpPr>
          <a:xfrm>
            <a:off x="10625259" y="2432401"/>
            <a:ext cx="852527" cy="602910"/>
            <a:chOff x="7684440" y="2394551"/>
            <a:chExt cx="852527" cy="60291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DBB8727-DABE-B65A-FF02-14CFA0BD3927}"/>
                </a:ext>
              </a:extLst>
            </p:cNvPr>
            <p:cNvSpPr/>
            <p:nvPr/>
          </p:nvSpPr>
          <p:spPr>
            <a:xfrm rot="5400000">
              <a:off x="8182170" y="2642656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A4E5EF9-2D03-7181-DA49-34FD772280DD}"/>
                </a:ext>
              </a:extLst>
            </p:cNvPr>
            <p:cNvSpPr/>
            <p:nvPr/>
          </p:nvSpPr>
          <p:spPr>
            <a:xfrm rot="5400000">
              <a:off x="8075478" y="2642656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0EC30DD-6612-2C75-66A8-B8985ADBFE45}"/>
                </a:ext>
              </a:extLst>
            </p:cNvPr>
            <p:cNvSpPr/>
            <p:nvPr/>
          </p:nvSpPr>
          <p:spPr>
            <a:xfrm rot="5400000">
              <a:off x="7968786" y="2642656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779C16E-82BE-1260-C968-1C92A45A0F5E}"/>
                </a:ext>
              </a:extLst>
            </p:cNvPr>
            <p:cNvSpPr/>
            <p:nvPr/>
          </p:nvSpPr>
          <p:spPr>
            <a:xfrm rot="5400000">
              <a:off x="7862094" y="2642656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8E4C9B4-E4D4-935F-65DE-60BC61B4433A}"/>
                </a:ext>
              </a:extLst>
            </p:cNvPr>
            <p:cNvSpPr/>
            <p:nvPr/>
          </p:nvSpPr>
          <p:spPr>
            <a:xfrm rot="5400000">
              <a:off x="7756411" y="2642664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C3884B5-FC98-CB0F-E04D-CB0ADC9C416E}"/>
                </a:ext>
              </a:extLst>
            </p:cNvPr>
            <p:cNvSpPr/>
            <p:nvPr/>
          </p:nvSpPr>
          <p:spPr>
            <a:xfrm rot="5400000">
              <a:off x="7649719" y="2642664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99210E3B-8A07-3366-A3A3-1BF24B280DD7}"/>
                </a:ext>
              </a:extLst>
            </p:cNvPr>
            <p:cNvSpPr/>
            <p:nvPr/>
          </p:nvSpPr>
          <p:spPr>
            <a:xfrm rot="5400000">
              <a:off x="7543027" y="2642664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DD26E71-30A8-85D1-779C-0912575C0CA5}"/>
                </a:ext>
              </a:extLst>
            </p:cNvPr>
            <p:cNvSpPr/>
            <p:nvPr/>
          </p:nvSpPr>
          <p:spPr>
            <a:xfrm rot="5400000">
              <a:off x="7436335" y="2642664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503180AC-3036-ADE4-FECA-5472189B28CC}"/>
              </a:ext>
            </a:extLst>
          </p:cNvPr>
          <p:cNvSpPr/>
          <p:nvPr/>
        </p:nvSpPr>
        <p:spPr>
          <a:xfrm>
            <a:off x="8612365" y="4426946"/>
            <a:ext cx="1067793" cy="840568"/>
          </a:xfrm>
          <a:prstGeom prst="roundRect">
            <a:avLst/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7452CAB-BD34-6CFD-184F-F88D7723D001}"/>
              </a:ext>
            </a:extLst>
          </p:cNvPr>
          <p:cNvSpPr txBox="1"/>
          <p:nvPr/>
        </p:nvSpPr>
        <p:spPr>
          <a:xfrm>
            <a:off x="8493678" y="5276337"/>
            <a:ext cx="130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57068C"/>
                </a:solidFill>
              </a:rPr>
              <a:t>HW module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C6F1298-7F28-30DD-9883-B80C5FF858B1}"/>
              </a:ext>
            </a:extLst>
          </p:cNvPr>
          <p:cNvCxnSpPr>
            <a:cxnSpLocks/>
          </p:cNvCxnSpPr>
          <p:nvPr/>
        </p:nvCxnSpPr>
        <p:spPr>
          <a:xfrm>
            <a:off x="8199439" y="4899545"/>
            <a:ext cx="359622" cy="0"/>
          </a:xfrm>
          <a:prstGeom prst="straightConnector1">
            <a:avLst/>
          </a:prstGeom>
          <a:ln w="25400">
            <a:solidFill>
              <a:srgbClr val="0085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AC9D529-DC05-C081-0A0D-68CB863D0529}"/>
              </a:ext>
            </a:extLst>
          </p:cNvPr>
          <p:cNvCxnSpPr>
            <a:cxnSpLocks/>
          </p:cNvCxnSpPr>
          <p:nvPr/>
        </p:nvCxnSpPr>
        <p:spPr>
          <a:xfrm>
            <a:off x="6264300" y="4919087"/>
            <a:ext cx="359622" cy="0"/>
          </a:xfrm>
          <a:prstGeom prst="straightConnector1">
            <a:avLst/>
          </a:prstGeom>
          <a:ln w="25400">
            <a:solidFill>
              <a:srgbClr val="0085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46273A4B-9B6E-4892-F14C-8400C376B2B9}"/>
              </a:ext>
            </a:extLst>
          </p:cNvPr>
          <p:cNvSpPr/>
          <p:nvPr/>
        </p:nvSpPr>
        <p:spPr>
          <a:xfrm>
            <a:off x="6872098" y="4626389"/>
            <a:ext cx="264648" cy="594901"/>
          </a:xfrm>
          <a:prstGeom prst="rect">
            <a:avLst/>
          </a:prstGeom>
          <a:solidFill>
            <a:srgbClr val="EAF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2089955-0A75-FCC9-9FED-D4BF3CC6C6D8}"/>
              </a:ext>
            </a:extLst>
          </p:cNvPr>
          <p:cNvSpPr txBox="1"/>
          <p:nvPr/>
        </p:nvSpPr>
        <p:spPr>
          <a:xfrm>
            <a:off x="6364211" y="5333498"/>
            <a:ext cx="877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2F6FA8"/>
                </a:solidFill>
              </a:rPr>
              <a:t>Control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8CF1BDF-353C-101D-0A7E-563CE5B71E20}"/>
              </a:ext>
            </a:extLst>
          </p:cNvPr>
          <p:cNvSpPr txBox="1"/>
          <p:nvPr/>
        </p:nvSpPr>
        <p:spPr>
          <a:xfrm>
            <a:off x="7321656" y="5333498"/>
            <a:ext cx="620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857C"/>
                </a:solidFill>
              </a:rPr>
              <a:t>Data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DBF58C8-A670-1F32-14BF-6B438B1A1F2B}"/>
              </a:ext>
            </a:extLst>
          </p:cNvPr>
          <p:cNvSpPr/>
          <p:nvPr/>
        </p:nvSpPr>
        <p:spPr>
          <a:xfrm>
            <a:off x="7155795" y="4626388"/>
            <a:ext cx="875144" cy="594901"/>
          </a:xfrm>
          <a:prstGeom prst="rect">
            <a:avLst/>
          </a:prstGeom>
          <a:solidFill>
            <a:srgbClr val="DCEF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06F9B54E-6B89-9E62-E398-9A606C9AC23F}"/>
              </a:ext>
            </a:extLst>
          </p:cNvPr>
          <p:cNvCxnSpPr>
            <a:cxnSpLocks/>
          </p:cNvCxnSpPr>
          <p:nvPr/>
        </p:nvCxnSpPr>
        <p:spPr>
          <a:xfrm>
            <a:off x="9852147" y="4899545"/>
            <a:ext cx="359622" cy="0"/>
          </a:xfrm>
          <a:prstGeom prst="straightConnector1">
            <a:avLst/>
          </a:prstGeom>
          <a:ln w="25400">
            <a:solidFill>
              <a:srgbClr val="0085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51722E52-1B37-F5D1-8598-DC2A30350B60}"/>
              </a:ext>
            </a:extLst>
          </p:cNvPr>
          <p:cNvSpPr/>
          <p:nvPr/>
        </p:nvSpPr>
        <p:spPr>
          <a:xfrm>
            <a:off x="10311086" y="4626388"/>
            <a:ext cx="264648" cy="594901"/>
          </a:xfrm>
          <a:prstGeom prst="rect">
            <a:avLst/>
          </a:prstGeom>
          <a:solidFill>
            <a:srgbClr val="EAF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0CAB993-87D8-1388-D9BC-E1A3EACC56D5}"/>
              </a:ext>
            </a:extLst>
          </p:cNvPr>
          <p:cNvSpPr/>
          <p:nvPr/>
        </p:nvSpPr>
        <p:spPr>
          <a:xfrm>
            <a:off x="10594783" y="4626387"/>
            <a:ext cx="875144" cy="594901"/>
          </a:xfrm>
          <a:prstGeom prst="rect">
            <a:avLst/>
          </a:prstGeom>
          <a:solidFill>
            <a:srgbClr val="DCEF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EAFDB05-9EFE-0C32-BCC0-5892130F696B}"/>
              </a:ext>
            </a:extLst>
          </p:cNvPr>
          <p:cNvSpPr txBox="1"/>
          <p:nvPr/>
        </p:nvSpPr>
        <p:spPr>
          <a:xfrm>
            <a:off x="9987890" y="5351726"/>
            <a:ext cx="877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2F6FA8"/>
                </a:solidFill>
              </a:rPr>
              <a:t>Control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0088015-95D2-F8FB-1425-EFBF469FA312}"/>
              </a:ext>
            </a:extLst>
          </p:cNvPr>
          <p:cNvSpPr txBox="1"/>
          <p:nvPr/>
        </p:nvSpPr>
        <p:spPr>
          <a:xfrm>
            <a:off x="10838643" y="5351726"/>
            <a:ext cx="620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857C"/>
                </a:solidFill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42694948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6A96D-0C86-0E4B-1B67-9212B8AD4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E50BE-7D2C-45AC-24E3-12B7D5240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AXI4-Stream Protocol with Packetization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39692-B3EB-70AE-2261-6CC46457B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45</a:t>
            </a:fld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4C2A5BA-0AA3-EAE9-951F-E143C5812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8803" y="1769792"/>
            <a:ext cx="6008502" cy="4152223"/>
          </a:xfrm>
        </p:spPr>
        <p:txBody>
          <a:bodyPr>
            <a:normAutofit/>
          </a:bodyPr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■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r>
              <a:rPr lang="en-US" dirty="0"/>
              <a:t>Add a </a:t>
            </a:r>
            <a:r>
              <a:rPr lang="en-US" dirty="0">
                <a:solidFill>
                  <a:srgbClr val="00857C"/>
                </a:solidFill>
              </a:rPr>
              <a:t>TLAST</a:t>
            </a:r>
            <a:r>
              <a:rPr lang="en-US" dirty="0"/>
              <a:t> line</a:t>
            </a:r>
          </a:p>
          <a:p>
            <a:r>
              <a:rPr lang="en-US" dirty="0"/>
              <a:t>TLAST = 1 on the last transfer</a:t>
            </a:r>
          </a:p>
          <a:p>
            <a:r>
              <a:rPr lang="en-US" dirty="0"/>
              <a:t>Indicates the end of packet</a:t>
            </a:r>
          </a:p>
          <a:p>
            <a:r>
              <a:rPr lang="en-US" dirty="0"/>
              <a:t>Packets are transferred in </a:t>
            </a:r>
            <a:r>
              <a:rPr lang="en-US" dirty="0">
                <a:solidFill>
                  <a:srgbClr val="57068C"/>
                </a:solidFill>
              </a:rPr>
              <a:t>bursts</a:t>
            </a:r>
          </a:p>
          <a:p>
            <a:pPr lvl="1"/>
            <a:r>
              <a:rPr lang="en-US" dirty="0"/>
              <a:t>Begins with first TVALID = 1</a:t>
            </a:r>
          </a:p>
          <a:p>
            <a:pPr lvl="1"/>
            <a:r>
              <a:rPr lang="en-US" dirty="0"/>
              <a:t>Ends with the transfer that has TLAST=1</a:t>
            </a:r>
          </a:p>
          <a:p>
            <a:r>
              <a:rPr lang="en-US" dirty="0"/>
              <a:t>Cycles in a burst are called </a:t>
            </a:r>
            <a:r>
              <a:rPr lang="en-US" dirty="0">
                <a:solidFill>
                  <a:srgbClr val="57068C"/>
                </a:solidFill>
              </a:rPr>
              <a:t>beats</a:t>
            </a:r>
          </a:p>
          <a:p>
            <a:pPr lvl="1"/>
            <a:r>
              <a:rPr lang="en-US" dirty="0"/>
              <a:t>Transfer beat (TVALID=TREADY=1)</a:t>
            </a:r>
          </a:p>
          <a:p>
            <a:pPr lvl="1"/>
            <a:r>
              <a:rPr lang="en-US" dirty="0"/>
              <a:t>Idle beat (TVALID=0)</a:t>
            </a:r>
          </a:p>
          <a:p>
            <a:pPr lvl="1"/>
            <a:r>
              <a:rPr lang="en-US" dirty="0"/>
              <a:t>Stall beat (TVALID=1, TREADY=0): data held</a:t>
            </a:r>
          </a:p>
          <a:p>
            <a:pPr lvl="1"/>
            <a:r>
              <a:rPr lang="en-US" dirty="0"/>
              <a:t>Last beat (TVALID=TREADY=TLAST=1)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A31B39-62BE-736C-096D-FEB4CABBE5D4}"/>
              </a:ext>
            </a:extLst>
          </p:cNvPr>
          <p:cNvSpPr txBox="1"/>
          <p:nvPr/>
        </p:nvSpPr>
        <p:spPr>
          <a:xfrm>
            <a:off x="6675399" y="1534647"/>
            <a:ext cx="2221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F6FA8"/>
                </a:solidFill>
              </a:rPr>
              <a:t>TRANSMITTER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35A1C6-67D4-A516-9D04-2C7D44AB9F35}"/>
              </a:ext>
            </a:extLst>
          </p:cNvPr>
          <p:cNvSpPr txBox="1"/>
          <p:nvPr/>
        </p:nvSpPr>
        <p:spPr>
          <a:xfrm>
            <a:off x="10379981" y="1516425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F6FA8"/>
                </a:solidFill>
              </a:rPr>
              <a:t>RECEIVER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3C707DB-E9F0-130B-A5EE-887F0925854F}"/>
              </a:ext>
            </a:extLst>
          </p:cNvPr>
          <p:cNvSpPr/>
          <p:nvPr/>
        </p:nvSpPr>
        <p:spPr>
          <a:xfrm>
            <a:off x="6969846" y="1959024"/>
            <a:ext cx="1163703" cy="2266693"/>
          </a:xfrm>
          <a:prstGeom prst="roundRect">
            <a:avLst/>
          </a:prstGeom>
          <a:solidFill>
            <a:srgbClr val="EAF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8D27180-E740-6484-322D-A8119B666414}"/>
              </a:ext>
            </a:extLst>
          </p:cNvPr>
          <p:cNvSpPr/>
          <p:nvPr/>
        </p:nvSpPr>
        <p:spPr>
          <a:xfrm>
            <a:off x="10012558" y="1959024"/>
            <a:ext cx="1645562" cy="2266693"/>
          </a:xfrm>
          <a:prstGeom prst="roundRect">
            <a:avLst/>
          </a:prstGeom>
          <a:solidFill>
            <a:srgbClr val="FBF9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F4F757C-E098-9712-53D0-B75A4FFFFD30}"/>
              </a:ext>
            </a:extLst>
          </p:cNvPr>
          <p:cNvGrpSpPr/>
          <p:nvPr/>
        </p:nvGrpSpPr>
        <p:grpSpPr>
          <a:xfrm>
            <a:off x="10426252" y="2348278"/>
            <a:ext cx="641095" cy="606822"/>
            <a:chOff x="7020134" y="1975969"/>
            <a:chExt cx="641095" cy="606822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984D613-65AE-A31D-0073-7EB646DBB9C2}"/>
                </a:ext>
              </a:extLst>
            </p:cNvPr>
            <p:cNvSpPr/>
            <p:nvPr/>
          </p:nvSpPr>
          <p:spPr>
            <a:xfrm rot="16200000">
              <a:off x="6772029" y="222603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1E4AF67-7461-9FA1-91FC-2870724AF777}"/>
                </a:ext>
              </a:extLst>
            </p:cNvPr>
            <p:cNvSpPr/>
            <p:nvPr/>
          </p:nvSpPr>
          <p:spPr>
            <a:xfrm rot="16200000">
              <a:off x="6878721" y="222799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9A4E5AB-1BC8-C042-D3D3-DFD42061BCA8}"/>
                </a:ext>
              </a:extLst>
            </p:cNvPr>
            <p:cNvSpPr/>
            <p:nvPr/>
          </p:nvSpPr>
          <p:spPr>
            <a:xfrm rot="16200000">
              <a:off x="6984544" y="2224074"/>
              <a:ext cx="602902" cy="1066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05C604A-69BA-5BAD-EB7D-51E50A2069BC}"/>
                </a:ext>
              </a:extLst>
            </p:cNvPr>
            <p:cNvSpPr/>
            <p:nvPr/>
          </p:nvSpPr>
          <p:spPr>
            <a:xfrm rot="16200000">
              <a:off x="7095160" y="2226034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744E310-2F0F-67CD-527B-AB0DB78D9729}"/>
                </a:ext>
              </a:extLst>
            </p:cNvPr>
            <p:cNvSpPr/>
            <p:nvPr/>
          </p:nvSpPr>
          <p:spPr>
            <a:xfrm rot="16200000">
              <a:off x="7199740" y="2227346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3C01343-1D5B-97C3-D614-EC3DD7B97F53}"/>
                </a:ext>
              </a:extLst>
            </p:cNvPr>
            <p:cNvSpPr/>
            <p:nvPr/>
          </p:nvSpPr>
          <p:spPr>
            <a:xfrm rot="16200000">
              <a:off x="7306432" y="2225382"/>
              <a:ext cx="602902" cy="106692"/>
            </a:xfrm>
            <a:prstGeom prst="rect">
              <a:avLst/>
            </a:prstGeom>
            <a:solidFill>
              <a:srgbClr val="B08AD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9E4A28CA-5473-A95A-C3D4-5A16988C51C5}"/>
              </a:ext>
            </a:extLst>
          </p:cNvPr>
          <p:cNvSpPr txBox="1"/>
          <p:nvPr/>
        </p:nvSpPr>
        <p:spPr>
          <a:xfrm>
            <a:off x="10504246" y="2010375"/>
            <a:ext cx="5595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FIFO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511DCB4-3F3D-FCE5-EA0D-F8D57AA480A0}"/>
              </a:ext>
            </a:extLst>
          </p:cNvPr>
          <p:cNvCxnSpPr>
            <a:cxnSpLocks/>
          </p:cNvCxnSpPr>
          <p:nvPr/>
        </p:nvCxnSpPr>
        <p:spPr>
          <a:xfrm>
            <a:off x="8153709" y="2734393"/>
            <a:ext cx="1879009" cy="1"/>
          </a:xfrm>
          <a:prstGeom prst="straightConnector1">
            <a:avLst/>
          </a:prstGeom>
          <a:ln w="25400">
            <a:solidFill>
              <a:srgbClr val="2F6FA8"/>
            </a:solidFill>
            <a:tailEnd type="triangle"/>
          </a:ln>
        </p:spPr>
        <p:style>
          <a:lnRef idx="1">
            <a:srgbClr val="57068C"/>
          </a:lnRef>
          <a:fillRef idx="0">
            <a:srgbClr val="57068C"/>
          </a:fillRef>
          <a:effectRef idx="0">
            <a:srgbClr val="57068C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9F72FAB-969C-9B54-B114-9CE2126C2921}"/>
              </a:ext>
            </a:extLst>
          </p:cNvPr>
          <p:cNvCxnSpPr>
            <a:cxnSpLocks/>
          </p:cNvCxnSpPr>
          <p:nvPr/>
        </p:nvCxnSpPr>
        <p:spPr>
          <a:xfrm>
            <a:off x="11096702" y="2649729"/>
            <a:ext cx="35962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rgbClr val="57068C"/>
          </a:lnRef>
          <a:fillRef idx="0">
            <a:srgbClr val="57068C"/>
          </a:fillRef>
          <a:effectRef idx="0">
            <a:srgbClr val="57068C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9D83138-6996-934C-955A-980D069185B3}"/>
              </a:ext>
            </a:extLst>
          </p:cNvPr>
          <p:cNvCxnSpPr>
            <a:cxnSpLocks/>
          </p:cNvCxnSpPr>
          <p:nvPr/>
        </p:nvCxnSpPr>
        <p:spPr>
          <a:xfrm flipH="1">
            <a:off x="8133549" y="2236560"/>
            <a:ext cx="187900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rgbClr val="57068C"/>
          </a:lnRef>
          <a:fillRef idx="0">
            <a:srgbClr val="57068C"/>
          </a:fillRef>
          <a:effectRef idx="0">
            <a:srgbClr val="57068C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18FFDA3-B6E9-2A2E-5EE1-E153D74E7B7A}"/>
              </a:ext>
            </a:extLst>
          </p:cNvPr>
          <p:cNvCxnSpPr>
            <a:cxnSpLocks/>
          </p:cNvCxnSpPr>
          <p:nvPr/>
        </p:nvCxnSpPr>
        <p:spPr>
          <a:xfrm>
            <a:off x="8133549" y="3134913"/>
            <a:ext cx="1899169" cy="0"/>
          </a:xfrm>
          <a:prstGeom prst="straightConnector1">
            <a:avLst/>
          </a:prstGeom>
          <a:ln w="25400">
            <a:solidFill>
              <a:srgbClr val="2F6FA8"/>
            </a:solidFill>
            <a:tailEnd type="triangle"/>
          </a:ln>
        </p:spPr>
        <p:style>
          <a:lnRef idx="1">
            <a:srgbClr val="57068C"/>
          </a:lnRef>
          <a:fillRef idx="0">
            <a:srgbClr val="57068C"/>
          </a:fillRef>
          <a:effectRef idx="0">
            <a:srgbClr val="57068C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618AB87-450F-AC62-491E-393CB9ED5EEB}"/>
              </a:ext>
            </a:extLst>
          </p:cNvPr>
          <p:cNvSpPr txBox="1"/>
          <p:nvPr/>
        </p:nvSpPr>
        <p:spPr>
          <a:xfrm>
            <a:off x="8610876" y="2325220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F6FA8"/>
                </a:solidFill>
              </a:rPr>
              <a:t>TDATA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C9B7E9-8721-BC98-A3E4-FC228543861D}"/>
              </a:ext>
            </a:extLst>
          </p:cNvPr>
          <p:cNvSpPr txBox="1"/>
          <p:nvPr/>
        </p:nvSpPr>
        <p:spPr>
          <a:xfrm>
            <a:off x="8603157" y="2751125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F6FA8"/>
                </a:solidFill>
              </a:rPr>
              <a:t>TVALID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77C875-633F-61B0-E9DF-5DF27C447CA7}"/>
              </a:ext>
            </a:extLst>
          </p:cNvPr>
          <p:cNvSpPr txBox="1"/>
          <p:nvPr/>
        </p:nvSpPr>
        <p:spPr>
          <a:xfrm>
            <a:off x="8566557" y="1802932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F6FA8"/>
                </a:solidFill>
              </a:rPr>
              <a:t>TREADY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7780C12-DAC2-B510-4E1C-8705F1B817EB}"/>
              </a:ext>
            </a:extLst>
          </p:cNvPr>
          <p:cNvCxnSpPr>
            <a:cxnSpLocks/>
          </p:cNvCxnSpPr>
          <p:nvPr/>
        </p:nvCxnSpPr>
        <p:spPr>
          <a:xfrm>
            <a:off x="8143628" y="3720165"/>
            <a:ext cx="1899169" cy="0"/>
          </a:xfrm>
          <a:prstGeom prst="straightConnector1">
            <a:avLst/>
          </a:prstGeom>
          <a:ln w="25400">
            <a:solidFill>
              <a:srgbClr val="0085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DEC299D-DFD8-0F36-0FF4-90EC6BB305E5}"/>
              </a:ext>
            </a:extLst>
          </p:cNvPr>
          <p:cNvSpPr txBox="1"/>
          <p:nvPr/>
        </p:nvSpPr>
        <p:spPr>
          <a:xfrm>
            <a:off x="8610876" y="3357540"/>
            <a:ext cx="1490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857C"/>
                </a:solidFill>
              </a:rPr>
              <a:t>TLAST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55332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Burst Timing</a:t>
            </a:r>
          </a:p>
        </p:txBody>
      </p:sp>
      <p:pic>
        <p:nvPicPr>
          <p:cNvPr id="3" name="Picture 3" descr="burst_tim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36192"/>
            <a:ext cx="9380913" cy="278892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85800" y="4434840"/>
            <a:ext cx="6400800" cy="1371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37744" indent="-237744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 xml:space="preserve">A packet of four elements, A–D: </a:t>
            </a:r>
            <a:r>
              <a:rPr lang="en-US" sz="1500" b="1" dirty="0">
                <a:solidFill>
                  <a:srgbClr val="57068C"/>
                </a:solidFill>
              </a:rPr>
              <a:t>7 beats, 4 transfers</a:t>
            </a:r>
            <a:endParaRPr lang="en-US" sz="15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 xml:space="preserve">B and D stall: TREADY is low, and TDATA and TLAST are </a:t>
            </a:r>
            <a:r>
              <a:rPr lang="en-US" sz="1500" b="1" dirty="0">
                <a:solidFill>
                  <a:srgbClr val="57068C"/>
                </a:solidFill>
              </a:rPr>
              <a:t>held</a:t>
            </a:r>
            <a:endParaRPr lang="en-US" sz="15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>Cycle 4 is idle: TVALID drops inside the packet</a:t>
            </a:r>
            <a:endParaRPr lang="en-US" sz="1500" dirty="0"/>
          </a:p>
        </p:txBody>
      </p:sp>
      <p:sp>
        <p:nvSpPr>
          <p:cNvPr id="5" name="Shape 5"/>
          <p:cNvSpPr/>
          <p:nvPr/>
        </p:nvSpPr>
        <p:spPr>
          <a:xfrm>
            <a:off x="7360920" y="4434840"/>
            <a:ext cx="4114800" cy="1188720"/>
          </a:xfrm>
          <a:prstGeom prst="roundRect">
            <a:avLst>
              <a:gd name="adj" fmla="val 8000"/>
            </a:avLst>
          </a:prstGeom>
          <a:solidFill>
            <a:srgbClr val="F7F3FA"/>
          </a:solidFill>
          <a:ln w="12700">
            <a:solidFill>
              <a:srgbClr val="D5C4E3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r>
              <a:rPr lang="en-US" sz="1400" dirty="0">
                <a:solidFill>
                  <a:srgbClr val="262626"/>
                </a:solidFill>
              </a:rPr>
              <a:t xml:space="preserve">The packet ends with the </a:t>
            </a:r>
            <a:r>
              <a:rPr lang="en-US" sz="1400" b="1" dirty="0">
                <a:solidFill>
                  <a:srgbClr val="57068C"/>
                </a:solidFill>
              </a:rPr>
              <a:t>transfer</a:t>
            </a:r>
            <a:r>
              <a:rPr lang="en-US" sz="1400" dirty="0">
                <a:solidFill>
                  <a:srgbClr val="262626"/>
                </a:solidFill>
              </a:rPr>
              <a:t xml:space="preserve"> that has TLAST = 1: cycle 7, not cycle 6 where TLAST first rises.</a:t>
            </a:r>
            <a:endParaRPr lang="en-US" sz="1400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A Command-Response IP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5486400" cy="42062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900" dirty="0">
                <a:solidFill>
                  <a:srgbClr val="262626"/>
                </a:solidFill>
              </a:rPr>
              <a:t>Evaluate a cubic on a stream of samples</a:t>
            </a:r>
            <a:endParaRPr lang="en-US" sz="19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600" dirty="0">
                <a:solidFill>
                  <a:srgbClr val="262626"/>
                </a:solidFill>
                <a:latin typeface="Cambria Math"/>
              </a:rPr>
              <a:t>𝑦[𝑘] = 𝑐₀ + 𝑐₁𝑥[𝑘] + 𝑐₂𝑥[𝑘]² + 𝑐₃𝑥[𝑘]³</a:t>
            </a:r>
            <a:endParaRPr lang="en-US" sz="1600" dirty="0"/>
          </a:p>
          <a:p>
            <a:pPr marL="274320" indent="-274320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900" dirty="0">
                <a:solidFill>
                  <a:srgbClr val="262626"/>
                </a:solidFill>
              </a:rPr>
              <a:t xml:space="preserve">The coefficients arrive </a:t>
            </a:r>
            <a:r>
              <a:rPr lang="en-US" sz="1900" b="1" dirty="0">
                <a:solidFill>
                  <a:srgbClr val="57068C"/>
                </a:solidFill>
              </a:rPr>
              <a:t>with the data</a:t>
            </a:r>
            <a:r>
              <a:rPr lang="en-US" sz="1900" dirty="0">
                <a:solidFill>
                  <a:srgbClr val="262626"/>
                </a:solidFill>
              </a:rPr>
              <a:t>, in a command</a:t>
            </a:r>
            <a:endParaRPr lang="en-US" sz="19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600" dirty="0">
                <a:solidFill>
                  <a:srgbClr val="262626"/>
                </a:solidFill>
              </a:rPr>
              <a:t>Each transaction can use a different polynomial</a:t>
            </a:r>
            <a:endParaRPr lang="en-US" sz="16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600" dirty="0">
                <a:solidFill>
                  <a:srgbClr val="262626"/>
                </a:solidFill>
              </a:rPr>
              <a:t>No separate AXI4-Lite path to keep in step</a:t>
            </a:r>
            <a:endParaRPr lang="en-US" sz="1600" dirty="0"/>
          </a:p>
          <a:p>
            <a:pPr marL="274320" indent="-274320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900" dirty="0">
                <a:solidFill>
                  <a:srgbClr val="262626"/>
                </a:solidFill>
              </a:rPr>
              <a:t xml:space="preserve">One </a:t>
            </a:r>
            <a:r>
              <a:rPr lang="en-US" sz="1900" b="1" dirty="0">
                <a:solidFill>
                  <a:srgbClr val="57068C"/>
                </a:solidFill>
              </a:rPr>
              <a:t>transaction</a:t>
            </a:r>
            <a:r>
              <a:rPr lang="en-US" sz="1900" dirty="0">
                <a:solidFill>
                  <a:srgbClr val="262626"/>
                </a:solidFill>
              </a:rPr>
              <a:t>: a command in, a response out</a:t>
            </a:r>
            <a:endParaRPr lang="en-US" sz="1900" dirty="0"/>
          </a:p>
          <a:p>
            <a:pPr marL="274320" indent="-274320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900" b="1" dirty="0">
                <a:solidFill>
                  <a:srgbClr val="57068C"/>
                </a:solidFill>
              </a:rPr>
              <a:t>TLAST</a:t>
            </a:r>
            <a:r>
              <a:rPr lang="en-US" sz="1900" dirty="0">
                <a:solidFill>
                  <a:srgbClr val="262626"/>
                </a:solidFill>
              </a:rPr>
              <a:t xml:space="preserve"> ends each message, so the IP can tell a header from the samples that follow</a:t>
            </a:r>
            <a:endParaRPr lang="en-US" sz="1900" dirty="0"/>
          </a:p>
        </p:txBody>
      </p:sp>
      <p:sp>
        <p:nvSpPr>
          <p:cNvPr id="4" name="TextBox 4"/>
          <p:cNvSpPr txBox="1"/>
          <p:nvPr/>
        </p:nvSpPr>
        <p:spPr>
          <a:xfrm>
            <a:off x="6446520" y="16459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300" b="1" dirty="0">
                <a:solidFill>
                  <a:srgbClr val="262626"/>
                </a:solidFill>
              </a:rPr>
              <a:t>in_stream</a:t>
            </a:r>
            <a:endParaRPr lang="en-US" sz="1300" dirty="0"/>
          </a:p>
        </p:txBody>
      </p:sp>
      <p:sp>
        <p:nvSpPr>
          <p:cNvPr id="5" name="Shape 5"/>
          <p:cNvSpPr/>
          <p:nvPr/>
        </p:nvSpPr>
        <p:spPr>
          <a:xfrm>
            <a:off x="6446520" y="1965960"/>
            <a:ext cx="1325880" cy="502920"/>
          </a:xfrm>
          <a:prstGeom prst="rect">
            <a:avLst/>
          </a:prstGeom>
          <a:solidFill>
            <a:srgbClr val="EAF0F7"/>
          </a:solidFill>
          <a:ln w="9525">
            <a:solidFill>
              <a:srgbClr val="B9CCE0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200" b="1" dirty="0">
                <a:solidFill>
                  <a:srgbClr val="2F6FA8"/>
                </a:solidFill>
              </a:rPr>
              <a:t>PolyCmdHdr</a:t>
            </a:r>
            <a:endParaRPr lang="en-US" sz="1200" dirty="0"/>
          </a:p>
        </p:txBody>
      </p:sp>
      <p:sp>
        <p:nvSpPr>
          <p:cNvPr id="6" name="Shape 6"/>
          <p:cNvSpPr/>
          <p:nvPr/>
        </p:nvSpPr>
        <p:spPr>
          <a:xfrm>
            <a:off x="7772400" y="1911096"/>
            <a:ext cx="64008" cy="612648"/>
          </a:xfrm>
          <a:prstGeom prst="rect">
            <a:avLst/>
          </a:prstGeom>
          <a:solidFill>
            <a:srgbClr val="B4530F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sp>
        <p:nvSpPr>
          <p:cNvPr id="7" name="Shape 7"/>
          <p:cNvSpPr/>
          <p:nvPr/>
        </p:nvSpPr>
        <p:spPr>
          <a:xfrm>
            <a:off x="7836408" y="1965960"/>
            <a:ext cx="3017520" cy="502920"/>
          </a:xfrm>
          <a:prstGeom prst="rect">
            <a:avLst/>
          </a:prstGeom>
          <a:solidFill>
            <a:srgbClr val="DCEFEC"/>
          </a:solidFill>
          <a:ln w="9525">
            <a:solidFill>
              <a:srgbClr val="9FD3CC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200" b="1" dirty="0">
                <a:solidFill>
                  <a:srgbClr val="00857C"/>
                </a:solidFill>
              </a:rPr>
              <a:t>x[0] … x[nsamp−1]</a:t>
            </a:r>
            <a:endParaRPr lang="en-US" sz="1200" dirty="0"/>
          </a:p>
        </p:txBody>
      </p:sp>
      <p:sp>
        <p:nvSpPr>
          <p:cNvPr id="8" name="Shape 8"/>
          <p:cNvSpPr/>
          <p:nvPr/>
        </p:nvSpPr>
        <p:spPr>
          <a:xfrm>
            <a:off x="10853928" y="1911096"/>
            <a:ext cx="64008" cy="612648"/>
          </a:xfrm>
          <a:prstGeom prst="rect">
            <a:avLst/>
          </a:prstGeom>
          <a:solidFill>
            <a:srgbClr val="B4530F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cxnSp>
        <p:nvCxnSpPr>
          <p:cNvPr id="9" name="Connector 9"/>
          <p:cNvCxnSpPr/>
          <p:nvPr/>
        </p:nvCxnSpPr>
        <p:spPr>
          <a:xfrm>
            <a:off x="8641080" y="2560320"/>
            <a:ext cx="0" cy="411480"/>
          </a:xfrm>
          <a:prstGeom prst="straightConnector1">
            <a:avLst/>
          </a:prstGeom>
          <a:ln w="25400">
            <a:solidFill>
              <a:srgbClr val="00857C"/>
            </a:solidFill>
            <a:tailEnd type="triangle" w="med" len="med"/>
          </a:ln>
        </p:spPr>
      </p:cxnSp>
      <p:sp>
        <p:nvSpPr>
          <p:cNvPr id="10" name="Shape 10"/>
          <p:cNvSpPr/>
          <p:nvPr/>
        </p:nvSpPr>
        <p:spPr>
          <a:xfrm>
            <a:off x="7269480" y="3017520"/>
            <a:ext cx="2743200" cy="685800"/>
          </a:xfrm>
          <a:prstGeom prst="roundRect">
            <a:avLst>
              <a:gd name="adj" fmla="val 14000"/>
            </a:avLst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poly IP</a:t>
            </a:r>
            <a:endParaRPr lang="en-US" sz="1600" dirty="0"/>
          </a:p>
        </p:txBody>
      </p:sp>
      <p:cxnSp>
        <p:nvCxnSpPr>
          <p:cNvPr id="11" name="Connector 11"/>
          <p:cNvCxnSpPr/>
          <p:nvPr/>
        </p:nvCxnSpPr>
        <p:spPr>
          <a:xfrm>
            <a:off x="8641080" y="3749040"/>
            <a:ext cx="0" cy="411480"/>
          </a:xfrm>
          <a:prstGeom prst="straightConnector1">
            <a:avLst/>
          </a:prstGeom>
          <a:ln w="25400">
            <a:solidFill>
              <a:srgbClr val="00857C"/>
            </a:solidFill>
            <a:tailEnd type="triangle" w="med" len="med"/>
          </a:ln>
        </p:spPr>
      </p:cxnSp>
      <p:sp>
        <p:nvSpPr>
          <p:cNvPr id="12" name="TextBox 12"/>
          <p:cNvSpPr txBox="1"/>
          <p:nvPr/>
        </p:nvSpPr>
        <p:spPr>
          <a:xfrm>
            <a:off x="6446520" y="41605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300" b="1" dirty="0">
                <a:solidFill>
                  <a:srgbClr val="262626"/>
                </a:solidFill>
              </a:rPr>
              <a:t>out_stream</a:t>
            </a:r>
            <a:endParaRPr lang="en-US" sz="1300" dirty="0"/>
          </a:p>
        </p:txBody>
      </p:sp>
      <p:sp>
        <p:nvSpPr>
          <p:cNvPr id="13" name="Shape 13"/>
          <p:cNvSpPr/>
          <p:nvPr/>
        </p:nvSpPr>
        <p:spPr>
          <a:xfrm>
            <a:off x="6446520" y="4480560"/>
            <a:ext cx="1325880" cy="502920"/>
          </a:xfrm>
          <a:prstGeom prst="rect">
            <a:avLst/>
          </a:prstGeom>
          <a:solidFill>
            <a:srgbClr val="EAF0F7"/>
          </a:solidFill>
          <a:ln w="9525">
            <a:solidFill>
              <a:srgbClr val="B9CCE0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200" b="1" dirty="0">
                <a:solidFill>
                  <a:srgbClr val="2F6FA8"/>
                </a:solidFill>
              </a:rPr>
              <a:t>PolyRespHdr</a:t>
            </a:r>
            <a:endParaRPr lang="en-US" sz="1200" dirty="0"/>
          </a:p>
        </p:txBody>
      </p:sp>
      <p:sp>
        <p:nvSpPr>
          <p:cNvPr id="14" name="Shape 14"/>
          <p:cNvSpPr/>
          <p:nvPr/>
        </p:nvSpPr>
        <p:spPr>
          <a:xfrm>
            <a:off x="7772400" y="4425696"/>
            <a:ext cx="64008" cy="612648"/>
          </a:xfrm>
          <a:prstGeom prst="rect">
            <a:avLst/>
          </a:prstGeom>
          <a:solidFill>
            <a:srgbClr val="B4530F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sp>
        <p:nvSpPr>
          <p:cNvPr id="15" name="Shape 15"/>
          <p:cNvSpPr/>
          <p:nvPr/>
        </p:nvSpPr>
        <p:spPr>
          <a:xfrm>
            <a:off x="7836408" y="4480560"/>
            <a:ext cx="2057400" cy="502920"/>
          </a:xfrm>
          <a:prstGeom prst="rect">
            <a:avLst/>
          </a:prstGeom>
          <a:solidFill>
            <a:srgbClr val="DCEFEC"/>
          </a:solidFill>
          <a:ln w="9525">
            <a:solidFill>
              <a:srgbClr val="9FD3CC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200" b="1" dirty="0">
                <a:solidFill>
                  <a:srgbClr val="00857C"/>
                </a:solidFill>
              </a:rPr>
              <a:t>y[0] … y[nsamp−1]</a:t>
            </a:r>
            <a:endParaRPr lang="en-US" sz="1200" dirty="0"/>
          </a:p>
        </p:txBody>
      </p:sp>
      <p:sp>
        <p:nvSpPr>
          <p:cNvPr id="16" name="Shape 16"/>
          <p:cNvSpPr/>
          <p:nvPr/>
        </p:nvSpPr>
        <p:spPr>
          <a:xfrm>
            <a:off x="9893808" y="4425696"/>
            <a:ext cx="64008" cy="612648"/>
          </a:xfrm>
          <a:prstGeom prst="rect">
            <a:avLst/>
          </a:prstGeom>
          <a:solidFill>
            <a:srgbClr val="B4530F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sp>
        <p:nvSpPr>
          <p:cNvPr id="17" name="Shape 17"/>
          <p:cNvSpPr/>
          <p:nvPr/>
        </p:nvSpPr>
        <p:spPr>
          <a:xfrm>
            <a:off x="9957816" y="4480560"/>
            <a:ext cx="1325880" cy="502920"/>
          </a:xfrm>
          <a:prstGeom prst="rect">
            <a:avLst/>
          </a:prstGeom>
          <a:solidFill>
            <a:srgbClr val="EAF0F7"/>
          </a:solidFill>
          <a:ln w="9525">
            <a:solidFill>
              <a:srgbClr val="B9CCE0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200" b="1" dirty="0">
                <a:solidFill>
                  <a:srgbClr val="2F6FA8"/>
                </a:solidFill>
              </a:rPr>
              <a:t>PolyRespFtr</a:t>
            </a:r>
            <a:endParaRPr lang="en-US" sz="1200" dirty="0"/>
          </a:p>
        </p:txBody>
      </p:sp>
      <p:sp>
        <p:nvSpPr>
          <p:cNvPr id="18" name="Shape 18"/>
          <p:cNvSpPr/>
          <p:nvPr/>
        </p:nvSpPr>
        <p:spPr>
          <a:xfrm>
            <a:off x="11283696" y="4425696"/>
            <a:ext cx="64008" cy="612648"/>
          </a:xfrm>
          <a:prstGeom prst="rect">
            <a:avLst/>
          </a:prstGeom>
          <a:solidFill>
            <a:srgbClr val="B4530F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sp>
        <p:nvSpPr>
          <p:cNvPr id="19" name="Shape 19"/>
          <p:cNvSpPr/>
          <p:nvPr/>
        </p:nvSpPr>
        <p:spPr>
          <a:xfrm>
            <a:off x="6446520" y="5257800"/>
            <a:ext cx="64008" cy="274320"/>
          </a:xfrm>
          <a:prstGeom prst="rect">
            <a:avLst/>
          </a:prstGeom>
          <a:solidFill>
            <a:srgbClr val="B4530F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sp>
        <p:nvSpPr>
          <p:cNvPr id="20" name="TextBox 20"/>
          <p:cNvSpPr txBox="1"/>
          <p:nvPr/>
        </p:nvSpPr>
        <p:spPr>
          <a:xfrm>
            <a:off x="6583680" y="523951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b="1" dirty="0">
                <a:solidFill>
                  <a:srgbClr val="B4530F"/>
                </a:solidFill>
              </a:rPr>
              <a:t>= TLAST</a:t>
            </a:r>
            <a:endParaRPr lang="en-US" sz="1200" dirty="0"/>
          </a:p>
        </p:txBody>
      </p:sp>
      <p:sp>
        <p:nvSpPr>
          <p:cNvPr id="21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and Response Messages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685800" y="1645920"/>
          <a:ext cx="7772400" cy="28163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7360"/>
                <a:gridCol w="1508760"/>
                <a:gridCol w="1463040"/>
                <a:gridCol w="3063240"/>
              </a:tblGrid>
              <a:tr h="40233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Message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Holds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262626"/>
                          </a:solidFill>
                        </a:rPr>
                        <a:t>PolyCmdHdr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tx_id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uint16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Transaction ID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coeffs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4 × float32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  <a:latin typeface="Cambria Math"/>
                        </a:rPr>
                        <a:t>𝑐₀</a:t>
                      </a: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 xml:space="preserve"> … </a:t>
                      </a:r>
                      <a:r>
                        <a:rPr lang="en-US" sz="1400" dirty="0">
                          <a:solidFill>
                            <a:srgbClr val="262626"/>
                          </a:solidFill>
                          <a:latin typeface="Cambria Math"/>
                        </a:rPr>
                        <a:t>𝑐₃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nsamp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uint16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Number of samples that follow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262626"/>
                          </a:solidFill>
                        </a:rPr>
                        <a:t>PolyRespHdr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tx_id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uint16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Echo of the command's ID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262626"/>
                          </a:solidFill>
                        </a:rPr>
                        <a:t>PolyRespFtr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nsamp_read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uint16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Samples actually read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error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3-bit enum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What went wrong, if anything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4"/>
          <p:cNvSpPr/>
          <p:nvPr/>
        </p:nvSpPr>
        <p:spPr>
          <a:xfrm>
            <a:off x="8732520" y="1645920"/>
            <a:ext cx="2743200" cy="2816352"/>
          </a:xfrm>
          <a:prstGeom prst="roundRect">
            <a:avLst>
              <a:gd name="adj" fmla="val 8000"/>
            </a:avLst>
          </a:prstGeom>
          <a:solidFill>
            <a:srgbClr val="EEE6F3"/>
          </a:solidFill>
          <a:ln>
            <a:noFill/>
          </a:ln>
        </p:spPr>
        <p:txBody>
          <a:bodyPr wrap="square" lIns="146304" tIns="73152" rIns="146304" bIns="73152" anchor="t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500" b="1" dirty="0">
                <a:solidFill>
                  <a:srgbClr val="57068C"/>
                </a:solidFill>
              </a:rPr>
              <a:t>Defined once, in Python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poly_schema.py</a:t>
            </a:r>
            <a:r>
              <a:rPr lang="en-US" sz="1300" dirty="0">
                <a:solidFill>
                  <a:srgbClr val="262626"/>
                </a:solidFill>
              </a:rPr>
              <a:t xml:space="preserve"> describes each message as a waveflow data schema.</a:t>
            </a:r>
            <a:endParaRPr lang="en-US" sz="1300" dirty="0"/>
          </a:p>
          <a:p>
            <a:r>
              <a:rPr lang="en-US" sz="1300" dirty="0">
                <a:solidFill>
                  <a:srgbClr val="262626"/>
                </a:solidFill>
              </a:rPr>
              <a:t>The C++ that packs and unpacks them is generated from it, so the kernel, the testbench and the model agree.</a:t>
            </a:r>
            <a:endParaRPr lang="en-US" sz="1300" dirty="0"/>
          </a:p>
        </p:txBody>
      </p:sp>
      <p:sp>
        <p:nvSpPr>
          <p:cNvPr id="5" name="TextBox 5"/>
          <p:cNvSpPr txBox="1"/>
          <p:nvPr/>
        </p:nvSpPr>
        <p:spPr>
          <a:xfrm>
            <a:off x="685800" y="46451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b="1" dirty="0">
                <a:solidFill>
                  <a:srgbClr val="6E6E6E"/>
                </a:solidFill>
              </a:rPr>
              <a:t>ONE TRANSACTION, WHERE EVERY | IS A TLAST</a:t>
            </a:r>
            <a:endParaRPr lang="en-US" sz="1200" dirty="0"/>
          </a:p>
        </p:txBody>
      </p:sp>
      <p:sp>
        <p:nvSpPr>
          <p:cNvPr id="6" name="Shape 6"/>
          <p:cNvSpPr/>
          <p:nvPr/>
        </p:nvSpPr>
        <p:spPr>
          <a:xfrm>
            <a:off x="685800" y="4937760"/>
            <a:ext cx="10789920" cy="868680"/>
          </a:xfrm>
          <a:prstGeom prst="rect">
            <a:avLst/>
          </a:prstGeom>
          <a:solidFill>
            <a:srgbClr val="F4F4F7"/>
          </a:solidFill>
          <a:ln w="9525">
            <a:solidFill>
              <a:srgbClr val="BFBFBF"/>
            </a:solidFill>
          </a:ln>
        </p:spPr>
        <p:txBody>
          <a:bodyPr wrap="square" lIns="182880" tIns="91440" rIns="182880" bIns="91440" anchor="ctr" rtlCol="0">
            <a:noAutofit/>
          </a:bodyPr>
          <a:lstStyle/>
          <a:p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 xml:space="preserve">in_stream:    PolyCmdHdr   |  x[0], x[1], …, x[nsamp−1]  |</a:t>
            </a:r>
            <a:endParaRPr lang="en-US" sz="1400" dirty="0"/>
          </a:p>
          <a:p>
            <a:pPr>
              <a:spcBef>
                <a:spcPts val="400"/>
              </a:spcBef>
            </a:pPr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 xml:space="preserve">out_stream:   PolyRespHdr  |  y[0], y[1], …, y[nsamp−1]  |  PolyRespFtr  |</a:t>
            </a:r>
            <a:endParaRPr lang="en-US" sz="1400" dirty="0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22CB0-CC9A-100F-0684-7B804BA39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Serialization / Deserialization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E4026-5750-E31C-1C12-7549CD4C2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997" y="1579693"/>
            <a:ext cx="8295276" cy="4240135"/>
          </a:xfrm>
        </p:spPr>
        <p:txBody>
          <a:bodyPr>
            <a:normAutofit/>
          </a:bodyPr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■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r>
              <a:rPr lang="en-US" sz="2400" dirty="0"/>
              <a:t>Packets have arbitrary:</a:t>
            </a:r>
          </a:p>
          <a:p>
            <a:pPr lvl="1"/>
            <a:r>
              <a:rPr lang="en-US" sz="2200" dirty="0"/>
              <a:t>Structure (often different fields)</a:t>
            </a:r>
          </a:p>
          <a:p>
            <a:pPr lvl="1"/>
            <a:r>
              <a:rPr lang="en-US" sz="2200" dirty="0"/>
              <a:t>Arbitrary, sometimes variable, length</a:t>
            </a:r>
          </a:p>
          <a:p>
            <a:r>
              <a:rPr lang="en-US" sz="2400" dirty="0"/>
              <a:t>Hardware streams have specific bit widths</a:t>
            </a:r>
          </a:p>
          <a:p>
            <a:pPr lvl="1"/>
            <a:r>
              <a:rPr lang="en-US" sz="2000" dirty="0"/>
              <a:t>Ex: 32, 64, 128, …</a:t>
            </a:r>
          </a:p>
          <a:p>
            <a:pPr lvl="1"/>
            <a:r>
              <a:rPr lang="en-US" sz="2000" dirty="0"/>
              <a:t>Each stream element is a</a:t>
            </a:r>
            <a:r>
              <a:rPr lang="en-US" sz="2000" dirty="0">
                <a:solidFill>
                  <a:srgbClr val="57068C"/>
                </a:solidFill>
              </a:rPr>
              <a:t> word</a:t>
            </a:r>
          </a:p>
          <a:p>
            <a:r>
              <a:rPr lang="en-US" sz="2400" dirty="0">
                <a:solidFill>
                  <a:srgbClr val="57068C"/>
                </a:solidFill>
              </a:rPr>
              <a:t>Serialization</a:t>
            </a:r>
            <a:r>
              <a:rPr lang="en-US" sz="2400" dirty="0"/>
              <a:t>:    Converts packets to array of stream words</a:t>
            </a:r>
          </a:p>
          <a:p>
            <a:r>
              <a:rPr lang="en-US" sz="2400" dirty="0">
                <a:solidFill>
                  <a:srgbClr val="57068C"/>
                </a:solidFill>
              </a:rPr>
              <a:t>Deserialization</a:t>
            </a:r>
            <a:r>
              <a:rPr lang="en-US" sz="2400" dirty="0"/>
              <a:t>:  Streams words to packets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C6DE3-4B0C-3799-96E9-D9A2A758E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51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73CCD5-E3D0-FDA7-BEF9-BBEB54D22FCA}"/>
              </a:ext>
            </a:extLst>
          </p:cNvPr>
          <p:cNvSpPr/>
          <p:nvPr/>
        </p:nvSpPr>
        <p:spPr>
          <a:xfrm>
            <a:off x="8786996" y="1972635"/>
            <a:ext cx="719227" cy="636543"/>
          </a:xfrm>
          <a:prstGeom prst="rect">
            <a:avLst/>
          </a:prstGeom>
          <a:solidFill>
            <a:srgbClr val="EAF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DE6674-AF61-37E0-5E28-0143F4578C71}"/>
              </a:ext>
            </a:extLst>
          </p:cNvPr>
          <p:cNvSpPr/>
          <p:nvPr/>
        </p:nvSpPr>
        <p:spPr>
          <a:xfrm>
            <a:off x="9562638" y="1972635"/>
            <a:ext cx="1851365" cy="636543"/>
          </a:xfrm>
          <a:prstGeom prst="rect">
            <a:avLst/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C9ACEE-2B2A-8BD8-6082-C0C7EAC8EC1B}"/>
              </a:ext>
            </a:extLst>
          </p:cNvPr>
          <p:cNvSpPr txBox="1"/>
          <p:nvPr/>
        </p:nvSpPr>
        <p:spPr>
          <a:xfrm>
            <a:off x="9415288" y="2991111"/>
            <a:ext cx="15517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uint32 words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1FA5A7-15EA-5847-DAB2-47BCB751A056}"/>
              </a:ext>
            </a:extLst>
          </p:cNvPr>
          <p:cNvSpPr txBox="1"/>
          <p:nvPr/>
        </p:nvSpPr>
        <p:spPr>
          <a:xfrm>
            <a:off x="9791979" y="1579693"/>
            <a:ext cx="8668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Packet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B89585-55C0-76B5-E418-5E176B24DB47}"/>
              </a:ext>
            </a:extLst>
          </p:cNvPr>
          <p:cNvSpPr/>
          <p:nvPr/>
        </p:nvSpPr>
        <p:spPr>
          <a:xfrm>
            <a:off x="8786996" y="5031904"/>
            <a:ext cx="719227" cy="636543"/>
          </a:xfrm>
          <a:prstGeom prst="rect">
            <a:avLst/>
          </a:prstGeom>
          <a:solidFill>
            <a:srgbClr val="EAF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5A3C0E-99EE-A2EC-9B88-4AEB7A82219D}"/>
              </a:ext>
            </a:extLst>
          </p:cNvPr>
          <p:cNvSpPr/>
          <p:nvPr/>
        </p:nvSpPr>
        <p:spPr>
          <a:xfrm>
            <a:off x="9562638" y="5031904"/>
            <a:ext cx="1851365" cy="636543"/>
          </a:xfrm>
          <a:prstGeom prst="rect">
            <a:avLst/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C33607-5BE8-B1B8-EBAF-C48530E23ADF}"/>
              </a:ext>
            </a:extLst>
          </p:cNvPr>
          <p:cNvSpPr txBox="1"/>
          <p:nvPr/>
        </p:nvSpPr>
        <p:spPr>
          <a:xfrm>
            <a:off x="9346794" y="4573208"/>
            <a:ext cx="15517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uint32 words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369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CEE58-C592-FEFD-6318-7143535B5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B185E-A6CB-39E0-6740-112731FF9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Serialization / Deserialization Illustrated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1D710-4B25-F1FC-101C-271BDC9DE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52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7C2CF2-8D22-EC4D-D029-75512268B911}"/>
              </a:ext>
            </a:extLst>
          </p:cNvPr>
          <p:cNvSpPr/>
          <p:nvPr/>
        </p:nvSpPr>
        <p:spPr>
          <a:xfrm>
            <a:off x="855460" y="1863164"/>
            <a:ext cx="719227" cy="636543"/>
          </a:xfrm>
          <a:prstGeom prst="rect">
            <a:avLst/>
          </a:prstGeom>
          <a:solidFill>
            <a:srgbClr val="EAF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0F9B9D-D6EF-8C23-F071-E146E9D8ACD5}"/>
              </a:ext>
            </a:extLst>
          </p:cNvPr>
          <p:cNvSpPr/>
          <p:nvPr/>
        </p:nvSpPr>
        <p:spPr>
          <a:xfrm>
            <a:off x="1631102" y="1863164"/>
            <a:ext cx="1851365" cy="636543"/>
          </a:xfrm>
          <a:prstGeom prst="rect">
            <a:avLst/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B40712-1F76-78DF-B1C6-6419992DA856}"/>
              </a:ext>
            </a:extLst>
          </p:cNvPr>
          <p:cNvSpPr txBox="1"/>
          <p:nvPr/>
        </p:nvSpPr>
        <p:spPr>
          <a:xfrm>
            <a:off x="1511549" y="1394934"/>
            <a:ext cx="11826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TX Packet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C4F03D-B62E-53F1-A6AC-A266CD6300BB}"/>
              </a:ext>
            </a:extLst>
          </p:cNvPr>
          <p:cNvSpPr/>
          <p:nvPr/>
        </p:nvSpPr>
        <p:spPr>
          <a:xfrm>
            <a:off x="8639646" y="4513577"/>
            <a:ext cx="719227" cy="636543"/>
          </a:xfrm>
          <a:prstGeom prst="rect">
            <a:avLst/>
          </a:prstGeom>
          <a:solidFill>
            <a:srgbClr val="EAF0F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DF3B9F-0AA8-43BE-7B41-89A7581BC5BC}"/>
              </a:ext>
            </a:extLst>
          </p:cNvPr>
          <p:cNvSpPr/>
          <p:nvPr/>
        </p:nvSpPr>
        <p:spPr>
          <a:xfrm>
            <a:off x="9415288" y="4513577"/>
            <a:ext cx="1851365" cy="636543"/>
          </a:xfrm>
          <a:prstGeom prst="rect">
            <a:avLst/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8E7451E-619B-E8A0-B6C3-1E5B9E131A73}"/>
              </a:ext>
            </a:extLst>
          </p:cNvPr>
          <p:cNvGrpSpPr/>
          <p:nvPr/>
        </p:nvGrpSpPr>
        <p:grpSpPr>
          <a:xfrm>
            <a:off x="3395942" y="3191166"/>
            <a:ext cx="852527" cy="602910"/>
            <a:chOff x="7684440" y="2394551"/>
            <a:chExt cx="852527" cy="60291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2EB2DA-BE00-EE2E-545D-D5AF955AACEA}"/>
                </a:ext>
              </a:extLst>
            </p:cNvPr>
            <p:cNvSpPr/>
            <p:nvPr/>
          </p:nvSpPr>
          <p:spPr>
            <a:xfrm rot="5400000">
              <a:off x="8182170" y="2642656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FDDDD05-D6BD-D2D9-6E7D-6095ACAE5AA1}"/>
                </a:ext>
              </a:extLst>
            </p:cNvPr>
            <p:cNvSpPr/>
            <p:nvPr/>
          </p:nvSpPr>
          <p:spPr>
            <a:xfrm rot="5400000">
              <a:off x="8075478" y="2642656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DA3C59-C123-755B-70F8-7F02F7350E8D}"/>
                </a:ext>
              </a:extLst>
            </p:cNvPr>
            <p:cNvSpPr/>
            <p:nvPr/>
          </p:nvSpPr>
          <p:spPr>
            <a:xfrm rot="5400000">
              <a:off x="7968786" y="2642656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0588E17-5EAF-6757-3EE9-C7E1E7DF5424}"/>
                </a:ext>
              </a:extLst>
            </p:cNvPr>
            <p:cNvSpPr/>
            <p:nvPr/>
          </p:nvSpPr>
          <p:spPr>
            <a:xfrm rot="5400000">
              <a:off x="7862094" y="2642656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A615649-4E21-7F5D-9F28-F33BA5D99296}"/>
                </a:ext>
              </a:extLst>
            </p:cNvPr>
            <p:cNvSpPr/>
            <p:nvPr/>
          </p:nvSpPr>
          <p:spPr>
            <a:xfrm rot="5400000">
              <a:off x="7756411" y="2642664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1F5A6E6-6602-A131-917B-5C830179553D}"/>
                </a:ext>
              </a:extLst>
            </p:cNvPr>
            <p:cNvSpPr/>
            <p:nvPr/>
          </p:nvSpPr>
          <p:spPr>
            <a:xfrm rot="5400000">
              <a:off x="7649719" y="2642664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211423F-EF59-6515-1952-A0DC6213BCF9}"/>
                </a:ext>
              </a:extLst>
            </p:cNvPr>
            <p:cNvSpPr/>
            <p:nvPr/>
          </p:nvSpPr>
          <p:spPr>
            <a:xfrm rot="5400000">
              <a:off x="7543027" y="2642664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4B3D73B-2FD9-1FD3-2390-C5F4A6E03FA0}"/>
                </a:ext>
              </a:extLst>
            </p:cNvPr>
            <p:cNvSpPr/>
            <p:nvPr/>
          </p:nvSpPr>
          <p:spPr>
            <a:xfrm rot="5400000">
              <a:off x="7436335" y="2642664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607D825-BFE3-4429-D8C4-74FDFB8936DB}"/>
              </a:ext>
            </a:extLst>
          </p:cNvPr>
          <p:cNvGrpSpPr/>
          <p:nvPr/>
        </p:nvGrpSpPr>
        <p:grpSpPr>
          <a:xfrm>
            <a:off x="7450254" y="3127545"/>
            <a:ext cx="852527" cy="602910"/>
            <a:chOff x="7684440" y="2394551"/>
            <a:chExt cx="852527" cy="60291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135356D-1744-68FB-5F08-3D29A583C2BB}"/>
                </a:ext>
              </a:extLst>
            </p:cNvPr>
            <p:cNvSpPr/>
            <p:nvPr/>
          </p:nvSpPr>
          <p:spPr>
            <a:xfrm rot="5400000">
              <a:off x="8182170" y="2642656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0F21044-B043-B353-7511-E67D2B905A36}"/>
                </a:ext>
              </a:extLst>
            </p:cNvPr>
            <p:cNvSpPr/>
            <p:nvPr/>
          </p:nvSpPr>
          <p:spPr>
            <a:xfrm rot="5400000">
              <a:off x="8075478" y="2642656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BC25C2E-A1B1-296F-4C94-90A0B1E734ED}"/>
                </a:ext>
              </a:extLst>
            </p:cNvPr>
            <p:cNvSpPr/>
            <p:nvPr/>
          </p:nvSpPr>
          <p:spPr>
            <a:xfrm rot="5400000">
              <a:off x="7968786" y="2642656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69BEF54-2865-91A1-2C4A-31F46635B585}"/>
                </a:ext>
              </a:extLst>
            </p:cNvPr>
            <p:cNvSpPr/>
            <p:nvPr/>
          </p:nvSpPr>
          <p:spPr>
            <a:xfrm rot="5400000">
              <a:off x="7862094" y="2642656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41C31A7-4D4F-CECF-2654-971F870192C8}"/>
                </a:ext>
              </a:extLst>
            </p:cNvPr>
            <p:cNvSpPr/>
            <p:nvPr/>
          </p:nvSpPr>
          <p:spPr>
            <a:xfrm rot="5400000">
              <a:off x="7756411" y="2642664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ECA3810-C258-8835-B1CE-1D57FBFCFA70}"/>
                </a:ext>
              </a:extLst>
            </p:cNvPr>
            <p:cNvSpPr/>
            <p:nvPr/>
          </p:nvSpPr>
          <p:spPr>
            <a:xfrm rot="5400000">
              <a:off x="7649719" y="2642664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B967387-8BAC-B4D2-45DC-EA250FE1EC86}"/>
                </a:ext>
              </a:extLst>
            </p:cNvPr>
            <p:cNvSpPr/>
            <p:nvPr/>
          </p:nvSpPr>
          <p:spPr>
            <a:xfrm rot="5400000">
              <a:off x="7543027" y="2642664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3F78E32-704D-04F3-1805-45EA2362E483}"/>
                </a:ext>
              </a:extLst>
            </p:cNvPr>
            <p:cNvSpPr/>
            <p:nvPr/>
          </p:nvSpPr>
          <p:spPr>
            <a:xfrm rot="5400000">
              <a:off x="7436335" y="2642664"/>
              <a:ext cx="602902" cy="106692"/>
            </a:xfrm>
            <a:prstGeom prst="rect">
              <a:avLst/>
            </a:prstGeom>
            <a:solidFill>
              <a:srgbClr val="DCEF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Arrow: Bent-Up 31">
            <a:extLst>
              <a:ext uri="{FF2B5EF4-FFF2-40B4-BE49-F238E27FC236}">
                <a16:creationId xmlns:a16="http://schemas.microsoft.com/office/drawing/2014/main" id="{266573F9-BF94-539F-5B6D-96A34ED2FCC5}"/>
              </a:ext>
            </a:extLst>
          </p:cNvPr>
          <p:cNvSpPr/>
          <p:nvPr/>
        </p:nvSpPr>
        <p:spPr>
          <a:xfrm rot="5400000">
            <a:off x="2068629" y="2825406"/>
            <a:ext cx="850392" cy="731520"/>
          </a:xfrm>
          <a:prstGeom prst="bentUpArrow">
            <a:avLst/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E0CBE3-BD5B-62F7-374A-4221D750FD48}"/>
              </a:ext>
            </a:extLst>
          </p:cNvPr>
          <p:cNvSpPr txBox="1"/>
          <p:nvPr/>
        </p:nvSpPr>
        <p:spPr>
          <a:xfrm>
            <a:off x="835636" y="3594013"/>
            <a:ext cx="1455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Serialization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E48D4D-2E3E-D824-C11A-7C73718B2221}"/>
              </a:ext>
            </a:extLst>
          </p:cNvPr>
          <p:cNvSpPr txBox="1"/>
          <p:nvPr/>
        </p:nvSpPr>
        <p:spPr>
          <a:xfrm>
            <a:off x="2902565" y="4097904"/>
            <a:ext cx="21583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Stream words</a:t>
            </a:r>
            <a:br>
              <a:rPr lang="en-US" sz="2000" dirty="0"/>
            </a:br>
            <a:r>
              <a:rPr lang="en-US" sz="2000" dirty="0"/>
              <a:t>(e.g., </a:t>
            </a:r>
            <a:r>
              <a:rPr lang="en-US" sz="2000" dirty="0" err="1"/>
              <a:t>ap_uint</a:t>
            </a:r>
            <a:r>
              <a:rPr lang="en-US" sz="2000" dirty="0"/>
              <a:t>&lt;32&gt;)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F74409-EE53-71BA-8EAA-9DBC0280F844}"/>
              </a:ext>
            </a:extLst>
          </p:cNvPr>
          <p:cNvSpPr txBox="1"/>
          <p:nvPr/>
        </p:nvSpPr>
        <p:spPr>
          <a:xfrm>
            <a:off x="7053921" y="4001894"/>
            <a:ext cx="16276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Stream words</a:t>
            </a:r>
            <a:endParaRPr lang="en-US" dirty="0"/>
          </a:p>
        </p:txBody>
      </p:sp>
      <p:sp>
        <p:nvSpPr>
          <p:cNvPr id="36" name="Arrow: Bent-Up 35">
            <a:extLst>
              <a:ext uri="{FF2B5EF4-FFF2-40B4-BE49-F238E27FC236}">
                <a16:creationId xmlns:a16="http://schemas.microsoft.com/office/drawing/2014/main" id="{24C631C0-523A-FBE6-04A7-06291E5F8892}"/>
              </a:ext>
            </a:extLst>
          </p:cNvPr>
          <p:cNvSpPr/>
          <p:nvPr/>
        </p:nvSpPr>
        <p:spPr>
          <a:xfrm flipV="1">
            <a:off x="8639645" y="3288917"/>
            <a:ext cx="1514741" cy="944712"/>
          </a:xfrm>
          <a:prstGeom prst="bentUpArrow">
            <a:avLst>
              <a:gd name="adj1" fmla="val 25000"/>
              <a:gd name="adj2" fmla="val 23619"/>
              <a:gd name="adj3" fmla="val 25000"/>
            </a:avLst>
          </a:prstGeom>
          <a:solidFill>
            <a:srgbClr val="EEE6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75EA100-E37A-6A50-4997-D7D5F5C1E406}"/>
              </a:ext>
            </a:extLst>
          </p:cNvPr>
          <p:cNvSpPr txBox="1"/>
          <p:nvPr/>
        </p:nvSpPr>
        <p:spPr>
          <a:xfrm>
            <a:off x="9044654" y="5354262"/>
            <a:ext cx="1197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RX Packet</a:t>
            </a:r>
            <a:endParaRPr lang="en-US" dirty="0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370682EF-3F84-0C9B-2532-154692076759}"/>
              </a:ext>
            </a:extLst>
          </p:cNvPr>
          <p:cNvSpPr/>
          <p:nvPr/>
        </p:nvSpPr>
        <p:spPr>
          <a:xfrm>
            <a:off x="4759035" y="3191166"/>
            <a:ext cx="2319597" cy="484632"/>
          </a:xfrm>
          <a:prstGeom prst="rightArrow">
            <a:avLst/>
          </a:prstGeom>
          <a:solidFill>
            <a:srgbClr val="DCEF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71FB39-251C-0267-BC25-A5D4E30BE21A}"/>
              </a:ext>
            </a:extLst>
          </p:cNvPr>
          <p:cNvSpPr txBox="1"/>
          <p:nvPr/>
        </p:nvSpPr>
        <p:spPr>
          <a:xfrm>
            <a:off x="5060913" y="2639138"/>
            <a:ext cx="14877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AXI4-Stream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E0D1BB1-4A29-23CB-B3A2-D38B46E80E51}"/>
              </a:ext>
            </a:extLst>
          </p:cNvPr>
          <p:cNvSpPr txBox="1"/>
          <p:nvPr/>
        </p:nvSpPr>
        <p:spPr>
          <a:xfrm>
            <a:off x="9141857" y="2721037"/>
            <a:ext cx="17233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Deserialization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409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7C73B-4178-47F8-238D-A74D32DEA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Serialization / Deserialization in 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69892-7691-C5E6-C5B8-E171B2602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4320" indent="-274320">
              <a:buClr>
                <a:srgbClr val="57068C"/>
              </a:buClr>
              <a:buSzPct val="70000"/>
              <a:buFont typeface="Arial"/>
              <a:buChar char="■"/>
            </a:lvl1pPr>
            <a:lvl2pPr marL="621792" indent="-228600">
              <a:buClr>
                <a:srgbClr val="999999"/>
              </a:buClr>
              <a:buSzPct val="100000"/>
              <a:buFont typeface="Arial"/>
              <a:buChar char="–"/>
            </a:lvl2pPr>
          </a:lstStyle>
          <a:p>
            <a:r>
              <a:rPr lang="en-US" dirty="0"/>
              <a:t>Python and C++ have widely-used serialization tools</a:t>
            </a:r>
          </a:p>
          <a:p>
            <a:r>
              <a:rPr lang="en-US" dirty="0"/>
              <a:t>Ex:  Python pickle</a:t>
            </a:r>
          </a:p>
          <a:p>
            <a:pPr lvl="1"/>
            <a:r>
              <a:rPr lang="en-US" dirty="0"/>
              <a:t>Can serialize an arbitrary class</a:t>
            </a:r>
          </a:p>
          <a:p>
            <a:pPr lvl="1"/>
            <a:r>
              <a:rPr lang="en-US" dirty="0"/>
              <a:t>Serializes complex nested structures</a:t>
            </a:r>
          </a:p>
          <a:p>
            <a:r>
              <a:rPr lang="en-US" dirty="0"/>
              <a:t>Ex:  </a:t>
            </a:r>
            <a:r>
              <a:rPr lang="en-US" dirty="0" err="1"/>
              <a:t>Boost.serialization</a:t>
            </a:r>
            <a:endParaRPr lang="en-US" dirty="0"/>
          </a:p>
          <a:p>
            <a:pPr lvl="1"/>
            <a:r>
              <a:rPr lang="en-US" dirty="0"/>
              <a:t>Similar package in C++</a:t>
            </a:r>
          </a:p>
          <a:p>
            <a:pPr lvl="1"/>
            <a:endParaRPr lang="en-US" dirty="0"/>
          </a:p>
          <a:p>
            <a:r>
              <a:rPr lang="en-US" dirty="0"/>
              <a:t>No standard library in hardware</a:t>
            </a:r>
          </a:p>
          <a:p>
            <a:r>
              <a:rPr lang="en-US" dirty="0"/>
              <a:t>Written by hand, or generated from a schema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6D34D-1404-DC39-A762-BF13C508D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FDE08B-8C8F-3F73-04AF-A45611E61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191" y="1539277"/>
            <a:ext cx="5091062" cy="368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1207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Serializing a Command Header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PRACTICE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685800" y="1645920"/>
            <a:ext cx="5852160" cy="39319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ap_uint&lt;n&gt;</a:t>
            </a:r>
            <a:r>
              <a:rPr lang="en-US" sz="1600" dirty="0">
                <a:solidFill>
                  <a:srgbClr val="262626"/>
                </a:solidFill>
              </a:rPr>
              <a:t xml:space="preserve"> is an n-bit unsigned integer. 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ap_fixed&lt;W,I&gt;</a:t>
            </a:r>
            <a:r>
              <a:rPr lang="en-US" sz="1600" dirty="0">
                <a:solidFill>
                  <a:srgbClr val="262626"/>
                </a:solidFill>
              </a:rPr>
              <a:t xml:space="preserve"> is a signed fixed-point value with W bits in all, I of them integer bits, the sign included.</a:t>
            </a:r>
            <a:endParaRPr lang="en-US" sz="1600" dirty="0"/>
          </a:p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(a)</a:t>
            </a:r>
            <a:r>
              <a:rPr lang="en-US" sz="1600" dirty="0">
                <a:solidFill>
                  <a:srgbClr val="262626"/>
                </a:solidFill>
              </a:rPr>
              <a:t xml:space="preserve">	How many 32-bit words does one header need, if no field may be split across a word boundary?</a:t>
            </a:r>
            <a:endParaRPr lang="en-US" sz="1600" dirty="0"/>
          </a:p>
          <a:p>
            <a:pPr marL="411480" indent="-411480">
              <a:spcBef>
                <a:spcPts val="900"/>
              </a:spcBef>
            </a:pPr>
            <a:r>
              <a:rPr lang="en-US" sz="1600" b="1" dirty="0">
                <a:solidFill>
                  <a:srgbClr val="57068C"/>
                </a:solidFill>
              </a:rPr>
              <a:t>(b)</a:t>
            </a:r>
            <a:r>
              <a:rPr lang="en-US" sz="1600" dirty="0">
                <a:solidFill>
                  <a:srgbClr val="262626"/>
                </a:solidFill>
              </a:rPr>
              <a:t xml:space="preserve">	Complete the function below to serialize a header into 32-bit words.  Use the minimum number of words.</a:t>
            </a:r>
            <a:endParaRPr lang="en-US" sz="1600" dirty="0"/>
          </a:p>
        </p:txBody>
      </p:sp>
      <p:sp>
        <p:nvSpPr>
          <p:cNvPr id="5" name="Shape 5"/>
          <p:cNvSpPr/>
          <p:nvPr/>
        </p:nvSpPr>
        <p:spPr>
          <a:xfrm>
            <a:off x="6812280" y="1691640"/>
            <a:ext cx="4663440" cy="2148840"/>
          </a:xfrm>
          <a:prstGeom prst="rect">
            <a:avLst/>
          </a:prstGeom>
          <a:solidFill>
            <a:srgbClr val="F4F4F7"/>
          </a:solidFill>
          <a:ln w="9525">
            <a:solidFill>
              <a:srgbClr val="BFBFBF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class CmdHdr {</a:t>
            </a:r>
            <a:endParaRPr lang="en-US" sz="13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 xml:space="preserve">    ap_uint&lt;16&gt; trans_id;</a:t>
            </a:r>
            <a:endParaRPr lang="en-US" sz="13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 xml:space="preserve">    // Q1.11: 1 sign bit, 11 fractional bits;</a:t>
            </a:r>
            <a:endParaRPr lang="en-US" sz="13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 xml:space="preserve">    // 1.0 corresponds to π radians</a:t>
            </a:r>
            <a:endParaRPr lang="en-US" sz="13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 xml:space="preserve">    ap_fixed&lt;12,1&gt; yaw, pitch, roll;</a:t>
            </a:r>
            <a:endParaRPr lang="en-US" sz="13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 xml:space="preserve">    ap_uint&lt;16&gt; nsamp;</a:t>
            </a:r>
            <a:endParaRPr lang="en-US" sz="13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};</a:t>
            </a:r>
            <a:endParaRPr lang="en-US" sz="1300" dirty="0"/>
          </a:p>
        </p:txBody>
      </p:sp>
      <p:sp>
        <p:nvSpPr>
          <p:cNvPr id="6" name="Shape 6"/>
          <p:cNvSpPr/>
          <p:nvPr/>
        </p:nvSpPr>
        <p:spPr>
          <a:xfrm>
            <a:off x="6812280" y="4023360"/>
            <a:ext cx="4663440" cy="1051560"/>
          </a:xfrm>
          <a:prstGeom prst="rect">
            <a:avLst/>
          </a:prstGeom>
          <a:solidFill>
            <a:srgbClr val="F4F4F7"/>
          </a:solidFill>
          <a:ln w="9525">
            <a:solidFill>
              <a:srgbClr val="BFBFBF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void serialize(const CmdHdr &amp;cmd_hdr,</a:t>
            </a:r>
            <a:endParaRPr lang="en-US" sz="13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 xml:space="preserve">               ap_uint&lt;32&gt; words[/* ? */]) {</a:t>
            </a:r>
            <a:endParaRPr lang="en-US" sz="13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 xml:space="preserve">    ...</a:t>
            </a:r>
            <a:endParaRPr lang="en-US" sz="13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}</a:t>
            </a:r>
            <a:endParaRPr lang="en-US" sz="1300" dirty="0"/>
          </a:p>
        </p:txBody>
      </p:sp>
      <p:sp>
        <p:nvSpPr>
          <p:cNvPr id="7" name="TextBox 7"/>
          <p:cNvSpPr txBox="1"/>
          <p:nvPr/>
        </p:nvSpPr>
        <p:spPr>
          <a:xfrm>
            <a:off x="68580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5 › Serializing a command header</a:t>
            </a:r>
            <a:endParaRPr lang="en-US" sz="1200" dirty="0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Serializing a Command Header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0857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SOLUTION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685800" y="1600200"/>
            <a:ext cx="5394960" cy="914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411480" indent="-411480">
              <a:spcBef>
                <a:spcPts val="0"/>
              </a:spcBef>
            </a:pPr>
            <a:r>
              <a:rPr lang="en-US" sz="1600" b="1" dirty="0">
                <a:solidFill>
                  <a:srgbClr val="57068C"/>
                </a:solidFill>
              </a:rPr>
              <a:t>(a)</a:t>
            </a:r>
            <a:r>
              <a:rPr lang="en-US" sz="1600" dirty="0">
                <a:solidFill>
                  <a:srgbClr val="262626"/>
                </a:solidFill>
              </a:rPr>
              <a:t xml:space="preserve">	16 + 12 + 12 + 12 + 16 = 68 bits: more than two words.  Three suffice: </a:t>
            </a:r>
            <a:r>
              <a:rPr lang="en-US" sz="1600" b="1" dirty="0">
                <a:solidFill>
                  <a:srgbClr val="00857C"/>
                </a:solidFill>
              </a:rPr>
              <a:t>3 words</a:t>
            </a:r>
            <a:endParaRPr lang="en-US" sz="1600" dirty="0"/>
          </a:p>
        </p:txBody>
      </p:sp>
      <p:sp>
        <p:nvSpPr>
          <p:cNvPr id="5" name="TextBox 5"/>
          <p:cNvSpPr txBox="1"/>
          <p:nvPr/>
        </p:nvSpPr>
        <p:spPr>
          <a:xfrm>
            <a:off x="1097280" y="26060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262626"/>
                </a:solidFill>
              </a:rPr>
              <a:t>word 0</a:t>
            </a:r>
            <a:endParaRPr lang="en-US" sz="1200" dirty="0"/>
          </a:p>
        </p:txBody>
      </p:sp>
      <p:sp>
        <p:nvSpPr>
          <p:cNvPr id="6" name="Shape 6"/>
          <p:cNvSpPr/>
          <p:nvPr/>
        </p:nvSpPr>
        <p:spPr>
          <a:xfrm>
            <a:off x="1828800" y="2560320"/>
            <a:ext cx="548640" cy="411480"/>
          </a:xfrm>
          <a:prstGeom prst="rect">
            <a:avLst/>
          </a:prstGeom>
          <a:solidFill>
            <a:srgbClr val="EDEDED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6E6E6E"/>
                </a:solidFill>
              </a:rPr>
              <a:t>0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2377440" y="2560320"/>
            <a:ext cx="1737360" cy="4114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200" b="1" dirty="0">
                <a:solidFill>
                  <a:srgbClr val="57068C"/>
                </a:solidFill>
              </a:rPr>
              <a:t>yaw 27–16</a:t>
            </a:r>
            <a:endParaRPr lang="en-US" sz="1200" dirty="0"/>
          </a:p>
        </p:txBody>
      </p:sp>
      <p:sp>
        <p:nvSpPr>
          <p:cNvPr id="8" name="Shape 8"/>
          <p:cNvSpPr/>
          <p:nvPr/>
        </p:nvSpPr>
        <p:spPr>
          <a:xfrm>
            <a:off x="4114800" y="2560320"/>
            <a:ext cx="2011680" cy="411480"/>
          </a:xfrm>
          <a:prstGeom prst="rect">
            <a:avLst/>
          </a:prstGeom>
          <a:solidFill>
            <a:srgbClr val="EAF0F7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200" b="1" dirty="0">
                <a:solidFill>
                  <a:srgbClr val="2F6FA8"/>
                </a:solidFill>
              </a:rPr>
              <a:t>trans_id 15–0</a:t>
            </a:r>
            <a:endParaRPr lang="en-US" sz="1200" dirty="0"/>
          </a:p>
        </p:txBody>
      </p:sp>
      <p:sp>
        <p:nvSpPr>
          <p:cNvPr id="9" name="TextBox 9"/>
          <p:cNvSpPr txBox="1"/>
          <p:nvPr/>
        </p:nvSpPr>
        <p:spPr>
          <a:xfrm>
            <a:off x="1097280" y="310896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262626"/>
                </a:solidFill>
              </a:rPr>
              <a:t>word 1</a:t>
            </a:r>
            <a:endParaRPr lang="en-US" sz="1200" dirty="0"/>
          </a:p>
        </p:txBody>
      </p:sp>
      <p:sp>
        <p:nvSpPr>
          <p:cNvPr id="10" name="Shape 10"/>
          <p:cNvSpPr/>
          <p:nvPr/>
        </p:nvSpPr>
        <p:spPr>
          <a:xfrm>
            <a:off x="1828800" y="3063240"/>
            <a:ext cx="731520" cy="411480"/>
          </a:xfrm>
          <a:prstGeom prst="rect">
            <a:avLst/>
          </a:prstGeom>
          <a:solidFill>
            <a:srgbClr val="EDEDED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6E6E6E"/>
                </a:solidFill>
              </a:rPr>
              <a:t>0</a:t>
            </a:r>
            <a:endParaRPr lang="en-US" sz="1100" dirty="0"/>
          </a:p>
        </p:txBody>
      </p:sp>
      <p:sp>
        <p:nvSpPr>
          <p:cNvPr id="11" name="Shape 11"/>
          <p:cNvSpPr/>
          <p:nvPr/>
        </p:nvSpPr>
        <p:spPr>
          <a:xfrm>
            <a:off x="2560320" y="3063240"/>
            <a:ext cx="1783080" cy="4114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200" b="1" dirty="0">
                <a:solidFill>
                  <a:srgbClr val="57068C"/>
                </a:solidFill>
              </a:rPr>
              <a:t>roll 23–12</a:t>
            </a:r>
            <a:endParaRPr lang="en-US" sz="1200" dirty="0"/>
          </a:p>
        </p:txBody>
      </p:sp>
      <p:sp>
        <p:nvSpPr>
          <p:cNvPr id="12" name="Shape 12"/>
          <p:cNvSpPr/>
          <p:nvPr/>
        </p:nvSpPr>
        <p:spPr>
          <a:xfrm>
            <a:off x="4343400" y="3063240"/>
            <a:ext cx="1783080" cy="4114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200" b="1" dirty="0">
                <a:solidFill>
                  <a:srgbClr val="57068C"/>
                </a:solidFill>
              </a:rPr>
              <a:t>pitch 11–0</a:t>
            </a:r>
            <a:endParaRPr lang="en-US" sz="1200" dirty="0"/>
          </a:p>
        </p:txBody>
      </p:sp>
      <p:sp>
        <p:nvSpPr>
          <p:cNvPr id="13" name="TextBox 13"/>
          <p:cNvSpPr txBox="1"/>
          <p:nvPr/>
        </p:nvSpPr>
        <p:spPr>
          <a:xfrm>
            <a:off x="1097280" y="36118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262626"/>
                </a:solidFill>
              </a:rPr>
              <a:t>word 2</a:t>
            </a:r>
            <a:endParaRPr lang="en-US" sz="1200" dirty="0"/>
          </a:p>
        </p:txBody>
      </p:sp>
      <p:sp>
        <p:nvSpPr>
          <p:cNvPr id="14" name="Shape 14"/>
          <p:cNvSpPr/>
          <p:nvPr/>
        </p:nvSpPr>
        <p:spPr>
          <a:xfrm>
            <a:off x="1828800" y="3566160"/>
            <a:ext cx="2286000" cy="411480"/>
          </a:xfrm>
          <a:prstGeom prst="rect">
            <a:avLst/>
          </a:prstGeom>
          <a:solidFill>
            <a:srgbClr val="EDEDED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100" dirty="0">
                <a:solidFill>
                  <a:srgbClr val="6E6E6E"/>
                </a:solidFill>
              </a:rPr>
              <a:t>0</a:t>
            </a:r>
            <a:endParaRPr lang="en-US" sz="1100" dirty="0"/>
          </a:p>
        </p:txBody>
      </p:sp>
      <p:sp>
        <p:nvSpPr>
          <p:cNvPr id="15" name="Shape 15"/>
          <p:cNvSpPr/>
          <p:nvPr/>
        </p:nvSpPr>
        <p:spPr>
          <a:xfrm>
            <a:off x="4114800" y="3566160"/>
            <a:ext cx="2011680" cy="411480"/>
          </a:xfrm>
          <a:prstGeom prst="rect">
            <a:avLst/>
          </a:prstGeom>
          <a:solidFill>
            <a:srgbClr val="EAF0F7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200" b="1" dirty="0">
                <a:solidFill>
                  <a:srgbClr val="2F6FA8"/>
                </a:solidFill>
              </a:rPr>
              <a:t>nsamp 15–0</a:t>
            </a:r>
            <a:endParaRPr lang="en-US" sz="1200" dirty="0"/>
          </a:p>
        </p:txBody>
      </p:sp>
      <p:sp>
        <p:nvSpPr>
          <p:cNvPr id="16" name="Shape 16"/>
          <p:cNvSpPr/>
          <p:nvPr/>
        </p:nvSpPr>
        <p:spPr>
          <a:xfrm>
            <a:off x="685800" y="4206240"/>
            <a:ext cx="5394960" cy="1325880"/>
          </a:xfrm>
          <a:prstGeom prst="roundRect">
            <a:avLst>
              <a:gd name="adj" fmla="val 8000"/>
            </a:avLst>
          </a:prstGeom>
          <a:solidFill>
            <a:srgbClr val="FCEEE3"/>
          </a:solidFill>
          <a:ln>
            <a:noFill/>
          </a:ln>
        </p:spPr>
        <p:txBody>
          <a:bodyPr wrap="square" lIns="146304" tIns="73152" rIns="146304" bIns="73152" anchor="t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500" b="1" dirty="0">
                <a:solidFill>
                  <a:srgbClr val="B4530F"/>
                </a:solidFill>
              </a:rPr>
              <a:t>The error that matters</a:t>
            </a:r>
            <a:endParaRPr lang="en-US" sz="15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w0.range(27, 16) = cmd_hdr.yaw;</a:t>
            </a:r>
            <a:r>
              <a:rPr lang="en-US" sz="1300" dirty="0">
                <a:solidFill>
                  <a:srgbClr val="262626"/>
                </a:solidFill>
              </a:rPr>
              <a:t xml:space="preserve"> converts the value to an integer: yaw = −0.25 packs as 0, not </a:t>
            </a:r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0xE00</a:t>
            </a:r>
            <a:r>
              <a:rPr lang="en-US" sz="1300" dirty="0">
                <a:solidFill>
                  <a:srgbClr val="262626"/>
                </a:solidFill>
              </a:rPr>
              <a:t>.</a:t>
            </a:r>
            <a:endParaRPr lang="en-US" sz="1300" dirty="0"/>
          </a:p>
        </p:txBody>
      </p:sp>
      <p:sp>
        <p:nvSpPr>
          <p:cNvPr id="17" name="Shape 17"/>
          <p:cNvSpPr/>
          <p:nvPr/>
        </p:nvSpPr>
        <p:spPr>
          <a:xfrm>
            <a:off x="6355080" y="1600200"/>
            <a:ext cx="5120640" cy="3977640"/>
          </a:xfrm>
          <a:prstGeom prst="rect">
            <a:avLst/>
          </a:prstGeom>
          <a:solidFill>
            <a:srgbClr val="F4F4F7"/>
          </a:solidFill>
          <a:ln w="9525">
            <a:solidFill>
              <a:srgbClr val="BFBFBF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void serialize(const CmdHdr &amp;cmd_hdr,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           ap_uint&lt;32&gt; words[3]) {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ap_uint&lt;32&gt; w0 = 0;              // trans_id | yaw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w0.range(15, 0)  = cmd_hdr.trans_id;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w0.range(27, 16) = cmd_hdr.yaw.range(11, 0);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words[0] = w0;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ap_uint&lt;32&gt; w1 = 0;              // pitch | roll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w1.range(11, 0)  = cmd_hdr.pitch.range(11, 0);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w1.range(23, 12) = cmd_hdr.roll.range(11, 0);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words[1] = w1;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ap_uint&lt;32&gt; w2 = 0;              // nsamp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w2.range(15, 0) = cmd_hdr.nsamp;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words[2] = w2;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}</a:t>
            </a:r>
            <a:endParaRPr lang="en-US" sz="1100" dirty="0"/>
          </a:p>
        </p:txBody>
      </p:sp>
      <p:sp>
        <p:nvSpPr>
          <p:cNvPr id="18" name="TextBox 18"/>
          <p:cNvSpPr txBox="1"/>
          <p:nvPr/>
        </p:nvSpPr>
        <p:spPr>
          <a:xfrm>
            <a:off x="68580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5 › Serializing a command header</a:t>
            </a:r>
            <a:endParaRPr lang="en-US" sz="1200" dirty="0"/>
          </a:p>
        </p:txBody>
      </p:sp>
      <p:sp>
        <p:nvSpPr>
          <p:cNvPr id="19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Sizing FIFOs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0857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SOLUTION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685800" y="1645920"/>
            <a:ext cx="6309360" cy="2743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411480" indent="-411480">
              <a:spcBef>
                <a:spcPts val="900"/>
              </a:spcBef>
            </a:pPr>
            <a:r>
              <a:rPr lang="en-US" sz="1800" b="1" dirty="0">
                <a:solidFill>
                  <a:srgbClr val="57068C"/>
                </a:solidFill>
              </a:rPr>
              <a:t>(a)</a:t>
            </a:r>
            <a:r>
              <a:rPr lang="en-US" sz="1800" dirty="0">
                <a:solidFill>
                  <a:srgbClr val="262626"/>
                </a:solidFill>
              </a:rPr>
              <a:t xml:space="preserve">	16 + 32 + 32 = 80 bits = 2 + 4 + 4 bytes = </a:t>
            </a:r>
            <a:r>
              <a:rPr lang="en-US" sz="1800" b="1" dirty="0">
                <a:solidFill>
                  <a:srgbClr val="00857C"/>
                </a:solidFill>
              </a:rPr>
              <a:t>10 bytes</a:t>
            </a:r>
            <a:endParaRPr lang="en-US" sz="1800" dirty="0"/>
          </a:p>
          <a:p>
            <a:pPr marL="411480" indent="-411480">
              <a:spcBef>
                <a:spcPts val="900"/>
              </a:spcBef>
            </a:pPr>
            <a:r>
              <a:rPr lang="en-US" sz="1800" b="1" dirty="0">
                <a:solidFill>
                  <a:srgbClr val="57068C"/>
                </a:solidFill>
              </a:rPr>
              <a:t>(b)</a:t>
            </a:r>
            <a:r>
              <a:rPr lang="en-US" sz="1800" dirty="0">
                <a:solidFill>
                  <a:srgbClr val="262626"/>
                </a:solidFill>
              </a:rPr>
              <a:t xml:space="preserve">	32 elements × 10 bytes = </a:t>
            </a:r>
            <a:r>
              <a:rPr lang="en-US" sz="1800" b="1" dirty="0">
                <a:solidFill>
                  <a:srgbClr val="00857C"/>
                </a:solidFill>
              </a:rPr>
              <a:t>320 bytes</a:t>
            </a:r>
            <a:endParaRPr lang="en-US" sz="1800" dirty="0"/>
          </a:p>
          <a:p>
            <a:pPr marL="411480" indent="0">
              <a:spcBef>
                <a:spcPts val="200"/>
              </a:spcBef>
            </a:pPr>
            <a:r>
              <a:rPr lang="en-US" sz="1500" dirty="0">
                <a:solidFill>
                  <a:srgbClr val="6E6E6E"/>
                </a:solidFill>
              </a:rPr>
              <a:t>Size = depth × element width</a:t>
            </a:r>
            <a:endParaRPr lang="en-US" sz="1500" dirty="0"/>
          </a:p>
        </p:txBody>
      </p:sp>
      <p:sp>
        <p:nvSpPr>
          <p:cNvPr id="5" name="TextBox 5"/>
          <p:cNvSpPr txBox="1"/>
          <p:nvPr/>
        </p:nvSpPr>
        <p:spPr>
          <a:xfrm>
            <a:off x="7360920" y="169164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One element, no padding</a:t>
            </a:r>
            <a:endParaRPr lang="en-US" sz="1200" dirty="0"/>
          </a:p>
        </p:txBody>
      </p:sp>
      <p:sp>
        <p:nvSpPr>
          <p:cNvPr id="6" name="Shape 6"/>
          <p:cNvSpPr/>
          <p:nvPr/>
        </p:nvSpPr>
        <p:spPr>
          <a:xfrm>
            <a:off x="7360920" y="1993392"/>
            <a:ext cx="822960" cy="640080"/>
          </a:xfrm>
          <a:prstGeom prst="rect">
            <a:avLst/>
          </a:prstGeom>
          <a:solidFill>
            <a:srgbClr val="EAF0F7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2F6FA8"/>
                </a:solidFill>
              </a:rPr>
              <a:t>id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2F6FA8"/>
                </a:solidFill>
              </a:rPr>
              <a:t>2 B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8183880" y="1993392"/>
            <a:ext cx="1645920" cy="6400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330662"/>
                </a:solidFill>
              </a:rPr>
              <a:t>operand1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330662"/>
                </a:solidFill>
              </a:rPr>
              <a:t>4 B</a:t>
            </a:r>
            <a:endParaRPr lang="en-US" sz="1100" dirty="0"/>
          </a:p>
        </p:txBody>
      </p:sp>
      <p:sp>
        <p:nvSpPr>
          <p:cNvPr id="8" name="Shape 8"/>
          <p:cNvSpPr/>
          <p:nvPr/>
        </p:nvSpPr>
        <p:spPr>
          <a:xfrm>
            <a:off x="9829800" y="1993392"/>
            <a:ext cx="1645920" cy="6400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330662"/>
                </a:solidFill>
              </a:rPr>
              <a:t>operand2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330662"/>
                </a:solidFill>
              </a:rPr>
              <a:t>4 B</a:t>
            </a:r>
            <a:endParaRPr lang="en-US" sz="1100" dirty="0"/>
          </a:p>
        </p:txBody>
      </p:sp>
      <p:sp>
        <p:nvSpPr>
          <p:cNvPr id="9" name="Shape 9"/>
          <p:cNvSpPr/>
          <p:nvPr/>
        </p:nvSpPr>
        <p:spPr>
          <a:xfrm>
            <a:off x="7360920" y="2971800"/>
            <a:ext cx="4114800" cy="1325880"/>
          </a:xfrm>
          <a:prstGeom prst="roundRect">
            <a:avLst>
              <a:gd name="adj" fmla="val 8000"/>
            </a:avLst>
          </a:prstGeom>
          <a:solidFill>
            <a:srgbClr val="FCEEE3"/>
          </a:solidFill>
          <a:ln>
            <a:noFill/>
          </a:ln>
        </p:spPr>
        <p:txBody>
          <a:bodyPr wrap="square" lIns="146304" tIns="73152" rIns="146304" bIns="73152" anchor="t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500" b="1" dirty="0">
                <a:solidFill>
                  <a:srgbClr val="B4530F"/>
                </a:solidFill>
              </a:rPr>
              <a:t>Common errors</a:t>
            </a:r>
            <a:endParaRPr lang="en-US" sz="1500" dirty="0"/>
          </a:p>
          <a:p>
            <a:r>
              <a:rPr lang="en-US" sz="1400" dirty="0">
                <a:solidFill>
                  <a:srgbClr val="262626"/>
                </a:solidFill>
              </a:rPr>
              <a:t>Leaving the width in bits: 80.</a:t>
            </a:r>
            <a:endParaRPr lang="en-US" sz="1400" dirty="0"/>
          </a:p>
          <a:p>
            <a:r>
              <a:rPr lang="en-US" sz="1400" dirty="0">
                <a:solidFill>
                  <a:srgbClr val="262626"/>
                </a:solidFill>
              </a:rPr>
              <a:t xml:space="preserve">Padding command_id to 4 bytes: 12.  The question rules that out.</a:t>
            </a:r>
            <a:endParaRPr lang="en-US" sz="1400" dirty="0"/>
          </a:p>
        </p:txBody>
      </p:sp>
      <p:sp>
        <p:nvSpPr>
          <p:cNvPr id="10" name="TextBox 10"/>
          <p:cNvSpPr txBox="1"/>
          <p:nvPr/>
        </p:nvSpPr>
        <p:spPr>
          <a:xfrm>
            <a:off x="68580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5 › Sizing FIFOs</a:t>
            </a:r>
            <a:endParaRPr lang="en-US" sz="1200" dirty="0"/>
          </a:p>
        </p:txBody>
      </p:sp>
      <p:sp>
        <p:nvSpPr>
          <p:cNvPr id="11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Demo: a Streaming Filter</a:t>
            </a:r>
          </a:p>
        </p:txBody>
      </p:sp>
      <p:sp>
        <p:nvSpPr>
          <p:cNvPr id="3" name="Shape 3"/>
          <p:cNvSpPr/>
          <p:nvPr/>
        </p:nvSpPr>
        <p:spPr>
          <a:xfrm>
            <a:off x="685800" y="1335024"/>
            <a:ext cx="10789920" cy="694944"/>
          </a:xfrm>
          <a:prstGeom prst="roundRect">
            <a:avLst>
              <a:gd name="adj" fmla="val 16000"/>
            </a:avLst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 xml:space="preserve">sdrangan.github.io/hwdesign   —   Demos › AXI4-Streaming</a:t>
            </a:r>
            <a:endParaRPr lang="en-US" sz="1800" dirty="0"/>
          </a:p>
        </p:txBody>
      </p:sp>
      <p:sp>
        <p:nvSpPr>
          <p:cNvPr id="4" name="TextBox 4"/>
          <p:cNvSpPr txBox="1"/>
          <p:nvPr/>
        </p:nvSpPr>
        <p:spPr>
          <a:xfrm>
            <a:off x="685800" y="2212848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b="1" dirty="0">
                <a:solidFill>
                  <a:srgbClr val="6E6E6E"/>
                </a:solidFill>
              </a:rPr>
              <a:t>RUN THE WHOLE FLOW</a:t>
            </a:r>
            <a:endParaRPr lang="en-US" sz="1200" dirty="0"/>
          </a:p>
        </p:txBody>
      </p:sp>
      <p:sp>
        <p:nvSpPr>
          <p:cNvPr id="5" name="Shape 5"/>
          <p:cNvSpPr/>
          <p:nvPr/>
        </p:nvSpPr>
        <p:spPr>
          <a:xfrm>
            <a:off x="685800" y="2523744"/>
            <a:ext cx="5394960" cy="1828800"/>
          </a:xfrm>
          <a:prstGeom prst="rect">
            <a:avLst/>
          </a:prstGeom>
          <a:solidFill>
            <a:srgbClr val="F4F4F7"/>
          </a:solidFill>
          <a:ln w="12700">
            <a:solidFill>
              <a:srgbClr val="BFBFBF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cd demos/stream/avgfilt</a:t>
            </a: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python avgfilt_build.py --list-steps</a:t>
            </a: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python avgfilt_build.py --through verify_csim</a:t>
            </a: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python avgfilt_build.py</a:t>
            </a:r>
            <a:endParaRPr lang="en-US" sz="1200" dirty="0"/>
          </a:p>
        </p:txBody>
      </p:sp>
      <p:sp>
        <p:nvSpPr>
          <p:cNvPr id="6" name="TextBox 6"/>
          <p:cNvSpPr txBox="1"/>
          <p:nvPr/>
        </p:nvSpPr>
        <p:spPr>
          <a:xfrm>
            <a:off x="6355080" y="221284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b="1" dirty="0">
                <a:solidFill>
                  <a:srgbClr val="6E6E6E"/>
                </a:solidFill>
              </a:rPr>
              <a:t>WHAT TO WATCH FOR</a:t>
            </a:r>
            <a:endParaRPr lang="en-US" sz="1200" dirty="0"/>
          </a:p>
        </p:txBody>
      </p:sp>
      <p:sp>
        <p:nvSpPr>
          <p:cNvPr id="7" name="TextBox 7"/>
          <p:cNvSpPr txBox="1"/>
          <p:nvPr/>
        </p:nvSpPr>
        <p:spPr>
          <a:xfrm>
            <a:off x="6355080" y="2523744"/>
            <a:ext cx="5120640" cy="2011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37744" indent="-237744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262626"/>
                </a:solidFill>
              </a:rPr>
              <a:t xml:space="preserve">The kernel has </a:t>
            </a:r>
            <a:r>
              <a:rPr lang="en-US" sz="1400" b="1" dirty="0">
                <a:solidFill>
                  <a:srgbClr val="57068C"/>
                </a:solidFill>
              </a:rPr>
              <a:t>no start or done</a:t>
            </a:r>
            <a:r>
              <a:rPr lang="en-US" sz="1400" dirty="0">
                <a:solidFill>
                  <a:srgbClr val="262626"/>
                </a:solidFill>
              </a:rPr>
              <a:t xml:space="preserve">: two </a:t>
            </a:r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axis</a:t>
            </a:r>
            <a:r>
              <a:rPr lang="en-US" sz="1400" dirty="0">
                <a:solidFill>
                  <a:srgbClr val="262626"/>
                </a:solidFill>
              </a:rPr>
              <a:t xml:space="preserve"> ports and </a:t>
            </a:r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ap_ctrl_none</a:t>
            </a:r>
            <a:endParaRPr lang="en-US" sz="14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PIPELINE II=1</a:t>
            </a:r>
            <a:r>
              <a:rPr lang="en-US" sz="1400" dirty="0">
                <a:solidFill>
                  <a:srgbClr val="262626"/>
                </a:solidFill>
              </a:rPr>
              <a:t xml:space="preserve">: one sample in and one out </a:t>
            </a:r>
            <a:r>
              <a:rPr lang="en-US" sz="1400" b="1" dirty="0">
                <a:solidFill>
                  <a:srgbClr val="57068C"/>
                </a:solidFill>
              </a:rPr>
              <a:t>every cycle</a:t>
            </a:r>
            <a:endParaRPr lang="en-US" sz="14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262626"/>
                </a:solidFill>
              </a:rPr>
              <a:t xml:space="preserve">The C simulation still calls the kernel </a:t>
            </a:r>
            <a:r>
              <a:rPr lang="en-US" sz="1400" b="1" dirty="0">
                <a:solidFill>
                  <a:srgbClr val="57068C"/>
                </a:solidFill>
              </a:rPr>
              <a:t>like a function</a:t>
            </a:r>
            <a:r>
              <a:rPr lang="en-US" sz="1400" dirty="0">
                <a:solidFill>
                  <a:srgbClr val="262626"/>
                </a:solidFill>
              </a:rPr>
              <a:t>, and exits on an empty stream</a:t>
            </a:r>
            <a:endParaRPr lang="en-US" sz="14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262626"/>
                </a:solidFill>
              </a:rPr>
              <a:t>The timing diagram shows the handshake, the latency and the throughput</a:t>
            </a:r>
            <a:endParaRPr lang="en-US" sz="1400" dirty="0"/>
          </a:p>
        </p:txBody>
      </p:sp>
      <p:sp>
        <p:nvSpPr>
          <p:cNvPr id="8" name="Shape 8"/>
          <p:cNvSpPr/>
          <p:nvPr/>
        </p:nvSpPr>
        <p:spPr>
          <a:xfrm>
            <a:off x="685800" y="4663440"/>
            <a:ext cx="10789920" cy="1234440"/>
          </a:xfrm>
          <a:prstGeom prst="rect">
            <a:avLst/>
          </a:prstGeom>
          <a:solidFill>
            <a:srgbClr val="DCEFEC"/>
          </a:solidFill>
          <a:ln w="12700">
            <a:solidFill>
              <a:srgbClr val="9FD3CC"/>
            </a:solidFill>
          </a:ln>
        </p:spPr>
        <p:txBody>
          <a:bodyPr wrap="square" lIns="219456" tIns="109728" rIns="219456" bIns="109728" anchor="ctr" rtlCol="0">
            <a:noAutofit/>
          </a:bodyPr>
          <a:lstStyle/>
          <a:p>
            <a:pPr algn="ctr"/>
            <a:r>
              <a:rPr lang="en-US" sz="1500" dirty="0">
                <a:solidFill>
                  <a:srgbClr val="262626"/>
                </a:solidFill>
              </a:rPr>
              <a:t>Measured in co-simulation: 200 samples out in 200 cycles, after a latency of 19 cycles, with no stalls.</a:t>
            </a:r>
            <a:endParaRPr lang="en-US" sz="1500" dirty="0"/>
          </a:p>
          <a:p>
            <a:pPr algn="ctr">
              <a:spcBef>
                <a:spcPts val="800"/>
              </a:spcBef>
            </a:pPr>
            <a:r>
              <a:rPr lang="en-US" sz="1400" b="1" dirty="0">
                <a:solidFill>
                  <a:srgbClr val="00857C"/>
                </a:solidFill>
              </a:rPr>
              <a:t>That empty-stream exit is the first sign of the next section's limitation.</a:t>
            </a:r>
            <a:endParaRPr lang="en-US" sz="1400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AXI4-Stream Burst with TLAST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PRACTICE</a:t>
            </a:r>
            <a:endParaRPr lang="en-US" sz="1300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685800" y="1737360"/>
          <a:ext cx="4069080" cy="2880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1051560"/>
                <a:gridCol w="1051560"/>
                <a:gridCol w="10515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Cycle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TREADY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TVALID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TLAST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5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262626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5486400" y="1691640"/>
            <a:ext cx="5989320" cy="3657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800" dirty="0">
                <a:solidFill>
                  <a:srgbClr val="262626"/>
                </a:solidFill>
              </a:rPr>
              <a:t>A transfer occurs on any cycle where TVALID = 1 and TREADY = 1.</a:t>
            </a:r>
            <a:endParaRPr lang="en-US" sz="1800" dirty="0"/>
          </a:p>
          <a:p>
            <a:pPr marL="411480" indent="-411480">
              <a:spcBef>
                <a:spcPts val="900"/>
              </a:spcBef>
            </a:pPr>
            <a:r>
              <a:rPr lang="en-US" sz="1800" b="1" dirty="0">
                <a:solidFill>
                  <a:srgbClr val="57068C"/>
                </a:solidFill>
              </a:rPr>
              <a:t>(a)</a:t>
            </a:r>
            <a:r>
              <a:rPr lang="en-US" sz="1800" dirty="0">
                <a:solidFill>
                  <a:srgbClr val="262626"/>
                </a:solidFill>
              </a:rPr>
              <a:t xml:space="preserve">	What is the first cycle of the burst, the first with TVALID = 1?</a:t>
            </a:r>
            <a:endParaRPr lang="en-US" sz="1800" dirty="0"/>
          </a:p>
          <a:p>
            <a:pPr marL="411480" indent="-411480">
              <a:spcBef>
                <a:spcPts val="900"/>
              </a:spcBef>
            </a:pPr>
            <a:r>
              <a:rPr lang="en-US" sz="1800" b="1" dirty="0">
                <a:solidFill>
                  <a:srgbClr val="57068C"/>
                </a:solidFill>
              </a:rPr>
              <a:t>(b)</a:t>
            </a:r>
            <a:r>
              <a:rPr lang="en-US" sz="1800" dirty="0">
                <a:solidFill>
                  <a:srgbClr val="262626"/>
                </a:solidFill>
              </a:rPr>
              <a:t xml:space="preserve">	On which cycle does the last transfer occur?</a:t>
            </a:r>
            <a:endParaRPr lang="en-US" sz="1800" dirty="0"/>
          </a:p>
          <a:p>
            <a:pPr marL="411480" indent="-411480">
              <a:spcBef>
                <a:spcPts val="900"/>
              </a:spcBef>
            </a:pPr>
            <a:r>
              <a:rPr lang="en-US" sz="1800" b="1" dirty="0">
                <a:solidFill>
                  <a:srgbClr val="57068C"/>
                </a:solidFill>
              </a:rPr>
              <a:t>(c)</a:t>
            </a:r>
            <a:r>
              <a:rPr lang="en-US" sz="1800" dirty="0">
                <a:solidFill>
                  <a:srgbClr val="262626"/>
                </a:solidFill>
              </a:rPr>
              <a:t xml:space="preserve">	How many elements were transferred in the burst?</a:t>
            </a:r>
            <a:endParaRPr lang="en-US" sz="1800" dirty="0"/>
          </a:p>
        </p:txBody>
      </p:sp>
      <p:sp>
        <p:nvSpPr>
          <p:cNvPr id="6" name="TextBox 6"/>
          <p:cNvSpPr txBox="1"/>
          <p:nvPr/>
        </p:nvSpPr>
        <p:spPr>
          <a:xfrm>
            <a:off x="68580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5 › AXI4-Stream burst with TLAST</a:t>
            </a:r>
            <a:endParaRPr lang="en-US" sz="1200" dirty="0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AXI4-Stream Burst with TLAST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0857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SOLUTION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685800" y="1600200"/>
            <a:ext cx="6583680" cy="2011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411480" indent="-411480">
              <a:spcBef>
                <a:spcPts val="0"/>
              </a:spcBef>
            </a:pPr>
            <a:r>
              <a:rPr lang="en-US" sz="1700" b="1" dirty="0">
                <a:solidFill>
                  <a:srgbClr val="57068C"/>
                </a:solidFill>
              </a:rPr>
              <a:t>(a)</a:t>
            </a:r>
            <a:r>
              <a:rPr lang="en-US" sz="1700" dirty="0">
                <a:solidFill>
                  <a:srgbClr val="262626"/>
                </a:solidFill>
              </a:rPr>
              <a:t xml:space="preserve">	</a:t>
            </a:r>
            <a:r>
              <a:rPr lang="en-US" sz="1700" b="1" dirty="0">
                <a:solidFill>
                  <a:srgbClr val="00857C"/>
                </a:solidFill>
              </a:rPr>
              <a:t>Cycle 1</a:t>
            </a:r>
            <a:r>
              <a:rPr lang="en-US" sz="1700" dirty="0">
                <a:solidFill>
                  <a:srgbClr val="262626"/>
                </a:solidFill>
              </a:rPr>
              <a:t>: the first cycle with TVALID = 1</a:t>
            </a:r>
            <a:endParaRPr lang="en-US" sz="1700" dirty="0"/>
          </a:p>
          <a:p>
            <a:pPr marL="411480" indent="-411480">
              <a:spcBef>
                <a:spcPts val="6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(b)</a:t>
            </a:r>
            <a:r>
              <a:rPr lang="en-US" sz="1700" dirty="0">
                <a:solidFill>
                  <a:srgbClr val="262626"/>
                </a:solidFill>
              </a:rPr>
              <a:t xml:space="preserve">	</a:t>
            </a:r>
            <a:r>
              <a:rPr lang="en-US" sz="1700" b="1" dirty="0">
                <a:solidFill>
                  <a:srgbClr val="00857C"/>
                </a:solidFill>
              </a:rPr>
              <a:t>Cycle 5</a:t>
            </a:r>
            <a:r>
              <a:rPr lang="en-US" sz="1700" dirty="0">
                <a:solidFill>
                  <a:srgbClr val="262626"/>
                </a:solidFill>
              </a:rPr>
              <a:t xml:space="preserve">.  TLAST rises in cycle 4, but TREADY = 0 there, so the last element stalls</a:t>
            </a:r>
            <a:endParaRPr lang="en-US" sz="1700" dirty="0"/>
          </a:p>
          <a:p>
            <a:pPr marL="411480" indent="-411480">
              <a:spcBef>
                <a:spcPts val="600"/>
              </a:spcBef>
            </a:pPr>
            <a:r>
              <a:rPr lang="en-US" sz="1700" b="1" dirty="0">
                <a:solidFill>
                  <a:srgbClr val="57068C"/>
                </a:solidFill>
              </a:rPr>
              <a:t>(c)</a:t>
            </a:r>
            <a:r>
              <a:rPr lang="en-US" sz="1700" dirty="0">
                <a:solidFill>
                  <a:srgbClr val="262626"/>
                </a:solidFill>
              </a:rPr>
              <a:t xml:space="preserve">	</a:t>
            </a:r>
            <a:r>
              <a:rPr lang="en-US" sz="1700" b="1" dirty="0">
                <a:solidFill>
                  <a:srgbClr val="00857C"/>
                </a:solidFill>
              </a:rPr>
              <a:t>3 elements</a:t>
            </a:r>
            <a:r>
              <a:rPr lang="en-US" sz="1700" dirty="0">
                <a:solidFill>
                  <a:srgbClr val="262626"/>
                </a:solidFill>
              </a:rPr>
              <a:t xml:space="preserve">: transfers on cycles 1, 3 and 5.  The burst is 5 beats, 2 of them stalls</a:t>
            </a:r>
            <a:endParaRPr lang="en-US" sz="1700" dirty="0"/>
          </a:p>
        </p:txBody>
      </p:sp>
      <p:sp>
        <p:nvSpPr>
          <p:cNvPr id="5" name="Shape 5"/>
          <p:cNvSpPr/>
          <p:nvPr/>
        </p:nvSpPr>
        <p:spPr>
          <a:xfrm>
            <a:off x="7635240" y="1645920"/>
            <a:ext cx="3840480" cy="1783080"/>
          </a:xfrm>
          <a:prstGeom prst="roundRect">
            <a:avLst>
              <a:gd name="adj" fmla="val 8000"/>
            </a:avLst>
          </a:prstGeom>
          <a:solidFill>
            <a:srgbClr val="FCEEE3"/>
          </a:solidFill>
          <a:ln>
            <a:noFill/>
          </a:ln>
        </p:spPr>
        <p:txBody>
          <a:bodyPr wrap="square" lIns="146304" tIns="73152" rIns="146304" bIns="73152" anchor="t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500" b="1" dirty="0">
                <a:solidFill>
                  <a:srgbClr val="B4530F"/>
                </a:solidFill>
              </a:rPr>
              <a:t>Common errors</a:t>
            </a:r>
            <a:endParaRPr lang="en-US" sz="15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262626"/>
                </a:solidFill>
              </a:rPr>
              <a:t>Counting a cycle with TVALID = 1 but TREADY = 0: 5 elements.</a:t>
            </a:r>
            <a:endParaRPr lang="en-US" sz="1400" dirty="0"/>
          </a:p>
          <a:p>
            <a:r>
              <a:rPr lang="en-US" sz="1400" dirty="0">
                <a:solidFill>
                  <a:srgbClr val="262626"/>
                </a:solidFill>
              </a:rPr>
              <a:t>Ending the burst where TLAST first rises: cycle 4.</a:t>
            </a:r>
            <a:endParaRPr lang="en-US" sz="1400" dirty="0"/>
          </a:p>
        </p:txBody>
      </p:sp>
      <p:pic>
        <p:nvPicPr>
          <p:cNvPr id="6" name="Picture 6" descr="tlast_solu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3547872"/>
            <a:ext cx="7455402" cy="2057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8580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5 › AXI4-Stream burst with TLAST</a:t>
            </a:r>
            <a:endParaRPr lang="en-US" sz="1200" dirty="0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Robust Messages: IDs and Error Codes</a:t>
            </a:r>
          </a:p>
        </p:txBody>
      </p:sp>
      <p:sp>
        <p:nvSpPr>
          <p:cNvPr id="3" name="Shape 3"/>
          <p:cNvSpPr/>
          <p:nvPr/>
        </p:nvSpPr>
        <p:spPr>
          <a:xfrm>
            <a:off x="685800" y="1600200"/>
            <a:ext cx="5212080" cy="502920"/>
          </a:xfrm>
          <a:prstGeom prst="roundRect">
            <a:avLst>
              <a:gd name="adj" fmla="val 12000"/>
            </a:avLst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Transaction IDs</a:t>
            </a:r>
            <a:endParaRPr lang="en-US" sz="1800" dirty="0"/>
          </a:p>
        </p:txBody>
      </p:sp>
      <p:sp>
        <p:nvSpPr>
          <p:cNvPr id="4" name="Shape 4"/>
          <p:cNvSpPr/>
          <p:nvPr/>
        </p:nvSpPr>
        <p:spPr>
          <a:xfrm>
            <a:off x="685800" y="2103120"/>
            <a:ext cx="5212080" cy="2651760"/>
          </a:xfrm>
          <a:prstGeom prst="rect">
            <a:avLst/>
          </a:prstGeom>
          <a:solidFill>
            <a:srgbClr val="EEE6F3"/>
          </a:solidFill>
          <a:ln w="12700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endParaRPr lang="en-US" sz="1000" dirty="0"/>
          </a:p>
        </p:txBody>
      </p:sp>
      <p:sp>
        <p:nvSpPr>
          <p:cNvPr id="5" name="TextBox 5"/>
          <p:cNvSpPr txBox="1"/>
          <p:nvPr/>
        </p:nvSpPr>
        <p:spPr>
          <a:xfrm>
            <a:off x="960120" y="2286000"/>
            <a:ext cx="4663440" cy="2286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37744" indent="-237744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 xml:space="preserve">The command carries </a:t>
            </a: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tx_id</a:t>
            </a:r>
            <a:r>
              <a:rPr lang="en-US" sz="1500" dirty="0">
                <a:solidFill>
                  <a:srgbClr val="262626"/>
                </a:solidFill>
              </a:rPr>
              <a:t>; the response header echoes it</a:t>
            </a:r>
            <a:endParaRPr lang="en-US" sz="15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>The host matches each response to its command</a:t>
            </a:r>
            <a:endParaRPr lang="en-US" sz="15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>A gap or a repeat in the IDs exposes a lost or duplicated message</a:t>
            </a:r>
            <a:endParaRPr lang="en-US" sz="15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500" dirty="0">
                <a:solidFill>
                  <a:srgbClr val="262626"/>
                </a:solidFill>
              </a:rPr>
              <a:t>Several commands can be in flight at once</a:t>
            </a:r>
            <a:endParaRPr lang="en-US" sz="1500" dirty="0"/>
          </a:p>
        </p:txBody>
      </p:sp>
      <p:sp>
        <p:nvSpPr>
          <p:cNvPr id="6" name="Shape 6"/>
          <p:cNvSpPr/>
          <p:nvPr/>
        </p:nvSpPr>
        <p:spPr>
          <a:xfrm>
            <a:off x="6263640" y="1600200"/>
            <a:ext cx="5212080" cy="502920"/>
          </a:xfrm>
          <a:prstGeom prst="roundRect">
            <a:avLst>
              <a:gd name="adj" fmla="val 12000"/>
            </a:avLst>
          </a:prstGeom>
          <a:solidFill>
            <a:srgbClr val="2F6FA8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>Error codes, in the footer</a:t>
            </a:r>
            <a:endParaRPr lang="en-US" sz="1800" dirty="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6263640" y="2103120"/>
          <a:ext cx="5212080" cy="2651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/>
                <a:gridCol w="4389120"/>
              </a:tblGrid>
              <a:tr h="378823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Code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2F6F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Error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2F6FA8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NO_ERROR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TLAST_EARLY_CMD_HDR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NO_TLAST_CMD_HDR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TLAST_EARLY_SAMP_IN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NO_TLAST_SAMP_IN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78823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WRONG_NSAMP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8"/>
          <p:cNvSpPr/>
          <p:nvPr/>
        </p:nvSpPr>
        <p:spPr>
          <a:xfrm>
            <a:off x="685800" y="4983480"/>
            <a:ext cx="10789920" cy="914400"/>
          </a:xfrm>
          <a:prstGeom prst="rect">
            <a:avLst/>
          </a:prstGeom>
          <a:solidFill>
            <a:srgbClr val="FCEEE3"/>
          </a:solidFill>
          <a:ln w="12700">
            <a:solidFill>
              <a:srgbClr val="B4530F"/>
            </a:solidFill>
          </a:ln>
        </p:spPr>
        <p:txBody>
          <a:bodyPr wrap="square" lIns="182880" tIns="91440" rIns="182880" bIns="91440" anchor="ctr" rtlCol="0">
            <a:noAutofit/>
          </a:bodyPr>
          <a:lstStyle/>
          <a:p>
            <a:pPr algn="ctr"/>
            <a:r>
              <a:rPr lang="en-US" sz="1500" dirty="0">
                <a:solidFill>
                  <a:srgbClr val="262626"/>
                </a:solidFill>
              </a:rPr>
              <a:t xml:space="preserve">Hardware cannot stop on bad input: the next command is already queued.  It must </a:t>
            </a:r>
            <a:r>
              <a:rPr lang="en-US" sz="1500" b="1" dirty="0">
                <a:solidFill>
                  <a:srgbClr val="57068C"/>
                </a:solidFill>
              </a:rPr>
              <a:t>report</a:t>
            </a:r>
            <a:r>
              <a:rPr lang="en-US" sz="1500" dirty="0">
                <a:solidFill>
                  <a:srgbClr val="262626"/>
                </a:solidFill>
              </a:rPr>
              <a:t xml:space="preserve"> the error and </a:t>
            </a:r>
            <a:r>
              <a:rPr lang="en-US" sz="1500" b="1" dirty="0">
                <a:solidFill>
                  <a:srgbClr val="57068C"/>
                </a:solidFill>
              </a:rPr>
              <a:t>resynchronize</a:t>
            </a:r>
            <a:r>
              <a:rPr lang="en-US" sz="1500" dirty="0">
                <a:solidFill>
                  <a:srgbClr val="262626"/>
                </a:solidFill>
              </a:rPr>
              <a:t xml:space="preserve"> at the next TLAST.</a:t>
            </a:r>
            <a:endParaRPr lang="en-US" sz="1500" dirty="0"/>
          </a:p>
          <a:p>
            <a:pPr algn="ctr">
              <a:spcBef>
                <a:spcPts val="400"/>
              </a:spcBef>
            </a:pPr>
            <a:r>
              <a:rPr lang="en-US" sz="1300" dirty="0">
                <a:solidFill>
                  <a:srgbClr val="6E6E6E"/>
                </a:solidFill>
              </a:rPr>
              <a:t>The demo's hand-written kernel reports; its general kernel also recovers.</a:t>
            </a:r>
            <a:endParaRPr lang="en-US" sz="1300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Packing Fields into Words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600200"/>
            <a:ext cx="5760720" cy="4297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74320" indent="-274320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 xml:space="preserve">A stream moves fixed-width </a:t>
            </a:r>
            <a:r>
              <a:rPr lang="en-US" sz="1800" b="1" dirty="0">
                <a:solidFill>
                  <a:srgbClr val="57068C"/>
                </a:solidFill>
              </a:rPr>
              <a:t>words</a:t>
            </a:r>
            <a:r>
              <a:rPr lang="en-US" sz="1800" dirty="0">
                <a:solidFill>
                  <a:srgbClr val="262626"/>
                </a:solidFill>
              </a:rPr>
              <a:t>: 32 or 64 bits</a:t>
            </a:r>
            <a:endParaRPr lang="en-US" sz="1800" dirty="0"/>
          </a:p>
          <a:p>
            <a:pPr marL="274320" indent="-274320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b="1" dirty="0">
                <a:solidFill>
                  <a:srgbClr val="57068C"/>
                </a:solidFill>
              </a:rPr>
              <a:t>Rule</a:t>
            </a:r>
            <a:r>
              <a:rPr lang="en-US" sz="1800" dirty="0">
                <a:solidFill>
                  <a:srgbClr val="262626"/>
                </a:solidFill>
              </a:rPr>
              <a:t>: no field crosses a word boundary</a:t>
            </a:r>
            <a:endParaRPr lang="en-US" sz="18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Pack small fields together; start a new word when the next will not fit</a:t>
            </a:r>
            <a:endParaRPr lang="en-US" sz="15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262626"/>
                </a:solidFill>
              </a:rPr>
              <a:t>Set unused bits to zero</a:t>
            </a:r>
            <a:endParaRPr lang="en-US" sz="1500" dirty="0"/>
          </a:p>
          <a:p>
            <a:pPr marL="274320" indent="-274320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>An integer field: assign its value to a bit range</a:t>
            </a:r>
            <a:endParaRPr lang="en-US" sz="18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w.range(15, 0) = nsamp_read;</a:t>
            </a:r>
            <a:endParaRPr lang="en-US" sz="1500" dirty="0"/>
          </a:p>
          <a:p>
            <a:pPr marL="274320" indent="-274320">
              <a:spcBef>
                <a:spcPts val="1200"/>
              </a:spcBef>
              <a:buClr>
                <a:srgbClr val="57068C"/>
              </a:buClr>
              <a:buSzPct val="70000"/>
              <a:buFont typeface="Arial"/>
              <a:buChar char="■"/>
            </a:pPr>
            <a:r>
              <a:rPr lang="en-US" sz="1800" dirty="0">
                <a:solidFill>
                  <a:srgbClr val="262626"/>
                </a:solidFill>
              </a:rPr>
              <a:t xml:space="preserve">A </a:t>
            </a:r>
            <a:r>
              <a:rPr lang="en-US" sz="1800" b="1" dirty="0">
                <a:solidFill>
                  <a:srgbClr val="57068C"/>
                </a:solidFill>
              </a:rPr>
              <a:t>fixed-point</a:t>
            </a:r>
            <a:r>
              <a:rPr lang="en-US" sz="1800" dirty="0">
                <a:solidFill>
                  <a:srgbClr val="262626"/>
                </a:solidFill>
              </a:rPr>
              <a:t xml:space="preserve"> field: copy its </a:t>
            </a:r>
            <a:r>
              <a:rPr lang="en-US" sz="1800" b="1" dirty="0">
                <a:solidFill>
                  <a:srgbClr val="57068C"/>
                </a:solidFill>
              </a:rPr>
              <a:t>bits</a:t>
            </a:r>
            <a:r>
              <a:rPr lang="en-US" sz="1800" dirty="0">
                <a:solidFill>
                  <a:srgbClr val="262626"/>
                </a:solidFill>
              </a:rPr>
              <a:t>, not its value</a:t>
            </a:r>
            <a:endParaRPr lang="en-US" sz="18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w.range(11, 0) = a.range(11, 0);</a:t>
            </a:r>
            <a:r>
              <a:rPr lang="en-US" sz="1500" dirty="0">
                <a:solidFill>
                  <a:srgbClr val="262626"/>
                </a:solidFill>
              </a:rPr>
              <a:t xml:space="preserve">  copies the bits</a:t>
            </a:r>
            <a:endParaRPr lang="en-US" sz="1500" dirty="0"/>
          </a:p>
          <a:p>
            <a:pPr marL="621792" indent="-228600">
              <a:spcBef>
                <a:spcPts val="300"/>
              </a:spcBef>
              <a:buClr>
                <a:srgbClr val="999999"/>
              </a:buClr>
              <a:buSzPct val="100000"/>
              <a:buFont typeface="Arial"/>
              <a:buChar char="–"/>
            </a:pP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w.range(11, 0) = a;</a:t>
            </a:r>
            <a:r>
              <a:rPr lang="en-US" sz="1500" dirty="0">
                <a:solidFill>
                  <a:srgbClr val="262626"/>
                </a:solidFill>
              </a:rPr>
              <a:t xml:space="preserve">  converts the value: 0.75 becomes 0</a:t>
            </a:r>
            <a:endParaRPr lang="en-US" sz="1500" dirty="0"/>
          </a:p>
        </p:txBody>
      </p:sp>
      <p:sp>
        <p:nvSpPr>
          <p:cNvPr id="4" name="TextBox 4"/>
          <p:cNvSpPr txBox="1"/>
          <p:nvPr/>
        </p:nvSpPr>
        <p:spPr>
          <a:xfrm>
            <a:off x="6720840" y="16459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The demo's PolyRespFtr: two fields in one 32-bit word</a:t>
            </a:r>
            <a:endParaRPr lang="en-US" sz="1200" dirty="0"/>
          </a:p>
        </p:txBody>
      </p:sp>
      <p:sp>
        <p:nvSpPr>
          <p:cNvPr id="5" name="Shape 5"/>
          <p:cNvSpPr/>
          <p:nvPr/>
        </p:nvSpPr>
        <p:spPr>
          <a:xfrm>
            <a:off x="6720840" y="1965960"/>
            <a:ext cx="1737360" cy="640080"/>
          </a:xfrm>
          <a:prstGeom prst="rect">
            <a:avLst/>
          </a:prstGeom>
          <a:solidFill>
            <a:srgbClr val="EDEDED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dirty="0">
                <a:solidFill>
                  <a:srgbClr val="6E6E6E"/>
                </a:solidFill>
              </a:rPr>
              <a:t>zero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6E6E6E"/>
                </a:solidFill>
              </a:rPr>
              <a:t>31–19</a:t>
            </a:r>
            <a:endParaRPr lang="en-US" sz="1100" dirty="0"/>
          </a:p>
        </p:txBody>
      </p:sp>
      <p:sp>
        <p:nvSpPr>
          <p:cNvPr id="6" name="Shape 6"/>
          <p:cNvSpPr/>
          <p:nvPr/>
        </p:nvSpPr>
        <p:spPr>
          <a:xfrm>
            <a:off x="8458200" y="1965960"/>
            <a:ext cx="1005840" cy="640080"/>
          </a:xfrm>
          <a:prstGeom prst="rect">
            <a:avLst/>
          </a:prstGeom>
          <a:solidFill>
            <a:srgbClr val="FCEEE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B4530F"/>
                </a:solidFill>
              </a:rPr>
              <a:t>error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B4530F"/>
                </a:solidFill>
              </a:rPr>
              <a:t>18–16</a:t>
            </a:r>
            <a:endParaRPr lang="en-US" sz="1100" dirty="0"/>
          </a:p>
        </p:txBody>
      </p:sp>
      <p:sp>
        <p:nvSpPr>
          <p:cNvPr id="7" name="Shape 7"/>
          <p:cNvSpPr/>
          <p:nvPr/>
        </p:nvSpPr>
        <p:spPr>
          <a:xfrm>
            <a:off x="9464040" y="1965960"/>
            <a:ext cx="2011680" cy="640080"/>
          </a:xfrm>
          <a:prstGeom prst="rect">
            <a:avLst/>
          </a:prstGeom>
          <a:solidFill>
            <a:srgbClr val="EEE6F3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57068C"/>
                </a:solidFill>
              </a:rPr>
              <a:t>nsamp_read</a:t>
            </a:r>
            <a:endParaRPr lang="en-US" sz="1300" dirty="0"/>
          </a:p>
          <a:p>
            <a:pPr algn="ctr"/>
            <a:r>
              <a:rPr lang="en-US" sz="1100" dirty="0">
                <a:solidFill>
                  <a:srgbClr val="57068C"/>
                </a:solidFill>
              </a:rPr>
              <a:t>15–0</a:t>
            </a:r>
            <a:endParaRPr lang="en-US" sz="1100" dirty="0"/>
          </a:p>
        </p:txBody>
      </p:sp>
      <p:sp>
        <p:nvSpPr>
          <p:cNvPr id="8" name="TextBox 8"/>
          <p:cNvSpPr txBox="1"/>
          <p:nvPr/>
        </p:nvSpPr>
        <p:spPr>
          <a:xfrm>
            <a:off x="6720840" y="292608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Its PolyCmdHdr at 32 bits: six words</a:t>
            </a:r>
            <a:endParaRPr lang="en-US" sz="1200" dirty="0"/>
          </a:p>
        </p:txBody>
      </p:sp>
      <p:sp>
        <p:nvSpPr>
          <p:cNvPr id="9" name="Shape 9"/>
          <p:cNvSpPr/>
          <p:nvPr/>
        </p:nvSpPr>
        <p:spPr>
          <a:xfrm>
            <a:off x="6720840" y="3246120"/>
            <a:ext cx="868680" cy="640080"/>
          </a:xfrm>
          <a:prstGeom prst="rect">
            <a:avLst/>
          </a:prstGeom>
          <a:solidFill>
            <a:srgbClr val="EAF0F7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200" b="1" dirty="0">
                <a:solidFill>
                  <a:srgbClr val="2F6FA8"/>
                </a:solidFill>
              </a:rPr>
              <a:t>tx_id</a:t>
            </a:r>
            <a:endParaRPr lang="en-US" sz="1200" dirty="0"/>
          </a:p>
          <a:p>
            <a:pPr algn="ctr"/>
            <a:r>
              <a:rPr lang="en-US" sz="1000" dirty="0">
                <a:solidFill>
                  <a:srgbClr val="2F6FA8"/>
                </a:solidFill>
              </a:rPr>
              <a:t>w0</a:t>
            </a:r>
            <a:endParaRPr lang="en-US" sz="1000" dirty="0"/>
          </a:p>
        </p:txBody>
      </p:sp>
      <p:sp>
        <p:nvSpPr>
          <p:cNvPr id="10" name="Shape 10"/>
          <p:cNvSpPr/>
          <p:nvPr/>
        </p:nvSpPr>
        <p:spPr>
          <a:xfrm>
            <a:off x="7589520" y="3246120"/>
            <a:ext cx="749808" cy="640080"/>
          </a:xfrm>
          <a:prstGeom prst="rect">
            <a:avLst/>
          </a:prstGeom>
          <a:solidFill>
            <a:srgbClr val="DCEFE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200" b="1" dirty="0">
                <a:solidFill>
                  <a:srgbClr val="00857C"/>
                </a:solidFill>
              </a:rPr>
              <a:t>c0</a:t>
            </a:r>
            <a:endParaRPr lang="en-US" sz="1200" dirty="0"/>
          </a:p>
          <a:p>
            <a:pPr algn="ctr"/>
            <a:r>
              <a:rPr lang="en-US" sz="1000" dirty="0">
                <a:solidFill>
                  <a:srgbClr val="00857C"/>
                </a:solidFill>
              </a:rPr>
              <a:t>w1</a:t>
            </a:r>
            <a:endParaRPr lang="en-US" sz="1000" dirty="0"/>
          </a:p>
        </p:txBody>
      </p:sp>
      <p:sp>
        <p:nvSpPr>
          <p:cNvPr id="11" name="Shape 11"/>
          <p:cNvSpPr/>
          <p:nvPr/>
        </p:nvSpPr>
        <p:spPr>
          <a:xfrm>
            <a:off x="8339328" y="3246120"/>
            <a:ext cx="749808" cy="640080"/>
          </a:xfrm>
          <a:prstGeom prst="rect">
            <a:avLst/>
          </a:prstGeom>
          <a:solidFill>
            <a:srgbClr val="DCEFE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200" b="1" dirty="0">
                <a:solidFill>
                  <a:srgbClr val="00857C"/>
                </a:solidFill>
              </a:rPr>
              <a:t>c1</a:t>
            </a:r>
            <a:endParaRPr lang="en-US" sz="1200" dirty="0"/>
          </a:p>
          <a:p>
            <a:pPr algn="ctr"/>
            <a:r>
              <a:rPr lang="en-US" sz="1000" dirty="0">
                <a:solidFill>
                  <a:srgbClr val="00857C"/>
                </a:solidFill>
              </a:rPr>
              <a:t>w2</a:t>
            </a:r>
            <a:endParaRPr lang="en-US" sz="1000" dirty="0"/>
          </a:p>
        </p:txBody>
      </p:sp>
      <p:sp>
        <p:nvSpPr>
          <p:cNvPr id="12" name="Shape 12"/>
          <p:cNvSpPr/>
          <p:nvPr/>
        </p:nvSpPr>
        <p:spPr>
          <a:xfrm>
            <a:off x="9089136" y="3246120"/>
            <a:ext cx="749808" cy="640080"/>
          </a:xfrm>
          <a:prstGeom prst="rect">
            <a:avLst/>
          </a:prstGeom>
          <a:solidFill>
            <a:srgbClr val="DCEFE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200" b="1" dirty="0">
                <a:solidFill>
                  <a:srgbClr val="00857C"/>
                </a:solidFill>
              </a:rPr>
              <a:t>c2</a:t>
            </a:r>
            <a:endParaRPr lang="en-US" sz="1200" dirty="0"/>
          </a:p>
          <a:p>
            <a:pPr algn="ctr"/>
            <a:r>
              <a:rPr lang="en-US" sz="1000" dirty="0">
                <a:solidFill>
                  <a:srgbClr val="00857C"/>
                </a:solidFill>
              </a:rPr>
              <a:t>w3</a:t>
            </a:r>
            <a:endParaRPr lang="en-US" sz="1000" dirty="0"/>
          </a:p>
        </p:txBody>
      </p:sp>
      <p:sp>
        <p:nvSpPr>
          <p:cNvPr id="13" name="Shape 13"/>
          <p:cNvSpPr/>
          <p:nvPr/>
        </p:nvSpPr>
        <p:spPr>
          <a:xfrm>
            <a:off x="9838944" y="3246120"/>
            <a:ext cx="749808" cy="640080"/>
          </a:xfrm>
          <a:prstGeom prst="rect">
            <a:avLst/>
          </a:prstGeom>
          <a:solidFill>
            <a:srgbClr val="DCEFEC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200" b="1" dirty="0">
                <a:solidFill>
                  <a:srgbClr val="00857C"/>
                </a:solidFill>
              </a:rPr>
              <a:t>c3</a:t>
            </a:r>
            <a:endParaRPr lang="en-US" sz="1200" dirty="0"/>
          </a:p>
          <a:p>
            <a:pPr algn="ctr"/>
            <a:r>
              <a:rPr lang="en-US" sz="1000" dirty="0">
                <a:solidFill>
                  <a:srgbClr val="00857C"/>
                </a:solidFill>
              </a:rPr>
              <a:t>w4</a:t>
            </a:r>
            <a:endParaRPr lang="en-US" sz="1000" dirty="0"/>
          </a:p>
        </p:txBody>
      </p:sp>
      <p:sp>
        <p:nvSpPr>
          <p:cNvPr id="14" name="Shape 14"/>
          <p:cNvSpPr/>
          <p:nvPr/>
        </p:nvSpPr>
        <p:spPr>
          <a:xfrm>
            <a:off x="10588752" y="3246120"/>
            <a:ext cx="886968" cy="640080"/>
          </a:xfrm>
          <a:prstGeom prst="rect">
            <a:avLst/>
          </a:prstGeom>
          <a:solidFill>
            <a:srgbClr val="EAF0F7"/>
          </a:solidFill>
          <a:ln w="9525">
            <a:solidFill>
              <a:srgbClr val="D5C4E3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200" b="1" dirty="0">
                <a:solidFill>
                  <a:srgbClr val="2F6FA8"/>
                </a:solidFill>
              </a:rPr>
              <a:t>nsamp</a:t>
            </a:r>
            <a:endParaRPr lang="en-US" sz="1200" dirty="0"/>
          </a:p>
          <a:p>
            <a:pPr algn="ctr"/>
            <a:r>
              <a:rPr lang="en-US" sz="1000" dirty="0">
                <a:solidFill>
                  <a:srgbClr val="2F6FA8"/>
                </a:solidFill>
              </a:rPr>
              <a:t>w5</a:t>
            </a:r>
            <a:endParaRPr lang="en-US" sz="1000" dirty="0"/>
          </a:p>
        </p:txBody>
      </p:sp>
      <p:sp>
        <p:nvSpPr>
          <p:cNvPr id="15" name="Shape 15"/>
          <p:cNvSpPr/>
          <p:nvPr/>
        </p:nvSpPr>
        <p:spPr>
          <a:xfrm>
            <a:off x="6720840" y="4206240"/>
            <a:ext cx="4754880" cy="1371600"/>
          </a:xfrm>
          <a:prstGeom prst="roundRect">
            <a:avLst>
              <a:gd name="adj" fmla="val 8000"/>
            </a:avLst>
          </a:prstGeom>
          <a:solidFill>
            <a:srgbClr val="F7F3FA"/>
          </a:solidFill>
          <a:ln w="12700">
            <a:solidFill>
              <a:srgbClr val="D5C4E3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r>
              <a:rPr lang="en-US" sz="1300" dirty="0">
                <a:solidFill>
                  <a:srgbClr val="262626"/>
                </a:solidFill>
              </a:rPr>
              <a:t xml:space="preserve">A float fills a word exactly.  A 16-bit field leaves the upper half of its word zero, which a 64-bit stream packs more tightly.</a:t>
            </a:r>
            <a:endParaRPr lang="en-US" sz="1300" dirty="0"/>
          </a:p>
        </p:txBody>
      </p:sp>
      <p:sp>
        <p:nvSpPr>
          <p:cNvPr id="16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Deserializing a Command Header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PRACTICE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685800" y="1645920"/>
            <a:ext cx="5577840" cy="182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262626"/>
                </a:solidFill>
              </a:rPr>
              <a:t xml:space="preserve">The same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CmdHdr</a:t>
            </a:r>
            <a:r>
              <a:rPr lang="en-US" sz="1600" dirty="0">
                <a:solidFill>
                  <a:srgbClr val="262626"/>
                </a:solidFill>
              </a:rPr>
              <a:t xml:space="preserve"> has been serialized into three 32-bit words with the packing in the table.</a:t>
            </a:r>
            <a:endParaRPr lang="en-US" sz="1600" dirty="0"/>
          </a:p>
          <a:p>
            <a:r>
              <a:rPr lang="en-US" sz="1600" dirty="0">
                <a:solidFill>
                  <a:srgbClr val="262626"/>
                </a:solidFill>
              </a:rPr>
              <a:t xml:space="preserve">Complete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deserialize</a:t>
            </a:r>
            <a:r>
              <a:rPr lang="en-US" sz="1600" dirty="0">
                <a:solidFill>
                  <a:srgbClr val="262626"/>
                </a:solidFill>
              </a:rPr>
              <a:t xml:space="preserve">.  It must assign every field, and each fixed-point field must get back </a:t>
            </a:r>
            <a:r>
              <a:rPr lang="en-US" sz="1600" b="1" dirty="0">
                <a:solidFill>
                  <a:srgbClr val="57068C"/>
                </a:solidFill>
              </a:rPr>
              <a:t>exactly</a:t>
            </a:r>
            <a:r>
              <a:rPr lang="en-US" sz="1600" dirty="0">
                <a:solidFill>
                  <a:srgbClr val="262626"/>
                </a:solidFill>
              </a:rPr>
              <a:t xml:space="preserve"> the value serialized, negative angles included.</a:t>
            </a:r>
            <a:endParaRPr lang="en-US" sz="16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685800" y="3611880"/>
          <a:ext cx="4206240" cy="1975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2960"/>
                <a:gridCol w="1005840"/>
                <a:gridCol w="1463040"/>
                <a:gridCol w="914400"/>
              </a:tblGrid>
              <a:tr h="329184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Word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Bits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Width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15:0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trans_id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27:16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yaw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11:0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pitch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23:12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roll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15:0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330662"/>
                          </a:solidFill>
                          <a:latin typeface="Consolas"/>
                          <a:cs typeface="Consolas"/>
                        </a:rPr>
                        <a:t>nsamp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262626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6537960" y="1691640"/>
            <a:ext cx="4937760" cy="2148840"/>
          </a:xfrm>
          <a:prstGeom prst="rect">
            <a:avLst/>
          </a:prstGeom>
          <a:solidFill>
            <a:srgbClr val="F4F4F7"/>
          </a:solidFill>
          <a:ln w="9525">
            <a:solidFill>
              <a:srgbClr val="BFBFBF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class CmdHdr {</a:t>
            </a:r>
            <a:endParaRPr lang="en-US" sz="13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 xml:space="preserve">    ap_uint&lt;16&gt; trans_id;</a:t>
            </a:r>
            <a:endParaRPr lang="en-US" sz="13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 xml:space="preserve">    // Q1.11: 1 sign bit, 11 fractional bits;</a:t>
            </a:r>
            <a:endParaRPr lang="en-US" sz="13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 xml:space="preserve">    // 1.0 corresponds to π radians</a:t>
            </a:r>
            <a:endParaRPr lang="en-US" sz="13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 xml:space="preserve">    ap_fixed&lt;12,1&gt; yaw, pitch, roll;</a:t>
            </a:r>
            <a:endParaRPr lang="en-US" sz="13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 xml:space="preserve">    ap_uint&lt;16&gt; nsamp;</a:t>
            </a:r>
            <a:endParaRPr lang="en-US" sz="13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};</a:t>
            </a:r>
            <a:endParaRPr lang="en-US" sz="1300" dirty="0"/>
          </a:p>
        </p:txBody>
      </p:sp>
      <p:sp>
        <p:nvSpPr>
          <p:cNvPr id="7" name="Shape 7"/>
          <p:cNvSpPr/>
          <p:nvPr/>
        </p:nvSpPr>
        <p:spPr>
          <a:xfrm>
            <a:off x="6537960" y="4023360"/>
            <a:ext cx="4937760" cy="1051560"/>
          </a:xfrm>
          <a:prstGeom prst="rect">
            <a:avLst/>
          </a:prstGeom>
          <a:solidFill>
            <a:srgbClr val="F4F4F7"/>
          </a:solidFill>
          <a:ln w="9525">
            <a:solidFill>
              <a:srgbClr val="BFBFBF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void deserialize(CmdHdr &amp;cmd_hdr,</a:t>
            </a:r>
            <a:endParaRPr lang="en-US" sz="13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 xml:space="preserve">                 ap_uint&lt;32&gt; words[3]) {</a:t>
            </a:r>
            <a:endParaRPr lang="en-US" sz="13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 xml:space="preserve">    // Fill in your solution here</a:t>
            </a:r>
            <a:endParaRPr lang="en-US" sz="1300" dirty="0"/>
          </a:p>
          <a:p>
            <a:r>
              <a:rPr lang="en-US" sz="1300" dirty="0">
                <a:solidFill>
                  <a:srgbClr val="330662"/>
                </a:solidFill>
                <a:latin typeface="Consolas"/>
                <a:cs typeface="Consolas"/>
              </a:rPr>
              <a:t>}</a:t>
            </a:r>
            <a:endParaRPr lang="en-US" sz="1300" dirty="0"/>
          </a:p>
        </p:txBody>
      </p:sp>
      <p:sp>
        <p:nvSpPr>
          <p:cNvPr id="8" name="TextBox 8"/>
          <p:cNvSpPr txBox="1"/>
          <p:nvPr/>
        </p:nvSpPr>
        <p:spPr>
          <a:xfrm>
            <a:off x="68580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5 › Deserializing a command header</a:t>
            </a:r>
            <a:endParaRPr lang="en-US" sz="1200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Deserializing a Command Header</a:t>
            </a:r>
          </a:p>
        </p:txBody>
      </p:sp>
      <p:sp>
        <p:nvSpPr>
          <p:cNvPr id="3" name="Shape 3"/>
          <p:cNvSpPr/>
          <p:nvPr/>
        </p:nvSpPr>
        <p:spPr>
          <a:xfrm>
            <a:off x="9646920" y="621792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0857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SOLUTION</a:t>
            </a:r>
            <a:endParaRPr lang="en-US" sz="1300" dirty="0"/>
          </a:p>
        </p:txBody>
      </p:sp>
      <p:sp>
        <p:nvSpPr>
          <p:cNvPr id="4" name="TextBox 4"/>
          <p:cNvSpPr txBox="1"/>
          <p:nvPr/>
        </p:nvSpPr>
        <p:spPr>
          <a:xfrm>
            <a:off x="685800" y="1600200"/>
            <a:ext cx="5394960" cy="23774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600" dirty="0">
                <a:solidFill>
                  <a:srgbClr val="262626"/>
                </a:solidFill>
              </a:rPr>
              <a:t xml:space="preserve">Assigning an integer to an </a:t>
            </a:r>
            <a:r>
              <a:rPr lang="en-US" sz="1600" dirty="0">
                <a:solidFill>
                  <a:srgbClr val="330662"/>
                </a:solidFill>
                <a:latin typeface="Consolas"/>
                <a:cs typeface="Consolas"/>
              </a:rPr>
              <a:t>ap_fixed</a:t>
            </a:r>
            <a:r>
              <a:rPr lang="en-US" sz="1600" dirty="0">
                <a:solidFill>
                  <a:srgbClr val="262626"/>
                </a:solidFill>
              </a:rPr>
              <a:t xml:space="preserve"> is a </a:t>
            </a:r>
            <a:r>
              <a:rPr lang="en-US" sz="1600" b="1" dirty="0">
                <a:solidFill>
                  <a:srgbClr val="57068C"/>
                </a:solidFill>
              </a:rPr>
              <a:t>numeric conversion</a:t>
            </a:r>
            <a:r>
              <a:rPr lang="en-US" sz="1600" dirty="0">
                <a:solidFill>
                  <a:srgbClr val="262626"/>
                </a:solidFill>
              </a:rPr>
              <a:t>, not a bit copy.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cmd_hdr.yaw = w0.range(27, 16);</a:t>
            </a:r>
            <a:r>
              <a:rPr lang="en-US" sz="1500" dirty="0">
                <a:solidFill>
                  <a:srgbClr val="262626"/>
                </a:solidFill>
              </a:rPr>
              <a:t xml:space="preserve"> reads the 12 bits as an integer between −2048 and 2047, which wraps to 0 or −1 in the range [−1, 1).</a:t>
            </a:r>
            <a:endParaRPr lang="en-US" sz="1500" dirty="0"/>
          </a:p>
          <a:p>
            <a:r>
              <a:rPr lang="en-US" sz="1500" dirty="0">
                <a:solidFill>
                  <a:srgbClr val="262626"/>
                </a:solidFill>
              </a:rPr>
              <a:t xml:space="preserve">Write the bits into the field with </a:t>
            </a:r>
            <a:r>
              <a:rPr lang="en-US" sz="1500" dirty="0">
                <a:solidFill>
                  <a:srgbClr val="330662"/>
                </a:solidFill>
                <a:latin typeface="Consolas"/>
                <a:cs typeface="Consolas"/>
              </a:rPr>
              <a:t>.range()</a:t>
            </a:r>
            <a:r>
              <a:rPr lang="en-US" sz="1500" dirty="0">
                <a:solidFill>
                  <a:srgbClr val="262626"/>
                </a:solidFill>
              </a:rPr>
              <a:t xml:space="preserve"> instead.  All 12 bits, the sign bit included, are copied, so no sign extension is needed.</a:t>
            </a:r>
            <a:endParaRPr lang="en-US" sz="1500" dirty="0"/>
          </a:p>
        </p:txBody>
      </p:sp>
      <p:sp>
        <p:nvSpPr>
          <p:cNvPr id="5" name="Shape 5"/>
          <p:cNvSpPr/>
          <p:nvPr/>
        </p:nvSpPr>
        <p:spPr>
          <a:xfrm>
            <a:off x="685800" y="4114800"/>
            <a:ext cx="5394960" cy="1417320"/>
          </a:xfrm>
          <a:prstGeom prst="roundRect">
            <a:avLst>
              <a:gd name="adj" fmla="val 8000"/>
            </a:avLst>
          </a:prstGeom>
          <a:solidFill>
            <a:srgbClr val="EEE6F3"/>
          </a:solidFill>
          <a:ln>
            <a:noFill/>
          </a:ln>
        </p:spPr>
        <p:txBody>
          <a:bodyPr wrap="square" lIns="146304" tIns="73152" rIns="146304" bIns="73152" anchor="t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500" b="1" dirty="0">
                <a:solidFill>
                  <a:srgbClr val="57068C"/>
                </a:solidFill>
              </a:rPr>
              <a:t>The same rule, both ways</a:t>
            </a:r>
            <a:endParaRPr lang="en-US" sz="1500" dirty="0"/>
          </a:p>
          <a:p>
            <a:r>
              <a:rPr lang="en-US" sz="1400" dirty="0">
                <a:solidFill>
                  <a:srgbClr val="262626"/>
                </a:solidFill>
              </a:rPr>
              <a:t xml:space="preserve">Serialize: </a:t>
            </a:r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w.range(…) = f.range(11, 0);</a:t>
            </a:r>
            <a:endParaRPr lang="en-US" sz="1400" dirty="0"/>
          </a:p>
          <a:p>
            <a:pPr>
              <a:spcBef>
                <a:spcPts val="200"/>
              </a:spcBef>
            </a:pPr>
            <a:r>
              <a:rPr lang="en-US" sz="1400" dirty="0">
                <a:solidFill>
                  <a:srgbClr val="262626"/>
                </a:solidFill>
              </a:rPr>
              <a:t xml:space="preserve">Deserialize: </a:t>
            </a:r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f.range(11, 0) = w.range(…);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6355080" y="1600200"/>
            <a:ext cx="5120640" cy="3977640"/>
          </a:xfrm>
          <a:prstGeom prst="rect">
            <a:avLst/>
          </a:prstGeom>
          <a:solidFill>
            <a:srgbClr val="F4F4F7"/>
          </a:solidFill>
          <a:ln w="9525">
            <a:solidFill>
              <a:srgbClr val="BFBFBF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void deserialize(CmdHdr &amp;cmd_hdr,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             ap_uint&lt;32&gt; words[3]) {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ap_uint&lt;32&gt; w0 = words[0];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ap_uint&lt;32&gt; w1 = words[1];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ap_uint&lt;32&gt; w2 = words[2];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// Word 0: trans_id | yaw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cmd_hdr.trans_id = w0.range(15, 0);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cmd_hdr.yaw.range(11, 0) = w0.range(27, 16);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// Word 1: pitch | roll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cmd_hdr.pitch.range(11, 0) = w1.range(11, 0);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cmd_hdr.roll.range(11, 0)  = w1.range(23, 12);</a:t>
            </a:r>
            <a:endParaRPr lang="en-US" sz="1100" dirty="0"/>
          </a:p>
          <a:p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// Word 2: nsamp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 xml:space="preserve">    cmd_hdr.nsamp = w2.range(15, 0);</a:t>
            </a:r>
            <a:endParaRPr lang="en-US" sz="1100" dirty="0"/>
          </a:p>
          <a:p>
            <a:r>
              <a:rPr lang="en-US" sz="1100" dirty="0">
                <a:solidFill>
                  <a:srgbClr val="330662"/>
                </a:solidFill>
                <a:latin typeface="Consolas"/>
                <a:cs typeface="Consolas"/>
              </a:rPr>
              <a:t>}</a:t>
            </a:r>
            <a:endParaRPr lang="en-US" sz="1100" dirty="0"/>
          </a:p>
        </p:txBody>
      </p:sp>
      <p:sp>
        <p:nvSpPr>
          <p:cNvPr id="7" name="TextBox 7"/>
          <p:cNvSpPr txBox="1"/>
          <p:nvPr/>
        </p:nvSpPr>
        <p:spPr>
          <a:xfrm>
            <a:off x="685800" y="566928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dirty="0">
                <a:solidFill>
                  <a:srgbClr val="6E6E6E"/>
                </a:solidFill>
              </a:rPr>
              <a:t>Also in the LLM grader: Unit 5 › Deserializing a command header</a:t>
            </a:r>
            <a:endParaRPr lang="en-US" sz="1200" dirty="0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Demo: a Command-Response IP</a:t>
            </a:r>
          </a:p>
        </p:txBody>
      </p:sp>
      <p:sp>
        <p:nvSpPr>
          <p:cNvPr id="3" name="Shape 3"/>
          <p:cNvSpPr/>
          <p:nvPr/>
        </p:nvSpPr>
        <p:spPr>
          <a:xfrm>
            <a:off x="685800" y="1335024"/>
            <a:ext cx="10789920" cy="694944"/>
          </a:xfrm>
          <a:prstGeom prst="roundRect">
            <a:avLst>
              <a:gd name="adj" fmla="val 16000"/>
            </a:avLst>
          </a:prstGeom>
          <a:solidFill>
            <a:srgbClr val="57068C"/>
          </a:solidFill>
          <a:ln>
            <a:noFill/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800" b="1" dirty="0">
                <a:solidFill>
                  <a:srgbClr val="FFFFFF"/>
                </a:solidFill>
              </a:rPr>
              <a:t xml:space="preserve">sdrangan.github.io/hwdesign   —   Demos › Command-Response FIFO Interface</a:t>
            </a:r>
            <a:endParaRPr lang="en-US" sz="1800" dirty="0"/>
          </a:p>
        </p:txBody>
      </p:sp>
      <p:sp>
        <p:nvSpPr>
          <p:cNvPr id="4" name="TextBox 4"/>
          <p:cNvSpPr txBox="1"/>
          <p:nvPr/>
        </p:nvSpPr>
        <p:spPr>
          <a:xfrm>
            <a:off x="685800" y="2212848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b="1" dirty="0">
                <a:solidFill>
                  <a:srgbClr val="6E6E6E"/>
                </a:solidFill>
              </a:rPr>
              <a:t>RUN THE WHOLE FLOW</a:t>
            </a:r>
            <a:endParaRPr lang="en-US" sz="1200" dirty="0"/>
          </a:p>
        </p:txBody>
      </p:sp>
      <p:sp>
        <p:nvSpPr>
          <p:cNvPr id="5" name="Shape 5"/>
          <p:cNvSpPr/>
          <p:nvPr/>
        </p:nvSpPr>
        <p:spPr>
          <a:xfrm>
            <a:off x="685800" y="2523744"/>
            <a:ext cx="5394960" cy="1828800"/>
          </a:xfrm>
          <a:prstGeom prst="rect">
            <a:avLst/>
          </a:prstGeom>
          <a:solidFill>
            <a:srgbClr val="F4F4F7"/>
          </a:solidFill>
          <a:ln w="12700">
            <a:solidFill>
              <a:srgbClr val="BFBFBF"/>
            </a:solidFill>
          </a:ln>
        </p:spPr>
        <p:txBody>
          <a:bodyPr wrap="square" lIns="146304" tIns="73152" rIns="146304" bIns="73152" anchor="t" rtlCol="0">
            <a:noAutofit/>
          </a:bodyPr>
          <a:lstStyle/>
          <a:p>
            <a:pPr>
              <a:spcBef>
                <a:spcPts val="0"/>
              </a:spcBef>
            </a:pP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cd demos/stream/poly</a:t>
            </a: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python poly_build.py --list-steps</a:t>
            </a: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python poly_build.py --through verify_csim \</a:t>
            </a: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 xml:space="preserve">    --kernel poly32 --force-step csim</a:t>
            </a:r>
            <a:endParaRPr lang="en-US" sz="1200" dirty="0"/>
          </a:p>
          <a:p>
            <a:pPr>
              <a:spcBef>
                <a:spcPts val="600"/>
              </a:spcBef>
            </a:pPr>
            <a:r>
              <a:rPr lang="en-US" sz="1200" dirty="0">
                <a:solidFill>
                  <a:srgbClr val="330662"/>
                </a:solidFill>
                <a:latin typeface="Consolas"/>
                <a:cs typeface="Consolas"/>
              </a:rPr>
              <a:t>python poly_build.py</a:t>
            </a:r>
            <a:endParaRPr lang="en-US" sz="1200" dirty="0"/>
          </a:p>
        </p:txBody>
      </p:sp>
      <p:sp>
        <p:nvSpPr>
          <p:cNvPr id="6" name="TextBox 6"/>
          <p:cNvSpPr txBox="1"/>
          <p:nvPr/>
        </p:nvSpPr>
        <p:spPr>
          <a:xfrm>
            <a:off x="6355080" y="221284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r>
              <a:rPr lang="en-US" sz="1200" b="1" dirty="0">
                <a:solidFill>
                  <a:srgbClr val="6E6E6E"/>
                </a:solidFill>
              </a:rPr>
              <a:t>WHAT TO WATCH FOR</a:t>
            </a:r>
            <a:endParaRPr lang="en-US" sz="1200" dirty="0"/>
          </a:p>
        </p:txBody>
      </p:sp>
      <p:sp>
        <p:nvSpPr>
          <p:cNvPr id="7" name="TextBox 7"/>
          <p:cNvSpPr txBox="1"/>
          <p:nvPr/>
        </p:nvSpPr>
        <p:spPr>
          <a:xfrm>
            <a:off x="6355080" y="2523744"/>
            <a:ext cx="5120640" cy="2011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237744" indent="-237744">
              <a:spcBef>
                <a:spcPts val="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262626"/>
                </a:solidFill>
              </a:rPr>
              <a:t xml:space="preserve">The messages are written once, in </a:t>
            </a:r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poly_schema.py</a:t>
            </a:r>
            <a:r>
              <a:rPr lang="en-US" sz="1400" dirty="0">
                <a:solidFill>
                  <a:srgbClr val="262626"/>
                </a:solidFill>
              </a:rPr>
              <a:t>; the headers that pack them are generated</a:t>
            </a:r>
            <a:endParaRPr lang="en-US" sz="14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262626"/>
                </a:solidFill>
              </a:rPr>
              <a:t xml:space="preserve">Three kernels, one function: </a:t>
            </a:r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poly32</a:t>
            </a:r>
            <a:r>
              <a:rPr lang="en-US" sz="1400" dirty="0">
                <a:solidFill>
                  <a:srgbClr val="262626"/>
                </a:solidFill>
              </a:rPr>
              <a:t xml:space="preserve"> and </a:t>
            </a:r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poly64</a:t>
            </a:r>
            <a:r>
              <a:rPr lang="en-US" sz="1400" dirty="0">
                <a:solidFill>
                  <a:srgbClr val="262626"/>
                </a:solidFill>
              </a:rPr>
              <a:t xml:space="preserve"> pack by hand, </a:t>
            </a:r>
            <a:r>
              <a:rPr lang="en-US" sz="1400" dirty="0">
                <a:solidFill>
                  <a:srgbClr val="330662"/>
                </a:solidFill>
                <a:latin typeface="Consolas"/>
                <a:cs typeface="Consolas"/>
              </a:rPr>
              <a:t>general</a:t>
            </a:r>
            <a:r>
              <a:rPr lang="en-US" sz="1400" dirty="0">
                <a:solidFill>
                  <a:srgbClr val="262626"/>
                </a:solidFill>
              </a:rPr>
              <a:t xml:space="preserve"> uses the generated code</a:t>
            </a:r>
            <a:endParaRPr lang="en-US" sz="14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262626"/>
                </a:solidFill>
              </a:rPr>
              <a:t>Every TLAST is checked, and a misplaced one is reported in the footer</a:t>
            </a:r>
            <a:endParaRPr lang="en-US" sz="1400" dirty="0"/>
          </a:p>
          <a:p>
            <a:pPr marL="237744" indent="-237744">
              <a:spcBef>
                <a:spcPts val="600"/>
              </a:spcBef>
              <a:buClr>
                <a:srgbClr val="57068C"/>
              </a:buClr>
              <a:buSzPct val="70000"/>
              <a:buFont typeface="Arial"/>
              <a:buChar char="▪"/>
            </a:pPr>
            <a:r>
              <a:rPr lang="en-US" sz="1400" dirty="0">
                <a:solidFill>
                  <a:srgbClr val="262626"/>
                </a:solidFill>
              </a:rPr>
              <a:t>The timing diagram decodes each message off the wires</a:t>
            </a:r>
            <a:endParaRPr lang="en-US" sz="1400" dirty="0"/>
          </a:p>
        </p:txBody>
      </p:sp>
      <p:sp>
        <p:nvSpPr>
          <p:cNvPr id="8" name="Shape 8"/>
          <p:cNvSpPr/>
          <p:nvPr/>
        </p:nvSpPr>
        <p:spPr>
          <a:xfrm>
            <a:off x="685800" y="4663440"/>
            <a:ext cx="10789920" cy="1234440"/>
          </a:xfrm>
          <a:prstGeom prst="rect">
            <a:avLst/>
          </a:prstGeom>
          <a:solidFill>
            <a:srgbClr val="DCEFEC"/>
          </a:solidFill>
          <a:ln w="12700">
            <a:solidFill>
              <a:srgbClr val="9FD3CC"/>
            </a:solidFill>
          </a:ln>
        </p:spPr>
        <p:txBody>
          <a:bodyPr wrap="square" lIns="219456" tIns="109728" rIns="219456" bIns="109728" anchor="ctr" rtlCol="0">
            <a:noAutofit/>
          </a:bodyPr>
          <a:lstStyle/>
          <a:p>
            <a:pPr algn="ctr"/>
            <a:r>
              <a:rPr lang="en-US" sz="1500" dirty="0">
                <a:solidFill>
                  <a:srgbClr val="262626"/>
                </a:solidFill>
              </a:rPr>
              <a:t xml:space="preserve">Three transactions, checked field by field against the Python model.  Output starts 34 cycles after the input, then comes out one sample per cycle.</a:t>
            </a:r>
            <a:endParaRPr lang="en-US" sz="1500" dirty="0"/>
          </a:p>
          <a:p>
            <a:pPr algn="ctr">
              <a:spcBef>
                <a:spcPts val="800"/>
              </a:spcBef>
            </a:pPr>
            <a:r>
              <a:rPr lang="en-US" sz="1400" b="1" dirty="0">
                <a:solidFill>
                  <a:srgbClr val="00857C"/>
                </a:solidFill>
              </a:rPr>
              <a:t>Same stream interface as the filter; the messages are what is new.</a:t>
            </a:r>
            <a:endParaRPr lang="en-US" sz="1400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an Interface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685800" y="1691640"/>
          <a:ext cx="10789920" cy="34015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7360"/>
                <a:gridCol w="3017520"/>
                <a:gridCol w="3017520"/>
                <a:gridCol w="3017520"/>
              </a:tblGrid>
              <a:tr h="566928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AXI4-Lite registers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AXI4-Stream, pure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AXI4-Stream, packets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57068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262626"/>
                          </a:solidFill>
                        </a:rPr>
                        <a:t>Carries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A few control values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An endless sequence of samples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Commands and data, framed by TLAST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262626"/>
                          </a:solidFill>
                        </a:rPr>
                        <a:t>Rate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About 3 cycles per value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One value per cycle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One word per cycle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262626"/>
                          </a:solidFill>
                        </a:rPr>
                        <a:t>Control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Is the interface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A separate path, hard to keep in step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Travels with the data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262626"/>
                          </a:solidFill>
                        </a:rPr>
                        <a:t>Flow control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A handshake per transaction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TREADY backpressure into a FIFO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The same, plus IDs and error codes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262626"/>
                          </a:solidFill>
                        </a:rPr>
                        <a:t>Seen in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Unit 4, scalar function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Unit 5, streaming filter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Unit 5, polynomial IP</a:t>
                      </a:r>
                      <a:endParaRPr lang="en-US" sz="1400" dirty="0"/>
                    </a:p>
                  </a:txBody>
                  <a:tcPr marL="73152" marR="54864" marT="27432" marB="27432" anchor="ctr">
                    <a:lnL w="9525">
                      <a:solidFill>
                        <a:srgbClr val="D5C4E3"/>
                      </a:solidFill>
                    </a:lnL>
                    <a:lnR w="9525">
                      <a:solidFill>
                        <a:srgbClr val="D5C4E3"/>
                      </a:solidFill>
                    </a:lnR>
                    <a:lnT w="9525">
                      <a:solidFill>
                        <a:srgbClr val="D5C4E3"/>
                      </a:solidFill>
                    </a:lnT>
                    <a:lnB w="9525">
                      <a:solidFill>
                        <a:srgbClr val="D5C4E3"/>
                      </a:solidFill>
                    </a:lnB>
                    <a:solidFill>
                      <a:srgbClr val="F7F3FA"/>
                    </a:solidFill>
                  </a:tcPr>
                </a:tc>
              </a:tr>
            </a:tbl>
          </a:graphicData>
        </a:graphic>
      </p:graphicFrame>
      <p:sp>
        <p:nvSpPr>
          <p:cNvPr id="4" name="Shape 4"/>
          <p:cNvSpPr/>
          <p:nvPr/>
        </p:nvSpPr>
        <p:spPr>
          <a:xfrm>
            <a:off x="685800" y="5349240"/>
            <a:ext cx="10789920" cy="548640"/>
          </a:xfrm>
          <a:prstGeom prst="rect">
            <a:avLst/>
          </a:prstGeom>
          <a:solidFill>
            <a:srgbClr val="EEE6F3"/>
          </a:solidFill>
          <a:ln w="15875">
            <a:solidFill>
              <a:srgbClr val="57068C"/>
            </a:solidFill>
          </a:ln>
        </p:spPr>
        <p:txBody>
          <a:bodyPr wrap="square" lIns="54864" tIns="27432" rIns="54864" bIns="27432" anchor="ctr" rtlCol="0">
            <a:noAutofit/>
          </a:bodyPr>
          <a:lstStyle/>
          <a:p>
            <a:pPr algn="ctr"/>
            <a:r>
              <a:rPr lang="en-US" sz="1700" dirty="0">
                <a:solidFill>
                  <a:srgbClr val="262626"/>
                </a:solidFill>
              </a:rPr>
              <a:t xml:space="preserve">Registers to </a:t>
            </a:r>
            <a:r>
              <a:rPr lang="en-US" sz="1700" b="1" dirty="0">
                <a:solidFill>
                  <a:srgbClr val="57068C"/>
                </a:solidFill>
              </a:rPr>
              <a:t>configure</a:t>
            </a:r>
            <a:r>
              <a:rPr lang="en-US" sz="1700" dirty="0">
                <a:solidFill>
                  <a:srgbClr val="262626"/>
                </a:solidFill>
              </a:rPr>
              <a:t xml:space="preserve"> an IP; streams to </a:t>
            </a:r>
            <a:r>
              <a:rPr lang="en-US" sz="1700" b="1" dirty="0">
                <a:solidFill>
                  <a:srgbClr val="57068C"/>
                </a:solidFill>
              </a:rPr>
              <a:t>feed</a:t>
            </a:r>
            <a:r>
              <a:rPr lang="en-US" sz="1700" dirty="0">
                <a:solidFill>
                  <a:srgbClr val="262626"/>
                </a:solidFill>
              </a:rPr>
              <a:t xml:space="preserve"> it.</a:t>
            </a:r>
            <a:endParaRPr lang="en-US" sz="1700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57068C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17220</TotalTime>
  <Words>2599</Words>
  <Application>Microsoft Office PowerPoint</Application>
  <PresentationFormat>Widescreen</PresentationFormat>
  <Paragraphs>676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9" baseType="lpstr">
      <vt:lpstr>Arial</vt:lpstr>
      <vt:lpstr>Calibri</vt:lpstr>
      <vt:lpstr>Cambria Math</vt:lpstr>
      <vt:lpstr>Wingdings</vt:lpstr>
      <vt:lpstr>Retrospect</vt:lpstr>
      <vt:lpstr>Unit 5  FIFOs and Streaming Interfaces</vt:lpstr>
      <vt:lpstr>Learning Objectives</vt:lpstr>
      <vt:lpstr>Outline</vt:lpstr>
      <vt:lpstr>FIFO Motivation</vt:lpstr>
      <vt:lpstr>Problem 1: Handshaking Overhead</vt:lpstr>
      <vt:lpstr>Problem 2:   Polling-Based Execution</vt:lpstr>
      <vt:lpstr>Problem 2:  Time Wastage</vt:lpstr>
      <vt:lpstr>FIFO</vt:lpstr>
      <vt:lpstr>FIFO Terminology</vt:lpstr>
      <vt:lpstr>FIFO Order</vt:lpstr>
      <vt:lpstr>Example Problem</vt:lpstr>
      <vt:lpstr>Example Problem</vt:lpstr>
      <vt:lpstr>Solution</vt:lpstr>
      <vt:lpstr>FIFO Overflow</vt:lpstr>
      <vt:lpstr>Example Problem</vt:lpstr>
      <vt:lpstr>Solution</vt:lpstr>
      <vt:lpstr>Producer and Consumer Rate</vt:lpstr>
      <vt:lpstr>Load Factor and Stability </vt:lpstr>
      <vt:lpstr>Sample Problem</vt:lpstr>
      <vt:lpstr>Solution</vt:lpstr>
      <vt:lpstr>Queueing Theory</vt:lpstr>
      <vt:lpstr>Outline</vt:lpstr>
      <vt:lpstr>Problem 1: Handshaking Overhead</vt:lpstr>
      <vt:lpstr>Solution:  Streaming FIFO Interface</vt:lpstr>
      <vt:lpstr>AXI4-Streaming Protocol</vt:lpstr>
      <vt:lpstr>AXI4-Stream Terminology</vt:lpstr>
      <vt:lpstr>AXI4-Stream Protocol</vt:lpstr>
      <vt:lpstr>Example Timing</vt:lpstr>
      <vt:lpstr>Example:  Streaming Squared Average</vt:lpstr>
      <vt:lpstr>Vitis HLS Module Definition</vt:lpstr>
      <vt:lpstr>Vitis HLS Module Body</vt:lpstr>
      <vt:lpstr>In-Class Demo</vt:lpstr>
      <vt:lpstr>Simulation Results</vt:lpstr>
      <vt:lpstr>Outline</vt:lpstr>
      <vt:lpstr>Limitations of Pure Streaming</vt:lpstr>
      <vt:lpstr>Problem 1:  Block-Based Operations</vt:lpstr>
      <vt:lpstr>Problem 2:  Control-Data Synchronization</vt:lpstr>
      <vt:lpstr>Solution:  Mix AXI4-Lite and AXI4-Stream?</vt:lpstr>
      <vt:lpstr>A Potential HLS Module Definition</vt:lpstr>
      <vt:lpstr>Problem Mixing AXI4-Lite and AXI4-Stream</vt:lpstr>
      <vt:lpstr>Problem 3:  Vitis’ Flawed Execution Model</vt:lpstr>
      <vt:lpstr>Vitis Execution Model Flaws</vt:lpstr>
      <vt:lpstr>Outline</vt:lpstr>
      <vt:lpstr>Pure vs. Packetized Streaming</vt:lpstr>
      <vt:lpstr>AXI4-Stream Protocol with Packetization</vt:lpstr>
      <vt:lpstr>Example Burst Timing</vt:lpstr>
      <vt:lpstr>Example Burst Timing Illustrated</vt:lpstr>
      <vt:lpstr>Example:  Block Polynomial Accelerator</vt:lpstr>
      <vt:lpstr>Command Packet Structure</vt:lpstr>
      <vt:lpstr>Response Packet Structure</vt:lpstr>
      <vt:lpstr>Serialization / Deserialization</vt:lpstr>
      <vt:lpstr>Serialization / Deserialization Illustrated</vt:lpstr>
      <vt:lpstr>Serialization / Deserialization in Hardware</vt:lpstr>
      <vt:lpstr>Example Problem</vt:lpstr>
      <vt:lpstr>Solution:  Counting the Number of Words</vt:lpstr>
      <vt:lpstr>Solution:  Serialization Code</vt:lpstr>
      <vt:lpstr>Vitis HLS Module Definition</vt:lpstr>
      <vt:lpstr>Vitis HLS Command and Response Header</vt:lpstr>
      <vt:lpstr>Main Process Loop</vt:lpstr>
      <vt:lpstr>Response Footer and Error Handling</vt:lpstr>
      <vt:lpstr>In-Class Demo</vt:lpstr>
      <vt:lpstr>Simulation Result</vt:lpstr>
      <vt:lpstr>Using an Interface Description Language</vt:lpstr>
      <vt:lpstr>Vitis HLS Code Generation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666</cp:revision>
  <cp:lastPrinted>2018-09-04T19:00:14Z</cp:lastPrinted>
  <dcterms:created xsi:type="dcterms:W3CDTF">2015-03-22T11:15:32Z</dcterms:created>
  <dcterms:modified xsi:type="dcterms:W3CDTF">2026-02-23T14:34:53Z</dcterms:modified>
</cp:coreProperties>
</file>