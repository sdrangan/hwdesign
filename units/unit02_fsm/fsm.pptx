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8" r:id="rId2"/>
    <p:sldId id="271" r:id="rId3"/>
    <p:sldId id="336" r:id="rId4"/>
    <p:sldId id="300" r:id="rId5"/>
    <p:sldId id="301" r:id="rId6"/>
    <p:sldId id="302" r:id="rId7"/>
    <p:sldId id="359" r:id="rId8"/>
    <p:sldId id="360" r:id="rId9"/>
    <p:sldId id="362" r:id="rId10"/>
    <p:sldId id="361" r:id="rId11"/>
    <p:sldId id="364" r:id="rId12"/>
    <p:sldId id="306" r:id="rId13"/>
    <p:sldId id="355" r:id="rId14"/>
    <p:sldId id="363" r:id="rId15"/>
    <p:sldId id="356" r:id="rId16"/>
    <p:sldId id="366" r:id="rId17"/>
    <p:sldId id="365" r:id="rId18"/>
    <p:sldId id="352" r:id="rId19"/>
    <p:sldId id="354" r:id="rId20"/>
    <p:sldId id="353" r:id="rId21"/>
    <p:sldId id="358" r:id="rId22"/>
    <p:sldId id="382" r:id="rId23"/>
    <p:sldId id="368" r:id="rId24"/>
    <p:sldId id="303" r:id="rId25"/>
    <p:sldId id="308" r:id="rId26"/>
    <p:sldId id="309" r:id="rId27"/>
    <p:sldId id="346" r:id="rId28"/>
    <p:sldId id="312" r:id="rId29"/>
    <p:sldId id="348" r:id="rId30"/>
    <p:sldId id="320" r:id="rId31"/>
    <p:sldId id="349" r:id="rId32"/>
    <p:sldId id="351" r:id="rId33"/>
    <p:sldId id="383" r:id="rId34"/>
    <p:sldId id="341" r:id="rId35"/>
    <p:sldId id="377" r:id="rId36"/>
    <p:sldId id="370" r:id="rId37"/>
    <p:sldId id="371" r:id="rId38"/>
    <p:sldId id="330" r:id="rId39"/>
    <p:sldId id="329" r:id="rId40"/>
    <p:sldId id="381" r:id="rId41"/>
    <p:sldId id="331" r:id="rId42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9FD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57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56" y="5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emf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27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55.png"/><Relationship Id="rId4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3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56.png"/><Relationship Id="rId4" Type="http://schemas.openxmlformats.org/officeDocument/2006/relationships/image" Target="../media/image4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2 </a:t>
            </a:r>
            <a:br>
              <a:rPr lang="en-US" sz="6600" dirty="0"/>
            </a:br>
            <a:r>
              <a:rPr lang="en-US" sz="6600" dirty="0"/>
              <a:t>Sequential Logic and FSMs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ECE-GY 6463:  Advanced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finite state machines </a:t>
            </a:r>
            <a:r>
              <a:rPr lang="en-US" dirty="0">
                <a:solidFill>
                  <a:schemeClr val="tx1"/>
                </a:solidFill>
              </a:rPr>
              <a:t>and identify inputs, outputs, and states </a:t>
            </a:r>
          </a:p>
          <a:p>
            <a:r>
              <a:rPr lang="en-US" dirty="0">
                <a:solidFill>
                  <a:schemeClr val="tx1"/>
                </a:solidFill>
              </a:rPr>
              <a:t>Implement FSMs with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sequential logic </a:t>
            </a:r>
            <a:r>
              <a:rPr lang="en-US" dirty="0"/>
              <a:t>in </a:t>
            </a:r>
            <a:r>
              <a:rPr lang="en-US" dirty="0" err="1"/>
              <a:t>SystemVerilog</a:t>
            </a:r>
            <a:endParaRPr lang="en-US" dirty="0"/>
          </a:p>
          <a:p>
            <a:r>
              <a:rPr lang="en-US" dirty="0"/>
              <a:t>Break and implement functions over multiple clock cycles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/>
              <a:t>Write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testbench</a:t>
            </a:r>
            <a:r>
              <a:rPr lang="en-US" dirty="0"/>
              <a:t> for the hardware modules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Simulate</a:t>
            </a:r>
            <a:r>
              <a:rPr lang="en-US" dirty="0"/>
              <a:t>,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synthesize</a:t>
            </a:r>
            <a:r>
              <a:rPr lang="en-US" dirty="0"/>
              <a:t> the </a:t>
            </a:r>
            <a:r>
              <a:rPr lang="en-US" dirty="0" err="1"/>
              <a:t>SystemVerilog</a:t>
            </a:r>
            <a:r>
              <a:rPr lang="en-US" dirty="0"/>
              <a:t> using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Vivado</a:t>
            </a:r>
            <a:r>
              <a:rPr lang="en-US" dirty="0"/>
              <a:t> tools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F2F31-3203-5115-2596-EBC50D16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8E12-525A-63AB-0A6F-6D430073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39F26-0689-9C02-1517-96591E92B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Registers, Clocks and Sequential Logic and Finite State Machines</a:t>
            </a:r>
          </a:p>
          <a:p>
            <a:r>
              <a:rPr lang="en-US" sz="2400" dirty="0"/>
              <a:t>Splitting Long Computations</a:t>
            </a:r>
          </a:p>
          <a:p>
            <a:r>
              <a:rPr lang="en-US" sz="2400" dirty="0"/>
              <a:t>Simulating and Synthesizing Simple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422D8-678A-1358-2D01-61E3D624E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E4DF5AC-F564-EFD6-6310-8AE29B223504}"/>
              </a:ext>
            </a:extLst>
          </p:cNvPr>
          <p:cNvSpPr/>
          <p:nvPr/>
        </p:nvSpPr>
        <p:spPr>
          <a:xfrm>
            <a:off x="481901" y="1441322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50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76CA79D-EBD9-AA57-8A75-5919CEF3C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408" y="3828056"/>
            <a:ext cx="6037276" cy="1854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11CEB7-614C-5A0C-3EAF-0455FA160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Combinational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21DD7-A95F-2051-72C0-1B345C98A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memory — cannot store past values</a:t>
            </a:r>
          </a:p>
          <a:p>
            <a:r>
              <a:rPr lang="en-US" dirty="0"/>
              <a:t>Output changes immediately with input changes (no control over timing)</a:t>
            </a:r>
          </a:p>
          <a:p>
            <a:r>
              <a:rPr lang="en-US" dirty="0"/>
              <a:t>Long combinational paths lead to large propagation delays</a:t>
            </a:r>
          </a:p>
          <a:p>
            <a:r>
              <a:rPr lang="en-US" dirty="0"/>
              <a:t>Hard to build large systems without controlled timing boundaries</a:t>
            </a:r>
          </a:p>
          <a:p>
            <a:r>
              <a:rPr lang="en-US" dirty="0"/>
              <a:t>Glitches and hazards can propagate freely</a:t>
            </a:r>
          </a:p>
          <a:p>
            <a:r>
              <a:rPr lang="en-US" dirty="0"/>
              <a:t>No notion of “steps” or “cycles” — everything is continuous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AA4B0-CBC0-DC73-9E26-F3484FB7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146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AD911-3BF4-D32D-0851-6EEAC3705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(Sequential)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8832D-5242-3E39-8CC3-5BE1BCC6A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>
                <a:solidFill>
                  <a:schemeClr val="accent1"/>
                </a:solidFill>
              </a:rPr>
              <a:t>state</a:t>
            </a:r>
            <a:r>
              <a:rPr lang="en-US" dirty="0"/>
              <a:t> via </a:t>
            </a:r>
            <a:r>
              <a:rPr lang="en-US" dirty="0">
                <a:solidFill>
                  <a:schemeClr val="accent1"/>
                </a:solidFill>
              </a:rPr>
              <a:t>flip‑flops </a:t>
            </a:r>
            <a:r>
              <a:rPr lang="en-US" dirty="0"/>
              <a:t>or </a:t>
            </a:r>
            <a:r>
              <a:rPr lang="en-US" dirty="0">
                <a:solidFill>
                  <a:schemeClr val="accent1"/>
                </a:solidFill>
              </a:rPr>
              <a:t>registers</a:t>
            </a:r>
          </a:p>
          <a:p>
            <a:r>
              <a:rPr lang="en-US" dirty="0"/>
              <a:t>Breaks long logic into </a:t>
            </a:r>
            <a:r>
              <a:rPr lang="en-US" dirty="0">
                <a:solidFill>
                  <a:schemeClr val="accent1"/>
                </a:solidFill>
              </a:rPr>
              <a:t>clocked stages</a:t>
            </a:r>
            <a:r>
              <a:rPr lang="en-US" dirty="0"/>
              <a:t>, improving performance</a:t>
            </a:r>
          </a:p>
          <a:p>
            <a:r>
              <a:rPr lang="en-US" dirty="0"/>
              <a:t>Provides </a:t>
            </a:r>
            <a:r>
              <a:rPr lang="en-US" dirty="0">
                <a:solidFill>
                  <a:schemeClr val="accent1"/>
                </a:solidFill>
              </a:rPr>
              <a:t>predictable timing </a:t>
            </a:r>
            <a:r>
              <a:rPr lang="en-US" dirty="0"/>
              <a:t>— changes only occur on clock edges</a:t>
            </a:r>
          </a:p>
          <a:p>
            <a:r>
              <a:rPr lang="en-US" dirty="0"/>
              <a:t>Makes large systems modular and easier to reason about</a:t>
            </a:r>
          </a:p>
          <a:p>
            <a:r>
              <a:rPr lang="en-US" dirty="0"/>
              <a:t>Eliminates most hazards/glitches from propagating across stages</a:t>
            </a:r>
          </a:p>
          <a:p>
            <a:r>
              <a:rPr lang="en-US" dirty="0"/>
              <a:t>Enables pipelining, finite‑state machines, and sequential algorithms</a:t>
            </a:r>
          </a:p>
          <a:p>
            <a:r>
              <a:rPr lang="en-US" dirty="0"/>
              <a:t>Allows clean interfaces between modules (valid/ready, handshakes, etc.)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420C8-93C4-94D3-F760-A89275C8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26C523-87AC-2853-856A-0E6B98452D41}"/>
              </a:ext>
            </a:extLst>
          </p:cNvPr>
          <p:cNvSpPr/>
          <p:nvPr/>
        </p:nvSpPr>
        <p:spPr>
          <a:xfrm>
            <a:off x="1681162" y="4861523"/>
            <a:ext cx="7705726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Synchronous logic is the dominant paradigm for design </a:t>
            </a:r>
          </a:p>
        </p:txBody>
      </p:sp>
    </p:spTree>
    <p:extLst>
      <p:ext uri="{BB962C8B-B14F-4D97-AF65-F5344CB8AC3E}">
        <p14:creationId xmlns:p14="http://schemas.microsoft.com/office/powerpoint/2010/main" val="910885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2BDCC-D4A7-DD40-30B1-14C265FC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86D5B-ABF1-37F4-8E83-F95D13D674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Clock</a:t>
                </a:r>
                <a:r>
                  <a:rPr lang="en-US" sz="2400" dirty="0"/>
                  <a:t>:  An alternating binary signal</a:t>
                </a:r>
              </a:p>
              <a:p>
                <a:pPr lvl="1"/>
                <a:r>
                  <a:rPr lang="en-US" sz="2000" dirty="0"/>
                  <a:t>Visualized as a square wave</a:t>
                </a:r>
              </a:p>
              <a:p>
                <a:r>
                  <a:rPr lang="en-US" sz="2400" dirty="0"/>
                  <a:t>Each period is called a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clock cycle</a:t>
                </a: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</a:rPr>
                  <a:t>Typically, between two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rising edges</a:t>
                </a:r>
              </a:p>
              <a:p>
                <a:r>
                  <a:rPr lang="en-US" sz="2400" dirty="0"/>
                  <a:t>Parameters:</a:t>
                </a:r>
              </a:p>
              <a:p>
                <a:pPr lvl="1"/>
                <a:r>
                  <a:rPr lang="en-US" sz="2000" dirty="0"/>
                  <a:t>Clock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period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>
                    <a:solidFill>
                      <a:schemeClr val="accent1"/>
                    </a:solidFill>
                  </a:rPr>
                  <a:t>Frequency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US" sz="2000" dirty="0">
                  <a:solidFill>
                    <a:schemeClr val="accent1"/>
                  </a:solidFill>
                </a:endParaRPr>
              </a:p>
              <a:p>
                <a:r>
                  <a:rPr lang="en-US" sz="2400" dirty="0"/>
                  <a:t>Typical parameters:</a:t>
                </a:r>
              </a:p>
              <a:p>
                <a:pPr lvl="1"/>
                <a:r>
                  <a:rPr lang="en-US" sz="2000" dirty="0"/>
                  <a:t>FPGA logic: 100 to 500 MHz</a:t>
                </a:r>
              </a:p>
              <a:p>
                <a:pPr lvl="1"/>
                <a:r>
                  <a:rPr lang="en-US" sz="2000" dirty="0"/>
                  <a:t>ASIC:  500 MHz to 1 GHz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86D5B-ABF1-37F4-8E83-F95D13D674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3B641-E06B-52DB-F256-2E5D9026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361ACB54-5B4E-B9B7-3F31-46A05A565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855" y="3209925"/>
            <a:ext cx="5076825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2787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001B-5CDD-0C08-9994-603839E9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4C8E-D7AE-847E-B2BC-5DECC8A2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Synchronous Logic Example:  Counter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ACFB25-27C1-76B5-3950-E386EB4CDF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7785" y="1655632"/>
                <a:ext cx="8825667" cy="4329817"/>
              </a:xfrm>
            </p:spPr>
            <p:txBody>
              <a:bodyPr/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Synchronous logic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000" dirty="0"/>
                  <a:t>Updates occur on each clock cycle</a:t>
                </a:r>
              </a:p>
              <a:p>
                <a:r>
                  <a:rPr lang="en-US" sz="2400" dirty="0"/>
                  <a:t>Simple example:  A down-counter</a:t>
                </a:r>
                <a:endParaRPr lang="en-US" sz="2400" dirty="0">
                  <a:solidFill>
                    <a:schemeClr val="accent1"/>
                  </a:solidFill>
                </a:endParaRPr>
              </a:p>
              <a:p>
                <a:r>
                  <a:rPr lang="en-US" sz="2400" dirty="0"/>
                  <a:t>Potential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specification</a:t>
                </a:r>
                <a:r>
                  <a:rPr lang="en-US" sz="2400" dirty="0"/>
                  <a:t>:   On clock cycle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:</a:t>
                </a:r>
                <a:br>
                  <a:rPr lang="en-US" sz="2400" dirty="0"/>
                </a:br>
                <a:endParaRPr lang="en-US" sz="2400" dirty="0"/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]=1  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cnt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br>
                  <a:rPr lang="en-US" sz="2000" b="0" i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𝑖𝑛𝑖𝑡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</a:t>
                </a:r>
                <a:br>
                  <a:rPr lang="en-US" sz="2000" dirty="0"/>
                </a:br>
                <a:endParaRPr lang="en-US" sz="2000" dirty="0"/>
              </a:p>
              <a:p>
                <a:pPr lvl="1"/>
                <a:r>
                  <a:rPr lang="en-US" sz="2000" dirty="0"/>
                  <a:t>Else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←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{0,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𝑐𝑛𝑡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−1}</m:t>
                        </m:r>
                      </m:e>
                    </m:func>
                  </m:oMath>
                </a14:m>
                <a:endParaRPr lang="en-US" sz="20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ACFB25-27C1-76B5-3950-E386EB4CDF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7785" y="1655632"/>
                <a:ext cx="8825667" cy="4329817"/>
              </a:xfrm>
              <a:blipFill>
                <a:blip r:embed="rId2"/>
                <a:stretch>
                  <a:fillRect l="-1934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2779C-2C51-396A-7C04-105794CBE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2C47C9-4DCB-12E0-7162-476B6D2E12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238700"/>
                  </p:ext>
                </p:extLst>
              </p:nvPr>
            </p:nvGraphicFramePr>
            <p:xfrm>
              <a:off x="7951744" y="1655632"/>
              <a:ext cx="3794000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8500">
                      <a:extLst>
                        <a:ext uri="{9D8B030D-6E8A-4147-A177-3AD203B41FA5}">
                          <a16:colId xmlns:a16="http://schemas.microsoft.com/office/drawing/2014/main" val="4270653478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2539956876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3914664233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42240782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s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𝑡𝑎𝑟𝑡</m:t>
                              </m:r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𝑐𝑛𝑡</m:t>
                                </m:r>
                                <m:r>
                                  <m:rPr>
                                    <m:lit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𝑖𝑛𝑖𝑡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𝑐𝑛𝑡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1356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0874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937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559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81794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67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1705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267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5193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7384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36535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2C47C9-4DCB-12E0-7162-476B6D2E12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238700"/>
                  </p:ext>
                </p:extLst>
              </p:nvPr>
            </p:nvGraphicFramePr>
            <p:xfrm>
              <a:off x="7951744" y="1655632"/>
              <a:ext cx="3794000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8500">
                      <a:extLst>
                        <a:ext uri="{9D8B030D-6E8A-4147-A177-3AD203B41FA5}">
                          <a16:colId xmlns:a16="http://schemas.microsoft.com/office/drawing/2014/main" val="4270653478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2539956876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3914664233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42240782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41" t="-8197" r="-301923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41" t="-8197" r="-201923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935" t="-8197" r="-103226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8197" r="-2564" b="-10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1356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0874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937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559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81794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67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1705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267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5193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7384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36535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61884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169F-E960-7EBF-9A7A-E20B8D7DE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 of a Module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076857-5E8F-BF43-4885-983B9D9FCB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200" dirty="0"/>
                  <a:t>Counter example from previous slide:</a:t>
                </a:r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]=1  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cnt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  <m:r>
                          <a:rPr lang="en-US" sz="200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br>
                  <a:rPr lang="en-US" sz="200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0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𝑖𝑛𝑖𝑡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:r>
                  <a:rPr lang="en-US" sz="2000" dirty="0"/>
                  <a:t>Else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←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{0,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𝑐𝑛𝑡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−1}</m:t>
                        </m:r>
                      </m:e>
                    </m:func>
                  </m:oMath>
                </a14:m>
                <a:endParaRPr lang="en-US" sz="2000" dirty="0"/>
              </a:p>
              <a:p>
                <a:r>
                  <a:rPr lang="en-US" sz="2200" dirty="0">
                    <a:solidFill>
                      <a:schemeClr val="accent1"/>
                    </a:solidFill>
                  </a:rPr>
                  <a:t>Inputs</a:t>
                </a:r>
                <a:r>
                  <a:rPr lang="en-US" sz="2200" dirty="0"/>
                  <a:t>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𝑠𝑡𝑎𝑟𝑡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2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𝑖𝑛𝑖𝑡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000" dirty="0"/>
                  <a:t>What the module takes as input</a:t>
                </a:r>
              </a:p>
              <a:p>
                <a:r>
                  <a:rPr lang="en-US" sz="2200" dirty="0">
                    <a:solidFill>
                      <a:schemeClr val="accent1"/>
                    </a:solidFill>
                  </a:rPr>
                  <a:t>Output</a:t>
                </a:r>
                <a:r>
                  <a:rPr lang="en-US" sz="2200" dirty="0"/>
                  <a:t>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𝑐𝑛𝑡</m:t>
                    </m:r>
                  </m:oMath>
                </a14:m>
                <a:endParaRPr lang="en-US" sz="2200" b="0" dirty="0"/>
              </a:p>
              <a:p>
                <a:pPr lvl="1"/>
                <a:r>
                  <a:rPr lang="en-US" sz="2000" dirty="0"/>
                  <a:t>What the module produces</a:t>
                </a:r>
              </a:p>
              <a:p>
                <a:r>
                  <a:rPr lang="en-US" sz="2200" dirty="0">
                    <a:solidFill>
                      <a:schemeClr val="accent1"/>
                    </a:solidFill>
                  </a:rPr>
                  <a:t>State</a:t>
                </a:r>
                <a:r>
                  <a:rPr lang="en-US" sz="2200" dirty="0"/>
                  <a:t>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𝑐𝑛𝑡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000" dirty="0"/>
                  <a:t>What needs to be stored to compute the subsequent outputs given the inputs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076857-5E8F-BF43-4885-983B9D9FCB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76" t="-1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C8DB8-E5A5-401D-44BF-0EDD9DE8F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969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19E3-E031-B332-BA09-D380FA32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State?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4B45FA-EC6C-EED5-C86A-C1D56A6EAF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Definition</a:t>
                </a:r>
                <a:r>
                  <a:rPr lang="en-US" sz="2400" dirty="0"/>
                  <a:t>:  A state is a set of variables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such that:</a:t>
                </a:r>
              </a:p>
              <a:p>
                <a:pPr lvl="1"/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and inputs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Outputs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r>
                  <a:rPr lang="en-US" sz="2000" dirty="0"/>
                  <a:t>  are fully determined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In our case: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is the state </a:t>
                </a:r>
              </a:p>
              <a:p>
                <a:pPr lvl="1"/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and future inputs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𝑖𝑛𝑖𝑡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We can fully determine future outputs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cnt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4B45FA-EC6C-EED5-C86A-C1D56A6EAF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4B395-3606-E2C9-AF37-B6D57983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69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6C9C-86E3-6FD7-24AC-0620FF1A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Logic as an FSM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F3406A-9CE7-B6C7-51F0-BC6240C24D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General finite state machine</a:t>
                </a:r>
              </a:p>
              <a:p>
                <a:r>
                  <a:rPr lang="en-US" dirty="0"/>
                  <a:t>Update function: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𝑠𝑡𝑎𝑡𝑒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𝑖𝑛𝑝𝑢𝑡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b="0" dirty="0"/>
                  <a:t>Describes how the state evolves</a:t>
                </a:r>
              </a:p>
              <a:p>
                <a:r>
                  <a:rPr lang="en-US" dirty="0"/>
                  <a:t>Output function: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F3406A-9CE7-B6C7-51F0-BC6240C24D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E5E66-F2F1-5EBE-2CB5-F1B29CBB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2E1A8E-BF4A-1FF6-B1B6-00E4E151FB09}"/>
              </a:ext>
            </a:extLst>
          </p:cNvPr>
          <p:cNvSpPr/>
          <p:nvPr/>
        </p:nvSpPr>
        <p:spPr>
          <a:xfrm>
            <a:off x="6174180" y="2742863"/>
            <a:ext cx="706554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C4A149-0D56-5A98-D4D8-B3F13A661421}"/>
                  </a:ext>
                </a:extLst>
              </p:cNvPr>
              <p:cNvSpPr txBox="1"/>
              <p:nvPr/>
            </p:nvSpPr>
            <p:spPr>
              <a:xfrm>
                <a:off x="6892490" y="2717287"/>
                <a:ext cx="9566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C4A149-0D56-5A98-D4D8-B3F13A661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490" y="2717287"/>
                <a:ext cx="956609" cy="369332"/>
              </a:xfrm>
              <a:prstGeom prst="rect">
                <a:avLst/>
              </a:prstGeom>
              <a:blipFill>
                <a:blip r:embed="rId3"/>
                <a:stretch>
                  <a:fillRect l="-5732" t="-10000" r="-191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7B0294-A559-F542-4D70-4DD3E8EE4C43}"/>
              </a:ext>
            </a:extLst>
          </p:cNvPr>
          <p:cNvSpPr/>
          <p:nvPr/>
        </p:nvSpPr>
        <p:spPr>
          <a:xfrm>
            <a:off x="7844706" y="2742863"/>
            <a:ext cx="2537733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Update and output functions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FC5047-FFF9-9B75-CD0C-8962E875AA1A}"/>
                  </a:ext>
                </a:extLst>
              </p:cNvPr>
              <p:cNvSpPr txBox="1"/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utput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FC5047-FFF9-9B75-CD0C-8962E875A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blipFill>
                <a:blip r:embed="rId4"/>
                <a:stretch>
                  <a:fillRect l="-364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8DF99-ED6A-1E47-5FBD-5AA7A6B28E9A}"/>
                  </a:ext>
                </a:extLst>
              </p:cNvPr>
              <p:cNvSpPr txBox="1"/>
              <p:nvPr/>
            </p:nvSpPr>
            <p:spPr>
              <a:xfrm>
                <a:off x="8556113" y="1622525"/>
                <a:ext cx="1114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Input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8DF99-ED6A-1E47-5FBD-5AA7A6B28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113" y="1622525"/>
                <a:ext cx="1114918" cy="369332"/>
              </a:xfrm>
              <a:prstGeom prst="rect">
                <a:avLst/>
              </a:prstGeom>
              <a:blipFill>
                <a:blip r:embed="rId5"/>
                <a:stretch>
                  <a:fillRect l="-494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2A7DC9-2474-4F2B-B5F6-770D457BFE0F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9113573" y="2067699"/>
            <a:ext cx="0" cy="675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28343B-40F7-6868-0386-5943221E2280}"/>
              </a:ext>
            </a:extLst>
          </p:cNvPr>
          <p:cNvCxnSpPr>
            <a:cxnSpLocks/>
          </p:cNvCxnSpPr>
          <p:nvPr/>
        </p:nvCxnSpPr>
        <p:spPr>
          <a:xfrm>
            <a:off x="10370776" y="3086619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5249E9-9475-CCCD-A268-C49461BE4566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587438" y="3308805"/>
            <a:ext cx="586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92ECBB-3CBD-7825-5995-801A2D94AB08}"/>
              </a:ext>
            </a:extLst>
          </p:cNvPr>
          <p:cNvCxnSpPr>
            <a:cxnSpLocks/>
          </p:cNvCxnSpPr>
          <p:nvPr/>
        </p:nvCxnSpPr>
        <p:spPr>
          <a:xfrm>
            <a:off x="10382439" y="3576236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AA7E88D-4E73-876A-B140-896DFBC4F94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6880734" y="3308805"/>
            <a:ext cx="963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CEC02BB-F66D-2284-9CC1-D87B7E2F16BF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87438" y="3571585"/>
            <a:ext cx="5643010" cy="1419135"/>
          </a:xfrm>
          <a:prstGeom prst="bentConnector3">
            <a:avLst>
              <a:gd name="adj1" fmla="val -85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3714D26-FE03-048C-8AC3-BE39C25D425B}"/>
              </a:ext>
            </a:extLst>
          </p:cNvPr>
          <p:cNvCxnSpPr>
            <a:cxnSpLocks/>
          </p:cNvCxnSpPr>
          <p:nvPr/>
        </p:nvCxnSpPr>
        <p:spPr>
          <a:xfrm>
            <a:off x="5587438" y="3308805"/>
            <a:ext cx="0" cy="16819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0E86D82-5E16-264F-D693-78F884CE5110}"/>
                  </a:ext>
                </a:extLst>
              </p:cNvPr>
              <p:cNvSpPr txBox="1"/>
              <p:nvPr/>
            </p:nvSpPr>
            <p:spPr>
              <a:xfrm>
                <a:off x="6892490" y="5106353"/>
                <a:ext cx="28815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 err="1"/>
                  <a:t>state_next</a:t>
                </a:r>
                <a:r>
                  <a:rPr lang="en-US" dirty="0"/>
                  <a:t>[k]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0E86D82-5E16-264F-D693-78F884CE5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490" y="5106353"/>
                <a:ext cx="2881558" cy="369332"/>
              </a:xfrm>
              <a:prstGeom prst="rect">
                <a:avLst/>
              </a:prstGeom>
              <a:blipFill>
                <a:blip r:embed="rId6"/>
                <a:stretch>
                  <a:fillRect l="-1907" t="-10000" r="-148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318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2F958-EB51-6387-6352-61344458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77E65-2EBB-8213-F62E-2B6184DD2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an FSM in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83B9F-BA9F-F3E8-A046-488A79653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States are stored in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registers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Basic storage element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  <a:p>
            <a:r>
              <a:rPr lang="en-US" sz="2600" dirty="0">
                <a:solidFill>
                  <a:schemeClr val="tx1"/>
                </a:solidFill>
              </a:rPr>
              <a:t>Update and output functions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Implemented in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No storage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Takes input and current state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Produces next state and output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Must finish within one clock cycle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3B231-2DED-E621-2032-D6A2B56E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0DF525-8E98-6468-ADEE-FC1E3636476E}"/>
              </a:ext>
            </a:extLst>
          </p:cNvPr>
          <p:cNvSpPr/>
          <p:nvPr/>
        </p:nvSpPr>
        <p:spPr>
          <a:xfrm>
            <a:off x="6682742" y="2745363"/>
            <a:ext cx="706554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27DCD4-92FC-3FEA-1870-8104919A1DC0}"/>
                  </a:ext>
                </a:extLst>
              </p:cNvPr>
              <p:cNvSpPr txBox="1"/>
              <p:nvPr/>
            </p:nvSpPr>
            <p:spPr>
              <a:xfrm>
                <a:off x="7401052" y="2719787"/>
                <a:ext cx="9566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27DCD4-92FC-3FEA-1870-8104919A1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052" y="2719787"/>
                <a:ext cx="956609" cy="369332"/>
              </a:xfrm>
              <a:prstGeom prst="rect">
                <a:avLst/>
              </a:prstGeom>
              <a:blipFill>
                <a:blip r:embed="rId2"/>
                <a:stretch>
                  <a:fillRect l="-5096" t="-8197" r="-25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B3BBDE-73B8-4913-9D39-504A90AD2B19}"/>
              </a:ext>
            </a:extLst>
          </p:cNvPr>
          <p:cNvSpPr/>
          <p:nvPr/>
        </p:nvSpPr>
        <p:spPr>
          <a:xfrm>
            <a:off x="8353268" y="2745363"/>
            <a:ext cx="1711971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Update and output functions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A8C59C-D11B-3CDE-677B-2732A70488EE}"/>
                  </a:ext>
                </a:extLst>
              </p:cNvPr>
              <p:cNvSpPr txBox="1"/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utput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A8C59C-D11B-3CDE-677B-2732A7048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blipFill>
                <a:blip r:embed="rId3"/>
                <a:stretch>
                  <a:fillRect l="-364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67BF31-5240-598F-85FE-81D7E47DB63C}"/>
                  </a:ext>
                </a:extLst>
              </p:cNvPr>
              <p:cNvSpPr txBox="1"/>
              <p:nvPr/>
            </p:nvSpPr>
            <p:spPr>
              <a:xfrm>
                <a:off x="8741352" y="1515469"/>
                <a:ext cx="1114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Input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67BF31-5240-598F-85FE-81D7E47DB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1352" y="1515469"/>
                <a:ext cx="1114918" cy="369332"/>
              </a:xfrm>
              <a:prstGeom prst="rect">
                <a:avLst/>
              </a:prstGeom>
              <a:blipFill>
                <a:blip r:embed="rId4"/>
                <a:stretch>
                  <a:fillRect l="-491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902F48-3533-719E-AB49-5D4C23E5C943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9209254" y="1994357"/>
            <a:ext cx="0" cy="751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B5D4EE-7883-BF7D-1C02-676E365BDE58}"/>
              </a:ext>
            </a:extLst>
          </p:cNvPr>
          <p:cNvCxnSpPr>
            <a:cxnSpLocks/>
          </p:cNvCxnSpPr>
          <p:nvPr/>
        </p:nvCxnSpPr>
        <p:spPr>
          <a:xfrm>
            <a:off x="10053576" y="3101591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57B1AE-14E6-9A6D-F9FA-45E1FA3C6F19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096000" y="3311305"/>
            <a:ext cx="586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35727C-E1CD-597D-3F2B-0FA56174B2B1}"/>
              </a:ext>
            </a:extLst>
          </p:cNvPr>
          <p:cNvCxnSpPr>
            <a:cxnSpLocks/>
          </p:cNvCxnSpPr>
          <p:nvPr/>
        </p:nvCxnSpPr>
        <p:spPr>
          <a:xfrm>
            <a:off x="10065239" y="3591208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ED6C49C-4364-0C38-8FE9-2E59BE0A4BB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7389296" y="3311305"/>
            <a:ext cx="963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10BC2BA-8621-24C2-9F74-5A3C00C7DCAC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96001" y="3583484"/>
            <a:ext cx="4809441" cy="1380587"/>
          </a:xfrm>
          <a:prstGeom prst="bentConnector3">
            <a:avLst>
              <a:gd name="adj1" fmla="val -14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60BEDC9-6729-1E88-9BDA-185ED277EF82}"/>
              </a:ext>
            </a:extLst>
          </p:cNvPr>
          <p:cNvCxnSpPr>
            <a:cxnSpLocks/>
          </p:cNvCxnSpPr>
          <p:nvPr/>
        </p:nvCxnSpPr>
        <p:spPr>
          <a:xfrm>
            <a:off x="6096000" y="3311305"/>
            <a:ext cx="0" cy="16819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143FA6A-A287-3898-158F-92E5E1F3DE09}"/>
                  </a:ext>
                </a:extLst>
              </p:cNvPr>
              <p:cNvSpPr txBox="1"/>
              <p:nvPr/>
            </p:nvSpPr>
            <p:spPr>
              <a:xfrm>
                <a:off x="7401052" y="5108853"/>
                <a:ext cx="28815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 err="1"/>
                  <a:t>state_next</a:t>
                </a:r>
                <a:r>
                  <a:rPr lang="en-US" dirty="0"/>
                  <a:t>[k]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143FA6A-A287-3898-158F-92E5E1F3D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052" y="5108853"/>
                <a:ext cx="2881558" cy="369332"/>
              </a:xfrm>
              <a:prstGeom prst="rect">
                <a:avLst/>
              </a:prstGeom>
              <a:blipFill>
                <a:blip r:embed="rId5"/>
                <a:stretch>
                  <a:fillRect l="-1691" t="-8197" r="-148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FB300C7-0ACC-6063-FB81-756CBB36502C}"/>
              </a:ext>
            </a:extLst>
          </p:cNvPr>
          <p:cNvSpPr txBox="1"/>
          <p:nvPr/>
        </p:nvSpPr>
        <p:spPr>
          <a:xfrm>
            <a:off x="6381679" y="1785862"/>
            <a:ext cx="11239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Registers</a:t>
            </a:r>
            <a:br>
              <a:rPr lang="en-US" sz="20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(clocked)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CB4E46-C04D-56BB-A43B-3657D6625A4E}"/>
              </a:ext>
            </a:extLst>
          </p:cNvPr>
          <p:cNvSpPr txBox="1"/>
          <p:nvPr/>
        </p:nvSpPr>
        <p:spPr>
          <a:xfrm>
            <a:off x="7884075" y="3949681"/>
            <a:ext cx="22485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</a:t>
            </a: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(no clock)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84174A-DAD1-C6E4-5372-422431598D46}"/>
              </a:ext>
            </a:extLst>
          </p:cNvPr>
          <p:cNvCxnSpPr/>
          <p:nvPr/>
        </p:nvCxnSpPr>
        <p:spPr>
          <a:xfrm>
            <a:off x="6088308" y="2936154"/>
            <a:ext cx="586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32F3A1B-4EF8-AA8E-A419-FE3D5C19E855}"/>
              </a:ext>
            </a:extLst>
          </p:cNvPr>
          <p:cNvSpPr txBox="1"/>
          <p:nvPr/>
        </p:nvSpPr>
        <p:spPr>
          <a:xfrm>
            <a:off x="5899264" y="2535121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Clock</a:t>
            </a:r>
          </a:p>
        </p:txBody>
      </p:sp>
    </p:spTree>
    <p:extLst>
      <p:ext uri="{BB962C8B-B14F-4D97-AF65-F5344CB8AC3E}">
        <p14:creationId xmlns:p14="http://schemas.microsoft.com/office/powerpoint/2010/main" val="516144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92B1-A97D-53AC-17DF-46A912C17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Physical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B2C3E-B9B7-BDE3-692E-A050AF375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656070" cy="4329817"/>
          </a:xfrm>
        </p:spPr>
        <p:txBody>
          <a:bodyPr/>
          <a:lstStyle/>
          <a:p>
            <a:r>
              <a:rPr lang="en-US" dirty="0"/>
              <a:t>Basic storage element in synchronous logic</a:t>
            </a:r>
          </a:p>
          <a:p>
            <a:r>
              <a:rPr lang="en-US" dirty="0"/>
              <a:t>On each rising edge of </a:t>
            </a:r>
            <a:r>
              <a:rPr lang="en-US" dirty="0" err="1"/>
              <a:t>clk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Assigns </a:t>
            </a:r>
            <a:r>
              <a:rPr lang="en-US" dirty="0" err="1"/>
              <a:t>xreg</a:t>
            </a:r>
            <a:r>
              <a:rPr lang="en-US" dirty="0"/>
              <a:t> to x</a:t>
            </a:r>
          </a:p>
          <a:p>
            <a:r>
              <a:rPr lang="en-US" dirty="0"/>
              <a:t>Value of </a:t>
            </a:r>
            <a:r>
              <a:rPr lang="en-US" dirty="0" err="1"/>
              <a:t>xreg</a:t>
            </a:r>
            <a:r>
              <a:rPr lang="en-US" dirty="0"/>
              <a:t> is maintained even if x changes</a:t>
            </a:r>
          </a:p>
          <a:p>
            <a:r>
              <a:rPr lang="en-US" dirty="0"/>
              <a:t>Example below:  Input is “sampled” at rising edges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A63A6-E642-5955-7C66-AB62FB1F1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A67D62-9841-DC18-7791-401AD3C4B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164" y="642706"/>
            <a:ext cx="3987450" cy="25908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FF2819-6A50-59BC-4ACA-348D5F771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205" y="3877481"/>
            <a:ext cx="8453589" cy="159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2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4F87E-2ABF-333B-C61D-DF6E65F34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DFD28-FCFC-8373-7823-1ECDFD37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Register:  Discrete-Time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DF31E-BCD5-365A-2B4A-2CA8466555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539277"/>
                <a:ext cx="6869619" cy="4329817"/>
              </a:xfrm>
            </p:spPr>
            <p:txBody>
              <a:bodyPr/>
              <a:lstStyle/>
              <a:p>
                <a:r>
                  <a:rPr lang="en-US" dirty="0"/>
                  <a:t>Suppose input has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in clock cycle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Then register output is:</a:t>
                </a:r>
                <a:br>
                  <a:rPr lang="en-US" dirty="0"/>
                </a:br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A simple delay element</a:t>
                </a:r>
              </a:p>
              <a:p>
                <a:r>
                  <a:rPr lang="en-US" dirty="0"/>
                  <a:t>Example: 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=4, 8, 9, 1, 2 </m:t>
                    </m:r>
                  </m:oMath>
                </a14:m>
                <a:r>
                  <a:rPr lang="en-US" dirty="0"/>
                  <a:t> in clock cycles 0 to 4</a:t>
                </a:r>
              </a:p>
              <a:p>
                <a:pPr lvl="1"/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</m:oMath>
                </a14:m>
                <a:r>
                  <a:rPr lang="en-US" dirty="0"/>
                  <a:t> is initialized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in clock cycle 0</a:t>
                </a:r>
              </a:p>
              <a:p>
                <a:pPr lvl="1"/>
                <a:r>
                  <a:rPr lang="en-US" b="0" dirty="0"/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0, 4, 8, 9, 1, 2 in clock cycles 0 to 5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DF31E-BCD5-365A-2B4A-2CA8466555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539277"/>
                <a:ext cx="6869619" cy="4329817"/>
              </a:xfrm>
              <a:blipFill>
                <a:blip r:embed="rId2"/>
                <a:stretch>
                  <a:fillRect l="-2130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81275-5AA5-4FC6-A8FD-0AC211AC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7046B2-46A3-9167-A62F-0B082A3AB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073" y="2175821"/>
            <a:ext cx="3987450" cy="25908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C69E0D8-A0C3-92DB-6981-55F5D161EF9C}"/>
                  </a:ext>
                </a:extLst>
              </p:cNvPr>
              <p:cNvSpPr/>
              <p:nvPr/>
            </p:nvSpPr>
            <p:spPr>
              <a:xfrm>
                <a:off x="3567506" y="2556837"/>
                <a:ext cx="2964643" cy="9144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𝑥𝑟𝑒𝑔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C69E0D8-A0C3-92DB-6981-55F5D161EF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506" y="2556837"/>
                <a:ext cx="2964643" cy="914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149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BB89-A888-5968-C42D-1067C3265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the Counter in System Verilog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5D577-B34E-B2EC-33DC-416FDCA1D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counter is a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The module definition describes: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Inputs and outputs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Must have a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clock</a:t>
            </a:r>
            <a:r>
              <a:rPr lang="en-US" sz="2000" dirty="0">
                <a:solidFill>
                  <a:schemeClr val="tx1"/>
                </a:solidFill>
              </a:rPr>
              <a:t> input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Typically, also a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reset</a:t>
            </a:r>
          </a:p>
          <a:p>
            <a:r>
              <a:rPr lang="en-US" sz="2400" dirty="0">
                <a:solidFill>
                  <a:schemeClr val="tx1"/>
                </a:solidFill>
              </a:rPr>
              <a:t>Does not need the internal state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Unless it happens to be an output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ACC04-D8F7-794E-51DD-04E4B9B7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BE066D-4B83-D7D2-4222-2DC4DEDC7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340" y="1969175"/>
            <a:ext cx="5052185" cy="259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24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0AC7-8075-E644-3962-EA787F20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 Main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D7019-3B31-64D2-296D-122758AEE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786" y="1655632"/>
            <a:ext cx="4402786" cy="123041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block (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always_comb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Takes current state and input</a:t>
            </a:r>
          </a:p>
          <a:p>
            <a:pPr lvl="1"/>
            <a:r>
              <a:rPr lang="en-US" dirty="0"/>
              <a:t>Describes next state and output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CD3F8-BCB5-E405-00BD-BA01EC55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C74475-04D0-6A56-1777-7D4344BF2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23" y="2886047"/>
            <a:ext cx="4032699" cy="26728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7599B0-AFA5-9CCF-ADF6-4A23394BD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549" y="3182331"/>
            <a:ext cx="4606737" cy="2128631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61B90E1-3FCC-62E1-38CD-FC07522D1181}"/>
              </a:ext>
            </a:extLst>
          </p:cNvPr>
          <p:cNvSpPr txBox="1">
            <a:spLocks/>
          </p:cNvSpPr>
          <p:nvPr/>
        </p:nvSpPr>
        <p:spPr>
          <a:xfrm>
            <a:off x="6126480" y="1655632"/>
            <a:ext cx="4402786" cy="123041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always_ff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/>
              <a:t>Registers values for next state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850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18406-350F-7DEC-9EB7-59A834961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8621-F42C-18D7-4484-F7BE502A8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739455" cy="4329817"/>
          </a:xfrm>
        </p:spPr>
        <p:txBody>
          <a:bodyPr/>
          <a:lstStyle/>
          <a:p>
            <a:r>
              <a:rPr lang="en-US" dirty="0"/>
              <a:t>We now have the FSM description</a:t>
            </a:r>
          </a:p>
          <a:p>
            <a:r>
              <a:rPr lang="en-US" dirty="0"/>
              <a:t>Three parts</a:t>
            </a:r>
          </a:p>
          <a:p>
            <a:r>
              <a:rPr lang="en-US" dirty="0"/>
              <a:t>Module declaration</a:t>
            </a:r>
          </a:p>
          <a:p>
            <a:pPr lvl="1"/>
            <a:r>
              <a:rPr lang="en-US" dirty="0"/>
              <a:t>Inputs, outputs</a:t>
            </a:r>
          </a:p>
          <a:p>
            <a:r>
              <a:rPr lang="en-US" dirty="0" err="1"/>
              <a:t>Always_comb</a:t>
            </a:r>
            <a:r>
              <a:rPr lang="en-US" dirty="0"/>
              <a:t> block</a:t>
            </a:r>
          </a:p>
          <a:p>
            <a:pPr lvl="1"/>
            <a:r>
              <a:rPr lang="en-US" dirty="0"/>
              <a:t>Describes next state</a:t>
            </a:r>
          </a:p>
          <a:p>
            <a:r>
              <a:rPr lang="en-US" dirty="0" err="1"/>
              <a:t>Always_ff</a:t>
            </a:r>
            <a:r>
              <a:rPr lang="en-US" dirty="0"/>
              <a:t> block</a:t>
            </a:r>
          </a:p>
          <a:p>
            <a:pPr lvl="1"/>
            <a:r>
              <a:rPr lang="en-US" dirty="0"/>
              <a:t>Updates state from </a:t>
            </a:r>
            <a:r>
              <a:rPr lang="en-US" dirty="0" err="1"/>
              <a:t>next_state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DE08C-8708-6F58-F8E9-0B8520DAB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247754-D078-7FAA-C019-9C781DBFF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808" y="462895"/>
            <a:ext cx="3659304" cy="549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811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51E13-6B4D-B0A8-4647-46D15C8C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CD185-9765-976F-DCEE-F62C22531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vs. Non-Blocking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5BA04-1DA6-C725-C279-A5312EA34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914F5A-34CB-016A-CE71-AFDFF825F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877678" cy="4329817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Blocking assignment</a:t>
            </a:r>
          </a:p>
          <a:p>
            <a:pPr lvl="1"/>
            <a:r>
              <a:rPr lang="en-US" dirty="0"/>
              <a:t>Use = in SV</a:t>
            </a:r>
          </a:p>
          <a:p>
            <a:pPr lvl="1"/>
            <a:r>
              <a:rPr lang="en-US" dirty="0"/>
              <a:t>Performed sequentially</a:t>
            </a:r>
          </a:p>
          <a:p>
            <a:pPr lvl="1"/>
            <a:r>
              <a:rPr lang="en-US" dirty="0"/>
              <a:t>Assigns temporary (i.e., non-state variables)</a:t>
            </a:r>
          </a:p>
          <a:p>
            <a:pPr lvl="1"/>
            <a:r>
              <a:rPr lang="en-US" dirty="0"/>
              <a:t>Used in </a:t>
            </a:r>
            <a:r>
              <a:rPr lang="en-US" dirty="0" err="1"/>
              <a:t>always_comb</a:t>
            </a:r>
            <a:r>
              <a:rPr lang="en-US" dirty="0"/>
              <a:t> or </a:t>
            </a:r>
            <a:r>
              <a:rPr lang="en-US" dirty="0" err="1"/>
              <a:t>always_ff</a:t>
            </a:r>
            <a:r>
              <a:rPr lang="en-US" dirty="0"/>
              <a:t> block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Non-blocking assignment</a:t>
            </a:r>
          </a:p>
          <a:p>
            <a:pPr lvl="1"/>
            <a:r>
              <a:rPr lang="en-US" dirty="0"/>
              <a:t>Use &lt;= in SV</a:t>
            </a:r>
          </a:p>
          <a:p>
            <a:pPr lvl="1"/>
            <a:r>
              <a:rPr lang="en-US" dirty="0"/>
              <a:t>Assigns registers / states</a:t>
            </a:r>
          </a:p>
          <a:p>
            <a:pPr lvl="1"/>
            <a:r>
              <a:rPr lang="en-US" dirty="0"/>
              <a:t>Only in </a:t>
            </a:r>
            <a:r>
              <a:rPr lang="en-US" dirty="0" err="1"/>
              <a:t>always_ff</a:t>
            </a:r>
            <a:r>
              <a:rPr lang="en-US" dirty="0"/>
              <a:t> block</a:t>
            </a:r>
          </a:p>
          <a:p>
            <a:pPr lvl="1"/>
            <a:r>
              <a:rPr lang="en-US" dirty="0"/>
              <a:t>Always update in parallel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D0572-E97C-C3D7-870B-A8D581923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792" y="1036315"/>
            <a:ext cx="4032699" cy="2672836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AE97DDEF-9EC2-F980-B8F4-FB64F7C224B5}"/>
              </a:ext>
            </a:extLst>
          </p:cNvPr>
          <p:cNvSpPr/>
          <p:nvPr/>
        </p:nvSpPr>
        <p:spPr>
          <a:xfrm>
            <a:off x="7667625" y="1614488"/>
            <a:ext cx="485775" cy="1895475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B038DA-03E2-ED63-A568-CEB79A0B5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500" y="4204461"/>
            <a:ext cx="3499961" cy="1617224"/>
          </a:xfrm>
          <a:prstGeom prst="rect">
            <a:avLst/>
          </a:prstGeom>
        </p:spPr>
      </p:pic>
      <p:sp>
        <p:nvSpPr>
          <p:cNvPr id="15" name="Left Brace 14">
            <a:extLst>
              <a:ext uri="{FF2B5EF4-FFF2-40B4-BE49-F238E27FC236}">
                <a16:creationId xmlns:a16="http://schemas.microsoft.com/office/drawing/2014/main" id="{B456BFDD-131B-FB40-CB0C-A8D877B822DF}"/>
              </a:ext>
            </a:extLst>
          </p:cNvPr>
          <p:cNvSpPr/>
          <p:nvPr/>
        </p:nvSpPr>
        <p:spPr>
          <a:xfrm>
            <a:off x="7256341" y="4132482"/>
            <a:ext cx="485775" cy="1689203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68A0A2-F74A-CFB2-5724-67E5E770DBAA}"/>
              </a:ext>
            </a:extLst>
          </p:cNvPr>
          <p:cNvCxnSpPr/>
          <p:nvPr/>
        </p:nvCxnSpPr>
        <p:spPr>
          <a:xfrm>
            <a:off x="5946126" y="2520915"/>
            <a:ext cx="14094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E6890D-3556-D2F6-7428-13B792D8C435}"/>
              </a:ext>
            </a:extLst>
          </p:cNvPr>
          <p:cNvCxnSpPr>
            <a:cxnSpLocks/>
          </p:cNvCxnSpPr>
          <p:nvPr/>
        </p:nvCxnSpPr>
        <p:spPr>
          <a:xfrm>
            <a:off x="5117609" y="4036495"/>
            <a:ext cx="1909631" cy="904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356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B622-8459-73A6-D7D3-898654E6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964E3-DF48-E4ED-5889-F58D3712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4FDC83-7A6C-5FF1-68FA-49EFD463C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51" y="1731803"/>
            <a:ext cx="8324579" cy="342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57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20DF-683B-5312-3E4C-A86C7CA57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Answer on LLM Auto-Grader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DF6F6-7AD7-EAF8-3394-3741A1BD1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11" y="1502063"/>
            <a:ext cx="10058400" cy="4329817"/>
          </a:xfrm>
        </p:spPr>
        <p:txBody>
          <a:bodyPr/>
          <a:lstStyle/>
          <a:p>
            <a:r>
              <a:rPr lang="en-US" dirty="0"/>
              <a:t>Use AI to get instant feedback</a:t>
            </a:r>
          </a:p>
          <a:p>
            <a:r>
              <a:rPr lang="en-US" dirty="0"/>
              <a:t>Enter your answer</a:t>
            </a:r>
          </a:p>
          <a:p>
            <a:r>
              <a:rPr lang="en-US" dirty="0"/>
              <a:t>Hit Grade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44B47-9A22-2A03-C4D1-03FACD43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3A41AE-CC15-59EF-575D-545EB09AD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57" y="3184450"/>
            <a:ext cx="4265444" cy="234211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86A875E-B928-22E7-2C87-066449E3BDEC}"/>
              </a:ext>
            </a:extLst>
          </p:cNvPr>
          <p:cNvSpPr/>
          <p:nvPr/>
        </p:nvSpPr>
        <p:spPr>
          <a:xfrm>
            <a:off x="557223" y="5023769"/>
            <a:ext cx="770972" cy="67804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44AE96-40E3-7A2D-A299-64EB92A4DD58}"/>
              </a:ext>
            </a:extLst>
          </p:cNvPr>
          <p:cNvCxnSpPr/>
          <p:nvPr/>
        </p:nvCxnSpPr>
        <p:spPr>
          <a:xfrm flipH="1">
            <a:off x="959867" y="2808875"/>
            <a:ext cx="560765" cy="217233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7DCED94-7B34-EF93-A133-33FE1ADC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732342"/>
            <a:ext cx="4847265" cy="396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463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02AD9-58EC-D633-ABD0-BE2F006CC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 FSM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B504ED-01D3-BA13-5AFC-2F2561AADC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Write the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FSM model </a:t>
                </a:r>
              </a:p>
              <a:p>
                <a:r>
                  <a:rPr lang="en-US" dirty="0"/>
                  <a:t>Remember:  Updates in </a:t>
                </a:r>
                <a:r>
                  <a:rPr lang="en-US" dirty="0" err="1"/>
                  <a:t>always_ff</a:t>
                </a:r>
                <a:r>
                  <a:rPr lang="en-US" dirty="0"/>
                  <a:t> are in parallel</a:t>
                </a:r>
              </a:p>
              <a:p>
                <a:pPr lvl="1"/>
                <a:r>
                  <a:rPr lang="en-US" dirty="0"/>
                  <a:t>Test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&gt;30</m:t>
                    </m:r>
                  </m:oMath>
                </a14:m>
                <a:r>
                  <a:rPr lang="en-US" dirty="0"/>
                  <a:t> is based on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current</a:t>
                </a:r>
                <a:r>
                  <a:rPr lang="en-US" dirty="0"/>
                  <a:t> cycle value, not next cycle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B504ED-01D3-BA13-5AFC-2F2561AADC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CD4CF-9B5E-8820-4108-99BF00C1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09356B-0E7C-1022-C774-0F232DA28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562" y="4184882"/>
            <a:ext cx="3379886" cy="17934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504933-7BB1-5EB5-E095-C9E618B18A3D}"/>
                  </a:ext>
                </a:extLst>
              </p:cNvPr>
              <p:cNvSpPr txBox="1"/>
              <p:nvPr/>
            </p:nvSpPr>
            <p:spPr>
              <a:xfrm>
                <a:off x="6910388" y="3892367"/>
                <a:ext cx="2496068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Equivalent FSM model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b="0" dirty="0"/>
                  <a:t> </a:t>
                </a:r>
                <a:br>
                  <a:rPr lang="en-US" b="0" dirty="0"/>
                </a:br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&gt;30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=−10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 if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&lt;0)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504933-7BB1-5EB5-E095-C9E618B18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388" y="3892367"/>
                <a:ext cx="2496068" cy="2031325"/>
              </a:xfrm>
              <a:prstGeom prst="rect">
                <a:avLst/>
              </a:prstGeom>
              <a:blipFill>
                <a:blip r:embed="rId4"/>
                <a:stretch>
                  <a:fillRect l="-2200" t="-1802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88271BA4-DF4C-FD64-ED15-D6D172A74570}"/>
              </a:ext>
            </a:extLst>
          </p:cNvPr>
          <p:cNvSpPr/>
          <p:nvPr/>
        </p:nvSpPr>
        <p:spPr>
          <a:xfrm>
            <a:off x="5329238" y="4596954"/>
            <a:ext cx="978408" cy="484632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9D864E0-1DAB-9A2D-586D-14499B49E3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1072411"/>
                  </p:ext>
                </p:extLst>
              </p:nvPr>
            </p:nvGraphicFramePr>
            <p:xfrm>
              <a:off x="8559098" y="604870"/>
              <a:ext cx="2317716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572">
                      <a:extLst>
                        <a:ext uri="{9D8B030D-6E8A-4147-A177-3AD203B41FA5}">
                          <a16:colId xmlns:a16="http://schemas.microsoft.com/office/drawing/2014/main" val="4033626410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2216830592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34519865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2603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04186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58791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4674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9551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8043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12579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9D864E0-1DAB-9A2D-586D-14499B49E3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1072411"/>
                  </p:ext>
                </p:extLst>
              </p:nvPr>
            </p:nvGraphicFramePr>
            <p:xfrm>
              <a:off x="8559098" y="604870"/>
              <a:ext cx="2317716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572">
                      <a:extLst>
                        <a:ext uri="{9D8B030D-6E8A-4147-A177-3AD203B41FA5}">
                          <a16:colId xmlns:a16="http://schemas.microsoft.com/office/drawing/2014/main" val="4033626410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2216830592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34519865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87" t="-1639" r="-20315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787" t="-1639" r="-10315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787" t="-1639" r="-3150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2603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04186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58791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4674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9551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8043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12579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50578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61FD-254F-52A6-5103-88ACC3011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FABA9-9761-1AD5-5D51-300ABA681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0F2776-6213-DBF6-3EA4-11E59F7E3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0616" y="1539277"/>
            <a:ext cx="4935064" cy="4329817"/>
          </a:xfrm>
        </p:spPr>
        <p:txBody>
          <a:bodyPr/>
          <a:lstStyle/>
          <a:p>
            <a:r>
              <a:rPr lang="en-US" dirty="0"/>
              <a:t>Try answering on the auto-grader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EC1AC6-EEDD-18FE-A063-E080B2207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26" y="2237510"/>
            <a:ext cx="11538164" cy="308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303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2A81F-E9C8-6053-9BC2-65EC92162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DB6D3-E70D-DF07-D628-02E968B34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AA9BC-5A0A-751B-D833-28754DD7B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Registers, Clocks and Sequential Logic and Finite State Machines</a:t>
            </a:r>
          </a:p>
          <a:p>
            <a:r>
              <a:rPr lang="en-US" sz="2400" dirty="0"/>
              <a:t>Splitting Long Computations</a:t>
            </a:r>
          </a:p>
          <a:p>
            <a:r>
              <a:rPr lang="en-US" sz="2400" dirty="0"/>
              <a:t>Simulating and Synthesizing Simple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99B22-6941-9D9C-3162-D7615AA7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CB07333-C961-76EB-B1A9-9E9FA86BC2A7}"/>
              </a:ext>
            </a:extLst>
          </p:cNvPr>
          <p:cNvSpPr/>
          <p:nvPr/>
        </p:nvSpPr>
        <p:spPr>
          <a:xfrm>
            <a:off x="377126" y="1989009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95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28E3-4921-0C56-A533-398EF8A0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A303-E155-1E49-68C6-DD2D2C817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Version of </a:t>
            </a:r>
            <a:r>
              <a:rPr lang="en-US" dirty="0" err="1"/>
              <a:t>ReLU</a:t>
            </a:r>
            <a:r>
              <a:rPr lang="en-US" dirty="0"/>
              <a:t> +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A4104D-32BF-8ACD-F4E9-F9B6C7725B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5871" y="1770028"/>
                <a:ext cx="5859780" cy="3702156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Recall early  combinational example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0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A potential synchronous version could work as follows</a:t>
                </a:r>
              </a:p>
              <a:p>
                <a:r>
                  <a:rPr lang="en-US" dirty="0"/>
                  <a:t>On each clock cycle:</a:t>
                </a:r>
              </a:p>
              <a:p>
                <a:pPr lvl="1"/>
                <a:r>
                  <a:rPr lang="en-US" dirty="0"/>
                  <a:t>Register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a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combinationally</a:t>
                </a:r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Why?</a:t>
                </a:r>
              </a:p>
              <a:p>
                <a:pPr lvl="1"/>
                <a:r>
                  <a:rPr lang="en-US" dirty="0"/>
                  <a:t>Output computation has a full clock cycle </a:t>
                </a:r>
              </a:p>
              <a:p>
                <a:pPr lvl="1"/>
                <a:r>
                  <a:rPr lang="en-US" dirty="0"/>
                  <a:t>Output is in a known state by the end of each clock cycle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A4104D-32BF-8ACD-F4E9-F9B6C7725B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5871" y="1770028"/>
                <a:ext cx="5859780" cy="3702156"/>
              </a:xfrm>
              <a:blipFill>
                <a:blip r:embed="rId2"/>
                <a:stretch>
                  <a:fillRect l="-2497" t="-1645" r="-1665" b="-1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ABB2A-F886-FABB-1956-DBB03482C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B13B11-05C0-308B-633A-E9B09FFDF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072" y="3290056"/>
            <a:ext cx="5416919" cy="166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74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328A9B-5945-1698-33C1-CDB4B9C5C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714" y="2231841"/>
            <a:ext cx="4467849" cy="25054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BC700F-8425-AC74-ED49-156CC12A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44BE5-EE9C-4628-886D-D4D5F2635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482" y="1724561"/>
            <a:ext cx="4795805" cy="4004332"/>
          </a:xfrm>
        </p:spPr>
        <p:txBody>
          <a:bodyPr/>
          <a:lstStyle/>
          <a:p>
            <a:r>
              <a:rPr lang="en-US" sz="2400" dirty="0"/>
              <a:t>Making module synchronous is easy</a:t>
            </a:r>
          </a:p>
          <a:p>
            <a:r>
              <a:rPr lang="en-US" sz="2400" dirty="0"/>
              <a:t>First add two inputs to ports</a:t>
            </a:r>
          </a:p>
          <a:p>
            <a:pPr lvl="1"/>
            <a:r>
              <a:rPr lang="en-US" sz="2000" dirty="0">
                <a:solidFill>
                  <a:srgbClr val="00B050"/>
                </a:solidFill>
              </a:rPr>
              <a:t>Clock signal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Reset</a:t>
            </a:r>
          </a:p>
          <a:p>
            <a:pPr marL="201168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190D6-424F-828D-4896-0CF21198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F6D6C2-1F24-DA7D-CA88-CFE36C37DDA4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9663587" y="2630878"/>
            <a:ext cx="1030725" cy="14252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A8007E4-4D36-BCA1-3B22-50B8E566D052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9887068" y="3110702"/>
            <a:ext cx="807244" cy="5357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680E97-C491-5A57-BB00-7BF8B22CDD70}"/>
              </a:ext>
            </a:extLst>
          </p:cNvPr>
          <p:cNvSpPr txBox="1"/>
          <p:nvPr/>
        </p:nvSpPr>
        <p:spPr>
          <a:xfrm>
            <a:off x="10694312" y="2400045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Clock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8BFEFE-EAC6-C656-B88C-F6ECBB697A03}"/>
              </a:ext>
            </a:extLst>
          </p:cNvPr>
          <p:cNvSpPr txBox="1"/>
          <p:nvPr/>
        </p:nvSpPr>
        <p:spPr>
          <a:xfrm>
            <a:off x="10694312" y="2933445"/>
            <a:ext cx="87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Reset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483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D53F-5A03-BB22-E08C-2B6B8D53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Verilog Main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5EA93-333A-848E-930F-1BAD55552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Synchronous logic has two parts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</a:p>
          <a:p>
            <a:pPr lvl="1"/>
            <a:r>
              <a:rPr lang="en-US" dirty="0"/>
              <a:t>Assigns register outputs</a:t>
            </a:r>
          </a:p>
          <a:p>
            <a:pPr lvl="1"/>
            <a:r>
              <a:rPr lang="en-US" dirty="0"/>
              <a:t>All operations are in parallel (non-blocking)</a:t>
            </a:r>
          </a:p>
          <a:p>
            <a:pPr lvl="1"/>
            <a:r>
              <a:rPr lang="en-US" dirty="0"/>
              <a:t>Our example:  Saves inputs to registers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lvl="1"/>
            <a:r>
              <a:rPr lang="en-US" dirty="0"/>
              <a:t>Assigns signals via combinational logic</a:t>
            </a:r>
          </a:p>
          <a:p>
            <a:pPr lvl="1"/>
            <a:r>
              <a:rPr lang="en-US" dirty="0"/>
              <a:t>Operations are sequential (blocking)</a:t>
            </a:r>
          </a:p>
          <a:p>
            <a:pPr lvl="1"/>
            <a:r>
              <a:rPr lang="en-US" dirty="0"/>
              <a:t>Our example:  Computes output from registered inputs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B4C9F-CEAE-BE7C-7287-337AF935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B9EEFB-C2EC-92D3-9C08-06444C9C9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126" y="1539277"/>
            <a:ext cx="3898703" cy="439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61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0390-4115-440C-DC17-54227B35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B5D85-6A2A-4111-C9C4-6F3B3F537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10058399" cy="4329817"/>
          </a:xfrm>
        </p:spPr>
        <p:txBody>
          <a:bodyPr/>
          <a:lstStyle/>
          <a:p>
            <a:r>
              <a:rPr lang="en-US" dirty="0"/>
              <a:t>Inputs are registered</a:t>
            </a:r>
          </a:p>
          <a:p>
            <a:r>
              <a:rPr lang="en-US" dirty="0"/>
              <a:t>Output is combinational from 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DEC50-644A-8FE6-6FA0-BAD586B87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F40314-A49F-93B1-1EB5-F2D2D90D3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65" y="2967991"/>
            <a:ext cx="10390228" cy="263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525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3FD85-1EED-7486-5268-0D614F41F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CB295-1F25-DDDA-BA1A-0470E6B56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 Description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C2539-4F47-08A6-8B2B-6D29A30ACC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561937" cy="4329817"/>
              </a:xfrm>
            </p:spPr>
            <p:txBody>
              <a:bodyPr/>
              <a:lstStyle/>
              <a:p>
                <a:r>
                  <a:rPr lang="en-US" dirty="0"/>
                  <a:t>States: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Combinational statements: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𝑚𝑢𝑙𝑡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𝑎𝑑𝑑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{0, 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State updates: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Putting it together: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⁡{0,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Desired output with one cycle delay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C2539-4F47-08A6-8B2B-6D29A30ACC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561937" cy="4329817"/>
              </a:xfrm>
              <a:blipFill>
                <a:blip r:embed="rId2"/>
                <a:stretch>
                  <a:fillRect l="-2632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7ACC7-A60A-FC3E-42A2-1944B210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2E174-6875-6B11-AEE9-1D4C403CF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126" y="1539277"/>
            <a:ext cx="3898703" cy="439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659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87B7621-A59E-9A00-279D-23D4462AF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44" y="2557400"/>
            <a:ext cx="6431592" cy="3311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B94A4A-7EC3-F1D5-CCD1-F3A2252BE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Complex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a quadratic function: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For simplicity,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fixed parameters</a:t>
                </a:r>
              </a:p>
              <a:p>
                <a:r>
                  <a:rPr lang="en-US" dirty="0"/>
                  <a:t>Single cycle implementation to the right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83774-5CDF-B36B-08BA-D3D91EDB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EDCF24-DFBA-3C20-2850-3888BD5ED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863" y="861947"/>
            <a:ext cx="4002404" cy="481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35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2E0C-94CD-31C0-996B-ECDE6314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2179-5EFE-D1D2-7E18-CC97CDD9C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Problems with Single Cycle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BFEB19-4F89-47EB-1375-FDF74A0755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5200" y="1905000"/>
                <a:ext cx="6115050" cy="3964094"/>
              </a:xfrm>
            </p:spPr>
            <p:txBody>
              <a:bodyPr/>
              <a:lstStyle/>
              <a:p>
                <a:r>
                  <a:rPr lang="en-US" dirty="0"/>
                  <a:t>Problem:   Each clock cycle has a “lot” to do</a:t>
                </a:r>
              </a:p>
              <a:p>
                <a:r>
                  <a:rPr lang="en-US" dirty="0"/>
                  <a:t>Longest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has:</a:t>
                </a:r>
              </a:p>
              <a:p>
                <a:pPr lvl="1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</m:oMath>
                </a14:m>
                <a:r>
                  <a:rPr lang="en-US" dirty="0"/>
                  <a:t> :  One multiply</a:t>
                </a:r>
              </a:p>
              <a:p>
                <a:pPr lvl="1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:  One multiply</a:t>
                </a:r>
              </a:p>
              <a:p>
                <a:pPr lvl="1"/>
                <a:r>
                  <a:rPr lang="en-US" dirty="0"/>
                  <a:t>Add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:  One addition</a:t>
                </a:r>
              </a:p>
              <a:p>
                <a:pPr lvl="1"/>
                <a:r>
                  <a:rPr lang="en-US" dirty="0"/>
                  <a:t>We will discuss finding longest paths in detail later</a:t>
                </a:r>
              </a:p>
              <a:p>
                <a:r>
                  <a:rPr lang="en-US" dirty="0"/>
                  <a:t>In general, two multiplications in one clock cycle is hard</a:t>
                </a:r>
              </a:p>
              <a:p>
                <a:r>
                  <a:rPr lang="en-US" dirty="0"/>
                  <a:t>Typically, we limit to one multiplication</a:t>
                </a:r>
              </a:p>
              <a:p>
                <a:pPr lvl="1"/>
                <a:r>
                  <a:rPr lang="en-US" dirty="0"/>
                  <a:t>More on this later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BFEB19-4F89-47EB-1375-FDF74A075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5200" y="1905000"/>
                <a:ext cx="6115050" cy="3964094"/>
              </a:xfrm>
              <a:blipFill>
                <a:blip r:embed="rId2"/>
                <a:stretch>
                  <a:fillRect l="-2393" t="-1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76020-97C5-A727-CEEC-B3FEDA06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1F946F-A98C-4B2E-46E8-86FE95D5F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277" y="1434204"/>
            <a:ext cx="4527673" cy="2331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4DDB72-7D9C-3F48-9EF4-D7F681D976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189"/>
          <a:stretch>
            <a:fillRect/>
          </a:stretch>
        </p:blipFill>
        <p:spPr>
          <a:xfrm>
            <a:off x="7662863" y="3999939"/>
            <a:ext cx="4002404" cy="167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18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B4F9-E779-590A-C8ED-63B7616F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Two Cycle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50DFC-FB98-979E-4E4F-99F0FBA1C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reduce the computation per cycle by breaking operation in two cycles</a:t>
            </a:r>
          </a:p>
          <a:p>
            <a:r>
              <a:rPr lang="en-US" dirty="0"/>
              <a:t>Register two intermediate terms: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lin_term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w1*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w0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5234D-CAB4-024E-EF1D-840B21D1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9E648D-5421-41D3-24F2-423FFF95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27" y="2604069"/>
            <a:ext cx="4385213" cy="27146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2F5FBB-9813-2E90-5E91-D9D54F972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56" y="3086100"/>
            <a:ext cx="5635271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345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04D9-0AA9-72AC-7B0B-1898F88BE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83163C-04E7-33B9-5E31-18B0EF560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634177" cy="4329817"/>
              </a:xfrm>
            </p:spPr>
            <p:txBody>
              <a:bodyPr/>
              <a:lstStyle/>
              <a:p>
                <a:r>
                  <a:rPr lang="en-US" dirty="0"/>
                  <a:t>Registers: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Updates: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Substituting in values: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 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 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So, output matches desired equation</a:t>
                </a:r>
              </a:p>
              <a:p>
                <a:pPr lvl="1"/>
                <a:r>
                  <a:rPr lang="en-US" dirty="0"/>
                  <a:t>But at a two cycle delay</a:t>
                </a:r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83163C-04E7-33B9-5E31-18B0EF560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634177" cy="4329817"/>
              </a:xfrm>
              <a:blipFill>
                <a:blip r:embed="rId2"/>
                <a:stretch>
                  <a:fillRect l="-220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7E6F9-19F4-0A4A-4FA3-26E074FEB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73DEB-F43F-A3A7-9662-5C8345891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022" y="1539277"/>
            <a:ext cx="4385213" cy="271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187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2BD6C9-D65C-B3B8-29B4-7ECB967F8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91" y="1326814"/>
            <a:ext cx="11765017" cy="20481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D678C2-8EFF-C96D-0111-2BB88A3FA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Problem	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189ED-B070-D4E9-FFA0-F7CE56057B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0855" y="3540643"/>
                <a:ext cx="8564527" cy="2153093"/>
              </a:xfrm>
            </p:spPr>
            <p:txBody>
              <a:bodyPr/>
              <a:lstStyle/>
              <a:p>
                <a:r>
                  <a:rPr lang="en-US" dirty="0"/>
                  <a:t>Hint:</a:t>
                </a:r>
              </a:p>
              <a:p>
                <a:pPr lvl="1"/>
                <a:r>
                  <a:rPr lang="en-US" dirty="0"/>
                  <a:t>Write the computation graph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 registers at input and intermediate variables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189ED-B070-D4E9-FFA0-F7CE56057B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0855" y="3540643"/>
                <a:ext cx="8564527" cy="2153093"/>
              </a:xfrm>
              <a:blipFill>
                <a:blip r:embed="rId3"/>
                <a:stretch>
                  <a:fillRect l="-1708" t="-3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C1122-680D-A4F3-469D-5547090F8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18CF7F-A002-6BCB-5A55-E0C639178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042" y="2937164"/>
            <a:ext cx="5161608" cy="298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75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95AED-16DF-9525-008F-EAF542940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E6939-3B41-A11F-61B4-F9E1D73D0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B8796-A866-26AA-6C8B-83103A190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Registers, Clocks and Sequential Logic and Finite State Machines</a:t>
            </a:r>
          </a:p>
          <a:p>
            <a:r>
              <a:rPr lang="en-US" sz="2400" dirty="0"/>
              <a:t>Splitting Long Computations</a:t>
            </a:r>
          </a:p>
          <a:p>
            <a:r>
              <a:rPr lang="en-US" sz="2400" dirty="0"/>
              <a:t>Simulating and Synthesizing Simple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338A0-2560-27EF-C79C-8A24F72A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6C6E6F7-FCD4-4006-DD3F-E0033126760F}"/>
              </a:ext>
            </a:extLst>
          </p:cNvPr>
          <p:cNvSpPr/>
          <p:nvPr/>
        </p:nvSpPr>
        <p:spPr>
          <a:xfrm>
            <a:off x="410464" y="2493834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266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953F2-D206-B1F2-D919-8C2079142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B100-E1E6-FAC4-C1F0-44FCF7827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Hardware Roadmap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264F9-E6AE-9E97-11BD-FA2A3299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E97DC3-64A2-A6FB-92C8-CC34F2207C1F}"/>
              </a:ext>
            </a:extLst>
          </p:cNvPr>
          <p:cNvSpPr/>
          <p:nvPr/>
        </p:nvSpPr>
        <p:spPr>
          <a:xfrm>
            <a:off x="978360" y="1787857"/>
            <a:ext cx="1619589" cy="7418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FCC16A-4098-FB3D-8803-021DD2C14602}"/>
              </a:ext>
            </a:extLst>
          </p:cNvPr>
          <p:cNvSpPr/>
          <p:nvPr/>
        </p:nvSpPr>
        <p:spPr>
          <a:xfrm>
            <a:off x="978361" y="2711459"/>
            <a:ext cx="1619588" cy="8372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Functional simulation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6328E4-0381-476E-16AE-3E538864987C}"/>
              </a:ext>
            </a:extLst>
          </p:cNvPr>
          <p:cNvSpPr/>
          <p:nvPr/>
        </p:nvSpPr>
        <p:spPr>
          <a:xfrm>
            <a:off x="978361" y="3730439"/>
            <a:ext cx="1619588" cy="83727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Synthesis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9B63CF-0228-D0F7-4DB6-0F7B8D83457F}"/>
              </a:ext>
            </a:extLst>
          </p:cNvPr>
          <p:cNvSpPr/>
          <p:nvPr/>
        </p:nvSpPr>
        <p:spPr>
          <a:xfrm>
            <a:off x="978361" y="4749419"/>
            <a:ext cx="1619588" cy="837271"/>
          </a:xfrm>
          <a:prstGeom prst="roundRect">
            <a:avLst/>
          </a:prstGeom>
          <a:solidFill>
            <a:srgbClr val="F7F9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Next steps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DF47FD9-2680-8F5A-76BF-889A3D3A1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0125" y="1655632"/>
            <a:ext cx="6036476" cy="432981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Design</a:t>
            </a:r>
            <a:r>
              <a:rPr lang="en-US" dirty="0"/>
              <a:t>:</a:t>
            </a:r>
          </a:p>
          <a:p>
            <a:pPr lvl="1"/>
            <a:r>
              <a:rPr lang="en-US" sz="2000" dirty="0"/>
              <a:t>Write a behavioral description (e.g., in SV)</a:t>
            </a:r>
          </a:p>
          <a:p>
            <a:pPr lvl="1"/>
            <a:r>
              <a:rPr lang="en-US" sz="2000" dirty="0"/>
              <a:t>What should the module should do exactly?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Functional simulation</a:t>
            </a:r>
          </a:p>
          <a:p>
            <a:pPr lvl="1"/>
            <a:r>
              <a:rPr lang="en-US" sz="2000" dirty="0"/>
              <a:t>Validate module does what it is supposed to do?</a:t>
            </a:r>
          </a:p>
          <a:p>
            <a:pPr lvl="1"/>
            <a:r>
              <a:rPr lang="en-US" sz="2000" dirty="0"/>
              <a:t>Logical mapping from inputs to outputs</a:t>
            </a:r>
          </a:p>
          <a:p>
            <a:r>
              <a:rPr lang="en-US" dirty="0">
                <a:solidFill>
                  <a:srgbClr val="0070C0"/>
                </a:solidFill>
              </a:rPr>
              <a:t>Synthesis</a:t>
            </a:r>
          </a:p>
          <a:p>
            <a:pPr lvl="1"/>
            <a:r>
              <a:rPr lang="en-US" sz="2000" dirty="0"/>
              <a:t>Map the description into real hardware </a:t>
            </a:r>
          </a:p>
          <a:p>
            <a:pPr lvl="1"/>
            <a:r>
              <a:rPr lang="en-US" sz="2000" dirty="0"/>
              <a:t>Gates, FPGA components, …</a:t>
            </a:r>
          </a:p>
          <a:p>
            <a:r>
              <a:rPr lang="en-US" sz="2200" dirty="0">
                <a:solidFill>
                  <a:srgbClr val="0070C0"/>
                </a:solidFill>
              </a:rPr>
              <a:t>Next steps</a:t>
            </a:r>
          </a:p>
          <a:p>
            <a:pPr lvl="1"/>
            <a:r>
              <a:rPr lang="en-US" sz="2000" dirty="0"/>
              <a:t>Place route, timing analysis, bitstreams, …</a:t>
            </a:r>
          </a:p>
          <a:p>
            <a:pPr lvl="1"/>
            <a:endParaRPr lang="en-US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6871D861-4435-923B-3B0F-F1A44788CFBE}"/>
              </a:ext>
            </a:extLst>
          </p:cNvPr>
          <p:cNvSpPr/>
          <p:nvPr/>
        </p:nvSpPr>
        <p:spPr>
          <a:xfrm>
            <a:off x="304800" y="2412999"/>
            <a:ext cx="484632" cy="2336419"/>
          </a:xfrm>
          <a:prstGeom prst="down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6DF126CF-261C-CC58-02DB-80A6D6B6E8D0}"/>
              </a:ext>
            </a:extLst>
          </p:cNvPr>
          <p:cNvSpPr/>
          <p:nvPr/>
        </p:nvSpPr>
        <p:spPr>
          <a:xfrm>
            <a:off x="9009381" y="1821824"/>
            <a:ext cx="528319" cy="20146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8DEFD2CC-FB78-9617-3757-082B29EDC83B}"/>
              </a:ext>
            </a:extLst>
          </p:cNvPr>
          <p:cNvSpPr/>
          <p:nvPr/>
        </p:nvSpPr>
        <p:spPr>
          <a:xfrm>
            <a:off x="9009381" y="4002695"/>
            <a:ext cx="528319" cy="1881269"/>
          </a:xfrm>
          <a:prstGeom prst="rightBrac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D35BD1-2B17-4759-4D23-6D1363C05567}"/>
              </a:ext>
            </a:extLst>
          </p:cNvPr>
          <p:cNvSpPr txBox="1"/>
          <p:nvPr/>
        </p:nvSpPr>
        <p:spPr>
          <a:xfrm>
            <a:off x="9906000" y="2623930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This unit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1B4A95-D8CB-4960-D99B-4E19A2E19AEF}"/>
              </a:ext>
            </a:extLst>
          </p:cNvPr>
          <p:cNvSpPr txBox="1"/>
          <p:nvPr/>
        </p:nvSpPr>
        <p:spPr>
          <a:xfrm>
            <a:off x="9905999" y="4749418"/>
            <a:ext cx="135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Later units…</a:t>
            </a:r>
          </a:p>
        </p:txBody>
      </p:sp>
    </p:spTree>
    <p:extLst>
      <p:ext uri="{BB962C8B-B14F-4D97-AF65-F5344CB8AC3E}">
        <p14:creationId xmlns:p14="http://schemas.microsoft.com/office/powerpoint/2010/main" val="20726402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C20BA-6938-119D-6C5A-3CD437F05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D947-B1FC-9ABC-3ABA-018EF324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Linear+ReLU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DDD1F-C57C-7A74-E8AB-D277DE9D7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771257" cy="4329817"/>
          </a:xfrm>
        </p:spPr>
        <p:txBody>
          <a:bodyPr/>
          <a:lstStyle/>
          <a:p>
            <a:r>
              <a:rPr lang="en-US" dirty="0"/>
              <a:t>All files in </a:t>
            </a:r>
            <a:r>
              <a:rPr lang="en-US" dirty="0" err="1"/>
              <a:t>github</a:t>
            </a:r>
            <a:r>
              <a:rPr lang="en-US" dirty="0"/>
              <a:t> repo:</a:t>
            </a:r>
            <a:br>
              <a:rPr lang="en-US" dirty="0"/>
            </a:br>
            <a:r>
              <a:rPr lang="en-US" dirty="0" err="1"/>
              <a:t>hwdesign</a:t>
            </a:r>
            <a:r>
              <a:rPr lang="en-US" dirty="0"/>
              <a:t>/demos/</a:t>
            </a:r>
            <a:r>
              <a:rPr lang="en-US" dirty="0" err="1"/>
              <a:t>fsm</a:t>
            </a:r>
            <a:endParaRPr lang="en-US" dirty="0"/>
          </a:p>
          <a:p>
            <a:r>
              <a:rPr lang="en-US" dirty="0"/>
              <a:t>Define counter in file counter.sv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C9F7E-5C49-5A50-FCA1-C7A04E32C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80E79B-8F41-D6DA-3205-C0BA3B82F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65" y="2881265"/>
            <a:ext cx="5198041" cy="28861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AF681B-D1B7-F1F9-ECFC-BB34DC5C6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75" y="376123"/>
            <a:ext cx="4232045" cy="554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6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29586-8909-ECB6-44BA-EAB0FC07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Step:  Build a Testbench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DD4EF-66DF-9E98-D84B-EE36AF215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539277"/>
            <a:ext cx="4889262" cy="432981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Testbench</a:t>
            </a:r>
          </a:p>
          <a:p>
            <a:pPr lvl="1"/>
            <a:r>
              <a:rPr lang="en-US" sz="2200" dirty="0"/>
              <a:t>A second SV module</a:t>
            </a:r>
          </a:p>
          <a:p>
            <a:pPr lvl="1"/>
            <a:r>
              <a:rPr lang="en-US" sz="2200" dirty="0"/>
              <a:t>Connects to device under test</a:t>
            </a:r>
            <a:br>
              <a:rPr lang="en-US" sz="2200" dirty="0"/>
            </a:br>
            <a:r>
              <a:rPr lang="en-US" sz="2200" dirty="0"/>
              <a:t>(</a:t>
            </a:r>
            <a:r>
              <a:rPr lang="en-US" sz="2200" dirty="0" err="1"/>
              <a:t>i.e</a:t>
            </a:r>
            <a:r>
              <a:rPr lang="en-US" sz="2200" dirty="0"/>
              <a:t>, module we want to test)</a:t>
            </a:r>
          </a:p>
          <a:p>
            <a:pPr lvl="1"/>
            <a:r>
              <a:rPr lang="en-US" sz="2200" dirty="0"/>
              <a:t>TB provides DUT inputs</a:t>
            </a:r>
          </a:p>
          <a:p>
            <a:pPr lvl="1"/>
            <a:r>
              <a:rPr lang="en-US" sz="2200" dirty="0"/>
              <a:t>TB verifies DUT outputs are correct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4B41F-34CF-71B3-5708-5592220F0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83C913-A7EE-B208-8B2A-8AE4ACC7E4EC}"/>
              </a:ext>
            </a:extLst>
          </p:cNvPr>
          <p:cNvSpPr/>
          <p:nvPr/>
        </p:nvSpPr>
        <p:spPr>
          <a:xfrm>
            <a:off x="10614607" y="2056140"/>
            <a:ext cx="1161452" cy="17782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75378B-F395-21B3-CD03-D22D795CA320}"/>
              </a:ext>
            </a:extLst>
          </p:cNvPr>
          <p:cNvSpPr/>
          <p:nvPr/>
        </p:nvSpPr>
        <p:spPr>
          <a:xfrm>
            <a:off x="7246160" y="1904421"/>
            <a:ext cx="1223856" cy="183974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4D1FB1-EBB5-C569-9F65-23A3DA5F8838}"/>
              </a:ext>
            </a:extLst>
          </p:cNvPr>
          <p:cNvCxnSpPr>
            <a:cxnSpLocks/>
          </p:cNvCxnSpPr>
          <p:nvPr/>
        </p:nvCxnSpPr>
        <p:spPr>
          <a:xfrm>
            <a:off x="8497355" y="2328942"/>
            <a:ext cx="205613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B6D041-EEB4-3468-D428-62356CB07444}"/>
                  </a:ext>
                </a:extLst>
              </p:cNvPr>
              <p:cNvSpPr txBox="1"/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B6D041-EEB4-3468-D428-62356CB07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blipFill>
                <a:blip r:embed="rId2"/>
                <a:stretch>
                  <a:fillRect l="-6429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31D1A8-4282-EC04-261C-22CA2B0DAFB9}"/>
                  </a:ext>
                </a:extLst>
              </p:cNvPr>
              <p:cNvSpPr txBox="1"/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31D1A8-4282-EC04-261C-22CA2B0DA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blipFill>
                <a:blip r:embed="rId3"/>
                <a:stretch>
                  <a:fillRect l="-5806" t="-4717" r="-5806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6C466E8-0BF9-0D19-5E84-79B0726679DF}"/>
              </a:ext>
            </a:extLst>
          </p:cNvPr>
          <p:cNvCxnSpPr>
            <a:cxnSpLocks/>
          </p:cNvCxnSpPr>
          <p:nvPr/>
        </p:nvCxnSpPr>
        <p:spPr>
          <a:xfrm flipH="1">
            <a:off x="8497355" y="3334277"/>
            <a:ext cx="211725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A3B44F9-261A-B2ED-F21A-418EA24748F6}"/>
              </a:ext>
            </a:extLst>
          </p:cNvPr>
          <p:cNvSpPr txBox="1"/>
          <p:nvPr/>
        </p:nvSpPr>
        <p:spPr>
          <a:xfrm>
            <a:off x="7043731" y="4073549"/>
            <a:ext cx="1838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Testbench</a:t>
            </a:r>
            <a:br>
              <a:rPr lang="en-US" sz="2400" dirty="0"/>
            </a:br>
            <a:r>
              <a:rPr lang="en-US" sz="2400" dirty="0"/>
              <a:t>tb_lin_rely.sv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A64217-36FD-BE2D-36E3-5977C33FC5F0}"/>
              </a:ext>
            </a:extLst>
          </p:cNvPr>
          <p:cNvSpPr txBox="1"/>
          <p:nvPr/>
        </p:nvSpPr>
        <p:spPr>
          <a:xfrm>
            <a:off x="10383739" y="4077917"/>
            <a:ext cx="14631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DUT</a:t>
            </a:r>
            <a:br>
              <a:rPr lang="en-US" sz="2400" dirty="0"/>
            </a:br>
            <a:r>
              <a:rPr lang="en-US" sz="2400" dirty="0"/>
              <a:t>lin_relu.sv</a:t>
            </a:r>
          </a:p>
        </p:txBody>
      </p:sp>
    </p:spTree>
    <p:extLst>
      <p:ext uri="{BB962C8B-B14F-4D97-AF65-F5344CB8AC3E}">
        <p14:creationId xmlns:p14="http://schemas.microsoft.com/office/powerpoint/2010/main" val="3373863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7F2FB-2E14-6AAA-2F32-BDEEF6335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BF65B-5403-3A32-620E-35561CD0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Testbenches are not Synthesized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C0D5A-55B5-57A9-6F42-A825259E1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8" y="1539277"/>
            <a:ext cx="5824159" cy="432981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Testbenches are for simulation only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They will not be synthesized</a:t>
            </a:r>
          </a:p>
          <a:p>
            <a:r>
              <a:rPr lang="en-US" sz="2400" dirty="0">
                <a:solidFill>
                  <a:schemeClr val="tx1"/>
                </a:solidFill>
              </a:rPr>
              <a:t>Can include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un-synthesizable</a:t>
            </a:r>
            <a:r>
              <a:rPr lang="en-US" sz="2400" dirty="0">
                <a:solidFill>
                  <a:schemeClr val="tx1"/>
                </a:solidFill>
              </a:rPr>
              <a:t> constructs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Print statements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File read and write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Complex data structures</a:t>
            </a:r>
          </a:p>
          <a:p>
            <a:r>
              <a:rPr lang="en-US" sz="2200" dirty="0">
                <a:solidFill>
                  <a:schemeClr val="tx1"/>
                </a:solidFill>
              </a:rPr>
              <a:t>Modern trend: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Write TB in higher level language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E.g.,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67ED3-6EBB-CB25-6D8A-C2F832CC6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0FBF9A-368A-F5AB-EAFD-478F1EDEF9F2}"/>
              </a:ext>
            </a:extLst>
          </p:cNvPr>
          <p:cNvSpPr/>
          <p:nvPr/>
        </p:nvSpPr>
        <p:spPr>
          <a:xfrm>
            <a:off x="10614607" y="2056140"/>
            <a:ext cx="1161452" cy="17782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9082A9-6A00-60F6-6A18-AE4CAB871A56}"/>
              </a:ext>
            </a:extLst>
          </p:cNvPr>
          <p:cNvSpPr/>
          <p:nvPr/>
        </p:nvSpPr>
        <p:spPr>
          <a:xfrm>
            <a:off x="7246160" y="1904421"/>
            <a:ext cx="1223856" cy="183974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FB851D-D972-B3AC-0BFD-1280F67F0B37}"/>
              </a:ext>
            </a:extLst>
          </p:cNvPr>
          <p:cNvCxnSpPr>
            <a:cxnSpLocks/>
          </p:cNvCxnSpPr>
          <p:nvPr/>
        </p:nvCxnSpPr>
        <p:spPr>
          <a:xfrm>
            <a:off x="8497355" y="2328942"/>
            <a:ext cx="205613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8103B8-9A8B-640F-6EED-F9781528B83D}"/>
                  </a:ext>
                </a:extLst>
              </p:cNvPr>
              <p:cNvSpPr txBox="1"/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8103B8-9A8B-640F-6EED-F9781528B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blipFill>
                <a:blip r:embed="rId2"/>
                <a:stretch>
                  <a:fillRect l="-6429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E7DEFD-F72A-97CB-7753-E67C9FA7BE6B}"/>
                  </a:ext>
                </a:extLst>
              </p:cNvPr>
              <p:cNvSpPr txBox="1"/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E7DEFD-F72A-97CB-7753-E67C9FA7B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blipFill>
                <a:blip r:embed="rId3"/>
                <a:stretch>
                  <a:fillRect l="-5806" t="-4717" r="-5806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7C807A-F5CC-22C9-1F7B-A3A8AAFB400E}"/>
              </a:ext>
            </a:extLst>
          </p:cNvPr>
          <p:cNvCxnSpPr>
            <a:cxnSpLocks/>
          </p:cNvCxnSpPr>
          <p:nvPr/>
        </p:nvCxnSpPr>
        <p:spPr>
          <a:xfrm flipH="1">
            <a:off x="8497355" y="3334277"/>
            <a:ext cx="211725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D129DFF-2BA2-3D64-2CD3-C6A14976FC61}"/>
              </a:ext>
            </a:extLst>
          </p:cNvPr>
          <p:cNvSpPr txBox="1"/>
          <p:nvPr/>
        </p:nvSpPr>
        <p:spPr>
          <a:xfrm>
            <a:off x="7043731" y="4073549"/>
            <a:ext cx="1838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Testbench</a:t>
            </a:r>
            <a:br>
              <a:rPr lang="en-US" sz="2400" dirty="0"/>
            </a:br>
            <a:r>
              <a:rPr lang="en-US" sz="2400" dirty="0"/>
              <a:t>tb_lin_rely.sv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E96C98-F2FB-A2ED-FE48-9317EC448F16}"/>
              </a:ext>
            </a:extLst>
          </p:cNvPr>
          <p:cNvSpPr txBox="1"/>
          <p:nvPr/>
        </p:nvSpPr>
        <p:spPr>
          <a:xfrm>
            <a:off x="10383739" y="4077917"/>
            <a:ext cx="14631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DUT</a:t>
            </a:r>
            <a:br>
              <a:rPr lang="en-US" sz="2400" dirty="0"/>
            </a:br>
            <a:r>
              <a:rPr lang="en-US" sz="2400" dirty="0"/>
              <a:t>lin_relu.sv</a:t>
            </a:r>
          </a:p>
        </p:txBody>
      </p:sp>
    </p:spTree>
    <p:extLst>
      <p:ext uri="{BB962C8B-B14F-4D97-AF65-F5344CB8AC3E}">
        <p14:creationId xmlns:p14="http://schemas.microsoft.com/office/powerpoint/2010/main" val="37406038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4B08F-7261-1C9D-1C1F-DA4964FC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89BD-8F90-85BE-A7D8-438869491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13A6F-D239-E6A9-56B6-9D4A65E83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Testbench</a:t>
            </a:r>
            <a:r>
              <a:rPr lang="en-US" dirty="0"/>
              <a:t>: a module to test the module</a:t>
            </a:r>
          </a:p>
          <a:p>
            <a:pPr lvl="1"/>
            <a:r>
              <a:rPr lang="en-US" dirty="0"/>
              <a:t>Will not be synthesized</a:t>
            </a:r>
          </a:p>
          <a:p>
            <a:pPr lvl="1"/>
            <a:r>
              <a:rPr lang="en-US" dirty="0"/>
              <a:t>Can have un-synthesizable constructs</a:t>
            </a:r>
          </a:p>
          <a:p>
            <a:pPr lvl="1"/>
            <a:r>
              <a:rPr lang="en-US" dirty="0"/>
              <a:t>Ex: Read / write from file</a:t>
            </a:r>
          </a:p>
          <a:p>
            <a:endParaRPr lang="en-US" dirty="0"/>
          </a:p>
          <a:p>
            <a:r>
              <a:rPr lang="en-US" dirty="0"/>
              <a:t>Create a clock</a:t>
            </a:r>
          </a:p>
          <a:p>
            <a:endParaRPr lang="en-US" dirty="0"/>
          </a:p>
          <a:p>
            <a:r>
              <a:rPr lang="en-US" dirty="0"/>
              <a:t>Instantiate an instance of module to test</a:t>
            </a:r>
          </a:p>
          <a:p>
            <a:pPr lvl="1"/>
            <a:r>
              <a:rPr lang="en-US" dirty="0"/>
              <a:t>Called 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DUT</a:t>
            </a:r>
            <a:r>
              <a:rPr lang="en-US" dirty="0"/>
              <a:t> 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device under test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Connect DUT to testbench signals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3069E-778C-47B5-25E1-B32A1CC08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DB4A1B-225B-4154-6B27-4491D52AE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324" y="3066886"/>
            <a:ext cx="3602314" cy="30522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53708C-C900-4921-D75F-C6C8BC6E2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583" y="515575"/>
            <a:ext cx="3131223" cy="226779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88EB95-EB80-0D3F-E0CE-53ECB54A1EA2}"/>
              </a:ext>
            </a:extLst>
          </p:cNvPr>
          <p:cNvCxnSpPr/>
          <p:nvPr/>
        </p:nvCxnSpPr>
        <p:spPr>
          <a:xfrm>
            <a:off x="5429250" y="1876425"/>
            <a:ext cx="12906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9B6E42-5885-CD78-0381-71857BA73B03}"/>
              </a:ext>
            </a:extLst>
          </p:cNvPr>
          <p:cNvCxnSpPr>
            <a:cxnSpLocks/>
          </p:cNvCxnSpPr>
          <p:nvPr/>
        </p:nvCxnSpPr>
        <p:spPr>
          <a:xfrm flipV="1">
            <a:off x="2738438" y="3471863"/>
            <a:ext cx="4038600" cy="12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384257-470F-CA45-8BC1-A963CD9E8A7C}"/>
              </a:ext>
            </a:extLst>
          </p:cNvPr>
          <p:cNvCxnSpPr>
            <a:cxnSpLocks/>
          </p:cNvCxnSpPr>
          <p:nvPr/>
        </p:nvCxnSpPr>
        <p:spPr>
          <a:xfrm flipV="1">
            <a:off x="5359677" y="4619625"/>
            <a:ext cx="1183999" cy="104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8779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F40FE-E115-4CD6-C427-D44491FD0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3C873-C628-5DF7-FD56-CB826D2D6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set of test inputs</a:t>
            </a:r>
          </a:p>
          <a:p>
            <a:endParaRPr lang="en-US" dirty="0"/>
          </a:p>
          <a:p>
            <a:r>
              <a:rPr lang="en-US" dirty="0"/>
              <a:t>Loop through inputs</a:t>
            </a:r>
          </a:p>
          <a:p>
            <a:r>
              <a:rPr lang="en-US" dirty="0"/>
              <a:t>Put one new input each clock cycle</a:t>
            </a:r>
          </a:p>
          <a:p>
            <a:r>
              <a:rPr lang="en-US" dirty="0"/>
              <a:t>Testbench uses an initial construct</a:t>
            </a:r>
          </a:p>
          <a:p>
            <a:pPr lvl="1"/>
            <a:r>
              <a:rPr lang="en-US" dirty="0"/>
              <a:t>Enables sequential set of events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AE09C-305C-D94C-85CE-1B3305B0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63CBDD-DD10-0D68-AAA4-429819C48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289" y="611546"/>
            <a:ext cx="3962530" cy="1643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05CD8D-4092-30BD-C2FF-E84C900D1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110" y="2407215"/>
            <a:ext cx="4467455" cy="42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474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F7C8C-2E9A-3C4E-3077-A8A67C40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92209-4B04-2D99-F3D1-5177C5C9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C3FCF-5AE3-B748-5852-EB0E74F3E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074920" cy="43298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 Runs once at time 0 of the simulation </a:t>
            </a:r>
          </a:p>
          <a:p>
            <a:pPr lvl="1"/>
            <a:r>
              <a:rPr lang="en-US" dirty="0"/>
              <a:t>(or at its scheduled start time if delayed).</a:t>
            </a:r>
          </a:p>
          <a:p>
            <a:r>
              <a:rPr lang="en-US" dirty="0"/>
              <a:t>Statements inside run sequentially</a:t>
            </a:r>
          </a:p>
          <a:p>
            <a:pPr lvl="1"/>
            <a:r>
              <a:rPr lang="en-US" dirty="0"/>
              <a:t>like a small program.</a:t>
            </a:r>
          </a:p>
          <a:p>
            <a:r>
              <a:rPr lang="en-US" dirty="0"/>
              <a:t> Not synthesizable for hardware</a:t>
            </a:r>
          </a:p>
          <a:p>
            <a:pPr lvl="1"/>
            <a:r>
              <a:rPr lang="en-US" dirty="0"/>
              <a:t>Simulation‑only construct.</a:t>
            </a:r>
          </a:p>
          <a:p>
            <a:pPr lvl="1"/>
            <a:r>
              <a:rPr lang="en-US" dirty="0"/>
              <a:t>Used for test benches</a:t>
            </a:r>
          </a:p>
          <a:p>
            <a:r>
              <a:rPr lang="en-US" dirty="0"/>
              <a:t>Concurrency:</a:t>
            </a:r>
          </a:p>
          <a:p>
            <a:pPr lvl="1"/>
            <a:r>
              <a:rPr lang="en-US" dirty="0"/>
              <a:t>initial blocks and always blocks.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12715-15BE-B59D-133A-FD5286909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FB895C-0345-5FF0-9D0C-B9B759DCD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889" y="328490"/>
            <a:ext cx="4955640" cy="554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153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EC1F-55F6-3760-8555-3B9C9869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A2057-3F08-B56C-4E49-989F3110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76E108-6E6E-6F88-664C-7F688C757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results outputs</a:t>
            </a:r>
          </a:p>
          <a:p>
            <a:r>
              <a:rPr lang="en-US" dirty="0"/>
              <a:t>Match expected values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257A8C-D5C7-78CB-4063-48906635B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992" y="2838435"/>
            <a:ext cx="8560106" cy="149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0401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16287</TotalTime>
  <Words>2088</Words>
  <Application>Microsoft Office PowerPoint</Application>
  <PresentationFormat>Widescreen</PresentationFormat>
  <Paragraphs>432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Calibri</vt:lpstr>
      <vt:lpstr>Cambria Math</vt:lpstr>
      <vt:lpstr>Courier New</vt:lpstr>
      <vt:lpstr>Wingdings</vt:lpstr>
      <vt:lpstr>Retrospect</vt:lpstr>
      <vt:lpstr>Unit 2  Sequential Logic and FSMs</vt:lpstr>
      <vt:lpstr>Learning Objectives</vt:lpstr>
      <vt:lpstr>Outline</vt:lpstr>
      <vt:lpstr>Limitations of Combinational Logic</vt:lpstr>
      <vt:lpstr>Synchronous (Sequential) Logic</vt:lpstr>
      <vt:lpstr>Clock Signal</vt:lpstr>
      <vt:lpstr>Synchronous Logic Example:  Counter</vt:lpstr>
      <vt:lpstr>Key Components of a Module</vt:lpstr>
      <vt:lpstr>What is a State?</vt:lpstr>
      <vt:lpstr>Synchronous Logic as an FSM</vt:lpstr>
      <vt:lpstr>Building an FSM in Hardware</vt:lpstr>
      <vt:lpstr>Register Physical Model</vt:lpstr>
      <vt:lpstr>Register:  Discrete-Time Model</vt:lpstr>
      <vt:lpstr>Writing the Counter in System Verilog</vt:lpstr>
      <vt:lpstr>Counter Main Body</vt:lpstr>
      <vt:lpstr>Putting it Together</vt:lpstr>
      <vt:lpstr>Blocking vs. Non-Blocking</vt:lpstr>
      <vt:lpstr>Example Problem</vt:lpstr>
      <vt:lpstr>Try Answer on LLM Auto-Grader</vt:lpstr>
      <vt:lpstr>Solution:  FSM Model</vt:lpstr>
      <vt:lpstr>In-Class Exercise</vt:lpstr>
      <vt:lpstr>Outline</vt:lpstr>
      <vt:lpstr>Synchronous Version of ReLU + Linear</vt:lpstr>
      <vt:lpstr>Synchronous Module Declaration</vt:lpstr>
      <vt:lpstr>System Verilog Main Body</vt:lpstr>
      <vt:lpstr>Synchronous Block Diagram</vt:lpstr>
      <vt:lpstr>FSM Description</vt:lpstr>
      <vt:lpstr>A More Complex Example</vt:lpstr>
      <vt:lpstr>Problems with Single Cycle Implementation</vt:lpstr>
      <vt:lpstr>A Two Cycle Design</vt:lpstr>
      <vt:lpstr>Analysis</vt:lpstr>
      <vt:lpstr>In Class Problem  </vt:lpstr>
      <vt:lpstr>Outline</vt:lpstr>
      <vt:lpstr>Building the Hardware Roadmap</vt:lpstr>
      <vt:lpstr>Linear+ReLU Example</vt:lpstr>
      <vt:lpstr>Next Step:  Build a Testbench</vt:lpstr>
      <vt:lpstr>Testbenches are not Synthesized</vt:lpstr>
      <vt:lpstr>Testbench Declaration</vt:lpstr>
      <vt:lpstr>Test Vectors</vt:lpstr>
      <vt:lpstr>Initial Block</vt:lpstr>
      <vt:lpstr>Test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500</cp:revision>
  <cp:lastPrinted>2018-09-04T19:00:14Z</cp:lastPrinted>
  <dcterms:created xsi:type="dcterms:W3CDTF">2015-03-22T11:15:32Z</dcterms:created>
  <dcterms:modified xsi:type="dcterms:W3CDTF">2026-02-02T16:38:27Z</dcterms:modified>
</cp:coreProperties>
</file>