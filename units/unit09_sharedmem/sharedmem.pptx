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8" r:id="rId2"/>
    <p:sldId id="271" r:id="rId3"/>
    <p:sldId id="297" r:id="rId4"/>
    <p:sldId id="276" r:id="rId5"/>
    <p:sldId id="277" r:id="rId6"/>
    <p:sldId id="418" r:id="rId7"/>
    <p:sldId id="419" r:id="rId8"/>
    <p:sldId id="420" r:id="rId9"/>
    <p:sldId id="326" r:id="rId10"/>
    <p:sldId id="405" r:id="rId11"/>
    <p:sldId id="406" r:id="rId12"/>
    <p:sldId id="408" r:id="rId13"/>
    <p:sldId id="424" r:id="rId14"/>
    <p:sldId id="423" r:id="rId15"/>
    <p:sldId id="425" r:id="rId16"/>
    <p:sldId id="426" r:id="rId17"/>
    <p:sldId id="422" r:id="rId18"/>
    <p:sldId id="410" r:id="rId19"/>
    <p:sldId id="411" r:id="rId20"/>
    <p:sldId id="415" r:id="rId21"/>
    <p:sldId id="416" r:id="rId22"/>
    <p:sldId id="417" r:id="rId23"/>
    <p:sldId id="428" r:id="rId24"/>
    <p:sldId id="412" r:id="rId25"/>
    <p:sldId id="429" r:id="rId26"/>
    <p:sldId id="427" r:id="rId27"/>
    <p:sldId id="430" r:id="rId28"/>
    <p:sldId id="431" r:id="rId29"/>
    <p:sldId id="434" r:id="rId30"/>
    <p:sldId id="432" r:id="rId31"/>
    <p:sldId id="433" r:id="rId32"/>
    <p:sldId id="296" r:id="rId33"/>
    <p:sldId id="435" r:id="rId34"/>
    <p:sldId id="437" r:id="rId35"/>
    <p:sldId id="438" r:id="rId36"/>
    <p:sldId id="436" r:id="rId37"/>
    <p:sldId id="439" r:id="rId38"/>
    <p:sldId id="440" r:id="rId39"/>
    <p:sldId id="441" r:id="rId40"/>
    <p:sldId id="442" r:id="rId41"/>
    <p:sldId id="443" r:id="rId42"/>
    <p:sldId id="444" r:id="rId43"/>
    <p:sldId id="445" r:id="rId44"/>
    <p:sldId id="446" r:id="rId45"/>
    <p:sldId id="447" r:id="rId46"/>
    <p:sldId id="448" r:id="rId47"/>
    <p:sldId id="449" r:id="rId4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AEBEC"/>
    <a:srgbClr val="E0F8E0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54" d="100"/>
          <a:sy n="54" d="100"/>
        </p:scale>
        <p:origin x="4308" y="23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hyperlink" Target="https://www.allaboutcircuits.com/technical-articles/introduction-to-the-advanced-microcontroller-bus-architecture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Shared Memory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Shared Memory Transactions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CCFF99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Data</a:t>
              </a:r>
              <a:br>
                <a:rPr lang="en-US" sz="1600" dirty="0">
                  <a:solidFill>
                    <a:srgbClr val="00B050"/>
                  </a:solidFill>
                </a:rPr>
              </a:br>
              <a:r>
                <a:rPr lang="en-US" sz="1600" dirty="0">
                  <a:solidFill>
                    <a:srgbClr val="00B050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words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88ED-08B8-0DBA-4712-12EC31CB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Dedicated vs Shared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F95C-F270-CB4E-1B7A-F6D1FCEE8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memory</a:t>
            </a:r>
          </a:p>
          <a:p>
            <a:pPr lvl="1"/>
            <a:r>
              <a:rPr lang="en-US" dirty="0"/>
              <a:t>Memory that is dedicated to a single hardware module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</a:t>
            </a:r>
          </a:p>
          <a:p>
            <a:pPr lvl="1"/>
            <a:r>
              <a:rPr lang="en-US" dirty="0"/>
              <a:t>Memory shared between modules</a:t>
            </a:r>
          </a:p>
          <a:p>
            <a:pPr lvl="1"/>
            <a:r>
              <a:rPr lang="en-US" dirty="0"/>
              <a:t>Also processing system and peripheral I/O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4AE16-0801-3CC7-26AA-B8A2CC6B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C886E-1250-5522-BDC3-1E7141667018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01CAE-965E-C96B-707A-5A7956CAC58C}"/>
              </a:ext>
            </a:extLst>
          </p:cNvPr>
          <p:cNvSpPr/>
          <p:nvPr/>
        </p:nvSpPr>
        <p:spPr>
          <a:xfrm>
            <a:off x="8583970" y="219389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4D21E-9009-F42D-23BF-645F0BD96EF0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8F581-8943-E18A-23B1-9BBA711E403C}"/>
              </a:ext>
            </a:extLst>
          </p:cNvPr>
          <p:cNvSpPr txBox="1"/>
          <p:nvPr/>
        </p:nvSpPr>
        <p:spPr>
          <a:xfrm>
            <a:off x="8431159" y="178664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D1A61C-4DE3-4144-F6BC-8A6DBDE87F8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172943" y="250703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269FEBA-24C9-FF26-D60B-39ED371F2637}"/>
              </a:ext>
            </a:extLst>
          </p:cNvPr>
          <p:cNvSpPr/>
          <p:nvPr/>
        </p:nvSpPr>
        <p:spPr>
          <a:xfrm>
            <a:off x="8500014" y="399143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1251E-81F1-1F5B-F6CC-8D661A7A648A}"/>
              </a:ext>
            </a:extLst>
          </p:cNvPr>
          <p:cNvSpPr/>
          <p:nvPr/>
        </p:nvSpPr>
        <p:spPr>
          <a:xfrm>
            <a:off x="7361402" y="39468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38102-8697-20FE-A561-786FC4154017}"/>
              </a:ext>
            </a:extLst>
          </p:cNvPr>
          <p:cNvSpPr txBox="1"/>
          <p:nvPr/>
        </p:nvSpPr>
        <p:spPr>
          <a:xfrm>
            <a:off x="8300037" y="362210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CB010-9A80-233E-3548-4ECB11395EF7}"/>
              </a:ext>
            </a:extLst>
          </p:cNvPr>
          <p:cNvSpPr txBox="1"/>
          <p:nvPr/>
        </p:nvSpPr>
        <p:spPr>
          <a:xfrm>
            <a:off x="9760830" y="358146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98661-2ED5-C0BC-C680-335D2297F22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950375" y="426002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3E1AAC9-3549-84C5-E8E7-40323E978360}"/>
              </a:ext>
            </a:extLst>
          </p:cNvPr>
          <p:cNvSpPr/>
          <p:nvPr/>
        </p:nvSpPr>
        <p:spPr>
          <a:xfrm>
            <a:off x="7361402" y="491464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CA0713-1B3B-922C-7AFD-6C49CE96EDC7}"/>
              </a:ext>
            </a:extLst>
          </p:cNvPr>
          <p:cNvSpPr txBox="1"/>
          <p:nvPr/>
        </p:nvSpPr>
        <p:spPr>
          <a:xfrm>
            <a:off x="7113110" y="45686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548F4E-000D-194F-B2E2-BE88F52B3A5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950375" y="522778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52893B-41FB-B7DC-A89D-B750984293A7}"/>
              </a:ext>
            </a:extLst>
          </p:cNvPr>
          <p:cNvSpPr/>
          <p:nvPr/>
        </p:nvSpPr>
        <p:spPr>
          <a:xfrm>
            <a:off x="9670887" y="399709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63162-1604-5B23-FD2F-790C5C4F6F0D}"/>
              </a:ext>
            </a:extLst>
          </p:cNvPr>
          <p:cNvSpPr txBox="1"/>
          <p:nvPr/>
        </p:nvSpPr>
        <p:spPr>
          <a:xfrm>
            <a:off x="7113110" y="361733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42B768-CED0-C05C-D7B5-3E115BF4AD93}"/>
              </a:ext>
            </a:extLst>
          </p:cNvPr>
          <p:cNvSpPr/>
          <p:nvPr/>
        </p:nvSpPr>
        <p:spPr>
          <a:xfrm>
            <a:off x="9677837" y="486875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BB7B-8F80-24CE-3A3A-17707EDFC35F}"/>
              </a:ext>
            </a:extLst>
          </p:cNvPr>
          <p:cNvSpPr txBox="1"/>
          <p:nvPr/>
        </p:nvSpPr>
        <p:spPr>
          <a:xfrm>
            <a:off x="9569207" y="553768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E8F696-4F39-E545-7DDB-F5FF6209FD9B}"/>
              </a:ext>
            </a:extLst>
          </p:cNvPr>
          <p:cNvCxnSpPr>
            <a:cxnSpLocks/>
          </p:cNvCxnSpPr>
          <p:nvPr/>
        </p:nvCxnSpPr>
        <p:spPr>
          <a:xfrm>
            <a:off x="9108826" y="427222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B6EA36-5F26-7082-D7A6-F9C2C1E9F003}"/>
              </a:ext>
            </a:extLst>
          </p:cNvPr>
          <p:cNvCxnSpPr>
            <a:cxnSpLocks/>
          </p:cNvCxnSpPr>
          <p:nvPr/>
        </p:nvCxnSpPr>
        <p:spPr>
          <a:xfrm>
            <a:off x="9088987" y="522778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E61A-79B5-D2FE-B4F4-2E6B52FF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Share Memory?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</p:spPr>
            <p:txBody>
              <a:bodyPr/>
              <a:lstStyle/>
              <a:p>
                <a:r>
                  <a:rPr lang="en-US" dirty="0"/>
                  <a:t>Multiple modules, I/O, PS need operate on same data</a:t>
                </a:r>
              </a:p>
              <a:p>
                <a:pPr lvl="1"/>
                <a:r>
                  <a:rPr lang="en-US" dirty="0"/>
                  <a:t>Example video pipeline:  Network I/O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Filtering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Coding</a:t>
                </a:r>
              </a:p>
              <a:p>
                <a:pPr lvl="1"/>
                <a:r>
                  <a:rPr lang="en-US" dirty="0"/>
                  <a:t>Virtually all complex tasks built over multiple modules</a:t>
                </a:r>
              </a:p>
              <a:p>
                <a:r>
                  <a:rPr lang="en-US" dirty="0"/>
                  <a:t>Enables common memory for large data</a:t>
                </a:r>
              </a:p>
              <a:p>
                <a:pPr lvl="1"/>
                <a:r>
                  <a:rPr lang="en-US" dirty="0"/>
                  <a:t>E.g., ML parameters, data, large video</a:t>
                </a:r>
              </a:p>
              <a:p>
                <a:pPr lvl="1"/>
                <a:r>
                  <a:rPr lang="en-US" dirty="0"/>
                  <a:t>Dedicated memory becomes inefficient</a:t>
                </a:r>
              </a:p>
              <a:p>
                <a:r>
                  <a:rPr lang="en-US" dirty="0"/>
                  <a:t>Allows dynamic memory allocation</a:t>
                </a:r>
              </a:p>
              <a:p>
                <a:pPr lvl="1"/>
                <a:r>
                  <a:rPr lang="en-US" dirty="0"/>
                  <a:t>Use memory as needed</a:t>
                </a:r>
              </a:p>
              <a:p>
                <a:pPr lvl="1"/>
                <a:r>
                  <a:rPr lang="en-US" dirty="0"/>
                  <a:t>Allocate memory to modules as needed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  <a:blipFill>
                <a:blip r:embed="rId2"/>
                <a:stretch>
                  <a:fillRect l="-190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689A8-F25D-907A-C043-D411151A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6164F-55FA-B6C4-3DF7-19E2C387E059}"/>
              </a:ext>
            </a:extLst>
          </p:cNvPr>
          <p:cNvSpPr/>
          <p:nvPr/>
        </p:nvSpPr>
        <p:spPr>
          <a:xfrm>
            <a:off x="8809576" y="265776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21DFC-C93B-9489-EE8F-1BB404736E9F}"/>
              </a:ext>
            </a:extLst>
          </p:cNvPr>
          <p:cNvSpPr/>
          <p:nvPr/>
        </p:nvSpPr>
        <p:spPr>
          <a:xfrm>
            <a:off x="7670964" y="261321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2D64A-8E17-CBC7-DCE8-3F0303595D76}"/>
              </a:ext>
            </a:extLst>
          </p:cNvPr>
          <p:cNvSpPr txBox="1"/>
          <p:nvPr/>
        </p:nvSpPr>
        <p:spPr>
          <a:xfrm>
            <a:off x="8609599" y="228843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31D53-8A09-9D2E-2EB5-A3C62F215859}"/>
              </a:ext>
            </a:extLst>
          </p:cNvPr>
          <p:cNvSpPr txBox="1"/>
          <p:nvPr/>
        </p:nvSpPr>
        <p:spPr>
          <a:xfrm>
            <a:off x="10070392" y="224779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AA5214-0B26-22CC-45B4-AA87A84C8C5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59937" y="292635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72BDF9D-7F68-0A83-82CB-9DCBE361BEA6}"/>
              </a:ext>
            </a:extLst>
          </p:cNvPr>
          <p:cNvSpPr/>
          <p:nvPr/>
        </p:nvSpPr>
        <p:spPr>
          <a:xfrm>
            <a:off x="7670964" y="358097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AE14F-BF5E-C971-7A88-B52441090BEE}"/>
              </a:ext>
            </a:extLst>
          </p:cNvPr>
          <p:cNvSpPr txBox="1"/>
          <p:nvPr/>
        </p:nvSpPr>
        <p:spPr>
          <a:xfrm>
            <a:off x="7422672" y="323500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427796-5B51-5F0E-6CD7-C76C8403D70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259937" y="389411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5C05C-7A32-EAEF-F970-D7B1DF2D0F6C}"/>
              </a:ext>
            </a:extLst>
          </p:cNvPr>
          <p:cNvSpPr/>
          <p:nvPr/>
        </p:nvSpPr>
        <p:spPr>
          <a:xfrm>
            <a:off x="9980449" y="266342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3AA0C-8BCD-0235-D256-12426948EB84}"/>
              </a:ext>
            </a:extLst>
          </p:cNvPr>
          <p:cNvSpPr txBox="1"/>
          <p:nvPr/>
        </p:nvSpPr>
        <p:spPr>
          <a:xfrm>
            <a:off x="7422672" y="228366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2DE69-AC6E-9AF7-2FA6-19E4DA39D82A}"/>
              </a:ext>
            </a:extLst>
          </p:cNvPr>
          <p:cNvSpPr/>
          <p:nvPr/>
        </p:nvSpPr>
        <p:spPr>
          <a:xfrm>
            <a:off x="9987399" y="353508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E2D29-D31C-C764-BBB4-A730826423C8}"/>
              </a:ext>
            </a:extLst>
          </p:cNvPr>
          <p:cNvSpPr txBox="1"/>
          <p:nvPr/>
        </p:nvSpPr>
        <p:spPr>
          <a:xfrm>
            <a:off x="9878769" y="420401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A88B14-A9FF-E397-7EFA-0CDC43463BA8}"/>
              </a:ext>
            </a:extLst>
          </p:cNvPr>
          <p:cNvCxnSpPr>
            <a:cxnSpLocks/>
          </p:cNvCxnSpPr>
          <p:nvPr/>
        </p:nvCxnSpPr>
        <p:spPr>
          <a:xfrm>
            <a:off x="9418388" y="293855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D766A-941D-7B2E-9F0E-99BFF6FE6A16}"/>
              </a:ext>
            </a:extLst>
          </p:cNvPr>
          <p:cNvCxnSpPr>
            <a:cxnSpLocks/>
          </p:cNvCxnSpPr>
          <p:nvPr/>
        </p:nvCxnSpPr>
        <p:spPr>
          <a:xfrm>
            <a:off x="9398549" y="389411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3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F484-36D4-78CF-C0BB-9BEDA526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Shared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1586-A6CF-EB03-EB18-A8AED519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0218F-49D4-8611-933C-CE939DC778E2}"/>
              </a:ext>
            </a:extLst>
          </p:cNvPr>
          <p:cNvSpPr/>
          <p:nvPr/>
        </p:nvSpPr>
        <p:spPr>
          <a:xfrm>
            <a:off x="3931034" y="3392357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3097C-FCD4-191F-5DE0-119F2DCBDB4D}"/>
              </a:ext>
            </a:extLst>
          </p:cNvPr>
          <p:cNvSpPr/>
          <p:nvPr/>
        </p:nvSpPr>
        <p:spPr>
          <a:xfrm>
            <a:off x="2870945" y="3355689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C9AEA-B697-FEAF-7296-1B3BB6BE5FC3}"/>
              </a:ext>
            </a:extLst>
          </p:cNvPr>
          <p:cNvSpPr txBox="1"/>
          <p:nvPr/>
        </p:nvSpPr>
        <p:spPr>
          <a:xfrm>
            <a:off x="3731057" y="3023026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5CA1E-0A4C-E85D-BCBF-E6537950F9AC}"/>
              </a:ext>
            </a:extLst>
          </p:cNvPr>
          <p:cNvSpPr/>
          <p:nvPr/>
        </p:nvSpPr>
        <p:spPr>
          <a:xfrm>
            <a:off x="1810856" y="33556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D9997-7DE5-6C95-D7FD-65C10726F3F6}"/>
              </a:ext>
            </a:extLst>
          </p:cNvPr>
          <p:cNvSpPr txBox="1"/>
          <p:nvPr/>
        </p:nvSpPr>
        <p:spPr>
          <a:xfrm>
            <a:off x="1573944" y="298412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0A627-C531-2A44-0C69-8922D18AEE2F}"/>
              </a:ext>
            </a:extLst>
          </p:cNvPr>
          <p:cNvSpPr txBox="1"/>
          <p:nvPr/>
        </p:nvSpPr>
        <p:spPr>
          <a:xfrm>
            <a:off x="2787622" y="3029889"/>
            <a:ext cx="6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0E45D-D113-0244-926C-D9DC4921717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399829" y="3668829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4FB9FA-2B8D-B64E-F215-34A17F83754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59918" y="3664247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DB652-CF2C-1414-EF04-3C632164EBD2}"/>
              </a:ext>
            </a:extLst>
          </p:cNvPr>
          <p:cNvSpPr/>
          <p:nvPr/>
        </p:nvSpPr>
        <p:spPr>
          <a:xfrm>
            <a:off x="2882324" y="438589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42E3D-3EF2-C670-ABAF-62EABB8E65B1}"/>
              </a:ext>
            </a:extLst>
          </p:cNvPr>
          <p:cNvSpPr/>
          <p:nvPr/>
        </p:nvSpPr>
        <p:spPr>
          <a:xfrm>
            <a:off x="1822235" y="438589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E82703-B01D-B2CD-BF18-0AFDBF39B81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2411208" y="469903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F46959-C07B-9F25-A2ED-FD5E1E41605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471297" y="469445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88AA2-F826-333F-6197-782ADAA0E3CA}"/>
              </a:ext>
            </a:extLst>
          </p:cNvPr>
          <p:cNvSpPr/>
          <p:nvPr/>
        </p:nvSpPr>
        <p:spPr>
          <a:xfrm>
            <a:off x="8555731" y="3178294"/>
            <a:ext cx="272529" cy="19675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C662F-6A02-453B-8395-87F543E3A487}"/>
              </a:ext>
            </a:extLst>
          </p:cNvPr>
          <p:cNvSpPr/>
          <p:nvPr/>
        </p:nvSpPr>
        <p:spPr>
          <a:xfrm>
            <a:off x="7283363" y="3480569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6C886C-76BC-6F32-5975-81C6BDC4E011}"/>
              </a:ext>
            </a:extLst>
          </p:cNvPr>
          <p:cNvCxnSpPr>
            <a:cxnSpLocks/>
          </p:cNvCxnSpPr>
          <p:nvPr/>
        </p:nvCxnSpPr>
        <p:spPr>
          <a:xfrm>
            <a:off x="8007263" y="371553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072C4A-33D5-EBDE-B85D-E25E85036E55}"/>
              </a:ext>
            </a:extLst>
          </p:cNvPr>
          <p:cNvSpPr txBox="1"/>
          <p:nvPr/>
        </p:nvSpPr>
        <p:spPr>
          <a:xfrm>
            <a:off x="8068009" y="2782078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9C50E-A234-ABC3-4E80-CC03C7C15381}"/>
              </a:ext>
            </a:extLst>
          </p:cNvPr>
          <p:cNvSpPr txBox="1"/>
          <p:nvPr/>
        </p:nvSpPr>
        <p:spPr>
          <a:xfrm>
            <a:off x="9073064" y="3111237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46AD11-B788-6595-DF84-913F11655A92}"/>
              </a:ext>
            </a:extLst>
          </p:cNvPr>
          <p:cNvSpPr/>
          <p:nvPr/>
        </p:nvSpPr>
        <p:spPr>
          <a:xfrm>
            <a:off x="9317869" y="3478361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A7E46-21CA-9EB9-879F-D649610ABFEC}"/>
              </a:ext>
            </a:extLst>
          </p:cNvPr>
          <p:cNvSpPr/>
          <p:nvPr/>
        </p:nvSpPr>
        <p:spPr>
          <a:xfrm>
            <a:off x="7283363" y="450380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4A7FBF-9881-4F0F-EFA8-1AC41788E9EF}"/>
              </a:ext>
            </a:extLst>
          </p:cNvPr>
          <p:cNvCxnSpPr>
            <a:cxnSpLocks/>
          </p:cNvCxnSpPr>
          <p:nvPr/>
        </p:nvCxnSpPr>
        <p:spPr>
          <a:xfrm>
            <a:off x="8007263" y="473877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DDEC98-3780-F010-A89A-E2FFBCCBEF6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8828260" y="4162084"/>
            <a:ext cx="48960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ACA703-8967-5B1F-85A8-26ED60797CCF}"/>
              </a:ext>
            </a:extLst>
          </p:cNvPr>
          <p:cNvSpPr txBox="1"/>
          <p:nvPr/>
        </p:nvSpPr>
        <p:spPr>
          <a:xfrm>
            <a:off x="7142611" y="31169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CE6FD1-8F81-AFB6-3A81-F3FDC86F670F}"/>
              </a:ext>
            </a:extLst>
          </p:cNvPr>
          <p:cNvSpPr txBox="1"/>
          <p:nvPr/>
        </p:nvSpPr>
        <p:spPr>
          <a:xfrm>
            <a:off x="1251641" y="1712126"/>
            <a:ext cx="4038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1.  Multi-Port memory</a:t>
            </a:r>
            <a:br>
              <a:rPr lang="en-US" sz="2400" dirty="0"/>
            </a:br>
            <a:r>
              <a:rPr lang="en-US" sz="2000" dirty="0"/>
              <a:t>Each module has a dedicated port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5EC9E-9D29-A501-BD6D-B67E91B6A122}"/>
              </a:ext>
            </a:extLst>
          </p:cNvPr>
          <p:cNvSpPr txBox="1"/>
          <p:nvPr/>
        </p:nvSpPr>
        <p:spPr>
          <a:xfrm>
            <a:off x="6863877" y="1712126"/>
            <a:ext cx="3901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2.  Interconnect</a:t>
            </a:r>
          </a:p>
          <a:p>
            <a:r>
              <a:rPr lang="en-US" sz="2000" dirty="0"/>
              <a:t>Modules use connect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0479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5A0A-2F6D-290E-9F5A-C6BFA6F9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and Multi-Port Memories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2E7A-12D4-B669-8A4A-A8367A3C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Single port</a:t>
            </a:r>
          </a:p>
          <a:p>
            <a:pPr lvl="1"/>
            <a:r>
              <a:rPr lang="en-US" dirty="0"/>
              <a:t>HW module has dedicated use of a memory</a:t>
            </a:r>
          </a:p>
          <a:p>
            <a:pPr lvl="1"/>
            <a:r>
              <a:rPr lang="en-US" dirty="0"/>
              <a:t>Memory has a single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port</a:t>
            </a:r>
          </a:p>
          <a:p>
            <a:pPr lvl="1"/>
            <a:r>
              <a:rPr lang="en-US" dirty="0"/>
              <a:t>Port exposes address, data lines with address decoder</a:t>
            </a:r>
          </a:p>
          <a:p>
            <a:pPr lvl="1"/>
            <a:r>
              <a:rPr lang="en-US" dirty="0"/>
              <a:t>Does not permit transfer of data between modules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Dual or multi-port</a:t>
            </a:r>
          </a:p>
          <a:p>
            <a:pPr lvl="1"/>
            <a:r>
              <a:rPr lang="en-US" dirty="0"/>
              <a:t>Multiple modules connect to the memory</a:t>
            </a:r>
          </a:p>
          <a:p>
            <a:pPr lvl="1"/>
            <a:r>
              <a:rPr lang="en-US" dirty="0"/>
              <a:t>Each module has a dedicated port</a:t>
            </a:r>
          </a:p>
          <a:p>
            <a:pPr lvl="1"/>
            <a:r>
              <a:rPr lang="en-US" dirty="0"/>
              <a:t>Allow simultaneous writes in same clock cycle</a:t>
            </a:r>
          </a:p>
          <a:p>
            <a:pPr lvl="1"/>
            <a:r>
              <a:rPr lang="en-US" dirty="0"/>
              <a:t>Most efficient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BFA2-62E4-822C-EA6E-72B6B3D4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4202C-5A1F-63FE-29A7-39319410E840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ADEB6-366D-C6F0-9147-1396ADED44EC}"/>
              </a:ext>
            </a:extLst>
          </p:cNvPr>
          <p:cNvSpPr/>
          <p:nvPr/>
        </p:nvSpPr>
        <p:spPr>
          <a:xfrm>
            <a:off x="8662493" y="2198480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130EE-AAEC-2D56-46BD-D44D4BD4DAB3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03F3-2762-17DD-B643-78706AC5641C}"/>
              </a:ext>
            </a:extLst>
          </p:cNvPr>
          <p:cNvSpPr/>
          <p:nvPr/>
        </p:nvSpPr>
        <p:spPr>
          <a:xfrm>
            <a:off x="7602404" y="2198479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6AB0B-63CF-FBA9-40D6-5E4B90684E6C}"/>
              </a:ext>
            </a:extLst>
          </p:cNvPr>
          <p:cNvSpPr txBox="1"/>
          <p:nvPr/>
        </p:nvSpPr>
        <p:spPr>
          <a:xfrm>
            <a:off x="7473591" y="175625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77594-F1E5-5F08-0685-56C835E990E3}"/>
              </a:ext>
            </a:extLst>
          </p:cNvPr>
          <p:cNvSpPr txBox="1"/>
          <p:nvPr/>
        </p:nvSpPr>
        <p:spPr>
          <a:xfrm>
            <a:off x="8673872" y="1753306"/>
            <a:ext cx="57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6722BB-0582-D745-8708-7A2A22C03866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191377" y="2511620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01617-5D84-8929-AE15-C89CAEAA7C3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9251466" y="2507038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3D5EF0C-9CD7-C0DD-C56F-65B44D5E1F73}"/>
              </a:ext>
            </a:extLst>
          </p:cNvPr>
          <p:cNvSpPr/>
          <p:nvPr/>
        </p:nvSpPr>
        <p:spPr>
          <a:xfrm>
            <a:off x="9758788" y="4075471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41D7F-B339-CD42-BE10-3048B61FFA5C}"/>
              </a:ext>
            </a:extLst>
          </p:cNvPr>
          <p:cNvSpPr/>
          <p:nvPr/>
        </p:nvSpPr>
        <p:spPr>
          <a:xfrm>
            <a:off x="8698699" y="403880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C8815-1F0A-C588-9B64-86747A23482D}"/>
              </a:ext>
            </a:extLst>
          </p:cNvPr>
          <p:cNvSpPr txBox="1"/>
          <p:nvPr/>
        </p:nvSpPr>
        <p:spPr>
          <a:xfrm>
            <a:off x="9558811" y="3706140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1E32F-41D9-62F4-6533-BD28A175E6C1}"/>
              </a:ext>
            </a:extLst>
          </p:cNvPr>
          <p:cNvSpPr/>
          <p:nvPr/>
        </p:nvSpPr>
        <p:spPr>
          <a:xfrm>
            <a:off x="7638610" y="403880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43921-2245-5CDA-78D5-3FB440DC4E45}"/>
              </a:ext>
            </a:extLst>
          </p:cNvPr>
          <p:cNvSpPr txBox="1"/>
          <p:nvPr/>
        </p:nvSpPr>
        <p:spPr>
          <a:xfrm>
            <a:off x="7401698" y="366724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943AF-2236-F4A3-1590-C771C742434D}"/>
              </a:ext>
            </a:extLst>
          </p:cNvPr>
          <p:cNvSpPr txBox="1"/>
          <p:nvPr/>
        </p:nvSpPr>
        <p:spPr>
          <a:xfrm>
            <a:off x="8615376" y="3713003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07A909-70FA-3E31-CF4F-E2FB95FA4A97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8227583" y="435194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23C17F-8F26-9D1D-5D50-4FEEB0D15AB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9287672" y="434736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3B7185D-CD40-1857-30DF-AB3FA7635E39}"/>
              </a:ext>
            </a:extLst>
          </p:cNvPr>
          <p:cNvSpPr/>
          <p:nvPr/>
        </p:nvSpPr>
        <p:spPr>
          <a:xfrm>
            <a:off x="8710078" y="5069007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196C50-8CE7-5C34-59BC-817989EEF7E6}"/>
              </a:ext>
            </a:extLst>
          </p:cNvPr>
          <p:cNvSpPr/>
          <p:nvPr/>
        </p:nvSpPr>
        <p:spPr>
          <a:xfrm>
            <a:off x="7649989" y="5069006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58E3A-DC0B-21FF-FE6E-62CDFB3C51BA}"/>
              </a:ext>
            </a:extLst>
          </p:cNvPr>
          <p:cNvSpPr txBox="1"/>
          <p:nvPr/>
        </p:nvSpPr>
        <p:spPr>
          <a:xfrm>
            <a:off x="7388966" y="566441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734D8-5E10-E8B8-968B-8D769051D17B}"/>
              </a:ext>
            </a:extLst>
          </p:cNvPr>
          <p:cNvSpPr txBox="1"/>
          <p:nvPr/>
        </p:nvSpPr>
        <p:spPr>
          <a:xfrm>
            <a:off x="8619430" y="5664417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8875B8-377B-3B4B-62E5-59C45AA62A95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8238962" y="5382147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51CB2A-D8C7-660E-FD42-12727BD4EDE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9299051" y="5377565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49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SRAMs in ASICs are expensive</a:t>
            </a:r>
          </a:p>
          <a:p>
            <a:r>
              <a:rPr lang="en-US" dirty="0"/>
              <a:t>Typically limited to small </a:t>
            </a:r>
            <a:r>
              <a:rPr lang="en-US" dirty="0" err="1"/>
              <a:t>memorys</a:t>
            </a:r>
            <a:endParaRPr lang="en-US" dirty="0"/>
          </a:p>
          <a:p>
            <a:r>
              <a:rPr lang="en-US" dirty="0"/>
              <a:t>Limited ports (e.g., 2R/2W)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24" y="3054227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7374-92C4-589A-0378-23B200BC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9679-13FC-DD1F-1414-67FA2FF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DC39-69FB-91B0-2D1A-78041587F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Interconnect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Physical and logical infrastructure for data communication</a:t>
            </a:r>
          </a:p>
          <a:p>
            <a:pPr lvl="1"/>
            <a:r>
              <a:rPr lang="en-US" dirty="0"/>
              <a:t>Between two or more functional units </a:t>
            </a:r>
          </a:p>
          <a:p>
            <a:pPr lvl="1"/>
            <a:r>
              <a:rPr lang="en-US" dirty="0"/>
              <a:t>Cores, memory controllers, I/O.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Topology</a:t>
            </a:r>
            <a:r>
              <a:rPr lang="en-US" dirty="0"/>
              <a:t> (Physical):</a:t>
            </a:r>
          </a:p>
          <a:p>
            <a:pPr lvl="1"/>
            <a:r>
              <a:rPr lang="en-US" dirty="0"/>
              <a:t>Wire layout or links (bus, mesh, crossbar, ring)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Protocol</a:t>
            </a:r>
            <a:r>
              <a:rPr lang="en-US" dirty="0"/>
              <a:t> (Logical):</a:t>
            </a:r>
          </a:p>
          <a:p>
            <a:pPr lvl="1"/>
            <a:r>
              <a:rPr lang="en-US" dirty="0"/>
              <a:t>Signals and timing for access (e.g., AXI4, </a:t>
            </a:r>
            <a:r>
              <a:rPr lang="en-US" dirty="0" err="1"/>
              <a:t>TileLink</a:t>
            </a:r>
            <a:r>
              <a:rPr lang="en-US" dirty="0"/>
              <a:t>, …)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Arbitration</a:t>
            </a:r>
            <a:r>
              <a:rPr lang="en-US" dirty="0"/>
              <a:t> (Control):</a:t>
            </a:r>
          </a:p>
          <a:p>
            <a:pPr lvl="1"/>
            <a:r>
              <a:rPr lang="en-US" dirty="0"/>
              <a:t>Method to resolve contention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9C249-702B-242A-6BEA-F3EAF9DB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70014-6E00-6A19-0613-67E7276AF27D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C7DD-A05A-AA14-7D1D-57157E27CBFD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C2C2E5-C4BE-80BA-0786-BC11218E89CB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4C5FE3-2DF9-BC26-11C9-2239DD258C87}"/>
              </a:ext>
            </a:extLst>
          </p:cNvPr>
          <p:cNvSpPr txBox="1"/>
          <p:nvPr/>
        </p:nvSpPr>
        <p:spPr>
          <a:xfrm>
            <a:off x="9470262" y="1527185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51BDA-11A2-7240-FB4A-1B5AD92BAFAC}"/>
              </a:ext>
            </a:extLst>
          </p:cNvPr>
          <p:cNvSpPr txBox="1"/>
          <p:nvPr/>
        </p:nvSpPr>
        <p:spPr>
          <a:xfrm>
            <a:off x="10564969" y="2041668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329EE-C24E-D31D-7891-6CC4115F284A}"/>
              </a:ext>
            </a:extLst>
          </p:cNvPr>
          <p:cNvSpPr/>
          <p:nvPr/>
        </p:nvSpPr>
        <p:spPr>
          <a:xfrm>
            <a:off x="10765200" y="2535283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0FF3E-3E68-433A-46D4-17F0EB20A842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C46909-A1CA-EC89-E907-381F7DB2EE78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C29B61-A255-043F-F8EB-2DB9FB8897A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10267015" y="3219006"/>
            <a:ext cx="498185" cy="272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C357B1-208A-8FC0-C2B1-F61B5A0EEDAB}"/>
              </a:ext>
            </a:extLst>
          </p:cNvPr>
          <p:cNvSpPr txBox="1"/>
          <p:nvPr/>
        </p:nvSpPr>
        <p:spPr>
          <a:xfrm>
            <a:off x="8589686" y="19374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E630F-804B-6EF5-C02D-73C3C47F5D51}"/>
              </a:ext>
            </a:extLst>
          </p:cNvPr>
          <p:cNvSpPr/>
          <p:nvPr/>
        </p:nvSpPr>
        <p:spPr>
          <a:xfrm>
            <a:off x="9874261" y="4755395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A34F7-CEB6-B892-067B-933E48E7D0C8}"/>
              </a:ext>
            </a:extLst>
          </p:cNvPr>
          <p:cNvSpPr txBox="1"/>
          <p:nvPr/>
        </p:nvSpPr>
        <p:spPr>
          <a:xfrm>
            <a:off x="9638994" y="5470863"/>
            <a:ext cx="112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74728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CB34-BA7D-D5B8-115E-8C9F9BF9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DFC5-53B3-D7E7-3D64-D9C48864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Transactions, Master and Slaves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A8ED-764F-B4DB-78EB-B7F482A9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Transactions</a:t>
            </a:r>
            <a:r>
              <a:rPr lang="en-US" sz="2400" dirty="0">
                <a:solidFill>
                  <a:srgbClr val="00B050"/>
                </a:solidFill>
              </a:rPr>
              <a:t>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A transfer of data over the interconnect</a:t>
            </a:r>
          </a:p>
          <a:p>
            <a:r>
              <a:rPr lang="en-US" sz="2400" dirty="0">
                <a:solidFill>
                  <a:srgbClr val="00B050"/>
                </a:solidFill>
              </a:rPr>
              <a:t>Masters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Request</a:t>
            </a:r>
            <a:r>
              <a:rPr lang="en-US" sz="2000" dirty="0">
                <a:solidFill>
                  <a:schemeClr val="tx1"/>
                </a:solidFill>
              </a:rPr>
              <a:t>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Ex:  processors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Kernels that need to access memory</a:t>
            </a:r>
          </a:p>
          <a:p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Slaves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Respond</a:t>
            </a:r>
            <a:r>
              <a:rPr lang="en-US" sz="2000" dirty="0">
                <a:solidFill>
                  <a:schemeClr val="tx1"/>
                </a:solidFill>
              </a:rPr>
              <a:t> to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Read transactions:  Provide data to a master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transactions:  Accept data from a master</a:t>
            </a:r>
          </a:p>
          <a:p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Arbiter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Determines which transaction is used in each cycle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E93C-29A6-B4F0-3A78-E5930CE0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3B36F-730C-4069-C32D-EA9C48461273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DC048-6DDA-3DBE-EEDB-FEF2EC516317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6EF761-A147-344F-E4CF-44AB19CF4639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A3DA7F-5AD8-5990-155A-07CC4AE9277B}"/>
              </a:ext>
            </a:extLst>
          </p:cNvPr>
          <p:cNvSpPr txBox="1"/>
          <p:nvPr/>
        </p:nvSpPr>
        <p:spPr>
          <a:xfrm>
            <a:off x="9402586" y="1472502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FD13-4026-F9CB-7D16-402517A0A087}"/>
              </a:ext>
            </a:extLst>
          </p:cNvPr>
          <p:cNvSpPr txBox="1"/>
          <p:nvPr/>
        </p:nvSpPr>
        <p:spPr>
          <a:xfrm>
            <a:off x="10647796" y="1954868"/>
            <a:ext cx="83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Slave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200EDB-591E-395B-EEBC-41B48ECB8A3E}"/>
              </a:ext>
            </a:extLst>
          </p:cNvPr>
          <p:cNvSpPr/>
          <p:nvPr/>
        </p:nvSpPr>
        <p:spPr>
          <a:xfrm>
            <a:off x="10745350" y="234430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D6B4F-F0BE-297C-014D-41B9DE3638C1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95A344-ECE7-7C40-07F4-9492AE887971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A93B33-63D2-2A00-2B0E-4F484F585F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267015" y="269531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0B5BF2-642D-084A-3B98-C7CF2737119E}"/>
              </a:ext>
            </a:extLst>
          </p:cNvPr>
          <p:cNvSpPr txBox="1"/>
          <p:nvPr/>
        </p:nvSpPr>
        <p:spPr>
          <a:xfrm>
            <a:off x="8589686" y="1937432"/>
            <a:ext cx="101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751D17-9A7B-ED4F-0ACF-3F7A936063E7}"/>
              </a:ext>
            </a:extLst>
          </p:cNvPr>
          <p:cNvSpPr/>
          <p:nvPr/>
        </p:nvSpPr>
        <p:spPr>
          <a:xfrm>
            <a:off x="9806585" y="4745067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101E41-BDE3-F63E-A7B8-95081E19DF1A}"/>
              </a:ext>
            </a:extLst>
          </p:cNvPr>
          <p:cNvSpPr txBox="1"/>
          <p:nvPr/>
        </p:nvSpPr>
        <p:spPr>
          <a:xfrm>
            <a:off x="9713608" y="5427450"/>
            <a:ext cx="84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/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Master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blipFill>
                <a:blip r:embed="rId2"/>
                <a:stretch>
                  <a:fillRect l="-497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/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Slave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blipFill>
                <a:blip r:embed="rId3"/>
                <a:stretch>
                  <a:fillRect l="-575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A6BECDB-A0FD-C387-927A-3B027854EC52}"/>
              </a:ext>
            </a:extLst>
          </p:cNvPr>
          <p:cNvSpPr/>
          <p:nvPr/>
        </p:nvSpPr>
        <p:spPr>
          <a:xfrm>
            <a:off x="10745350" y="353934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0A00D9-666A-085D-4943-E59E4601EE0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267015" y="389035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8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22D8-273C-8219-2821-E3FC88A5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BEB2-C338-0CD5-E778-0CF10FDE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189345" cy="4329817"/>
          </a:xfrm>
        </p:spPr>
        <p:txBody>
          <a:bodyPr/>
          <a:lstStyle/>
          <a:p>
            <a:r>
              <a:rPr lang="en-US" dirty="0"/>
              <a:t>One data path</a:t>
            </a:r>
          </a:p>
          <a:p>
            <a:r>
              <a:rPr lang="en-US" dirty="0"/>
              <a:t>Only one master-pair link in each cycle</a:t>
            </a:r>
          </a:p>
          <a:p>
            <a:r>
              <a:rPr lang="en-US" dirty="0"/>
              <a:t>Ex:  ARM AHB (Advanced High-Performance Bus)</a:t>
            </a:r>
          </a:p>
          <a:p>
            <a:pPr lvl="1"/>
            <a:r>
              <a:rPr lang="en-US" dirty="0"/>
              <a:t>Pre-cursor to AXI</a:t>
            </a:r>
          </a:p>
          <a:p>
            <a:pPr lvl="1"/>
            <a:r>
              <a:rPr lang="en-US" dirty="0"/>
              <a:t>Traditional shared medium</a:t>
            </a:r>
          </a:p>
          <a:p>
            <a:pPr lvl="1"/>
            <a:r>
              <a:rPr lang="en-US" dirty="0"/>
              <a:t>Each master has dedicated side channel to arbiter</a:t>
            </a:r>
          </a:p>
          <a:p>
            <a:pPr lvl="1"/>
            <a:r>
              <a:rPr lang="en-US" dirty="0"/>
              <a:t>Arbiter selects a master and slave based on requests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B444-D17A-6D5C-2FF5-F5763EAC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9ED671-EAB6-6916-AEA9-90C8EF7A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678" y="1489337"/>
            <a:ext cx="4402984" cy="432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085641-4ED8-7FBE-0CAE-7B5E250D2FBF}"/>
              </a:ext>
            </a:extLst>
          </p:cNvPr>
          <p:cNvSpPr txBox="1"/>
          <p:nvPr/>
        </p:nvSpPr>
        <p:spPr>
          <a:xfrm>
            <a:off x="503698" y="5272703"/>
            <a:ext cx="7468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from </a:t>
            </a:r>
            <a:r>
              <a:rPr lang="en-US" b="1" dirty="0">
                <a:hlinkClick r:id="rId3"/>
              </a:rPr>
              <a:t>The Advanced Microcontroller Bus Architecture: An Introduction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7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DB24-C18F-2390-273F-2556ACB6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0683-FBC9-A4DF-4FCB-410E922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 Topology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Connects: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masters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slaves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Supports parallel master-slave transfers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Each master and slave can be involved in up to one transfer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transfers simultaneously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Enables massive aggregate throughput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Masters have separate request lines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Common example:  AXI4-MM protocol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See section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B825-5F9A-EEC1-EDE8-41934907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2E8E54-1F54-B82C-DEC1-ABDFC27A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60" y="971423"/>
            <a:ext cx="3810196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F560-F5F3-2E55-05CD-D139B720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7DD6-1450-1859-0B6A-1CBEC1420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374833" cy="4329817"/>
          </a:xfrm>
        </p:spPr>
        <p:txBody>
          <a:bodyPr/>
          <a:lstStyle/>
          <a:p>
            <a:r>
              <a:rPr lang="en-US" dirty="0"/>
              <a:t>Ring, Mesh, NoC</a:t>
            </a:r>
          </a:p>
          <a:p>
            <a:r>
              <a:rPr lang="en-US" dirty="0"/>
              <a:t>Widely-used in large Systems on Chips</a:t>
            </a:r>
          </a:p>
          <a:p>
            <a:r>
              <a:rPr lang="en-US" dirty="0"/>
              <a:t>Advanced topic beyond this class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14E13-2EFD-14C3-A367-D49A8C3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959BC-0866-AB96-23BB-404CF4F9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98"/>
          <a:stretch>
            <a:fillRect/>
          </a:stretch>
        </p:blipFill>
        <p:spPr>
          <a:xfrm>
            <a:off x="7674292" y="1918146"/>
            <a:ext cx="3481388" cy="3572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52294F-9AC4-66F4-5B5F-27AFCD684218}"/>
              </a:ext>
            </a:extLst>
          </p:cNvPr>
          <p:cNvSpPr txBox="1"/>
          <p:nvPr/>
        </p:nvSpPr>
        <p:spPr>
          <a:xfrm>
            <a:off x="1252537" y="40213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from Chatterjee, </a:t>
            </a:r>
            <a:r>
              <a:rPr lang="en-US" dirty="0" err="1"/>
              <a:t>Navonil</a:t>
            </a:r>
            <a:r>
              <a:rPr lang="en-US" dirty="0"/>
              <a:t>, Suraj Paul, and Santanu Chattopadhyay. "Fault-tolerant dynamic task mapping and scheduling for network-on-chip-based multicore platform." </a:t>
            </a:r>
            <a:r>
              <a:rPr lang="en-US" i="1" dirty="0"/>
              <a:t>ACM Transactions on Embedded Computing Systems (TECS)</a:t>
            </a:r>
            <a:r>
              <a:rPr lang="en-US" dirty="0"/>
              <a:t> 16.4 (2017): 1-24. </a:t>
            </a:r>
          </a:p>
        </p:txBody>
      </p:sp>
    </p:spTree>
    <p:extLst>
      <p:ext uri="{BB962C8B-B14F-4D97-AF65-F5344CB8AC3E}">
        <p14:creationId xmlns:p14="http://schemas.microsoft.com/office/powerpoint/2010/main" val="100058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94AC-7BD0-4293-DE5E-78C63517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C9D8-2AAD-2726-9E12-AD8DFB5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F91F5-FEEB-2082-716A-FEB486CB0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20A8-16EA-7672-C676-C4EFDC13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FB6562B-2840-C155-B9B6-3A2CA89E0616}"/>
              </a:ext>
            </a:extLst>
          </p:cNvPr>
          <p:cNvSpPr/>
          <p:nvPr/>
        </p:nvSpPr>
        <p:spPr>
          <a:xfrm>
            <a:off x="416235" y="19758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0B5A-A736-D927-F5E7-D89136D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2636"/>
            <a:ext cx="10058400" cy="1040211"/>
          </a:xfrm>
        </p:spPr>
        <p:txBody>
          <a:bodyPr/>
          <a:lstStyle/>
          <a:p>
            <a:r>
              <a:rPr lang="en-US" dirty="0"/>
              <a:t>Stream vs. Shared Memory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CE59-5370-B51C-0465-098403CC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8"/>
            <a:ext cx="4070033" cy="7656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stream transactions (Unit 5)</a:t>
            </a:r>
          </a:p>
          <a:p>
            <a:pPr marL="0" indent="0">
              <a:buNone/>
            </a:pPr>
            <a:r>
              <a:rPr lang="en-US" dirty="0"/>
              <a:t>Send data &amp; control on stream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3051-6CF4-2C92-95CC-6736E4A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32EE7-07DA-117D-3A6E-B41FDE426B6A}"/>
              </a:ext>
            </a:extLst>
          </p:cNvPr>
          <p:cNvSpPr/>
          <p:nvPr/>
        </p:nvSpPr>
        <p:spPr>
          <a:xfrm>
            <a:off x="975986" y="3887543"/>
            <a:ext cx="723900" cy="12530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07C7F-60B1-47FC-F752-DB2CC5F0F53B}"/>
              </a:ext>
            </a:extLst>
          </p:cNvPr>
          <p:cNvSpPr/>
          <p:nvPr/>
        </p:nvSpPr>
        <p:spPr>
          <a:xfrm>
            <a:off x="3913564" y="3943114"/>
            <a:ext cx="723900" cy="1259286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4F54F9-15E9-3D0B-F362-9A4296B6763D}"/>
              </a:ext>
            </a:extLst>
          </p:cNvPr>
          <p:cNvCxnSpPr>
            <a:cxnSpLocks/>
          </p:cNvCxnSpPr>
          <p:nvPr/>
        </p:nvCxnSpPr>
        <p:spPr>
          <a:xfrm>
            <a:off x="1699886" y="4052756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499BC5-2DE7-96A3-1CEA-CC34EC811FD3}"/>
              </a:ext>
            </a:extLst>
          </p:cNvPr>
          <p:cNvCxnSpPr>
            <a:cxnSpLocks/>
          </p:cNvCxnSpPr>
          <p:nvPr/>
        </p:nvCxnSpPr>
        <p:spPr>
          <a:xfrm flipH="1">
            <a:off x="1699886" y="4972031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1AE17E-EC31-6668-2AC6-8DBD84AC4693}"/>
              </a:ext>
            </a:extLst>
          </p:cNvPr>
          <p:cNvSpPr txBox="1"/>
          <p:nvPr/>
        </p:nvSpPr>
        <p:spPr>
          <a:xfrm>
            <a:off x="1051171" y="3211661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B6119-1940-A551-588D-4F19547941C5}"/>
              </a:ext>
            </a:extLst>
          </p:cNvPr>
          <p:cNvSpPr txBox="1"/>
          <p:nvPr/>
        </p:nvSpPr>
        <p:spPr>
          <a:xfrm>
            <a:off x="3922301" y="3255181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75E08-0F3C-FADF-EBDA-CB701599C6FE}"/>
              </a:ext>
            </a:extLst>
          </p:cNvPr>
          <p:cNvSpPr txBox="1"/>
          <p:nvPr/>
        </p:nvSpPr>
        <p:spPr>
          <a:xfrm>
            <a:off x="1824672" y="3332126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111B4-2F46-E627-6E78-77112276FF2E}"/>
              </a:ext>
            </a:extLst>
          </p:cNvPr>
          <p:cNvSpPr txBox="1"/>
          <p:nvPr/>
        </p:nvSpPr>
        <p:spPr>
          <a:xfrm>
            <a:off x="1885152" y="5048350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3C554-14F4-076F-2A95-66EC2437A45D}"/>
              </a:ext>
            </a:extLst>
          </p:cNvPr>
          <p:cNvSpPr/>
          <p:nvPr/>
        </p:nvSpPr>
        <p:spPr>
          <a:xfrm>
            <a:off x="9295195" y="3591399"/>
            <a:ext cx="187603" cy="2134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1FCC8-489F-3AC2-BD48-7939FFAE2029}"/>
              </a:ext>
            </a:extLst>
          </p:cNvPr>
          <p:cNvSpPr/>
          <p:nvPr/>
        </p:nvSpPr>
        <p:spPr>
          <a:xfrm>
            <a:off x="7468540" y="348539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705F49-D162-02E4-769C-CCE0F002109E}"/>
              </a:ext>
            </a:extLst>
          </p:cNvPr>
          <p:cNvCxnSpPr>
            <a:cxnSpLocks/>
          </p:cNvCxnSpPr>
          <p:nvPr/>
        </p:nvCxnSpPr>
        <p:spPr>
          <a:xfrm>
            <a:off x="8192440" y="372036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19D61C-4D4D-7E69-C8E2-3CAC66527C4F}"/>
              </a:ext>
            </a:extLst>
          </p:cNvPr>
          <p:cNvSpPr txBox="1"/>
          <p:nvPr/>
        </p:nvSpPr>
        <p:spPr>
          <a:xfrm>
            <a:off x="9128347" y="310532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EACCD5-2385-2A33-4C4E-848ACAFD3081}"/>
              </a:ext>
            </a:extLst>
          </p:cNvPr>
          <p:cNvSpPr/>
          <p:nvPr/>
        </p:nvSpPr>
        <p:spPr>
          <a:xfrm>
            <a:off x="9960961" y="4346171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7B346-7BDD-6526-128D-ECCE2ED13B60}"/>
              </a:ext>
            </a:extLst>
          </p:cNvPr>
          <p:cNvSpPr/>
          <p:nvPr/>
        </p:nvSpPr>
        <p:spPr>
          <a:xfrm>
            <a:off x="7375039" y="512410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A1EC9D-C6A8-10B5-3CD0-C5D120BC5330}"/>
              </a:ext>
            </a:extLst>
          </p:cNvPr>
          <p:cNvCxnSpPr>
            <a:cxnSpLocks/>
          </p:cNvCxnSpPr>
          <p:nvPr/>
        </p:nvCxnSpPr>
        <p:spPr>
          <a:xfrm>
            <a:off x="8098939" y="5431991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9CE4A9-C924-5CF6-6573-A0CD7CDD45DE}"/>
              </a:ext>
            </a:extLst>
          </p:cNvPr>
          <p:cNvCxnSpPr>
            <a:cxnSpLocks/>
          </p:cNvCxnSpPr>
          <p:nvPr/>
        </p:nvCxnSpPr>
        <p:spPr>
          <a:xfrm>
            <a:off x="9489188" y="4697177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314F6D-CA1F-851A-DD87-A8DE06E6F665}"/>
              </a:ext>
            </a:extLst>
          </p:cNvPr>
          <p:cNvSpPr txBox="1"/>
          <p:nvPr/>
        </p:nvSpPr>
        <p:spPr>
          <a:xfrm>
            <a:off x="7205916" y="5662431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43CF3-3E81-DB36-647B-5B9B47E137CF}"/>
              </a:ext>
            </a:extLst>
          </p:cNvPr>
          <p:cNvSpPr txBox="1"/>
          <p:nvPr/>
        </p:nvSpPr>
        <p:spPr>
          <a:xfrm>
            <a:off x="7468540" y="311670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1BDDF9-90BE-BD44-4150-6CB7731749AB}"/>
              </a:ext>
            </a:extLst>
          </p:cNvPr>
          <p:cNvCxnSpPr>
            <a:cxnSpLocks/>
          </p:cNvCxnSpPr>
          <p:nvPr/>
        </p:nvCxnSpPr>
        <p:spPr>
          <a:xfrm>
            <a:off x="8010356" y="4017851"/>
            <a:ext cx="0" cy="105606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CCC697-454A-BA54-0D38-0EF6A51AFFC1}"/>
              </a:ext>
            </a:extLst>
          </p:cNvPr>
          <p:cNvCxnSpPr>
            <a:cxnSpLocks/>
          </p:cNvCxnSpPr>
          <p:nvPr/>
        </p:nvCxnSpPr>
        <p:spPr>
          <a:xfrm flipV="1">
            <a:off x="7600979" y="3985492"/>
            <a:ext cx="0" cy="1079057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EF7071-9F05-C951-5900-5CF0B42E5D04}"/>
              </a:ext>
            </a:extLst>
          </p:cNvPr>
          <p:cNvSpPr txBox="1"/>
          <p:nvPr/>
        </p:nvSpPr>
        <p:spPr>
          <a:xfrm>
            <a:off x="6549617" y="3974481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0956B-D7D6-D392-7E7D-9784114DDF27}"/>
              </a:ext>
            </a:extLst>
          </p:cNvPr>
          <p:cNvSpPr txBox="1"/>
          <p:nvPr/>
        </p:nvSpPr>
        <p:spPr>
          <a:xfrm>
            <a:off x="8016919" y="3985492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AA3F6-2C75-30C0-3A7A-5734F2F7B60E}"/>
              </a:ext>
            </a:extLst>
          </p:cNvPr>
          <p:cNvSpPr txBox="1"/>
          <p:nvPr/>
        </p:nvSpPr>
        <p:spPr>
          <a:xfrm>
            <a:off x="8439764" y="338181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561AA0-6663-A349-A07E-6B511B35F693}"/>
              </a:ext>
            </a:extLst>
          </p:cNvPr>
          <p:cNvSpPr txBox="1"/>
          <p:nvPr/>
        </p:nvSpPr>
        <p:spPr>
          <a:xfrm>
            <a:off x="8380941" y="503938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882C94-0C72-04E3-9434-179A617C316B}"/>
              </a:ext>
            </a:extLst>
          </p:cNvPr>
          <p:cNvSpPr txBox="1"/>
          <p:nvPr/>
        </p:nvSpPr>
        <p:spPr>
          <a:xfrm>
            <a:off x="9758168" y="3976839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5BCDC1D-CB4F-3F21-9320-668EDFC38401}"/>
              </a:ext>
            </a:extLst>
          </p:cNvPr>
          <p:cNvSpPr txBox="1">
            <a:spLocks/>
          </p:cNvSpPr>
          <p:nvPr/>
        </p:nvSpPr>
        <p:spPr>
          <a:xfrm>
            <a:off x="6838010" y="1504753"/>
            <a:ext cx="4256710" cy="126684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 transaction (This unit)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Send control on dedicated stream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Transfer data via shared memory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5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55B9-3C5E-3C20-2D14-661F27FD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Transfer (Unit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DEE5-4D97-17B9-B03F-0E4EF54DF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150" y="1539277"/>
            <a:ext cx="5764530" cy="4329817"/>
          </a:xfrm>
        </p:spPr>
        <p:txBody>
          <a:bodyPr>
            <a:normAutofit/>
          </a:bodyPr>
          <a:lstStyle/>
          <a:p>
            <a:r>
              <a:rPr lang="en-US" dirty="0"/>
              <a:t>Consider processing system (PS) sending job to kernel</a:t>
            </a:r>
          </a:p>
          <a:p>
            <a:r>
              <a:rPr lang="en-US" dirty="0"/>
              <a:t>Use two streams</a:t>
            </a:r>
          </a:p>
          <a:p>
            <a:r>
              <a:rPr lang="en-US" dirty="0"/>
              <a:t>Command stream:  PS is master and sends to kernel</a:t>
            </a:r>
          </a:p>
          <a:p>
            <a:pPr lvl="1"/>
            <a:r>
              <a:rPr lang="en-US" dirty="0"/>
              <a:t>Command message descriptor</a:t>
            </a:r>
          </a:p>
          <a:p>
            <a:pPr lvl="1"/>
            <a:r>
              <a:rPr lang="en-US" dirty="0"/>
              <a:t>Input data to process</a:t>
            </a:r>
          </a:p>
          <a:p>
            <a:r>
              <a:rPr lang="en-US" dirty="0"/>
              <a:t>Response stream:  Kernel is master and sends to PS</a:t>
            </a:r>
          </a:p>
          <a:p>
            <a:pPr lvl="1"/>
            <a:r>
              <a:rPr lang="en-US" dirty="0"/>
              <a:t>Processed output data</a:t>
            </a:r>
          </a:p>
          <a:p>
            <a:pPr lvl="1"/>
            <a:r>
              <a:rPr lang="en-US" dirty="0"/>
              <a:t>Response descriptor (e.g., error codes, 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3104-9891-3BFA-4735-C48B3F2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F92E8-A8D9-92B6-6E48-F02EFE3FCF27}"/>
              </a:ext>
            </a:extLst>
          </p:cNvPr>
          <p:cNvSpPr/>
          <p:nvPr/>
        </p:nvSpPr>
        <p:spPr>
          <a:xfrm>
            <a:off x="702813" y="2961844"/>
            <a:ext cx="723900" cy="18498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02475-6232-C8CD-6FD5-1526B22542C8}"/>
              </a:ext>
            </a:extLst>
          </p:cNvPr>
          <p:cNvSpPr/>
          <p:nvPr/>
        </p:nvSpPr>
        <p:spPr>
          <a:xfrm>
            <a:off x="3640391" y="3017415"/>
            <a:ext cx="723900" cy="1794274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6FD38D-690C-87B5-2145-4302773D149C}"/>
              </a:ext>
            </a:extLst>
          </p:cNvPr>
          <p:cNvCxnSpPr>
            <a:cxnSpLocks/>
          </p:cNvCxnSpPr>
          <p:nvPr/>
        </p:nvCxnSpPr>
        <p:spPr>
          <a:xfrm>
            <a:off x="1426713" y="3127057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4552EE-EAD6-7F4D-9121-A16E8C8D6746}"/>
              </a:ext>
            </a:extLst>
          </p:cNvPr>
          <p:cNvCxnSpPr>
            <a:cxnSpLocks/>
          </p:cNvCxnSpPr>
          <p:nvPr/>
        </p:nvCxnSpPr>
        <p:spPr>
          <a:xfrm flipH="1">
            <a:off x="1426713" y="4522469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ADE3C7-83B2-164C-7300-C0406776B657}"/>
              </a:ext>
            </a:extLst>
          </p:cNvPr>
          <p:cNvSpPr txBox="1"/>
          <p:nvPr/>
        </p:nvSpPr>
        <p:spPr>
          <a:xfrm>
            <a:off x="777998" y="2285962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E5BF1-775A-F720-B9B1-B0160758CE1B}"/>
              </a:ext>
            </a:extLst>
          </p:cNvPr>
          <p:cNvSpPr txBox="1"/>
          <p:nvPr/>
        </p:nvSpPr>
        <p:spPr>
          <a:xfrm>
            <a:off x="3649128" y="2329482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0941-81A8-1567-F81B-1588CEDDD8D4}"/>
              </a:ext>
            </a:extLst>
          </p:cNvPr>
          <p:cNvSpPr txBox="1"/>
          <p:nvPr/>
        </p:nvSpPr>
        <p:spPr>
          <a:xfrm>
            <a:off x="1551499" y="2406427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5ABB4-E0DB-7FF9-E129-39417621A75A}"/>
              </a:ext>
            </a:extLst>
          </p:cNvPr>
          <p:cNvSpPr txBox="1"/>
          <p:nvPr/>
        </p:nvSpPr>
        <p:spPr>
          <a:xfrm>
            <a:off x="1524856" y="4604135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</p:spTree>
    <p:extLst>
      <p:ext uri="{BB962C8B-B14F-4D97-AF65-F5344CB8AC3E}">
        <p14:creationId xmlns:p14="http://schemas.microsoft.com/office/powerpoint/2010/main" val="78804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8894-BE8D-2626-7FA1-E9AE1D2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Transaction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</p:spPr>
            <p:txBody>
              <a:bodyPr/>
              <a:lstStyle/>
              <a:p>
                <a:r>
                  <a:rPr lang="en-US" dirty="0"/>
                  <a:t>PS and IP kernel both masters on a shared bus</a:t>
                </a:r>
              </a:p>
              <a:p>
                <a:r>
                  <a:rPr lang="en-US" dirty="0"/>
                  <a:t>Memory is a slave</a:t>
                </a:r>
              </a:p>
              <a:p>
                <a:r>
                  <a:rPr lang="en-US" dirty="0"/>
                  <a:t>Dedicated streams</a:t>
                </a:r>
              </a:p>
              <a:p>
                <a:pPr lvl="1"/>
                <a:r>
                  <a:rPr lang="en-US" dirty="0"/>
                  <a:t>Command stream:  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kernel</a:t>
                </a:r>
              </a:p>
              <a:p>
                <a:pPr lvl="1"/>
                <a:r>
                  <a:rPr lang="en-US" dirty="0"/>
                  <a:t>Response stream:  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PS</a:t>
                </a:r>
              </a:p>
              <a:p>
                <a:r>
                  <a:rPr lang="en-US" dirty="0"/>
                  <a:t>Streams are used for control</a:t>
                </a:r>
              </a:p>
              <a:p>
                <a:r>
                  <a:rPr lang="en-US" dirty="0"/>
                  <a:t>Right now, streams implemented on separate channels</a:t>
                </a:r>
              </a:p>
              <a:p>
                <a:pPr lvl="1"/>
                <a:r>
                  <a:rPr lang="en-US" dirty="0"/>
                  <a:t>Ex:  AXI4-Stream</a:t>
                </a:r>
              </a:p>
              <a:p>
                <a:pPr lvl="1"/>
                <a:r>
                  <a:rPr lang="en-US" dirty="0"/>
                  <a:t>Later, we will show to map these into memory</a:t>
                </a:r>
              </a:p>
              <a:p>
                <a:r>
                  <a:rPr lang="en-US" dirty="0"/>
                  <a:t>Memory and bus are used for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  <a:blipFill>
                <a:blip r:embed="rId2"/>
                <a:stretch>
                  <a:fillRect l="-240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0AB9F-9375-B625-4026-56131D1F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01995-9B20-6218-A46D-7F5F43C45E86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B885A-CECF-CDBA-1E1A-EB4AADBF59C8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45C684-98F9-68CD-5D97-DD47EB279691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7A136B-033C-C961-AB66-66E4460E08C8}"/>
              </a:ext>
            </a:extLst>
          </p:cNvPr>
          <p:cNvSpPr txBox="1"/>
          <p:nvPr/>
        </p:nvSpPr>
        <p:spPr>
          <a:xfrm>
            <a:off x="2812161" y="1851240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FE481-FB76-C1B1-0463-EEEF7EF8E096}"/>
              </a:ext>
            </a:extLst>
          </p:cNvPr>
          <p:cNvSpPr txBox="1"/>
          <p:nvPr/>
        </p:nvSpPr>
        <p:spPr>
          <a:xfrm>
            <a:off x="3547783" y="2384480"/>
            <a:ext cx="1041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</a:t>
            </a:r>
            <a:br>
              <a:rPr lang="en-US" dirty="0"/>
            </a:br>
            <a:r>
              <a:rPr lang="en-US" dirty="0"/>
              <a:t>slave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BC0544-5CD3-A79C-F906-5CDB4EDBC700}"/>
              </a:ext>
            </a:extLst>
          </p:cNvPr>
          <p:cNvSpPr/>
          <p:nvPr/>
        </p:nvSpPr>
        <p:spPr>
          <a:xfrm>
            <a:off x="3667306" y="2969664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6B9357-885E-A4B7-ABE4-62BD7C45F9B7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742FC-E5C7-7D49-24A8-D93B172081C3}"/>
              </a:ext>
            </a:extLst>
          </p:cNvPr>
          <p:cNvCxnSpPr>
            <a:cxnSpLocks/>
          </p:cNvCxnSpPr>
          <p:nvPr/>
        </p:nvCxnSpPr>
        <p:spPr>
          <a:xfrm>
            <a:off x="1760221" y="4734810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DBC975-671C-8D75-8A79-3EDF91EDA857}"/>
              </a:ext>
            </a:extLst>
          </p:cNvPr>
          <p:cNvCxnSpPr>
            <a:cxnSpLocks/>
          </p:cNvCxnSpPr>
          <p:nvPr/>
        </p:nvCxnSpPr>
        <p:spPr>
          <a:xfrm>
            <a:off x="3195533" y="3320670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6CE05B-2FC2-DF35-5031-50D5A68DF666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1DD47-3FF2-74EF-D1AA-269441174EE0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A4D3B0-B7BC-D041-94FD-F2574D1821AA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CCBD5-C753-5E8B-FD4C-FA2D97AB5C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C55A7A-90BB-B19B-7CFB-DE6F1F8F7331}"/>
              </a:ext>
            </a:extLst>
          </p:cNvPr>
          <p:cNvSpPr txBox="1"/>
          <p:nvPr/>
        </p:nvSpPr>
        <p:spPr>
          <a:xfrm>
            <a:off x="210899" y="3277300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D70603-BD71-3D84-20A4-27CE0EA9A7F6}"/>
              </a:ext>
            </a:extLst>
          </p:cNvPr>
          <p:cNvSpPr txBox="1"/>
          <p:nvPr/>
        </p:nvSpPr>
        <p:spPr>
          <a:xfrm>
            <a:off x="1678201" y="3288311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DFF74-54C2-491B-AA8F-2E3674D5C1D2}"/>
              </a:ext>
            </a:extLst>
          </p:cNvPr>
          <p:cNvSpPr txBox="1"/>
          <p:nvPr/>
        </p:nvSpPr>
        <p:spPr>
          <a:xfrm>
            <a:off x="2076899" y="223596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3CE82-BB85-C69B-7118-4BCC09B4154B}"/>
              </a:ext>
            </a:extLst>
          </p:cNvPr>
          <p:cNvSpPr txBox="1"/>
          <p:nvPr/>
        </p:nvSpPr>
        <p:spPr>
          <a:xfrm>
            <a:off x="2042223" y="4342200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809927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264E-4BFE-967C-47BB-880C491D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5889-E990-C07B-6F93-2346DFD0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Command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BA4C-4B0E-5C64-4B0F-E99CF91F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PS writes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input data </a:t>
            </a:r>
            <a:r>
              <a:rPr lang="en-US" sz="2400" dirty="0"/>
              <a:t>into memory</a:t>
            </a:r>
          </a:p>
          <a:p>
            <a:pPr lvl="1"/>
            <a:r>
              <a:rPr lang="en-US" sz="2000" dirty="0"/>
              <a:t>Data to be processed</a:t>
            </a:r>
          </a:p>
          <a:p>
            <a:endParaRPr lang="en-US" sz="2400" dirty="0"/>
          </a:p>
          <a:p>
            <a:r>
              <a:rPr lang="en-US" sz="2400" dirty="0"/>
              <a:t>PS sends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input command </a:t>
            </a:r>
            <a:r>
              <a:rPr lang="en-US" sz="2400" dirty="0"/>
              <a:t>to kernel</a:t>
            </a:r>
          </a:p>
          <a:p>
            <a:pPr lvl="1"/>
            <a:r>
              <a:rPr lang="en-US" sz="2000" dirty="0"/>
              <a:t>Input address:  Where data resides</a:t>
            </a:r>
          </a:p>
          <a:p>
            <a:pPr lvl="1"/>
            <a:r>
              <a:rPr lang="en-US" sz="2000" dirty="0"/>
              <a:t>Output address:  Where output should reside</a:t>
            </a:r>
          </a:p>
          <a:p>
            <a:pPr lvl="1"/>
            <a:r>
              <a:rPr lang="en-US" sz="2000" dirty="0"/>
              <a:t>Command info:  What to do with data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CC88-8D44-0E6F-2143-A9D8F3BA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06771-8997-AFDD-E6AC-1F2DA3BC6D54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BCDD7-8592-D116-88EA-4AB094F2A843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ACA002-D323-AB1A-3800-5669253E6D83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A4D661-880C-D0A9-AAE0-84D6DF1E2392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46A63-3A86-8A93-2E67-E4813CA1EEA5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8ADF3-BE64-75B9-13D0-0A588F5675AF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3C6BB-9C95-9888-5E23-AEEB39D4388B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5CE63-F8CF-E3DE-891E-49F124799D3F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B88957-34F1-A8FC-A992-198D5BD9C601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62177B-D631-D46B-1065-1ECA3CA1B0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D1E3479-53FE-B3C0-FE42-142A70434168}"/>
              </a:ext>
            </a:extLst>
          </p:cNvPr>
          <p:cNvSpPr txBox="1"/>
          <p:nvPr/>
        </p:nvSpPr>
        <p:spPr>
          <a:xfrm>
            <a:off x="1678201" y="3288311"/>
            <a:ext cx="1018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Input 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command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DDC42A-361B-8896-240E-CBA50C1253A6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71501A-F503-3EB8-32F5-6219C18BE3C8}"/>
              </a:ext>
            </a:extLst>
          </p:cNvPr>
          <p:cNvCxnSpPr>
            <a:cxnSpLocks/>
          </p:cNvCxnSpPr>
          <p:nvPr/>
        </p:nvCxnSpPr>
        <p:spPr>
          <a:xfrm>
            <a:off x="1829574" y="4747689"/>
            <a:ext cx="1066025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22F7B5-6B0E-EA8F-C4D6-3F047D4BB614}"/>
              </a:ext>
            </a:extLst>
          </p:cNvPr>
          <p:cNvCxnSpPr>
            <a:cxnSpLocks/>
          </p:cNvCxnSpPr>
          <p:nvPr/>
        </p:nvCxnSpPr>
        <p:spPr>
          <a:xfrm>
            <a:off x="3189143" y="2930122"/>
            <a:ext cx="607317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E2EF24-B662-DE47-8252-3933A0F15D5F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2720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BE61-BA64-0089-B116-D1551BCB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FE36-9170-DBF6-69A8-A697304E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Compute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C66D-86DB-F4C6-4D06-767B7ACDD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reads </a:t>
            </a:r>
            <a:r>
              <a:rPr lang="en-US" sz="2400" dirty="0">
                <a:solidFill>
                  <a:schemeClr val="accent1"/>
                </a:solidFill>
              </a:rPr>
              <a:t>input data </a:t>
            </a:r>
            <a:r>
              <a:rPr lang="en-US" sz="2400" dirty="0"/>
              <a:t>from memory</a:t>
            </a:r>
          </a:p>
          <a:p>
            <a:pPr lvl="1"/>
            <a:r>
              <a:rPr lang="en-US" sz="2000" dirty="0"/>
              <a:t>Uses input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processes input data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99649-7254-BD2F-F317-A63D5CE0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08C99-E3FB-D8BB-D550-758EE132C2AA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D9764-499F-B527-62D1-3F0B93A66C86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05813C-EF00-06EF-0017-7560F6CC20A7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2B19E1-2C89-064D-4FA1-367E90BD9A8B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D2C01-155C-363D-9B1F-C87A2FF35EF6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A082A-9BDE-DA27-FA11-A7DB32D6234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C8B8D-5291-E734-C9EA-D20B3286F16C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5EDB0-3047-22DD-D5FF-0ADB7E60D131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F6A4DA-96DF-CE50-814D-3AAAE6799DAA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F0D578-B9B1-A84B-F155-7A5A84DBBAD7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FBD75-AFAD-085F-4B42-55DAA4D788BC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6723DC-7BA4-913F-BD95-2691D46A064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87901C-2F99-02AE-0D95-676AF955A248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C7A1A3-A6A6-4E51-326D-B8282F94E169}"/>
              </a:ext>
            </a:extLst>
          </p:cNvPr>
          <p:cNvCxnSpPr>
            <a:cxnSpLocks/>
          </p:cNvCxnSpPr>
          <p:nvPr/>
        </p:nvCxnSpPr>
        <p:spPr>
          <a:xfrm flipH="1">
            <a:off x="3189143" y="2990114"/>
            <a:ext cx="600073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1578A5-6281-AC4D-FF4F-3B5586A4CD72}"/>
              </a:ext>
            </a:extLst>
          </p:cNvPr>
          <p:cNvSpPr txBox="1"/>
          <p:nvPr/>
        </p:nvSpPr>
        <p:spPr>
          <a:xfrm>
            <a:off x="167797" y="4367368"/>
            <a:ext cx="1190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Computes </a:t>
            </a:r>
          </a:p>
          <a:p>
            <a:r>
              <a:rPr lang="en-US" dirty="0">
                <a:solidFill>
                  <a:srgbClr val="00B050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42943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0BD6-E9E8-AF2B-CDF9-03EF88DD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F458-F811-BC71-2552-440BE5EF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Response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DBED7-B221-FD24-E81F-957CB7C90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writes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output data </a:t>
            </a:r>
            <a:r>
              <a:rPr lang="en-US" sz="2400" dirty="0"/>
              <a:t>to memory</a:t>
            </a:r>
          </a:p>
          <a:p>
            <a:pPr lvl="1"/>
            <a:r>
              <a:rPr lang="en-US" sz="2000" dirty="0"/>
              <a:t>Uses output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sends 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AF8F2-716D-2485-92C0-0CA3EC27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202A7-DB4F-2A2C-29DF-DA27CFED8645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8D752-0879-88E5-948A-D7F8F30712F3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624F2A-6A7F-39B5-09E8-DD2E3C1B746C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98F038-0877-8F12-D69A-8D36A599879D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30E58-FC60-3A62-42F0-85E4E81ACF31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8AF90F-D814-82A6-C01C-9B341D72476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A4CDD-6DEE-7E60-33A5-8B6C90EF64A2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6A155-8865-37DF-9C24-E970DDB0195C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5AFB13-F09C-44B5-5329-EEC5482C07D8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7827C-19B7-B981-274E-91095BA5CB6D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B447C-B695-F541-8EA8-18E4CC0B347D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57E98D-BAC9-5ED9-A5A7-A1D7AC16DEE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964D50-A891-2D50-1AE7-CAA8B684FC43}"/>
              </a:ext>
            </a:extLst>
          </p:cNvPr>
          <p:cNvSpPr txBox="1"/>
          <p:nvPr/>
        </p:nvSpPr>
        <p:spPr>
          <a:xfrm>
            <a:off x="4734116" y="3956033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Output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DC5CF4-4A2A-4FC3-10E9-1E16EA1C8FA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222106" y="4279199"/>
            <a:ext cx="567110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1DBA68-0544-7310-73F0-7EF3FF7B5E2D}"/>
              </a:ext>
            </a:extLst>
          </p:cNvPr>
          <p:cNvSpPr txBox="1"/>
          <p:nvPr/>
        </p:nvSpPr>
        <p:spPr>
          <a:xfrm>
            <a:off x="351400" y="3196092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C04FD-D23F-75DA-A68E-95197BD58543}"/>
              </a:ext>
            </a:extLst>
          </p:cNvPr>
          <p:cNvSpPr/>
          <p:nvPr/>
        </p:nvSpPr>
        <p:spPr>
          <a:xfrm>
            <a:off x="3789216" y="4017130"/>
            <a:ext cx="797944" cy="524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F2525-912A-4811-3238-CA2A8A0425DE}"/>
              </a:ext>
            </a:extLst>
          </p:cNvPr>
          <p:cNvSpPr txBox="1"/>
          <p:nvPr/>
        </p:nvSpPr>
        <p:spPr>
          <a:xfrm>
            <a:off x="4773456" y="2699733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52849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25BC-81EC-FE87-B597-A660503B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vs. Shared Memory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05E18F-4AA5-DCBA-6BF7-C89F6EDD4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362498"/>
              </p:ext>
            </p:extLst>
          </p:nvPr>
        </p:nvGraphicFramePr>
        <p:xfrm>
          <a:off x="1096962" y="1539874"/>
          <a:ext cx="8751888" cy="447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296">
                  <a:extLst>
                    <a:ext uri="{9D8B030D-6E8A-4147-A177-3AD203B41FA5}">
                      <a16:colId xmlns:a16="http://schemas.microsoft.com/office/drawing/2014/main" val="688608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30504585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1839521343"/>
                    </a:ext>
                  </a:extLst>
                </a:gridCol>
              </a:tblGrid>
              <a:tr h="5712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4787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Access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443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Producer pushes data when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pulls data when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07425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Deterministic; minimal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Variable; depends on arbitration and usage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68838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Arbitration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 if point-to-point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814698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design but adds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43956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Dedicated resources per link, no statistical multiplexing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resources, enables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205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B01C-6B5F-A0B7-5353-EDDA00DD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704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9350-0D93-1C84-3CA7-1B480764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Streaming Example:  Simple Video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9BE3-A7A4-C67B-B75A-D5530CAB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12908" cy="4329817"/>
          </a:xfrm>
        </p:spPr>
        <p:txBody>
          <a:bodyPr/>
          <a:lstStyle/>
          <a:p>
            <a:r>
              <a:rPr lang="en-US" dirty="0"/>
              <a:t>Deterministic sequential flow</a:t>
            </a:r>
          </a:p>
          <a:p>
            <a:r>
              <a:rPr lang="en-US" dirty="0"/>
              <a:t>Need dedicated high-speed links</a:t>
            </a:r>
          </a:p>
          <a:p>
            <a:r>
              <a:rPr lang="en-US" dirty="0"/>
              <a:t>Buffering is memory intensive</a:t>
            </a:r>
          </a:p>
          <a:p>
            <a:r>
              <a:rPr lang="en-US" dirty="0"/>
              <a:t>Need minimal reconfiguration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670F-A047-E82A-2E1C-D74CEAFA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1A24E-9360-8205-24A8-F2E255C1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72" y="1730974"/>
            <a:ext cx="5154966" cy="3946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EBC2F0-64AE-746B-FC80-409D78EE1E7C}"/>
              </a:ext>
            </a:extLst>
          </p:cNvPr>
          <p:cNvSpPr txBox="1"/>
          <p:nvPr/>
        </p:nvSpPr>
        <p:spPr>
          <a:xfrm>
            <a:off x="233362" y="4843374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Tran, Van-Huan, and Xuan-Tu Tran. "An efficient architecture design for VGA monitor controller."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2011 International Conference on Consumer Electronics, Communications and Networks (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CECNet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2011.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8286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9DC7-252E-2E19-6F88-24137DA1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Ex:  Mobile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F9C-FF37-2578-F9FD-FFE31E53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 </a:t>
            </a:r>
          </a:p>
          <a:p>
            <a:pPr lvl="1"/>
            <a:r>
              <a:rPr lang="en-US" dirty="0"/>
              <a:t>Qualcomm Snapdragon, Apple MacBook M3</a:t>
            </a:r>
          </a:p>
          <a:p>
            <a:r>
              <a:rPr lang="en-US" dirty="0"/>
              <a:t>NPU, CPU, GPU have access to common DDR memory</a:t>
            </a:r>
          </a:p>
          <a:p>
            <a:r>
              <a:rPr lang="en-US" dirty="0"/>
              <a:t>CPU can write address to NPU, GPU</a:t>
            </a:r>
          </a:p>
          <a:p>
            <a:r>
              <a:rPr lang="en-US" dirty="0"/>
              <a:t>NPU, GPU stores / retrieves data from memory</a:t>
            </a:r>
          </a:p>
          <a:p>
            <a:r>
              <a:rPr lang="en-US" dirty="0"/>
              <a:t>Widely-used in virtually all SoC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E9733-6BB6-06E7-8B8E-0E7702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B966B-2E6D-8008-F5C7-DAB1B36D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57" y="1856386"/>
            <a:ext cx="3916163" cy="34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1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9D95-5A35-789E-0DF3-7454AF2B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218E-17E4-50E1-8534-2A902889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Memory Ex:  Nvidia DGX H100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6671-C9B9-5F53-E7D3-FF282C790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5399241" cy="4329817"/>
          </a:xfrm>
        </p:spPr>
        <p:txBody>
          <a:bodyPr/>
          <a:lstStyle/>
          <a:p>
            <a:r>
              <a:rPr lang="en-US" dirty="0"/>
              <a:t>LLMs stored in massive shared memory</a:t>
            </a:r>
          </a:p>
          <a:p>
            <a:r>
              <a:rPr lang="en-US" dirty="0"/>
              <a:t>H100 GPUs fetch data as need</a:t>
            </a:r>
          </a:p>
          <a:p>
            <a:r>
              <a:rPr lang="en-US" dirty="0"/>
              <a:t>Use high throughput </a:t>
            </a:r>
            <a:r>
              <a:rPr lang="en-US" dirty="0" err="1"/>
              <a:t>NvLink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47D2-BA6A-7906-0CEF-A0590510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5B72C-58F9-A711-0229-80E35A6B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9" y="2562367"/>
            <a:ext cx="7239372" cy="34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81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547C-ABD2-C81F-38BA-41678A80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A093-8A23-C630-86AA-ABC08D63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BD306-A5C3-571A-D2B9-63809617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37E4-7B2A-FB1E-45FC-8B2FBA13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C7DF8CC-35AC-1FBB-70A1-5F88AE2E0F1D}"/>
              </a:ext>
            </a:extLst>
          </p:cNvPr>
          <p:cNvSpPr/>
          <p:nvPr/>
        </p:nvSpPr>
        <p:spPr>
          <a:xfrm>
            <a:off x="390835" y="24711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0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E5CD-9D53-B662-5456-3433DFE1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 Family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ABF5-CD70-578D-1D25-78F7719B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AXI4-Stream </a:t>
            </a:r>
            <a:r>
              <a:rPr lang="en-US" dirty="0"/>
              <a:t> (Covered in Unit 5)</a:t>
            </a:r>
          </a:p>
          <a:p>
            <a:pPr lvl="1"/>
            <a:r>
              <a:rPr lang="en-US" dirty="0"/>
              <a:t>Point-to-point link, flow control with TVALID / TREADY</a:t>
            </a:r>
          </a:p>
          <a:p>
            <a:pPr lvl="1"/>
            <a:r>
              <a:rPr lang="en-US" dirty="0"/>
              <a:t>1 read/ write per clock cycle</a:t>
            </a:r>
          </a:p>
          <a:p>
            <a:pPr lvl="1"/>
            <a:r>
              <a:rPr lang="en-US" dirty="0"/>
              <a:t>Optional framing with TLAST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AXI4-Lite </a:t>
            </a:r>
            <a:r>
              <a:rPr lang="en-US" dirty="0"/>
              <a:t>(Covered in Unit 4)</a:t>
            </a:r>
          </a:p>
          <a:p>
            <a:pPr lvl="1"/>
            <a:r>
              <a:rPr lang="en-US" dirty="0"/>
              <a:t>Simple memory mapped protocol.  Ideal for control registers</a:t>
            </a:r>
          </a:p>
          <a:p>
            <a:pPr lvl="1"/>
            <a:r>
              <a:rPr lang="en-US" dirty="0"/>
              <a:t>1 read / 1 write per 3-5 clock cycles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AXI4-Full</a:t>
            </a:r>
            <a:r>
              <a:rPr lang="en-US" dirty="0"/>
              <a:t> (This unit).  </a:t>
            </a:r>
          </a:p>
          <a:p>
            <a:pPr lvl="1"/>
            <a:r>
              <a:rPr lang="en-US" dirty="0"/>
              <a:t>Officially called AXI4 in AMD, but we use AXI4 for the family of protocols in this class</a:t>
            </a:r>
          </a:p>
          <a:p>
            <a:pPr lvl="1"/>
            <a:r>
              <a:rPr lang="en-US" dirty="0"/>
              <a:t>Builds on AXI4-Lite memory mapped</a:t>
            </a:r>
          </a:p>
          <a:p>
            <a:pPr lvl="1"/>
            <a:r>
              <a:rPr lang="en-US" dirty="0"/>
              <a:t>Handshaking signals to enable high throughput 1 read / write per clock cycle</a:t>
            </a:r>
          </a:p>
          <a:p>
            <a:r>
              <a:rPr lang="en-US" dirty="0"/>
              <a:t>Terminology:  We will use AXI-MM to mean both AXI4-Lite and AXI4-Full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82D4-F9B7-F3F4-75AA-8A4B27D4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ACAC-A6BA-EC9C-0C26-DC708C7E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Memory Mapped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CCE8-D299-A478-A2C4-850BC57F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widely-used interconnect fabric in industry</a:t>
            </a:r>
          </a:p>
          <a:p>
            <a:r>
              <a:rPr lang="en-US" dirty="0"/>
              <a:t>Multiple outstanding requests</a:t>
            </a:r>
          </a:p>
          <a:p>
            <a:pPr lvl="1"/>
            <a:r>
              <a:rPr lang="en-US" dirty="0"/>
              <a:t>Master can issue several requests while others are ongoing</a:t>
            </a:r>
          </a:p>
          <a:p>
            <a:r>
              <a:rPr lang="en-US" dirty="0"/>
              <a:t>Full-duplex with independent read and write channels</a:t>
            </a:r>
          </a:p>
          <a:p>
            <a:r>
              <a:rPr lang="en-US" dirty="0"/>
              <a:t>Handshaking:  </a:t>
            </a:r>
          </a:p>
          <a:p>
            <a:pPr lvl="1"/>
            <a:r>
              <a:rPr lang="en-US" dirty="0"/>
              <a:t>Independent VALID/READY for requests and data and read and write.  </a:t>
            </a:r>
          </a:p>
          <a:p>
            <a:pPr lvl="1"/>
            <a:r>
              <a:rPr lang="en-US" dirty="0"/>
              <a:t>Provides flow control and modular design.  </a:t>
            </a:r>
          </a:p>
          <a:p>
            <a:r>
              <a:rPr lang="en-US" dirty="0"/>
              <a:t>Out of order protocols:</a:t>
            </a:r>
          </a:p>
          <a:p>
            <a:pPr lvl="1"/>
            <a:r>
              <a:rPr lang="en-US" dirty="0"/>
              <a:t>Flows marked with an ID.  Order is preserved within an ID.</a:t>
            </a:r>
          </a:p>
          <a:p>
            <a:pPr lvl="1"/>
            <a:r>
              <a:rPr lang="en-US" dirty="0"/>
              <a:t>But controller may rearrange packet order for different IDs enabling prioritization</a:t>
            </a:r>
          </a:p>
          <a:p>
            <a:r>
              <a:rPr lang="en-US" dirty="0"/>
              <a:t>Support for massive memories:  DDR, HBM, not just on-chip RAM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C13A1-86CF-584B-D26A-7DE92AA4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3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5F42-75F1-0F2A-449A-6FA3C1A1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AXI4-MM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F1B6-DE56-926C-0871-BA973BAC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Interconnect is a </a:t>
            </a:r>
            <a:r>
              <a:rPr lang="en-US" dirty="0">
                <a:solidFill>
                  <a:schemeClr val="accent1"/>
                </a:solidFill>
              </a:rPr>
              <a:t>crossbar</a:t>
            </a:r>
          </a:p>
          <a:p>
            <a:r>
              <a:rPr lang="en-US" dirty="0">
                <a:solidFill>
                  <a:schemeClr val="tx1"/>
                </a:solidFill>
              </a:rPr>
              <a:t>Configurable number of masters and slaves</a:t>
            </a:r>
          </a:p>
          <a:p>
            <a:r>
              <a:rPr lang="en-US" dirty="0">
                <a:solidFill>
                  <a:schemeClr val="tx1"/>
                </a:solidFill>
              </a:rPr>
              <a:t>Each master places transaction request</a:t>
            </a:r>
          </a:p>
          <a:p>
            <a:r>
              <a:rPr lang="en-US" dirty="0">
                <a:solidFill>
                  <a:schemeClr val="tx1"/>
                </a:solidFill>
              </a:rPr>
              <a:t>Crossbar typically queues requests for each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9903D-1535-0D10-B3AC-AD632F0D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DB436-6726-7FD7-8184-3902EE37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07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64D3-3DAB-783A-BEAB-ED07ADB0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Crossbars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648E-8F59-B0B4-1E6A-954291FC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44B63D-4B7E-3B60-95E8-1CD8B5FD7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691943"/>
              </p:ext>
            </p:extLst>
          </p:nvPr>
        </p:nvGraphicFramePr>
        <p:xfrm>
          <a:off x="6737349" y="1498938"/>
          <a:ext cx="500253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510">
                  <a:extLst>
                    <a:ext uri="{9D8B030D-6E8A-4147-A177-3AD203B41FA5}">
                      <a16:colId xmlns:a16="http://schemas.microsoft.com/office/drawing/2014/main" val="2111581171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2652745989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1847611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Area (16nm)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Gate Count</a:t>
                      </a:r>
                      <a:b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(NAND2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equiv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52570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x 2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~0.008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~25k - 35k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31359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x 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~0.035 mm²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~100k - 140k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0825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 x 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~0.140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~450k - 550k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99954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 x 16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~0.600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~2M+</a:t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(Serious congestion)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42807675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</p:spPr>
            <p:txBody>
              <a:bodyPr/>
              <a:lstStyle/>
              <a:p>
                <a:r>
                  <a:rPr lang="en-US" dirty="0"/>
                  <a:t>Logic cost:  </a:t>
                </a:r>
              </a:p>
              <a:p>
                <a:pPr lvl="1"/>
                <a:r>
                  <a:rPr lang="en-US" dirty="0"/>
                  <a:t>Grows with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manageable relative to a large SoC</a:t>
                </a:r>
              </a:p>
              <a:p>
                <a:r>
                  <a:rPr lang="en-US" dirty="0"/>
                  <a:t>Challenge in wiring</a:t>
                </a:r>
              </a:p>
              <a:p>
                <a:pPr lvl="1"/>
                <a:r>
                  <a:rPr lang="en-US" dirty="0"/>
                  <a:t>Wiring becomes dominant component of latency</a:t>
                </a:r>
              </a:p>
              <a:p>
                <a:pPr lvl="1"/>
                <a:r>
                  <a:rPr lang="en-US" dirty="0"/>
                  <a:t>Metal layer exhaustion</a:t>
                </a:r>
              </a:p>
              <a:p>
                <a:r>
                  <a:rPr lang="en-US" dirty="0"/>
                  <a:t>Interconnects often 30-40% area in large SoCs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  <a:blipFill>
                <a:blip r:embed="rId2"/>
                <a:stretch>
                  <a:fillRect l="-279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4FAB338-2605-50CF-F6C7-E50155D2AE03}"/>
              </a:ext>
            </a:extLst>
          </p:cNvPr>
          <p:cNvSpPr txBox="1"/>
          <p:nvPr/>
        </p:nvSpPr>
        <p:spPr>
          <a:xfrm>
            <a:off x="6737349" y="4053582"/>
            <a:ext cx="385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estimates for AXI crossbar</a:t>
            </a:r>
          </a:p>
          <a:p>
            <a:r>
              <a:rPr lang="en-US" dirty="0"/>
              <a:t>64-bit address and data in TSMC 16 nm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0C35C2-EA3D-52AD-E651-59151E2E5E37}"/>
              </a:ext>
            </a:extLst>
          </p:cNvPr>
          <p:cNvSpPr/>
          <p:nvPr/>
        </p:nvSpPr>
        <p:spPr>
          <a:xfrm>
            <a:off x="857250" y="4324349"/>
            <a:ext cx="523875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How data flows is key to high throughput design</a:t>
            </a:r>
          </a:p>
        </p:txBody>
      </p:sp>
    </p:spTree>
    <p:extLst>
      <p:ext uri="{BB962C8B-B14F-4D97-AF65-F5344CB8AC3E}">
        <p14:creationId xmlns:p14="http://schemas.microsoft.com/office/powerpoint/2010/main" val="617066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22D5-E095-A0A3-113B-A8893ECB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AXI4-Full Burst Signals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6B86-572F-0EFC-CA9A-22BDFEB1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84520" cy="4329817"/>
          </a:xfrm>
        </p:spPr>
        <p:txBody>
          <a:bodyPr/>
          <a:lstStyle/>
          <a:p>
            <a:r>
              <a:rPr lang="en-US" dirty="0"/>
              <a:t>AXI4-Full supports bursts of data</a:t>
            </a:r>
          </a:p>
          <a:p>
            <a:pPr lvl="1"/>
            <a:r>
              <a:rPr lang="en-US" dirty="0"/>
              <a:t>1 cycle per read / write</a:t>
            </a:r>
          </a:p>
          <a:p>
            <a:pPr lvl="1"/>
            <a:r>
              <a:rPr lang="en-US" dirty="0"/>
              <a:t>Much faster than AXI4-Lite (typically 3-5 cycles)</a:t>
            </a:r>
          </a:p>
          <a:p>
            <a:r>
              <a:rPr lang="en-US" dirty="0"/>
              <a:t>Additional signals sent on request:</a:t>
            </a:r>
          </a:p>
          <a:p>
            <a:pPr lvl="1"/>
            <a:r>
              <a:rPr lang="en-US" dirty="0" err="1"/>
              <a:t>AxLEN</a:t>
            </a:r>
            <a:r>
              <a:rPr lang="en-US" dirty="0"/>
              <a:t>:  Number of “beats” to transfer</a:t>
            </a:r>
          </a:p>
          <a:p>
            <a:pPr lvl="1"/>
            <a:r>
              <a:rPr lang="en-US" dirty="0" err="1"/>
              <a:t>AxSIZE</a:t>
            </a:r>
            <a:r>
              <a:rPr lang="en-US" dirty="0"/>
              <a:t>:  Width of transfer (for downward compatibility)</a:t>
            </a:r>
          </a:p>
          <a:p>
            <a:pPr lvl="1"/>
            <a:r>
              <a:rPr lang="en-US" dirty="0" err="1"/>
              <a:t>AxBURST</a:t>
            </a:r>
            <a:r>
              <a:rPr lang="en-US" dirty="0"/>
              <a:t>:  Type of burst (fixed or increment address)</a:t>
            </a:r>
          </a:p>
          <a:p>
            <a:r>
              <a:rPr lang="en-US" dirty="0"/>
              <a:t>Transfer stage:  Unchanged</a:t>
            </a:r>
          </a:p>
          <a:p>
            <a:pPr lvl="1"/>
            <a:r>
              <a:rPr lang="en-US" dirty="0"/>
              <a:t>Same WDATA, WVALID, WREADY</a:t>
            </a:r>
          </a:p>
          <a:p>
            <a:r>
              <a:rPr lang="en-US" dirty="0"/>
              <a:t>Termination:  Add WLAST</a:t>
            </a:r>
          </a:p>
          <a:p>
            <a:pPr lvl="1"/>
            <a:r>
              <a:rPr lang="en-US" dirty="0"/>
              <a:t>Indicates final beat (can terminate for AWLEN)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5768-E729-D5AC-25B1-EAD7D478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EE943-1D12-FB1A-FA59-BA4CAC5E7B2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76BFC-19CC-E2FA-3783-72A215B913AE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17F4-546D-BEE1-28B2-71B8D5B700FA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0C97FA-D23E-C042-2E37-EEC754695D7C}"/>
              </a:ext>
            </a:extLst>
          </p:cNvPr>
          <p:cNvSpPr txBox="1"/>
          <p:nvPr/>
        </p:nvSpPr>
        <p:spPr>
          <a:xfrm>
            <a:off x="8735478" y="2736539"/>
            <a:ext cx="9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63B742-7719-939C-13D1-9F45F4744910}"/>
              </a:ext>
            </a:extLst>
          </p:cNvPr>
          <p:cNvCxnSpPr>
            <a:cxnSpLocks/>
          </p:cNvCxnSpPr>
          <p:nvPr/>
        </p:nvCxnSpPr>
        <p:spPr>
          <a:xfrm flipH="1">
            <a:off x="8221335" y="304431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973667-E079-84DC-3A3A-2CD6A1596D71}"/>
              </a:ext>
            </a:extLst>
          </p:cNvPr>
          <p:cNvSpPr txBox="1"/>
          <p:nvPr/>
        </p:nvSpPr>
        <p:spPr>
          <a:xfrm>
            <a:off x="8419060" y="1838363"/>
            <a:ext cx="1628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2B0E1C-BDAD-921B-C3C4-5D112AA467C3}"/>
              </a:ext>
            </a:extLst>
          </p:cNvPr>
          <p:cNvCxnSpPr>
            <a:cxnSpLocks/>
          </p:cNvCxnSpPr>
          <p:nvPr/>
        </p:nvCxnSpPr>
        <p:spPr>
          <a:xfrm>
            <a:off x="8243794" y="3610840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4F8AA0-603D-87F0-5A32-68AA864088D7}"/>
              </a:ext>
            </a:extLst>
          </p:cNvPr>
          <p:cNvSpPr txBox="1"/>
          <p:nvPr/>
        </p:nvSpPr>
        <p:spPr>
          <a:xfrm>
            <a:off x="9007404" y="4798191"/>
            <a:ext cx="70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FD5DF4-EF53-68EB-3D45-DD696EA88F84}"/>
              </a:ext>
            </a:extLst>
          </p:cNvPr>
          <p:cNvCxnSpPr>
            <a:cxnSpLocks/>
          </p:cNvCxnSpPr>
          <p:nvPr/>
        </p:nvCxnSpPr>
        <p:spPr>
          <a:xfrm flipH="1">
            <a:off x="8211661" y="406358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407174-C916-86F1-F2B9-EBF4703ED381}"/>
              </a:ext>
            </a:extLst>
          </p:cNvPr>
          <p:cNvSpPr txBox="1"/>
          <p:nvPr/>
        </p:nvSpPr>
        <p:spPr>
          <a:xfrm>
            <a:off x="8542502" y="3256971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F16B8F-7FAD-0DCC-BBC0-46D40E9422A7}"/>
              </a:ext>
            </a:extLst>
          </p:cNvPr>
          <p:cNvCxnSpPr>
            <a:cxnSpLocks/>
          </p:cNvCxnSpPr>
          <p:nvPr/>
        </p:nvCxnSpPr>
        <p:spPr>
          <a:xfrm flipH="1">
            <a:off x="8252937" y="5150638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631D10-BD06-BE34-123C-796DC0F63D45}"/>
              </a:ext>
            </a:extLst>
          </p:cNvPr>
          <p:cNvSpPr txBox="1"/>
          <p:nvPr/>
        </p:nvSpPr>
        <p:spPr>
          <a:xfrm>
            <a:off x="8884996" y="3716987"/>
            <a:ext cx="828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9C9F3F-CD2C-5B6C-C071-0C264ACCB277}"/>
              </a:ext>
            </a:extLst>
          </p:cNvPr>
          <p:cNvCxnSpPr>
            <a:cxnSpLocks/>
          </p:cNvCxnSpPr>
          <p:nvPr/>
        </p:nvCxnSpPr>
        <p:spPr>
          <a:xfrm>
            <a:off x="8308508" y="547191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6198A3-7B8D-3CFF-1153-5DA25DC666AD}"/>
              </a:ext>
            </a:extLst>
          </p:cNvPr>
          <p:cNvSpPr txBox="1"/>
          <p:nvPr/>
        </p:nvSpPr>
        <p:spPr>
          <a:xfrm>
            <a:off x="8979127" y="5223114"/>
            <a:ext cx="766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153DC-2705-398A-9F40-AEFBB5728A85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D2210-242E-2D10-7021-673D38CD6081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D161DA-50DE-6C27-9B3B-7AF46965F83A}"/>
              </a:ext>
            </a:extLst>
          </p:cNvPr>
          <p:cNvCxnSpPr>
            <a:cxnSpLocks/>
          </p:cNvCxnSpPr>
          <p:nvPr/>
        </p:nvCxnSpPr>
        <p:spPr>
          <a:xfrm>
            <a:off x="8234652" y="2621619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AE6278-A550-6FCD-603F-AD1B9DD126D6}"/>
              </a:ext>
            </a:extLst>
          </p:cNvPr>
          <p:cNvSpPr txBox="1"/>
          <p:nvPr/>
        </p:nvSpPr>
        <p:spPr>
          <a:xfrm>
            <a:off x="8221335" y="2259323"/>
            <a:ext cx="2232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AWLEN, AWSIZE, AWBURST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89C861-9BEA-08A1-A8DF-5DB3170CB937}"/>
              </a:ext>
            </a:extLst>
          </p:cNvPr>
          <p:cNvCxnSpPr>
            <a:cxnSpLocks/>
          </p:cNvCxnSpPr>
          <p:nvPr/>
        </p:nvCxnSpPr>
        <p:spPr>
          <a:xfrm>
            <a:off x="8284539" y="471980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F188D8-F181-6182-0264-46061212CFA0}"/>
              </a:ext>
            </a:extLst>
          </p:cNvPr>
          <p:cNvSpPr txBox="1"/>
          <p:nvPr/>
        </p:nvSpPr>
        <p:spPr>
          <a:xfrm>
            <a:off x="8955158" y="4471001"/>
            <a:ext cx="693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WLAST</a:t>
            </a:r>
          </a:p>
        </p:txBody>
      </p:sp>
    </p:spTree>
    <p:extLst>
      <p:ext uri="{BB962C8B-B14F-4D97-AF65-F5344CB8AC3E}">
        <p14:creationId xmlns:p14="http://schemas.microsoft.com/office/powerpoint/2010/main" val="2742055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9675-E41D-67B5-1EBD-791EA03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Write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EC39-5BD8-188A-DF29-AFA0DBE0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677920" cy="4329817"/>
          </a:xfrm>
        </p:spPr>
        <p:txBody>
          <a:bodyPr/>
          <a:lstStyle/>
          <a:p>
            <a:r>
              <a:rPr lang="en-US" dirty="0"/>
              <a:t>Two write burst requests</a:t>
            </a:r>
          </a:p>
          <a:p>
            <a:pPr lvl="1"/>
            <a:r>
              <a:rPr lang="en-US" dirty="0"/>
              <a:t>Burst 0:  AWLEN=0</a:t>
            </a:r>
          </a:p>
          <a:p>
            <a:pPr lvl="1"/>
            <a:r>
              <a:rPr lang="en-US" dirty="0"/>
              <a:t>Burst 1:  AWLEN=5</a:t>
            </a:r>
          </a:p>
          <a:p>
            <a:r>
              <a:rPr lang="en-US" dirty="0"/>
              <a:t>Request 1 early</a:t>
            </a:r>
          </a:p>
          <a:p>
            <a:pPr lvl="1"/>
            <a:r>
              <a:rPr lang="en-US" dirty="0"/>
              <a:t>Before write burst 0 completed</a:t>
            </a:r>
          </a:p>
          <a:p>
            <a:r>
              <a:rPr lang="en-US" dirty="0"/>
              <a:t>WLAST at end of each burst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A6339-B38A-623C-FA2F-B5BC766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41C41-9B4F-50E0-9C20-9FF74CEF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69" y="1846810"/>
            <a:ext cx="69818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19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166-0B5E-777C-793C-6541F82C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B035-0490-B631-209A-C4103444C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29447" cy="4329817"/>
          </a:xfrm>
        </p:spPr>
        <p:txBody>
          <a:bodyPr/>
          <a:lstStyle/>
          <a:p>
            <a:r>
              <a:rPr lang="en-US" dirty="0"/>
              <a:t>Each transaction associated with an index</a:t>
            </a:r>
          </a:p>
          <a:p>
            <a:r>
              <a:rPr lang="en-US" dirty="0"/>
              <a:t>Index is not unique</a:t>
            </a:r>
          </a:p>
          <a:p>
            <a:r>
              <a:rPr lang="en-US" dirty="0"/>
              <a:t>Typical design:</a:t>
            </a:r>
          </a:p>
          <a:p>
            <a:pPr lvl="1"/>
            <a:r>
              <a:rPr lang="en-US" dirty="0"/>
              <a:t>Each master has a unique ID; or</a:t>
            </a:r>
          </a:p>
          <a:p>
            <a:pPr lvl="1"/>
            <a:r>
              <a:rPr lang="en-US" dirty="0"/>
              <a:t>One ID for priority class</a:t>
            </a:r>
          </a:p>
          <a:p>
            <a:r>
              <a:rPr lang="en-US" dirty="0"/>
              <a:t>Crossbar will maintain order within an ID</a:t>
            </a:r>
          </a:p>
          <a:p>
            <a:r>
              <a:rPr lang="en-US" dirty="0"/>
              <a:t>But may re-order between IDs</a:t>
            </a:r>
          </a:p>
          <a:p>
            <a:r>
              <a:rPr lang="en-US" dirty="0"/>
              <a:t>Can be used for prioritization</a:t>
            </a:r>
          </a:p>
          <a:p>
            <a:r>
              <a:rPr lang="en-US" dirty="0"/>
              <a:t>Advanced 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E270-C8CA-2BEA-8E85-34386E19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9C2E2-D346-FD6B-372B-2803AD165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0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C3ED-EB0D-65BC-B89F-535E4725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3E45-4FA1-0D43-ADD7-5B760054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5501-315B-8A87-2A2D-87E927AA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EFB4D-C86A-FA52-C3EA-1939C018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BE5DA56-234B-3618-114E-EEDF92601769}"/>
              </a:ext>
            </a:extLst>
          </p:cNvPr>
          <p:cNvSpPr/>
          <p:nvPr/>
        </p:nvSpPr>
        <p:spPr>
          <a:xfrm>
            <a:off x="384485" y="3010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01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F936-D919-0CA5-E741-94742821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Memory Interfaces in Vitis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36EB-BB6B-6D48-64E8-758A40B1E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Native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Typically used for direct connection to internal memories</a:t>
            </a:r>
          </a:p>
          <a:p>
            <a:pPr lvl="1"/>
            <a:r>
              <a:rPr lang="en-US" dirty="0"/>
              <a:t>Synthesized with a simple address decoder </a:t>
            </a:r>
          </a:p>
          <a:p>
            <a:pPr lvl="1"/>
            <a:r>
              <a:rPr lang="en-US" dirty="0"/>
              <a:t>Word indexed</a:t>
            </a:r>
          </a:p>
          <a:p>
            <a:pPr lvl="1"/>
            <a:r>
              <a:rPr lang="en-US" dirty="0"/>
              <a:t>Supported in </a:t>
            </a:r>
            <a:r>
              <a:rPr lang="en-US" dirty="0" err="1"/>
              <a:t>Vivado</a:t>
            </a:r>
            <a:r>
              <a:rPr lang="en-US" dirty="0"/>
              <a:t> with BRAM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AXI4-MM</a:t>
            </a:r>
          </a:p>
          <a:p>
            <a:pPr lvl="1"/>
            <a:r>
              <a:rPr lang="en-US" dirty="0"/>
              <a:t>Typically used for DRAM or BRAM on a bus</a:t>
            </a:r>
          </a:p>
          <a:p>
            <a:pPr lvl="1"/>
            <a:r>
              <a:rPr lang="en-US" dirty="0"/>
              <a:t>Kernel connects to AXI4 memory controller (a block in </a:t>
            </a:r>
            <a:r>
              <a:rPr lang="en-US" dirty="0" err="1"/>
              <a:t>Vivado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AXI4-MM is always byte addressed</a:t>
            </a:r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78B69-D7F5-3210-75BC-F9B95DAE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05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3221-E178-68F6-E755-0D7698B7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7659-C103-59BD-C758-3814A9B45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058920" cy="4329817"/>
          </a:xfrm>
        </p:spPr>
        <p:txBody>
          <a:bodyPr/>
          <a:lstStyle/>
          <a:p>
            <a:r>
              <a:rPr lang="en-US" dirty="0"/>
              <a:t>Creates native interface to BRAM</a:t>
            </a:r>
          </a:p>
          <a:p>
            <a:r>
              <a:rPr lang="en-US" dirty="0"/>
              <a:t>AXI4-Lite</a:t>
            </a:r>
          </a:p>
          <a:p>
            <a:pPr lvl="1"/>
            <a:r>
              <a:rPr lang="en-US" dirty="0"/>
              <a:t>Read and write pointer</a:t>
            </a:r>
          </a:p>
          <a:p>
            <a:pPr lvl="1"/>
            <a:r>
              <a:rPr lang="en-US" dirty="0"/>
              <a:t>Length n</a:t>
            </a:r>
          </a:p>
          <a:p>
            <a:r>
              <a:rPr lang="en-US" dirty="0"/>
              <a:t>Can read from memory in kernel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16F7-FFB5-AB63-8936-A7E9D52D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62A67-2D75-C27C-D9A9-E874E895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48" y="720383"/>
            <a:ext cx="611590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49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6489-95B2-1C25-1C49-62E86AD6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359-95A0-E292-651D-311EEFBA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BRAM 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D11F-33B3-BEFA-84D2-A0280F646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058920" cy="4329817"/>
          </a:xfrm>
        </p:spPr>
        <p:txBody>
          <a:bodyPr/>
          <a:lstStyle/>
          <a:p>
            <a:r>
              <a:rPr lang="en-US" dirty="0"/>
              <a:t>Creates BRAM emulation</a:t>
            </a:r>
          </a:p>
          <a:p>
            <a:pPr lvl="1"/>
            <a:r>
              <a:rPr lang="en-US" dirty="0"/>
              <a:t>Or actual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D8769-FCB4-F067-DE5F-D4F2A256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5B442-3EC0-015F-734C-9C8629CB0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12" y="912563"/>
            <a:ext cx="5201376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7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00A5-B8C2-6C0F-EBA5-2990726D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Histogram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B5A2-787F-194C-2EC1-E5643B89B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735402" cy="4329817"/>
              </a:xfrm>
            </p:spPr>
            <p:txBody>
              <a:bodyPr/>
              <a:lstStyle/>
              <a:p>
                <a:r>
                  <a:rPr lang="en-US" dirty="0"/>
                  <a:t>Non-uniform histogram</a:t>
                </a:r>
              </a:p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data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bin edges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Compute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𝑐𝑜𝑢𝑛𝑡𝑠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=0,…,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Includes underflow and overflow values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B5A2-787F-194C-2EC1-E5643B89B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735402" cy="4329817"/>
              </a:xfrm>
              <a:blipFill>
                <a:blip r:embed="rId2"/>
                <a:stretch>
                  <a:fillRect l="-308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931E-5357-91D7-F833-1D1508D3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5525A-39E3-92EA-F055-3B86E767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682" y="1885612"/>
            <a:ext cx="54387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23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9D2D-814F-B153-79AD-4BE8EC7B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Command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1F14-6C48-0375-B12E-F7F61338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535208" cy="4329817"/>
          </a:xfrm>
        </p:spPr>
        <p:txBody>
          <a:bodyPr/>
          <a:lstStyle/>
          <a:p>
            <a:r>
              <a:rPr lang="en-US" dirty="0"/>
              <a:t>Gives input addresses: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Bin edges</a:t>
            </a:r>
          </a:p>
          <a:p>
            <a:r>
              <a:rPr lang="en-US" dirty="0"/>
              <a:t>Output addresses</a:t>
            </a:r>
          </a:p>
          <a:p>
            <a:pPr lvl="1"/>
            <a:r>
              <a:rPr lang="en-US" dirty="0"/>
              <a:t>Counts</a:t>
            </a:r>
          </a:p>
          <a:p>
            <a:r>
              <a:rPr lang="en-US" dirty="0"/>
              <a:t>Transaction IDs and lengths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7A0F-D882-28AD-149C-CAAA2170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7404DE-06C6-202C-AB85-FEB811CB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842" y="1499034"/>
            <a:ext cx="4667490" cy="441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90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8F1A-57FC-4C8A-B044-4D98BE0B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5120E-878A-E167-06B5-1DFEC8741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16561" cy="4329817"/>
          </a:xfrm>
        </p:spPr>
        <p:txBody>
          <a:bodyPr/>
          <a:lstStyle/>
          <a:p>
            <a:r>
              <a:rPr lang="en-US" dirty="0"/>
              <a:t>AXI4 streams</a:t>
            </a:r>
          </a:p>
          <a:p>
            <a:pPr lvl="1"/>
            <a:r>
              <a:rPr lang="en-US" dirty="0"/>
              <a:t>For command and response</a:t>
            </a:r>
          </a:p>
          <a:p>
            <a:pPr lvl="1"/>
            <a:r>
              <a:rPr lang="en-US" dirty="0"/>
              <a:t>These could have been memory-mapped</a:t>
            </a:r>
          </a:p>
          <a:p>
            <a:r>
              <a:rPr lang="en-US" dirty="0"/>
              <a:t>AXI4-Full access to memory</a:t>
            </a:r>
          </a:p>
          <a:p>
            <a:r>
              <a:rPr lang="en-US" dirty="0"/>
              <a:t>Read command from AXI4 stream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1ECF-C18F-92F4-0643-BF35F93D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28CD1-2CF9-5F1D-29E9-6AD085AB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70" y="1418609"/>
            <a:ext cx="6056349" cy="432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0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5AF9-AA3D-5F80-6DCC-212A868B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EE57-1A67-DFFC-CE1A-2F675997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Read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EE58-AAFC-1DAE-2E6C-850C6E1D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16561" cy="4329817"/>
          </a:xfrm>
        </p:spPr>
        <p:txBody>
          <a:bodyPr/>
          <a:lstStyle/>
          <a:p>
            <a:r>
              <a:rPr lang="en-US" dirty="0"/>
              <a:t>Read data and bin edges to a local buffer</a:t>
            </a:r>
          </a:p>
          <a:p>
            <a:r>
              <a:rPr lang="en-US" dirty="0"/>
              <a:t>Local buffer is not strictly needed for data</a:t>
            </a:r>
          </a:p>
          <a:p>
            <a:pPr lvl="1"/>
            <a:r>
              <a:rPr lang="en-US" dirty="0"/>
              <a:t>Easy to illustrate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5614-C1AD-C732-2851-625C09D3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CBF22-C3C0-225C-A2C3-D663C0DB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83" y="2925990"/>
            <a:ext cx="7907602" cy="277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98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9B64-4970-ECEB-85D0-2FAE22AD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Histogram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1F6A-BC3C-E2CB-EFC1-CA53D9F05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27383" cy="4329817"/>
          </a:xfrm>
        </p:spPr>
        <p:txBody>
          <a:bodyPr/>
          <a:lstStyle/>
          <a:p>
            <a:r>
              <a:rPr lang="en-US" dirty="0"/>
              <a:t>Nested loop</a:t>
            </a:r>
          </a:p>
          <a:p>
            <a:r>
              <a:rPr lang="en-US" dirty="0"/>
              <a:t>Outer loop is not pipelined</a:t>
            </a:r>
          </a:p>
          <a:p>
            <a:r>
              <a:rPr lang="en-US" dirty="0"/>
              <a:t>Must be careful of inner loop pipelining</a:t>
            </a:r>
          </a:p>
          <a:p>
            <a:endParaRPr lang="en-US" dirty="0"/>
          </a:p>
          <a:p>
            <a:r>
              <a:rPr lang="en-US" dirty="0"/>
              <a:t>Will show synthesis reports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EA171-F30F-8CBD-26BF-3BC62FE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6B564-012A-5453-B5C6-CA3CCC7A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79" y="2057171"/>
            <a:ext cx="5712061" cy="33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76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2469-7862-1705-5AF6-B46540F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FD92-215B-DAAC-C427-010253DB4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28" y="1539277"/>
            <a:ext cx="3593754" cy="4329817"/>
          </a:xfrm>
        </p:spPr>
        <p:txBody>
          <a:bodyPr/>
          <a:lstStyle/>
          <a:p>
            <a:r>
              <a:rPr lang="en-US" dirty="0"/>
              <a:t>Testbench creates memory</a:t>
            </a:r>
          </a:p>
          <a:p>
            <a:r>
              <a:rPr lang="en-US" dirty="0"/>
              <a:t>Allocates blocks in memory</a:t>
            </a:r>
          </a:p>
          <a:p>
            <a:r>
              <a:rPr lang="en-US" dirty="0"/>
              <a:t>Computes byte addresses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DA94-2EA5-088C-0D76-3F0F9E80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65E0C-1999-D0CC-2297-26AAD769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71" y="2423212"/>
            <a:ext cx="7834401" cy="35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39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732E-852F-308D-FC75-71BF2573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517C-7BBB-5D58-C9CF-BE023E989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addresses in command</a:t>
            </a:r>
          </a:p>
          <a:p>
            <a:r>
              <a:rPr lang="en-US" dirty="0"/>
              <a:t>Upon receipt of response</a:t>
            </a:r>
          </a:p>
          <a:p>
            <a:pPr lvl="1"/>
            <a:r>
              <a:rPr lang="en-US" dirty="0" err="1"/>
              <a:t>Retieves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Compares against test vectors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AC64-4432-E661-F683-3CC714B6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EADE9-F33F-8CAF-782C-AE29BAE0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254" y="2155052"/>
            <a:ext cx="5715181" cy="293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94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D633-618D-FC99-14E9-E106A487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Timing:  Read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F7C5D-EDDF-D311-F24A-ECB28F06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parameters</a:t>
            </a:r>
          </a:p>
          <a:p>
            <a:pPr lvl="1"/>
            <a:r>
              <a:rPr lang="en-US" dirty="0"/>
              <a:t>7 bins</a:t>
            </a:r>
          </a:p>
          <a:p>
            <a:pPr lvl="1"/>
            <a:r>
              <a:rPr lang="en-US" dirty="0"/>
              <a:t>37 data points</a:t>
            </a:r>
          </a:p>
          <a:p>
            <a:r>
              <a:rPr lang="en-US" dirty="0"/>
              <a:t>Partitioning</a:t>
            </a:r>
          </a:p>
          <a:p>
            <a:pPr lvl="1"/>
            <a:r>
              <a:rPr lang="en-US" dirty="0"/>
              <a:t>Data broken into three busts</a:t>
            </a:r>
          </a:p>
          <a:p>
            <a:pPr lvl="1"/>
            <a:r>
              <a:rPr lang="en-US" dirty="0"/>
              <a:t>16, 16, and 5</a:t>
            </a:r>
          </a:p>
          <a:p>
            <a:pPr lvl="1"/>
            <a:r>
              <a:rPr lang="en-US" dirty="0"/>
              <a:t>Requests given at beginning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2DFCE-FBBD-C07F-12E6-3FBBF583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410C1-E000-903E-38D9-434FE66A6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39"/>
          <a:stretch>
            <a:fillRect/>
          </a:stretch>
        </p:blipFill>
        <p:spPr>
          <a:xfrm>
            <a:off x="4537282" y="1874791"/>
            <a:ext cx="7128456" cy="369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914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19473</TotalTime>
  <Words>2432</Words>
  <Application>Microsoft Office PowerPoint</Application>
  <PresentationFormat>Widescreen</PresentationFormat>
  <Paragraphs>573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Cambria Math</vt:lpstr>
      <vt:lpstr>Google Sans Text</vt:lpstr>
      <vt:lpstr>Wingdings</vt:lpstr>
      <vt:lpstr>Retrospect</vt:lpstr>
      <vt:lpstr>Unit 8  Shared Memory Transactions</vt:lpstr>
      <vt:lpstr>Learning Objectives</vt:lpstr>
      <vt:lpstr>Outline</vt:lpstr>
      <vt:lpstr>Addressable Memory</vt:lpstr>
      <vt:lpstr>Typical RAM Architecture</vt:lpstr>
      <vt:lpstr>Dedicated vs Shared Memory</vt:lpstr>
      <vt:lpstr>Why Share Memory?</vt:lpstr>
      <vt:lpstr>How to Build Shared Memory</vt:lpstr>
      <vt:lpstr>Single and Multi-Port Memories</vt:lpstr>
      <vt:lpstr>Problems with Multi-Port RAMs</vt:lpstr>
      <vt:lpstr>Interconnect</vt:lpstr>
      <vt:lpstr>Transactions, Master and Slaves</vt:lpstr>
      <vt:lpstr>Bus Topology</vt:lpstr>
      <vt:lpstr>Crossbar Topology</vt:lpstr>
      <vt:lpstr>Other Topologies</vt:lpstr>
      <vt:lpstr>Outline</vt:lpstr>
      <vt:lpstr>Stream vs. Shared Memory Transactions</vt:lpstr>
      <vt:lpstr>Stream Transfer (Unit 5)</vt:lpstr>
      <vt:lpstr>Shared Memory Transaction</vt:lpstr>
      <vt:lpstr>Shared Mem Transaction:  Command Phase</vt:lpstr>
      <vt:lpstr>Shared Mem Transaction:  Compute Phase</vt:lpstr>
      <vt:lpstr>Shared Mem Transaction:  Response Phase</vt:lpstr>
      <vt:lpstr>Streaming vs. Shared Memory</vt:lpstr>
      <vt:lpstr>Streaming Example:  Simple Video Processing</vt:lpstr>
      <vt:lpstr>Shared Memory Ex:  Mobile SoC</vt:lpstr>
      <vt:lpstr>Shared Memory Ex:  Nvidia DGX H100</vt:lpstr>
      <vt:lpstr>Outline</vt:lpstr>
      <vt:lpstr>AXI Family of Protocols</vt:lpstr>
      <vt:lpstr>AXI4 Memory Mapped Features</vt:lpstr>
      <vt:lpstr>AXI4-MM Architecture</vt:lpstr>
      <vt:lpstr>Cost of Crossbars</vt:lpstr>
      <vt:lpstr>Review:  AXI4-Lite Write Protocol</vt:lpstr>
      <vt:lpstr>AXI4-Full Burst Signals </vt:lpstr>
      <vt:lpstr>AXI4 Write Example</vt:lpstr>
      <vt:lpstr>AXI4 Indexing</vt:lpstr>
      <vt:lpstr>Outline</vt:lpstr>
      <vt:lpstr>Two Memory Interfaces in Vitis</vt:lpstr>
      <vt:lpstr>BRAM</vt:lpstr>
      <vt:lpstr>BRAM TB</vt:lpstr>
      <vt:lpstr>AXI4 Histogram Example</vt:lpstr>
      <vt:lpstr>Histogram Command Input</vt:lpstr>
      <vt:lpstr>Histogram Interface</vt:lpstr>
      <vt:lpstr>Histogram Read Phase</vt:lpstr>
      <vt:lpstr>Core Histogram Loop</vt:lpstr>
      <vt:lpstr>Testbench Memory Allocation</vt:lpstr>
      <vt:lpstr>Testbench Command</vt:lpstr>
      <vt:lpstr>Timing:  Read Phases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608</cp:revision>
  <cp:lastPrinted>2018-09-04T19:00:14Z</cp:lastPrinted>
  <dcterms:created xsi:type="dcterms:W3CDTF">2015-03-22T11:15:32Z</dcterms:created>
  <dcterms:modified xsi:type="dcterms:W3CDTF">2026-04-24T14:32:07Z</dcterms:modified>
</cp:coreProperties>
</file>