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61"/>
  </p:notesMasterIdLst>
  <p:sldIdLst>
    <p:sldId id="258" r:id="rId2"/>
    <p:sldId id="271" r:id="rId3"/>
    <p:sldId id="275" r:id="rId4"/>
    <p:sldId id="278" r:id="rId5"/>
    <p:sldId id="279" r:id="rId6"/>
    <p:sldId id="283" r:id="rId7"/>
    <p:sldId id="284" r:id="rId8"/>
    <p:sldId id="282" r:id="rId9"/>
    <p:sldId id="285" r:id="rId10"/>
    <p:sldId id="280" r:id="rId11"/>
    <p:sldId id="286" r:id="rId12"/>
    <p:sldId id="287" r:id="rId13"/>
    <p:sldId id="276" r:id="rId14"/>
    <p:sldId id="277" r:id="rId15"/>
    <p:sldId id="290" r:id="rId16"/>
    <p:sldId id="317" r:id="rId17"/>
    <p:sldId id="318" r:id="rId18"/>
    <p:sldId id="319" r:id="rId19"/>
    <p:sldId id="333" r:id="rId20"/>
    <p:sldId id="292" r:id="rId21"/>
    <p:sldId id="296" r:id="rId22"/>
    <p:sldId id="293" r:id="rId23"/>
    <p:sldId id="294" r:id="rId24"/>
    <p:sldId id="295" r:id="rId25"/>
    <p:sldId id="298" r:id="rId26"/>
    <p:sldId id="297" r:id="rId27"/>
    <p:sldId id="288" r:id="rId28"/>
    <p:sldId id="299" r:id="rId29"/>
    <p:sldId id="300" r:id="rId30"/>
    <p:sldId id="301" r:id="rId31"/>
    <p:sldId id="302" r:id="rId32"/>
    <p:sldId id="307" r:id="rId33"/>
    <p:sldId id="306" r:id="rId34"/>
    <p:sldId id="305" r:id="rId35"/>
    <p:sldId id="303" r:id="rId36"/>
    <p:sldId id="308" r:id="rId37"/>
    <p:sldId id="309" r:id="rId38"/>
    <p:sldId id="310" r:id="rId39"/>
    <p:sldId id="311" r:id="rId40"/>
    <p:sldId id="313" r:id="rId41"/>
    <p:sldId id="314" r:id="rId42"/>
    <p:sldId id="312" r:id="rId43"/>
    <p:sldId id="315" r:id="rId44"/>
    <p:sldId id="320" r:id="rId45"/>
    <p:sldId id="321" r:id="rId46"/>
    <p:sldId id="316" r:id="rId47"/>
    <p:sldId id="322" r:id="rId48"/>
    <p:sldId id="323" r:id="rId49"/>
    <p:sldId id="324" r:id="rId50"/>
    <p:sldId id="325" r:id="rId51"/>
    <p:sldId id="328" r:id="rId52"/>
    <p:sldId id="327" r:id="rId53"/>
    <p:sldId id="329" r:id="rId54"/>
    <p:sldId id="330" r:id="rId55"/>
    <p:sldId id="331" r:id="rId56"/>
    <p:sldId id="332" r:id="rId57"/>
    <p:sldId id="326" r:id="rId58"/>
    <p:sldId id="334" r:id="rId59"/>
    <p:sldId id="335" r:id="rId60"/>
  </p:sldIdLst>
  <p:sldSz cx="12192000" cy="6858000"/>
  <p:notesSz cx="7315200" cy="96012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384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CCFF99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6157" autoAdjust="0"/>
    <p:restoredTop sz="94660"/>
  </p:normalViewPr>
  <p:slideViewPr>
    <p:cSldViewPr snapToGrid="0">
      <p:cViewPr varScale="1">
        <p:scale>
          <a:sx n="67" d="100"/>
          <a:sy n="67" d="100"/>
        </p:scale>
        <p:origin x="604" y="256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gridSpacing cx="76200" cy="76200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63" Type="http://schemas.openxmlformats.org/officeDocument/2006/relationships/viewProps" Target="viewProp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5" Type="http://schemas.openxmlformats.org/officeDocument/2006/relationships/slide" Target="slides/slide4.xml"/><Relationship Id="rId61" Type="http://schemas.openxmlformats.org/officeDocument/2006/relationships/notesMaster" Target="notesMasters/notesMaster1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64" Type="http://schemas.openxmlformats.org/officeDocument/2006/relationships/theme" Target="theme/theme1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slide" Target="slides/slide58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169920" cy="481727"/>
          </a:xfrm>
          <a:prstGeom prst="rect">
            <a:avLst/>
          </a:prstGeom>
        </p:spPr>
        <p:txBody>
          <a:bodyPr vert="horz" lIns="96661" tIns="48331" rIns="96661" bIns="48331" rtlCol="0"/>
          <a:lstStyle>
            <a:lvl1pPr algn="l">
              <a:defRPr sz="13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4143587" y="0"/>
            <a:ext cx="3169920" cy="481727"/>
          </a:xfrm>
          <a:prstGeom prst="rect">
            <a:avLst/>
          </a:prstGeom>
        </p:spPr>
        <p:txBody>
          <a:bodyPr vert="horz" lIns="96661" tIns="48331" rIns="96661" bIns="48331" rtlCol="0"/>
          <a:lstStyle>
            <a:lvl1pPr algn="r">
              <a:defRPr sz="1300"/>
            </a:lvl1pPr>
          </a:lstStyle>
          <a:p>
            <a:fld id="{B7D6DDD3-D7E9-488B-B626-1E8285E424D8}" type="datetimeFigureOut">
              <a:rPr lang="en-US" smtClean="0"/>
              <a:t>1/5/2026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777875" y="1200150"/>
            <a:ext cx="5759450" cy="3240088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6661" tIns="48331" rIns="96661" bIns="48331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731520" y="4620577"/>
            <a:ext cx="5852160" cy="3780473"/>
          </a:xfrm>
          <a:prstGeom prst="rect">
            <a:avLst/>
          </a:prstGeom>
        </p:spPr>
        <p:txBody>
          <a:bodyPr vert="horz" lIns="96661" tIns="48331" rIns="96661" bIns="48331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9119474"/>
            <a:ext cx="3169920" cy="481726"/>
          </a:xfrm>
          <a:prstGeom prst="rect">
            <a:avLst/>
          </a:prstGeom>
        </p:spPr>
        <p:txBody>
          <a:bodyPr vert="horz" lIns="96661" tIns="48331" rIns="96661" bIns="48331" rtlCol="0" anchor="b"/>
          <a:lstStyle>
            <a:lvl1pPr algn="l">
              <a:defRPr sz="13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4143587" y="9119474"/>
            <a:ext cx="3169920" cy="481726"/>
          </a:xfrm>
          <a:prstGeom prst="rect">
            <a:avLst/>
          </a:prstGeom>
        </p:spPr>
        <p:txBody>
          <a:bodyPr vert="horz" lIns="96661" tIns="48331" rIns="96661" bIns="48331" rtlCol="0" anchor="b"/>
          <a:lstStyle>
            <a:lvl1pPr algn="r">
              <a:defRPr sz="1300"/>
            </a:lvl1pPr>
          </a:lstStyle>
          <a:p>
            <a:fld id="{65CF6084-2C3C-4FE7-B181-D16A3429058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3542523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emf"/><Relationship Id="rId2" Type="http://schemas.openxmlformats.org/officeDocument/2006/relationships/image" Target="../media/image1.emf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emf"/><Relationship Id="rId2" Type="http://schemas.openxmlformats.org/officeDocument/2006/relationships/image" Target="../media/image2.emf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emf"/><Relationship Id="rId2" Type="http://schemas.openxmlformats.org/officeDocument/2006/relationships/image" Target="../media/image1.emf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ectangle 15"/>
          <p:cNvSpPr/>
          <p:nvPr userDrawn="1"/>
        </p:nvSpPr>
        <p:spPr>
          <a:xfrm>
            <a:off x="0" y="6171231"/>
            <a:ext cx="12192000" cy="697337"/>
          </a:xfrm>
          <a:prstGeom prst="rect">
            <a:avLst/>
          </a:prstGeom>
          <a:solidFill>
            <a:srgbClr val="5706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sz="1800"/>
          </a:p>
        </p:txBody>
      </p:sp>
      <p:sp>
        <p:nvSpPr>
          <p:cNvPr id="17" name="Rectangle 16"/>
          <p:cNvSpPr/>
          <p:nvPr userDrawn="1"/>
        </p:nvSpPr>
        <p:spPr>
          <a:xfrm>
            <a:off x="15" y="6094179"/>
            <a:ext cx="12191985" cy="66484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097280" y="758952"/>
            <a:ext cx="10058400" cy="3566160"/>
          </a:xfrm>
        </p:spPr>
        <p:txBody>
          <a:bodyPr anchor="b">
            <a:normAutofit/>
          </a:bodyPr>
          <a:lstStyle>
            <a:lvl1pPr algn="l">
              <a:lnSpc>
                <a:spcPct val="85000"/>
              </a:lnSpc>
              <a:defRPr sz="8000" spc="-50" baseline="0">
                <a:solidFill>
                  <a:schemeClr val="tx1">
                    <a:lumMod val="85000"/>
                    <a:lumOff val="15000"/>
                  </a:schemeClr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00051" y="4455621"/>
            <a:ext cx="10058400" cy="1143000"/>
          </a:xfrm>
        </p:spPr>
        <p:txBody>
          <a:bodyPr lIns="91440" rIns="91440">
            <a:normAutofit/>
          </a:bodyPr>
          <a:lstStyle>
            <a:lvl1pPr marL="0" indent="0" algn="l">
              <a:buNone/>
              <a:defRPr sz="2400" cap="all" spc="200" baseline="0">
                <a:solidFill>
                  <a:schemeClr val="tx2"/>
                </a:solidFill>
                <a:latin typeface="+mj-lt"/>
              </a:defRPr>
            </a:lvl1pPr>
            <a:lvl2pPr marL="457200" indent="0" algn="ctr">
              <a:buNone/>
              <a:defRPr sz="2400"/>
            </a:lvl2pPr>
            <a:lvl3pPr marL="914400" indent="0" algn="ctr">
              <a:buNone/>
              <a:defRPr sz="2400"/>
            </a:lvl3pPr>
            <a:lvl4pPr marL="1371600" indent="0" algn="ctr">
              <a:buNone/>
              <a:defRPr sz="2000"/>
            </a:lvl4pPr>
            <a:lvl5pPr marL="1828800" indent="0" algn="ctr">
              <a:buNone/>
              <a:defRPr sz="2000"/>
            </a:lvl5pPr>
            <a:lvl6pPr marL="2286000" indent="0" algn="ctr">
              <a:buNone/>
              <a:defRPr sz="2000"/>
            </a:lvl6pPr>
            <a:lvl7pPr marL="2743200" indent="0" algn="ctr">
              <a:buNone/>
              <a:defRPr sz="2000"/>
            </a:lvl7pPr>
            <a:lvl8pPr marL="3200400" indent="0" algn="ctr">
              <a:buNone/>
              <a:defRPr sz="2000"/>
            </a:lvl8pPr>
            <a:lvl9pPr marL="3657600" indent="0" algn="ctr">
              <a:buNone/>
              <a:defRPr sz="20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cxnSp>
        <p:nvCxnSpPr>
          <p:cNvPr id="9" name="Straight Connector 8"/>
          <p:cNvCxnSpPr/>
          <p:nvPr/>
        </p:nvCxnSpPr>
        <p:spPr>
          <a:xfrm>
            <a:off x="1207658" y="4343400"/>
            <a:ext cx="987552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1" name="Picture 10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3164" y="6292310"/>
            <a:ext cx="2113225" cy="334949"/>
          </a:xfrm>
          <a:prstGeom prst="rect">
            <a:avLst/>
          </a:prstGeom>
        </p:spPr>
      </p:pic>
      <p:pic>
        <p:nvPicPr>
          <p:cNvPr id="15" name="Picture 14" descr="final-logo-3.eps"/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961914" y="6270691"/>
            <a:ext cx="1117381" cy="817404"/>
          </a:xfrm>
          <a:prstGeom prst="rect">
            <a:avLst/>
          </a:prstGeom>
        </p:spPr>
      </p:pic>
      <p:sp>
        <p:nvSpPr>
          <p:cNvPr id="12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9346794" y="6314268"/>
            <a:ext cx="131202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800">
                <a:solidFill>
                  <a:srgbClr val="FFFFFF"/>
                </a:solidFill>
              </a:defRPr>
            </a:lvl1pPr>
          </a:lstStyle>
          <a:p>
            <a:fld id="{4FAB73BC-B049-4115-A692-8D63A059BFB8}" type="slidenum">
              <a:rPr lang="en-US" smtClean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hasCustomPrompt="1"/>
          </p:nvPr>
        </p:nvSpPr>
        <p:spPr/>
        <p:txBody>
          <a:bodyPr/>
          <a:lstStyle>
            <a:lvl1pPr marL="91440" indent="-91440">
              <a:buSzPct val="100000"/>
              <a:buFont typeface="Wingdings" panose="05000000000000000000" pitchFamily="2" charset="2"/>
              <a:buChar char="q"/>
              <a:defRPr/>
            </a:lvl1pPr>
          </a:lstStyle>
          <a:p>
            <a:pPr lvl="0"/>
            <a:r>
              <a:rPr lang="en-US" dirty="0"/>
              <a:t> 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9637A9-119A-49DA-BD12-AAC58B377D80}" type="slidenum">
              <a:rPr lang="en-US" smtClean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Section Header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97280" y="758952"/>
            <a:ext cx="10058400" cy="3566160"/>
          </a:xfrm>
        </p:spPr>
        <p:txBody>
          <a:bodyPr anchor="b" anchorCtr="0">
            <a:normAutofit/>
          </a:bodyPr>
          <a:lstStyle>
            <a:lvl1pPr>
              <a:lnSpc>
                <a:spcPct val="85000"/>
              </a:lnSpc>
              <a:defRPr sz="8000" b="0">
                <a:solidFill>
                  <a:schemeClr val="tx1">
                    <a:lumMod val="85000"/>
                    <a:lumOff val="15000"/>
                  </a:schemeClr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97280" y="4453128"/>
            <a:ext cx="10058400" cy="1143000"/>
          </a:xfrm>
        </p:spPr>
        <p:txBody>
          <a:bodyPr lIns="91440" rIns="91440" anchor="t" anchorCtr="0">
            <a:normAutofit/>
          </a:bodyPr>
          <a:lstStyle>
            <a:lvl1pPr marL="0" indent="0">
              <a:buNone/>
              <a:defRPr sz="2400" cap="all" spc="200" baseline="0">
                <a:solidFill>
                  <a:schemeClr val="tx2"/>
                </a:solidFill>
                <a:latin typeface="+mj-lt"/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cxnSp>
        <p:nvCxnSpPr>
          <p:cNvPr id="9" name="Straight Connector 8"/>
          <p:cNvCxnSpPr/>
          <p:nvPr/>
        </p:nvCxnSpPr>
        <p:spPr>
          <a:xfrm>
            <a:off x="1207658" y="4343400"/>
            <a:ext cx="987552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Rectangle 9"/>
          <p:cNvSpPr/>
          <p:nvPr userDrawn="1"/>
        </p:nvSpPr>
        <p:spPr>
          <a:xfrm>
            <a:off x="0" y="6339080"/>
            <a:ext cx="12192000" cy="518920"/>
          </a:xfrm>
          <a:prstGeom prst="rect">
            <a:avLst/>
          </a:prstGeom>
          <a:solidFill>
            <a:srgbClr val="5706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sz="1800" dirty="0"/>
          </a:p>
        </p:txBody>
      </p:sp>
      <p:sp>
        <p:nvSpPr>
          <p:cNvPr id="11" name="Rectangle 10"/>
          <p:cNvSpPr/>
          <p:nvPr userDrawn="1"/>
        </p:nvSpPr>
        <p:spPr>
          <a:xfrm>
            <a:off x="15" y="6272596"/>
            <a:ext cx="12191985" cy="66484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pic>
        <p:nvPicPr>
          <p:cNvPr id="17" name="Picture 16" descr="final-logo-3.eps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961914" y="6379551"/>
            <a:ext cx="1117381" cy="817404"/>
          </a:xfrm>
          <a:prstGeom prst="rect">
            <a:avLst/>
          </a:prstGeom>
        </p:spPr>
      </p:pic>
      <p:pic>
        <p:nvPicPr>
          <p:cNvPr id="18" name="Picture 17"/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1045" y="6405564"/>
            <a:ext cx="2113225" cy="334949"/>
          </a:xfrm>
          <a:prstGeom prst="rect">
            <a:avLst/>
          </a:prstGeom>
        </p:spPr>
      </p:pic>
      <p:sp>
        <p:nvSpPr>
          <p:cNvPr id="12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9346794" y="6314268"/>
            <a:ext cx="131202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800">
                <a:solidFill>
                  <a:srgbClr val="FFFFFF"/>
                </a:solidFill>
              </a:defRPr>
            </a:lvl1pPr>
          </a:lstStyle>
          <a:p>
            <a:fld id="{4FAB73BC-B049-4115-A692-8D63A059BFB8}" type="slidenum">
              <a:rPr lang="en-US" smtClean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/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054517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097278" y="1845734"/>
            <a:ext cx="4937760" cy="402336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17920" y="1845735"/>
            <a:ext cx="4937760" cy="402336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/>
          <p:cNvSpPr>
            <a:spLocks noGrp="1"/>
          </p:cNvSpPr>
          <p:nvPr>
            <p:ph type="title"/>
          </p:nvPr>
        </p:nvSpPr>
        <p:spPr>
          <a:xfrm>
            <a:off x="1097280" y="286604"/>
            <a:ext cx="10058400" cy="1060198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97280" y="1477911"/>
            <a:ext cx="4937760" cy="736282"/>
          </a:xfrm>
        </p:spPr>
        <p:txBody>
          <a:bodyPr lIns="91440" rIns="91440" anchor="ctr">
            <a:normAutofit/>
          </a:bodyPr>
          <a:lstStyle>
            <a:lvl1pPr marL="0" indent="0">
              <a:buNone/>
              <a:defRPr sz="2000" b="0" cap="all" baseline="0">
                <a:solidFill>
                  <a:schemeClr val="tx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097280" y="2214193"/>
            <a:ext cx="4937760" cy="337820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217920" y="1477911"/>
            <a:ext cx="4937760" cy="736282"/>
          </a:xfrm>
        </p:spPr>
        <p:txBody>
          <a:bodyPr lIns="91440" rIns="91440" anchor="ctr">
            <a:normAutofit/>
          </a:bodyPr>
          <a:lstStyle>
            <a:lvl1pPr marL="0" indent="0">
              <a:buNone/>
              <a:defRPr sz="2000" b="0" cap="all" baseline="0">
                <a:solidFill>
                  <a:schemeClr val="tx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217920" y="2214193"/>
            <a:ext cx="4937760" cy="33782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/>
          <p:cNvSpPr/>
          <p:nvPr userDrawn="1"/>
        </p:nvSpPr>
        <p:spPr>
          <a:xfrm>
            <a:off x="0" y="6339080"/>
            <a:ext cx="12192000" cy="518920"/>
          </a:xfrm>
          <a:prstGeom prst="rect">
            <a:avLst/>
          </a:prstGeom>
          <a:solidFill>
            <a:srgbClr val="5706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sz="1800"/>
          </a:p>
        </p:txBody>
      </p:sp>
      <p:sp>
        <p:nvSpPr>
          <p:cNvPr id="11" name="Rectangle 10"/>
          <p:cNvSpPr/>
          <p:nvPr userDrawn="1"/>
        </p:nvSpPr>
        <p:spPr>
          <a:xfrm>
            <a:off x="15" y="6272596"/>
            <a:ext cx="12191985" cy="66484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8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9832682" y="6508672"/>
            <a:ext cx="984019" cy="273844"/>
          </a:xfrm>
          <a:prstGeom prst="rect">
            <a:avLst/>
          </a:prstGeom>
        </p:spPr>
        <p:txBody>
          <a:bodyPr vert="horz" lIns="68567" tIns="34289" rIns="68567" bIns="34289" rtlCol="0" anchor="ctr"/>
          <a:lstStyle>
            <a:lvl1pPr algn="r">
              <a:defRPr sz="800">
                <a:solidFill>
                  <a:srgbClr val="FFFFFF"/>
                </a:solidFill>
              </a:defRPr>
            </a:lvl1pPr>
          </a:lstStyle>
          <a:p>
            <a:fld id="{4FAB73BC-B049-4115-A692-8D63A059BFB8}" type="slidenum">
              <a:rPr lang="en-US" dirty="0"/>
              <a:pPr/>
              <a:t>‹#›</a:t>
            </a:fld>
            <a:endParaRPr lang="en-US" dirty="0"/>
          </a:p>
        </p:txBody>
      </p:sp>
      <p:pic>
        <p:nvPicPr>
          <p:cNvPr id="9" name="Picture 8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00507" y="6405564"/>
            <a:ext cx="2113225" cy="334949"/>
          </a:xfrm>
          <a:prstGeom prst="rect">
            <a:avLst/>
          </a:prstGeom>
        </p:spPr>
      </p:pic>
      <p:pic>
        <p:nvPicPr>
          <p:cNvPr id="16" name="Picture 15" descr="final-logo-3.eps"/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042543" y="6446621"/>
            <a:ext cx="923615" cy="675657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/>
        </p:nvSpPr>
        <p:spPr>
          <a:xfrm>
            <a:off x="16" y="0"/>
            <a:ext cx="4050791" cy="6858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9" name="Rectangle 8"/>
          <p:cNvSpPr/>
          <p:nvPr/>
        </p:nvSpPr>
        <p:spPr>
          <a:xfrm>
            <a:off x="4040071" y="0"/>
            <a:ext cx="64008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594359"/>
            <a:ext cx="3200400" cy="2286000"/>
          </a:xfrm>
        </p:spPr>
        <p:txBody>
          <a:bodyPr anchor="b">
            <a:normAutofit/>
          </a:bodyPr>
          <a:lstStyle>
            <a:lvl1pPr>
              <a:defRPr sz="3600" b="0">
                <a:solidFill>
                  <a:srgbClr val="FFFFFF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800600" y="731520"/>
            <a:ext cx="6492240" cy="52578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2926080"/>
            <a:ext cx="3200400" cy="3379124"/>
          </a:xfrm>
        </p:spPr>
        <p:txBody>
          <a:bodyPr lIns="91440" rIns="91440">
            <a:normAutofit/>
          </a:bodyPr>
          <a:lstStyle>
            <a:lvl1pPr marL="0" indent="0">
              <a:buNone/>
              <a:defRPr sz="1500">
                <a:solidFill>
                  <a:srgbClr val="FFFFFF"/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65512" y="6459785"/>
            <a:ext cx="2618510" cy="365125"/>
          </a:xfrm>
          <a:prstGeom prst="rect">
            <a:avLst/>
          </a:prstGeom>
        </p:spPr>
        <p:txBody>
          <a:bodyPr/>
          <a:lstStyle>
            <a:lvl1pPr algn="l">
              <a:defRPr/>
            </a:lvl1pPr>
          </a:lstStyle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4FAB73BC-B049-4115-A692-8D63A059BFB8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/>
        </p:nvSpPr>
        <p:spPr>
          <a:xfrm>
            <a:off x="0" y="4953000"/>
            <a:ext cx="12188825" cy="1905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9" name="Rectangle 8"/>
          <p:cNvSpPr/>
          <p:nvPr/>
        </p:nvSpPr>
        <p:spPr>
          <a:xfrm>
            <a:off x="15" y="491507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97280" y="5074920"/>
            <a:ext cx="10113645" cy="822960"/>
          </a:xfrm>
        </p:spPr>
        <p:txBody>
          <a:bodyPr lIns="91440" tIns="0" rIns="91440" bIns="0" anchor="b">
            <a:noAutofit/>
          </a:bodyPr>
          <a:lstStyle>
            <a:lvl1pPr>
              <a:defRPr sz="3600" b="0">
                <a:solidFill>
                  <a:srgbClr val="FFFFFF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5" y="0"/>
            <a:ext cx="12191985" cy="4915076"/>
          </a:xfrm>
          <a:solidFill>
            <a:schemeClr val="bg2">
              <a:lumMod val="90000"/>
            </a:schemeClr>
          </a:solidFill>
        </p:spPr>
        <p:txBody>
          <a:bodyPr lIns="457200" tIns="457200"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097280" y="5907024"/>
            <a:ext cx="10113264" cy="594360"/>
          </a:xfrm>
        </p:spPr>
        <p:txBody>
          <a:bodyPr lIns="91440" tIns="0" rIns="91440" bIns="0">
            <a:normAutofit/>
          </a:bodyPr>
          <a:lstStyle>
            <a:lvl1pPr marL="0" indent="0">
              <a:spcBef>
                <a:spcPts val="0"/>
              </a:spcBef>
              <a:spcAft>
                <a:spcPts val="600"/>
              </a:spcAft>
              <a:buNone/>
              <a:defRPr sz="1500">
                <a:solidFill>
                  <a:srgbClr val="FFFFFF"/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1097280" y="6459785"/>
            <a:ext cx="2472271" cy="365125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lIns="45720" tIns="0" rIns="45720" bIns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8" name="Rectangle 7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412302"/>
            <a:ext cx="2628900" cy="575989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412302"/>
            <a:ext cx="7734300" cy="5759898"/>
          </a:xfrm>
        </p:spPr>
        <p:txBody>
          <a:bodyPr vert="eaVert" lIns="45720" tIns="0" rIns="45720" bIns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1097280" y="6459785"/>
            <a:ext cx="2472271" cy="365125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emf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image" Target="../media/image2.emf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/>
          <p:cNvSpPr/>
          <p:nvPr userDrawn="1"/>
        </p:nvSpPr>
        <p:spPr>
          <a:xfrm>
            <a:off x="0" y="6160663"/>
            <a:ext cx="12192000" cy="697337"/>
          </a:xfrm>
          <a:prstGeom prst="rect">
            <a:avLst/>
          </a:prstGeom>
          <a:solidFill>
            <a:srgbClr val="5706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sz="1800" dirty="0"/>
          </a:p>
        </p:txBody>
      </p:sp>
      <p:sp>
        <p:nvSpPr>
          <p:cNvPr id="9" name="Rectangle 8"/>
          <p:cNvSpPr/>
          <p:nvPr/>
        </p:nvSpPr>
        <p:spPr>
          <a:xfrm>
            <a:off x="15" y="6094179"/>
            <a:ext cx="12191985" cy="66484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040211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97280" y="1539277"/>
            <a:ext cx="10058400" cy="4329817"/>
          </a:xfrm>
          <a:prstGeom prst="rect">
            <a:avLst/>
          </a:prstGeom>
        </p:spPr>
        <p:txBody>
          <a:bodyPr vert="horz" lIns="0" tIns="45720" rIns="0" bIns="4572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9346794" y="6314268"/>
            <a:ext cx="131202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800">
                <a:solidFill>
                  <a:srgbClr val="FFFFFF"/>
                </a:solidFill>
              </a:defRPr>
            </a:lvl1pPr>
          </a:lstStyle>
          <a:p>
            <a:fld id="{4FAB73BC-B049-4115-A692-8D63A059BFB8}" type="slidenum">
              <a:rPr lang="en-US" smtClean="0"/>
              <a:pPr/>
              <a:t>‹#›</a:t>
            </a:fld>
            <a:endParaRPr lang="en-US" dirty="0"/>
          </a:p>
        </p:txBody>
      </p:sp>
      <p:cxnSp>
        <p:nvCxnSpPr>
          <p:cNvPr id="10" name="Straight Connector 9"/>
          <p:cNvCxnSpPr/>
          <p:nvPr/>
        </p:nvCxnSpPr>
        <p:spPr>
          <a:xfrm>
            <a:off x="1097280" y="1433045"/>
            <a:ext cx="996696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3" name="Picture 12"/>
          <p:cNvPicPr>
            <a:picLocks noChangeAspect="1"/>
          </p:cNvPicPr>
          <p:nvPr userDrawn="1"/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4307" y="6307398"/>
            <a:ext cx="2113225" cy="334949"/>
          </a:xfrm>
          <a:prstGeom prst="rect">
            <a:avLst/>
          </a:prstGeom>
        </p:spPr>
      </p:pic>
      <p:pic>
        <p:nvPicPr>
          <p:cNvPr id="15" name="Picture 14" descr="final-logo-3.eps"/>
          <p:cNvPicPr>
            <a:picLocks noChangeAspect="1"/>
          </p:cNvPicPr>
          <p:nvPr userDrawn="1"/>
        </p:nvPicPr>
        <p:blipFill>
          <a:blip r:embed="rId1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961914" y="6270691"/>
            <a:ext cx="1117381" cy="817404"/>
          </a:xfrm>
          <a:prstGeom prst="rect">
            <a:avLst/>
          </a:prstGeom>
        </p:spPr>
      </p:pic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6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dt="0"/>
  <p:txStyles>
    <p:titleStyle>
      <a:lvl1pPr algn="l" defTabSz="914400" rtl="0" eaLnBrk="1" latinLnBrk="0" hangingPunct="1">
        <a:lnSpc>
          <a:spcPct val="85000"/>
        </a:lnSpc>
        <a:spcBef>
          <a:spcPct val="0"/>
        </a:spcBef>
        <a:buNone/>
        <a:defRPr sz="4800" kern="1200" spc="-50" baseline="0">
          <a:solidFill>
            <a:schemeClr val="tx1">
              <a:lumMod val="75000"/>
              <a:lumOff val="25000"/>
            </a:schemeClr>
          </a:solidFill>
          <a:latin typeface="+mj-lt"/>
          <a:ea typeface="+mj-ea"/>
          <a:cs typeface="+mj-cs"/>
        </a:defRPr>
      </a:lvl1pPr>
    </p:titleStyle>
    <p:bodyStyle>
      <a:lvl1pPr marL="91440" indent="-91440" algn="l" defTabSz="914400" rtl="0" eaLnBrk="1" latinLnBrk="0" hangingPunct="1">
        <a:lnSpc>
          <a:spcPct val="90000"/>
        </a:lnSpc>
        <a:spcBef>
          <a:spcPts val="1200"/>
        </a:spcBef>
        <a:spcAft>
          <a:spcPts val="200"/>
        </a:spcAft>
        <a:buClr>
          <a:schemeClr val="accent1"/>
        </a:buClr>
        <a:buSzPct val="100000"/>
        <a:buFont typeface="Calibri" panose="020F0502020204030204" pitchFamily="34" charset="0"/>
        <a:buChar char=" "/>
        <a:defRPr sz="20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38404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8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56692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74980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93268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11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marL="13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marL="15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marL="17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1.png"/><Relationship Id="rId5" Type="http://schemas.openxmlformats.org/officeDocument/2006/relationships/image" Target="../media/image10.png"/><Relationship Id="rId4" Type="http://schemas.openxmlformats.org/officeDocument/2006/relationships/image" Target="../media/image9.png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jpe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7" Type="http://schemas.openxmlformats.org/officeDocument/2006/relationships/image" Target="../media/image26.png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5.png"/><Relationship Id="rId5" Type="http://schemas.openxmlformats.org/officeDocument/2006/relationships/image" Target="../media/image24.png"/><Relationship Id="rId4" Type="http://schemas.openxmlformats.org/officeDocument/2006/relationships/image" Target="../media/image23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hyperlink" Target="https://sdrangan.github.io/hwdesign/support/repo/python.html" TargetMode="Externa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5.png"/><Relationship Id="rId4" Type="http://schemas.openxmlformats.org/officeDocument/2006/relationships/image" Target="../media/image28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0.png"/><Relationship Id="rId2" Type="http://schemas.openxmlformats.org/officeDocument/2006/relationships/image" Target="../media/image27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3.png"/><Relationship Id="rId5" Type="http://schemas.openxmlformats.org/officeDocument/2006/relationships/image" Target="../media/image30.png"/><Relationship Id="rId4" Type="http://schemas.openxmlformats.org/officeDocument/2006/relationships/image" Target="../media/image29.png"/></Relationships>
</file>

<file path=ppt/slides/_rels/slide21.xml.rels><?xml version="1.0" encoding="UTF-8" standalone="yes"?>
<Relationships xmlns="http://schemas.openxmlformats.org/package/2006/relationships"><Relationship Id="rId8" Type="http://schemas.openxmlformats.org/officeDocument/2006/relationships/image" Target="../media/image33.png"/><Relationship Id="rId3" Type="http://schemas.openxmlformats.org/officeDocument/2006/relationships/image" Target="../media/image290.png"/><Relationship Id="rId7" Type="http://schemas.openxmlformats.org/officeDocument/2006/relationships/image" Target="../media/image13.png"/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2.png"/><Relationship Id="rId5" Type="http://schemas.openxmlformats.org/officeDocument/2006/relationships/image" Target="../media/image310.png"/><Relationship Id="rId4" Type="http://schemas.openxmlformats.org/officeDocument/2006/relationships/image" Target="../media/image300.png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png"/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0.png"/><Relationship Id="rId5" Type="http://schemas.openxmlformats.org/officeDocument/2006/relationships/image" Target="../media/image39.png"/><Relationship Id="rId4" Type="http://schemas.openxmlformats.org/officeDocument/2006/relationships/image" Target="../media/image38.png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2.png"/><Relationship Id="rId2" Type="http://schemas.openxmlformats.org/officeDocument/2006/relationships/image" Target="../media/image41.png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2.png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4.png"/><Relationship Id="rId2" Type="http://schemas.openxmlformats.org/officeDocument/2006/relationships/image" Target="../media/image43.png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3.png"/><Relationship Id="rId2" Type="http://schemas.openxmlformats.org/officeDocument/2006/relationships/image" Target="../media/image44.png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5.png"/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5.png"/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6.png"/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image" Target="../media/image47.png"/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6.png"/><Relationship Id="rId2" Type="http://schemas.openxmlformats.org/officeDocument/2006/relationships/image" Target="../media/image48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9.png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0.png"/><Relationship Id="rId7" Type="http://schemas.openxmlformats.org/officeDocument/2006/relationships/image" Target="../media/image53.png"/><Relationship Id="rId2" Type="http://schemas.openxmlformats.org/officeDocument/2006/relationships/image" Target="../media/image47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2.png"/><Relationship Id="rId5" Type="http://schemas.openxmlformats.org/officeDocument/2006/relationships/image" Target="../media/image46.png"/><Relationship Id="rId4" Type="http://schemas.openxmlformats.org/officeDocument/2006/relationships/image" Target="../media/image51.png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1.png"/><Relationship Id="rId2" Type="http://schemas.openxmlformats.org/officeDocument/2006/relationships/image" Target="../media/image47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4.png"/><Relationship Id="rId5" Type="http://schemas.openxmlformats.org/officeDocument/2006/relationships/image" Target="../media/image52.png"/><Relationship Id="rId4" Type="http://schemas.openxmlformats.org/officeDocument/2006/relationships/image" Target="../media/image46.png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6.png"/><Relationship Id="rId2" Type="http://schemas.openxmlformats.org/officeDocument/2006/relationships/image" Target="../media/image55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7.png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7.png"/><Relationship Id="rId2" Type="http://schemas.openxmlformats.org/officeDocument/2006/relationships/image" Target="../media/image58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9.png"/></Relationships>
</file>

<file path=ppt/slides/_rels/slide4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1.png"/><Relationship Id="rId2" Type="http://schemas.openxmlformats.org/officeDocument/2006/relationships/image" Target="../media/image60.png"/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0.png"/><Relationship Id="rId2" Type="http://schemas.openxmlformats.org/officeDocument/2006/relationships/image" Target="../media/image62.png"/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3.png"/><Relationship Id="rId2" Type="http://schemas.openxmlformats.org/officeDocument/2006/relationships/image" Target="../media/image61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4.png"/></Relationships>
</file>

<file path=ppt/slides/_rels/slide4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6.png"/><Relationship Id="rId2" Type="http://schemas.openxmlformats.org/officeDocument/2006/relationships/image" Target="../media/image65.png"/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6.png"/><Relationship Id="rId2" Type="http://schemas.openxmlformats.org/officeDocument/2006/relationships/image" Target="../media/image67.png"/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2" Type="http://schemas.openxmlformats.org/officeDocument/2006/relationships/image" Target="../media/image68.png"/><Relationship Id="rId1" Type="http://schemas.openxmlformats.org/officeDocument/2006/relationships/slideLayout" Target="../slideLayouts/slideLayout2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9.png"/><Relationship Id="rId2" Type="http://schemas.openxmlformats.org/officeDocument/2006/relationships/hyperlink" Target="https://github.com/sdrangan/hwdesign/tree/main/demos/basic_logic" TargetMode="External"/><Relationship Id="rId1" Type="http://schemas.openxmlformats.org/officeDocument/2006/relationships/slideLayout" Target="../slideLayouts/slideLayout2.xml"/></Relationships>
</file>

<file path=ppt/slides/_rels/slide5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1.png"/><Relationship Id="rId2" Type="http://schemas.openxmlformats.org/officeDocument/2006/relationships/image" Target="../media/image70.png"/><Relationship Id="rId1" Type="http://schemas.openxmlformats.org/officeDocument/2006/relationships/slideLayout" Target="../slideLayouts/slideLayout2.xml"/></Relationships>
</file>

<file path=ppt/slides/_rels/slide5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3.png"/><Relationship Id="rId2" Type="http://schemas.openxmlformats.org/officeDocument/2006/relationships/image" Target="../media/image72.png"/><Relationship Id="rId1" Type="http://schemas.openxmlformats.org/officeDocument/2006/relationships/slideLayout" Target="../slideLayouts/slideLayout2.xml"/></Relationships>
</file>

<file path=ppt/slides/_rels/slide5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5.png"/><Relationship Id="rId2" Type="http://schemas.openxmlformats.org/officeDocument/2006/relationships/image" Target="../media/image74.png"/><Relationship Id="rId1" Type="http://schemas.openxmlformats.org/officeDocument/2006/relationships/slideLayout" Target="../slideLayouts/slideLayout2.xml"/></Relationships>
</file>

<file path=ppt/slides/_rels/slide56.xml.rels><?xml version="1.0" encoding="UTF-8" standalone="yes"?>
<Relationships xmlns="http://schemas.openxmlformats.org/package/2006/relationships"><Relationship Id="rId2" Type="http://schemas.openxmlformats.org/officeDocument/2006/relationships/image" Target="../media/image76.png"/><Relationship Id="rId1" Type="http://schemas.openxmlformats.org/officeDocument/2006/relationships/slideLayout" Target="../slideLayouts/slideLayout2.xml"/></Relationships>
</file>

<file path=ppt/slides/_rels/slide57.xml.rels><?xml version="1.0" encoding="UTF-8" standalone="yes"?>
<Relationships xmlns="http://schemas.openxmlformats.org/package/2006/relationships"><Relationship Id="rId2" Type="http://schemas.openxmlformats.org/officeDocument/2006/relationships/image" Target="../media/image77.png"/><Relationship Id="rId1" Type="http://schemas.openxmlformats.org/officeDocument/2006/relationships/slideLayout" Target="../slideLayouts/slideLayout2.xml"/></Relationships>
</file>

<file path=ppt/slides/_rels/slide58.xml.rels><?xml version="1.0" encoding="UTF-8" standalone="yes"?>
<Relationships xmlns="http://schemas.openxmlformats.org/package/2006/relationships"><Relationship Id="rId2" Type="http://schemas.openxmlformats.org/officeDocument/2006/relationships/image" Target="../media/image78.png"/><Relationship Id="rId1" Type="http://schemas.openxmlformats.org/officeDocument/2006/relationships/slideLayout" Target="../slideLayouts/slideLayout2.xml"/></Relationships>
</file>

<file path=ppt/slides/_rels/slide59.xml.rels><?xml version="1.0" encoding="UTF-8" standalone="yes"?>
<Relationships xmlns="http://schemas.openxmlformats.org/package/2006/relationships"><Relationship Id="rId2" Type="http://schemas.openxmlformats.org/officeDocument/2006/relationships/image" Target="../media/image79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>
            <a:normAutofit/>
          </a:bodyPr>
          <a:lstStyle/>
          <a:p>
            <a:r>
              <a:rPr lang="en-US" sz="6600"/>
              <a:t>Unit 1 </a:t>
            </a:r>
            <a:br>
              <a:rPr lang="en-US" sz="6600"/>
            </a:br>
            <a:r>
              <a:rPr lang="en-US" sz="6600"/>
              <a:t>Basic Digital Logic</a:t>
            </a:r>
            <a:endParaRPr lang="en-US" sz="6600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/>
              <a:t>EL-GY 9463:  Introduction to Hardware Design</a:t>
            </a:r>
          </a:p>
          <a:p>
            <a:r>
              <a:rPr lang="en-US"/>
              <a:t>ProfS. Sundeep Rangan, Siddharth Garg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4FAB73BC-B049-4115-A692-8D63A059BFB8}" type="slidenum">
              <a:rPr lang="en-US" smtClean="0"/>
              <a:pPr/>
              <a:t>1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5429350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Learning Objectives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Write </a:t>
            </a:r>
            <a:r>
              <a:rPr lang="en-US" dirty="0" err="1">
                <a:solidFill>
                  <a:schemeClr val="accent1">
                    <a:lumMod val="75000"/>
                  </a:schemeClr>
                </a:solidFill>
              </a:rPr>
              <a:t>SystemVerilog</a:t>
            </a:r>
            <a:r>
              <a:rPr lang="en-US" dirty="0">
                <a:solidFill>
                  <a:schemeClr val="accent1">
                    <a:lumMod val="75000"/>
                  </a:schemeClr>
                </a:solidFill>
              </a:rPr>
              <a:t> </a:t>
            </a:r>
            <a:r>
              <a:rPr lang="en-US" dirty="0"/>
              <a:t>descriptions for simple hardware </a:t>
            </a:r>
            <a:r>
              <a:rPr lang="en-US" dirty="0">
                <a:solidFill>
                  <a:schemeClr val="accent1">
                    <a:lumMod val="75000"/>
                  </a:schemeClr>
                </a:solidFill>
              </a:rPr>
              <a:t>modules</a:t>
            </a:r>
          </a:p>
          <a:p>
            <a:r>
              <a:rPr lang="en-US" dirty="0"/>
              <a:t>Draw high-level </a:t>
            </a:r>
            <a:r>
              <a:rPr lang="en-US" dirty="0">
                <a:solidFill>
                  <a:schemeClr val="accent1">
                    <a:lumMod val="75000"/>
                  </a:schemeClr>
                </a:solidFill>
              </a:rPr>
              <a:t>block diagram </a:t>
            </a:r>
            <a:r>
              <a:rPr lang="en-US" dirty="0"/>
              <a:t>representations of the module implementations</a:t>
            </a:r>
          </a:p>
          <a:p>
            <a:r>
              <a:rPr lang="en-US" dirty="0"/>
              <a:t>Identify the </a:t>
            </a:r>
            <a:r>
              <a:rPr lang="en-US" dirty="0">
                <a:solidFill>
                  <a:schemeClr val="accent1">
                    <a:lumMod val="75000"/>
                  </a:schemeClr>
                </a:solidFill>
              </a:rPr>
              <a:t>critical path </a:t>
            </a:r>
            <a:r>
              <a:rPr lang="en-US" dirty="0"/>
              <a:t>and its delay from the block diagram</a:t>
            </a:r>
          </a:p>
          <a:p>
            <a:r>
              <a:rPr lang="en-US" dirty="0"/>
              <a:t>Implement simple functions in synchronous logic</a:t>
            </a:r>
          </a:p>
          <a:p>
            <a:r>
              <a:rPr lang="en-US" dirty="0"/>
              <a:t>Visualize signals in a </a:t>
            </a:r>
            <a:r>
              <a:rPr lang="en-US" dirty="0">
                <a:solidFill>
                  <a:schemeClr val="accent1">
                    <a:lumMod val="75000"/>
                  </a:schemeClr>
                </a:solidFill>
              </a:rPr>
              <a:t>timing diagram</a:t>
            </a:r>
          </a:p>
          <a:p>
            <a:r>
              <a:rPr lang="en-US" dirty="0"/>
              <a:t>Write a </a:t>
            </a:r>
            <a:r>
              <a:rPr lang="en-US" dirty="0">
                <a:solidFill>
                  <a:schemeClr val="accent1">
                    <a:lumMod val="75000"/>
                  </a:schemeClr>
                </a:solidFill>
              </a:rPr>
              <a:t>testbench</a:t>
            </a:r>
            <a:r>
              <a:rPr lang="en-US" dirty="0"/>
              <a:t> for the hardware modules</a:t>
            </a:r>
          </a:p>
          <a:p>
            <a:r>
              <a:rPr lang="en-US" dirty="0">
                <a:solidFill>
                  <a:schemeClr val="accent1">
                    <a:lumMod val="75000"/>
                  </a:schemeClr>
                </a:solidFill>
              </a:rPr>
              <a:t>Simulate</a:t>
            </a:r>
            <a:r>
              <a:rPr lang="en-US" dirty="0"/>
              <a:t>, and </a:t>
            </a:r>
            <a:r>
              <a:rPr lang="en-US" dirty="0">
                <a:solidFill>
                  <a:schemeClr val="accent1">
                    <a:lumMod val="75000"/>
                  </a:schemeClr>
                </a:solidFill>
              </a:rPr>
              <a:t>synthesize</a:t>
            </a:r>
            <a:r>
              <a:rPr lang="en-US" dirty="0"/>
              <a:t> the </a:t>
            </a:r>
            <a:r>
              <a:rPr lang="en-US" dirty="0" err="1"/>
              <a:t>SystemVerilog</a:t>
            </a:r>
            <a:r>
              <a:rPr lang="en-US" dirty="0"/>
              <a:t> using </a:t>
            </a:r>
            <a:r>
              <a:rPr lang="en-US" dirty="0" err="1">
                <a:solidFill>
                  <a:schemeClr val="accent1">
                    <a:lumMod val="75000"/>
                  </a:schemeClr>
                </a:solidFill>
              </a:rPr>
              <a:t>Vivado</a:t>
            </a:r>
            <a:r>
              <a:rPr lang="en-US" dirty="0"/>
              <a:t> tools</a:t>
            </a:r>
          </a:p>
          <a:p>
            <a:r>
              <a:rPr lang="en-US" dirty="0"/>
              <a:t>Extract </a:t>
            </a:r>
            <a:r>
              <a:rPr lang="en-US" dirty="0">
                <a:solidFill>
                  <a:schemeClr val="accent1">
                    <a:lumMod val="75000"/>
                  </a:schemeClr>
                </a:solidFill>
              </a:rPr>
              <a:t>value-change dump </a:t>
            </a:r>
            <a:r>
              <a:rPr lang="en-US" dirty="0"/>
              <a:t>(VCD) files and </a:t>
            </a:r>
            <a:r>
              <a:rPr lang="en-US" dirty="0">
                <a:solidFill>
                  <a:schemeClr val="accent1">
                    <a:lumMod val="75000"/>
                  </a:schemeClr>
                </a:solidFill>
              </a:rPr>
              <a:t>synthesis reports </a:t>
            </a:r>
            <a:r>
              <a:rPr lang="en-US" dirty="0"/>
              <a:t>and process them in python 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9637A9-119A-49DA-BD12-AAC58B377D80}" type="slidenum">
              <a:rPr lang="en-US" smtClean="0"/>
              <a:t>2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9855314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7CE59F8-EF96-20D9-3BF6-DBCF84399BA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1B5D5A7-6271-5B63-9B97-5A2686E8228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Outline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A03743C-B42E-14C5-942C-A1259FB2B89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sz="2400" dirty="0"/>
              <a:t>Combinational Logic</a:t>
            </a:r>
          </a:p>
          <a:p>
            <a:r>
              <a:rPr lang="en-US" sz="2400" dirty="0"/>
              <a:t>Timing Diagrams for Combinational Logic</a:t>
            </a:r>
          </a:p>
          <a:p>
            <a:r>
              <a:rPr lang="en-US" sz="2400" dirty="0"/>
              <a:t>Registers, Clocks and Sequential Logic</a:t>
            </a:r>
          </a:p>
          <a:p>
            <a:r>
              <a:rPr lang="en-US" sz="2400" dirty="0"/>
              <a:t>Simulating and Synthesizing Simple Modules in </a:t>
            </a:r>
            <a:r>
              <a:rPr lang="en-US" sz="2400" dirty="0" err="1"/>
              <a:t>Vivado</a:t>
            </a:r>
            <a:endParaRPr lang="en-US" sz="240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48521AA-8799-5DBA-9D19-ACE01D30A63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9637A9-119A-49DA-BD12-AAC58B377D80}" type="slidenum">
              <a:rPr lang="en-US" smtClean="0"/>
              <a:t>3</a:t>
            </a:fld>
            <a:endParaRPr lang="en-US" dirty="0"/>
          </a:p>
        </p:txBody>
      </p:sp>
      <p:sp>
        <p:nvSpPr>
          <p:cNvPr id="5" name="Arrow: Right 4">
            <a:extLst>
              <a:ext uri="{FF2B5EF4-FFF2-40B4-BE49-F238E27FC236}">
                <a16:creationId xmlns:a16="http://schemas.microsoft.com/office/drawing/2014/main" id="{C9C9242D-0C02-1CE5-D0CB-EB939C4BE126}"/>
              </a:ext>
            </a:extLst>
          </p:cNvPr>
          <p:cNvSpPr/>
          <p:nvPr/>
        </p:nvSpPr>
        <p:spPr>
          <a:xfrm>
            <a:off x="450151" y="1488947"/>
            <a:ext cx="938784" cy="484632"/>
          </a:xfrm>
          <a:prstGeom prst="rightArrow">
            <a:avLst/>
          </a:prstGeom>
          <a:solidFill>
            <a:schemeClr val="accent1">
              <a:lumMod val="40000"/>
              <a:lumOff val="6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5208334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CFA39AD-C4E3-E69C-1A9B-E391E0A3806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Simple Example:  </a:t>
            </a:r>
            <a:r>
              <a:rPr lang="en-US" dirty="0" err="1"/>
              <a:t>ReLU</a:t>
            </a:r>
            <a:r>
              <a:rPr lang="en-US" dirty="0"/>
              <a:t> + Linear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182C3F6B-499A-181F-3FE7-8ECCD425CF51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sz="2400" dirty="0">
                    <a:solidFill>
                      <a:schemeClr val="accent1">
                        <a:lumMod val="60000"/>
                        <a:lumOff val="40000"/>
                      </a:schemeClr>
                    </a:solidFill>
                  </a:rPr>
                  <a:t>Goal</a:t>
                </a:r>
                <a:r>
                  <a:rPr lang="en-US" sz="2400" dirty="0"/>
                  <a:t>:  Implement a module for the function</a:t>
                </a:r>
                <a:br>
                  <a:rPr lang="en-US" sz="2400" dirty="0"/>
                </a:b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=</m:t>
                      </m:r>
                      <m:func>
                        <m:func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 sz="2400" b="0" i="0" smtClean="0">
                              <a:latin typeface="Cambria Math" panose="02040503050406030204" pitchFamily="18" charset="0"/>
                            </a:rPr>
                            <m:t>max</m:t>
                          </m:r>
                        </m:fName>
                        <m:e>
                          <m:d>
                            <m:dPr>
                              <m:begChr m:val="{"/>
                              <m:endChr m:val="}"/>
                              <m:ctrlP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𝑎𝑥</m:t>
                              </m:r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𝑏</m:t>
                              </m:r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, 0</m:t>
                              </m:r>
                            </m:e>
                          </m:d>
                        </m:e>
                      </m:func>
                    </m:oMath>
                  </m:oMathPara>
                </a14:m>
                <a:endParaRPr lang="en-US" sz="2400" b="0" dirty="0"/>
              </a:p>
              <a:p>
                <a:pPr lvl="1"/>
                <a:r>
                  <a:rPr lang="en-US" sz="2400" dirty="0"/>
                  <a:t>Linear function + </a:t>
                </a:r>
                <a:r>
                  <a:rPr lang="en-US" sz="2400" dirty="0" err="1"/>
                  <a:t>ReLU</a:t>
                </a:r>
                <a:endParaRPr lang="en-US" sz="2400" dirty="0"/>
              </a:p>
              <a:p>
                <a:pPr lvl="1"/>
                <a:r>
                  <a:rPr lang="en-US" sz="2400" dirty="0"/>
                  <a:t>Used widely in machine learning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182C3F6B-499A-181F-3FE7-8ECCD425CF51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818" t="-197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771B6C6-52C3-B217-47F8-F3F70581238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9637A9-119A-49DA-BD12-AAC58B377D80}" type="slidenum">
              <a:rPr lang="en-US" smtClean="0"/>
              <a:t>4</a:t>
            </a:fld>
            <a:endParaRPr lang="en-US" dirty="0"/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3D1FFF23-8720-B06E-AFD6-9918105B9306}"/>
              </a:ext>
            </a:extLst>
          </p:cNvPr>
          <p:cNvSpPr/>
          <p:nvPr/>
        </p:nvSpPr>
        <p:spPr>
          <a:xfrm>
            <a:off x="4773792" y="3704185"/>
            <a:ext cx="1990725" cy="1957388"/>
          </a:xfrm>
          <a:prstGeom prst="roundRect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F24DBA75-1DA1-3B37-064C-D0CD4B024C95}"/>
              </a:ext>
            </a:extLst>
          </p:cNvPr>
          <p:cNvCxnSpPr/>
          <p:nvPr/>
        </p:nvCxnSpPr>
        <p:spPr>
          <a:xfrm>
            <a:off x="3268842" y="4213772"/>
            <a:ext cx="1504950" cy="0"/>
          </a:xfrm>
          <a:prstGeom prst="straightConnector1">
            <a:avLst/>
          </a:prstGeom>
          <a:ln w="190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9D4785C0-8EA6-26C6-0F51-78BFECB37F58}"/>
              </a:ext>
            </a:extLst>
          </p:cNvPr>
          <p:cNvCxnSpPr/>
          <p:nvPr/>
        </p:nvCxnSpPr>
        <p:spPr>
          <a:xfrm>
            <a:off x="3268842" y="5071022"/>
            <a:ext cx="1504950" cy="0"/>
          </a:xfrm>
          <a:prstGeom prst="straightConnector1">
            <a:avLst/>
          </a:prstGeom>
          <a:ln w="190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BD9C9CE2-EB87-E202-5CB2-D6E50B4E525C}"/>
              </a:ext>
            </a:extLst>
          </p:cNvPr>
          <p:cNvCxnSpPr>
            <a:cxnSpLocks/>
          </p:cNvCxnSpPr>
          <p:nvPr/>
        </p:nvCxnSpPr>
        <p:spPr>
          <a:xfrm>
            <a:off x="6764517" y="4604297"/>
            <a:ext cx="1308132" cy="0"/>
          </a:xfrm>
          <a:prstGeom prst="straightConnector1">
            <a:avLst/>
          </a:prstGeom>
          <a:ln w="190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1FB4964D-ABD3-D4C7-D031-49F37CBFB325}"/>
              </a:ext>
            </a:extLst>
          </p:cNvPr>
          <p:cNvCxnSpPr/>
          <p:nvPr/>
        </p:nvCxnSpPr>
        <p:spPr>
          <a:xfrm>
            <a:off x="3268842" y="4604297"/>
            <a:ext cx="1504950" cy="0"/>
          </a:xfrm>
          <a:prstGeom prst="straightConnector1">
            <a:avLst/>
          </a:prstGeom>
          <a:ln w="190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42341D9E-860B-6F46-E0DA-9F572C1D64B7}"/>
                  </a:ext>
                </a:extLst>
              </p:cNvPr>
              <p:cNvSpPr txBox="1"/>
              <p:nvPr/>
            </p:nvSpPr>
            <p:spPr>
              <a:xfrm>
                <a:off x="2758356" y="3900182"/>
                <a:ext cx="468077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𝑥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42341D9E-860B-6F46-E0DA-9F572C1D64B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758356" y="3900182"/>
                <a:ext cx="468077" cy="523220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12E02514-9A61-E838-AE54-661022887ADE}"/>
                  </a:ext>
                </a:extLst>
              </p:cNvPr>
              <p:cNvSpPr txBox="1"/>
              <p:nvPr/>
            </p:nvSpPr>
            <p:spPr>
              <a:xfrm>
                <a:off x="2758355" y="4374255"/>
                <a:ext cx="475579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𝑎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12E02514-9A61-E838-AE54-661022887AD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758355" y="4374255"/>
                <a:ext cx="475579" cy="523220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E4FBA255-20E6-F6AA-0C73-8BAEC7ADB958}"/>
                  </a:ext>
                </a:extLst>
              </p:cNvPr>
              <p:cNvSpPr txBox="1"/>
              <p:nvPr/>
            </p:nvSpPr>
            <p:spPr>
              <a:xfrm>
                <a:off x="2750854" y="4858452"/>
                <a:ext cx="475579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𝑏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E4FBA255-20E6-F6AA-0C73-8BAEC7ADB95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750854" y="4858452"/>
                <a:ext cx="475579" cy="523220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AA5A7343-6B2C-9B77-8B2A-57A07D1B4017}"/>
                  </a:ext>
                </a:extLst>
              </p:cNvPr>
              <p:cNvSpPr txBox="1"/>
              <p:nvPr/>
            </p:nvSpPr>
            <p:spPr>
              <a:xfrm>
                <a:off x="8121288" y="4335232"/>
                <a:ext cx="475579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𝑦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AA5A7343-6B2C-9B77-8B2A-57A07D1B401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121288" y="4335232"/>
                <a:ext cx="475579" cy="523220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9" name="TextBox 18">
            <a:extLst>
              <a:ext uri="{FF2B5EF4-FFF2-40B4-BE49-F238E27FC236}">
                <a16:creationId xmlns:a16="http://schemas.microsoft.com/office/drawing/2014/main" id="{17A75226-4D24-50E7-4529-BB8CAA71C664}"/>
              </a:ext>
            </a:extLst>
          </p:cNvPr>
          <p:cNvSpPr txBox="1"/>
          <p:nvPr/>
        </p:nvSpPr>
        <p:spPr>
          <a:xfrm>
            <a:off x="8645506" y="4387319"/>
            <a:ext cx="168187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>
                <a:solidFill>
                  <a:srgbClr val="00B050"/>
                </a:solidFill>
              </a:rPr>
              <a:t>Output port</a:t>
            </a:r>
            <a:endParaRPr lang="en-US" dirty="0">
              <a:solidFill>
                <a:srgbClr val="00B050"/>
              </a:solidFill>
            </a:endParaRP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9530F934-71D4-864A-E2F6-8243F49EF94A}"/>
              </a:ext>
            </a:extLst>
          </p:cNvPr>
          <p:cNvSpPr txBox="1"/>
          <p:nvPr/>
        </p:nvSpPr>
        <p:spPr>
          <a:xfrm>
            <a:off x="1036320" y="4435810"/>
            <a:ext cx="157286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>
                <a:solidFill>
                  <a:srgbClr val="00B050"/>
                </a:solidFill>
              </a:rPr>
              <a:t>Input ports</a:t>
            </a:r>
            <a:endParaRPr lang="en-US" dirty="0">
              <a:solidFill>
                <a:srgbClr val="00B05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27917939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408BE07-C2AC-5C81-2EDC-B0E0254C50F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SystemVerilog</a:t>
            </a:r>
            <a:r>
              <a:rPr lang="en-US" dirty="0"/>
              <a:t> Description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D6653BA-A695-433E-9E77-354D19D915C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97280" y="1539277"/>
            <a:ext cx="4998720" cy="4329817"/>
          </a:xfrm>
        </p:spPr>
        <p:txBody>
          <a:bodyPr/>
          <a:lstStyle/>
          <a:p>
            <a:r>
              <a:rPr lang="en-US" dirty="0" err="1"/>
              <a:t>SystemVerilog</a:t>
            </a:r>
            <a:r>
              <a:rPr lang="en-US" dirty="0"/>
              <a:t>:</a:t>
            </a:r>
          </a:p>
          <a:p>
            <a:pPr lvl="1"/>
            <a:r>
              <a:rPr lang="en-US" sz="2000" dirty="0"/>
              <a:t>Language for </a:t>
            </a:r>
            <a:r>
              <a:rPr lang="en-US" sz="2000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behavioral</a:t>
            </a:r>
            <a:r>
              <a:rPr lang="en-US" sz="2000" dirty="0"/>
              <a:t> description</a:t>
            </a:r>
          </a:p>
          <a:p>
            <a:pPr lvl="1"/>
            <a:r>
              <a:rPr lang="en-US" sz="2000" dirty="0"/>
              <a:t>What the module should do</a:t>
            </a:r>
          </a:p>
          <a:p>
            <a:r>
              <a:rPr lang="en-US" dirty="0"/>
              <a:t>Each block is a </a:t>
            </a:r>
            <a:r>
              <a:rPr lang="en-US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module</a:t>
            </a:r>
          </a:p>
          <a:p>
            <a:pPr lvl="1"/>
            <a:r>
              <a:rPr lang="en-US" sz="2000" dirty="0"/>
              <a:t>Has inputs and outputs</a:t>
            </a:r>
          </a:p>
          <a:p>
            <a:pPr lvl="1"/>
            <a:r>
              <a:rPr lang="en-US" sz="2000" dirty="0"/>
              <a:t>Logical mapping from inputs to outputs</a:t>
            </a:r>
          </a:p>
          <a:p>
            <a:r>
              <a:rPr lang="en-US" dirty="0"/>
              <a:t>Description is behavioral only</a:t>
            </a:r>
          </a:p>
          <a:p>
            <a:pPr lvl="1"/>
            <a:r>
              <a:rPr lang="en-US" sz="2000" dirty="0"/>
              <a:t>Does not say how it will be implemented</a:t>
            </a:r>
          </a:p>
          <a:p>
            <a:pPr lvl="1"/>
            <a:r>
              <a:rPr lang="en-US" sz="2000" dirty="0"/>
              <a:t>We discuss that later</a:t>
            </a:r>
          </a:p>
          <a:p>
            <a:pPr lvl="1"/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F9B4595-A4AA-901B-7B0B-A65349D8B5E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9637A9-119A-49DA-BD12-AAC58B377D80}" type="slidenum">
              <a:rPr lang="en-US" smtClean="0"/>
              <a:t>5</a:t>
            </a:fld>
            <a:endParaRPr lang="en-US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BFC14BC3-8EFF-CE27-1DB2-AAA93957343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67352" y="1639289"/>
            <a:ext cx="5236178" cy="377091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1479215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915A406-C087-AB7C-47F9-FED6343990A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" name="Picture 16">
            <a:extLst>
              <a:ext uri="{FF2B5EF4-FFF2-40B4-BE49-F238E27FC236}">
                <a16:creationId xmlns:a16="http://schemas.microsoft.com/office/drawing/2014/main" id="{4961F36B-1D50-63A2-4B94-9D78E68DF53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91711" y="1714404"/>
            <a:ext cx="5402998" cy="3891049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1D6C2159-E556-D33C-8A01-715E0748E76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Module Components in SV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A681CA8-D911-EA40-0FF4-939AE9B180D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564630" y="1846785"/>
            <a:ext cx="4998720" cy="3626289"/>
          </a:xfrm>
        </p:spPr>
        <p:txBody>
          <a:bodyPr>
            <a:normAutofit/>
          </a:bodyPr>
          <a:lstStyle/>
          <a:p>
            <a:r>
              <a:rPr lang="en-US" sz="2400" dirty="0">
                <a:solidFill>
                  <a:schemeClr val="accent1"/>
                </a:solidFill>
              </a:rPr>
              <a:t>Module name</a:t>
            </a:r>
          </a:p>
          <a:p>
            <a:r>
              <a:rPr lang="en-US" sz="2400" dirty="0">
                <a:solidFill>
                  <a:schemeClr val="accent1"/>
                </a:solidFill>
              </a:rPr>
              <a:t>Ports</a:t>
            </a:r>
            <a:r>
              <a:rPr lang="en-US" sz="2400" dirty="0"/>
              <a:t>:</a:t>
            </a:r>
          </a:p>
          <a:p>
            <a:pPr lvl="1"/>
            <a:r>
              <a:rPr lang="en-US" sz="2000" dirty="0"/>
              <a:t>Defines inputs and outputs</a:t>
            </a:r>
          </a:p>
          <a:p>
            <a:pPr lvl="1"/>
            <a:r>
              <a:rPr lang="en-US" sz="2000" dirty="0"/>
              <a:t>Each has a type (e.g., int)</a:t>
            </a:r>
          </a:p>
          <a:p>
            <a:pPr lvl="1"/>
            <a:endParaRPr lang="en-US" sz="2000" dirty="0"/>
          </a:p>
          <a:p>
            <a:r>
              <a:rPr lang="en-US" sz="2400" dirty="0">
                <a:solidFill>
                  <a:schemeClr val="accent1"/>
                </a:solidFill>
              </a:rPr>
              <a:t>Behavioral description</a:t>
            </a:r>
          </a:p>
          <a:p>
            <a:pPr lvl="1"/>
            <a:r>
              <a:rPr lang="en-US" sz="2000" dirty="0"/>
              <a:t>In this case, a </a:t>
            </a:r>
            <a:r>
              <a:rPr lang="en-US" sz="2000" dirty="0">
                <a:solidFill>
                  <a:schemeClr val="accent1"/>
                </a:solidFill>
              </a:rPr>
              <a:t>combinational block</a:t>
            </a:r>
          </a:p>
          <a:p>
            <a:pPr lvl="1"/>
            <a:r>
              <a:rPr lang="en-US" sz="2000" dirty="0"/>
              <a:t>Sequence of operations </a:t>
            </a:r>
          </a:p>
          <a:p>
            <a:pPr lvl="1"/>
            <a:r>
              <a:rPr lang="en-US" sz="2000" dirty="0"/>
              <a:t>From input to output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8F95E58-6885-B715-15DD-C341EFBA1B0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9637A9-119A-49DA-BD12-AAC58B377D80}" type="slidenum">
              <a:rPr lang="en-US" smtClean="0"/>
              <a:t>6</a:t>
            </a:fld>
            <a:endParaRPr lang="en-US" dirty="0"/>
          </a:p>
        </p:txBody>
      </p: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2D368288-6B4D-8BAE-83B3-B324FD6066C3}"/>
              </a:ext>
            </a:extLst>
          </p:cNvPr>
          <p:cNvCxnSpPr>
            <a:cxnSpLocks/>
          </p:cNvCxnSpPr>
          <p:nvPr/>
        </p:nvCxnSpPr>
        <p:spPr>
          <a:xfrm flipH="1">
            <a:off x="4519613" y="2709863"/>
            <a:ext cx="1775096" cy="0"/>
          </a:xfrm>
          <a:prstGeom prst="straightConnector1">
            <a:avLst/>
          </a:prstGeom>
          <a:ln w="254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EF94FEB2-86CF-D95C-922C-7DB2B6F95159}"/>
              </a:ext>
            </a:extLst>
          </p:cNvPr>
          <p:cNvCxnSpPr>
            <a:cxnSpLocks/>
          </p:cNvCxnSpPr>
          <p:nvPr/>
        </p:nvCxnSpPr>
        <p:spPr>
          <a:xfrm flipH="1">
            <a:off x="5627371" y="4443413"/>
            <a:ext cx="781276" cy="0"/>
          </a:xfrm>
          <a:prstGeom prst="straightConnector1">
            <a:avLst/>
          </a:prstGeom>
          <a:ln w="254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363C4718-A8C2-673E-C4C5-A5E50B89D2D9}"/>
              </a:ext>
            </a:extLst>
          </p:cNvPr>
          <p:cNvCxnSpPr>
            <a:cxnSpLocks/>
          </p:cNvCxnSpPr>
          <p:nvPr/>
        </p:nvCxnSpPr>
        <p:spPr>
          <a:xfrm flipH="1">
            <a:off x="3443288" y="2000552"/>
            <a:ext cx="3048447" cy="0"/>
          </a:xfrm>
          <a:prstGeom prst="straightConnector1">
            <a:avLst/>
          </a:prstGeom>
          <a:ln w="254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2543925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986F688-1E1C-DE63-651F-86BBFB21193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System Verilog vs Verilog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385FDDC-091C-3DB4-2329-A530676D9FA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sz="2400" dirty="0">
                <a:solidFill>
                  <a:schemeClr val="accent1"/>
                </a:solidFill>
              </a:rPr>
              <a:t>Verilog</a:t>
            </a:r>
          </a:p>
          <a:p>
            <a:pPr lvl="1"/>
            <a:r>
              <a:rPr lang="en-US" sz="2200" dirty="0"/>
              <a:t>Created in 1983-84</a:t>
            </a:r>
          </a:p>
          <a:p>
            <a:pPr lvl="1"/>
            <a:r>
              <a:rPr lang="en-US" sz="2200" dirty="0"/>
              <a:t>Standardized in 1995.  Became mainstream RTL</a:t>
            </a:r>
          </a:p>
          <a:p>
            <a:pPr lvl="1"/>
            <a:r>
              <a:rPr lang="en-US" sz="2200" dirty="0"/>
              <a:t>Largely used for legacy designs</a:t>
            </a:r>
          </a:p>
          <a:p>
            <a:pPr lvl="1"/>
            <a:endParaRPr lang="en-US" sz="2200" dirty="0"/>
          </a:p>
          <a:p>
            <a:r>
              <a:rPr lang="en-US" sz="2400" dirty="0">
                <a:solidFill>
                  <a:schemeClr val="accent1"/>
                </a:solidFill>
              </a:rPr>
              <a:t>System Verilog (this unit)</a:t>
            </a:r>
          </a:p>
          <a:p>
            <a:pPr lvl="1"/>
            <a:r>
              <a:rPr lang="en-US" sz="2200" dirty="0"/>
              <a:t>Developed in 2002</a:t>
            </a:r>
          </a:p>
          <a:p>
            <a:pPr lvl="1"/>
            <a:r>
              <a:rPr lang="en-US" sz="2200" dirty="0"/>
              <a:t>Extends Verilog</a:t>
            </a:r>
          </a:p>
          <a:p>
            <a:pPr lvl="1"/>
            <a:r>
              <a:rPr lang="en-US" sz="2200" dirty="0"/>
              <a:t>Better abstraction, parameterization</a:t>
            </a:r>
          </a:p>
          <a:p>
            <a:pPr lvl="1"/>
            <a:r>
              <a:rPr lang="en-US" sz="2200" dirty="0"/>
              <a:t>Significantly improved testbench</a:t>
            </a:r>
          </a:p>
          <a:p>
            <a:pPr lvl="1"/>
            <a:r>
              <a:rPr lang="en-US" sz="2200" dirty="0"/>
              <a:t>Overwhelming design choice today</a:t>
            </a:r>
          </a:p>
          <a:p>
            <a:pPr lvl="1"/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D33BFB3-6F6A-C9D6-82A5-AE6CA8DBE59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9637A9-119A-49DA-BD12-AAC58B377D80}" type="slidenum">
              <a:rPr lang="en-US" smtClean="0"/>
              <a:t>7</a:t>
            </a:fld>
            <a:endParaRPr lang="en-US" dirty="0"/>
          </a:p>
        </p:txBody>
      </p:sp>
      <p:pic>
        <p:nvPicPr>
          <p:cNvPr id="4098" name="Picture 2" descr="Guide to Verilog — Beginner Guide | by ...">
            <a:extLst>
              <a:ext uri="{FF2B5EF4-FFF2-40B4-BE49-F238E27FC236}">
                <a16:creationId xmlns:a16="http://schemas.microsoft.com/office/drawing/2014/main" id="{ADD75851-13C6-B643-8109-3638447718F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40980" y="2010056"/>
            <a:ext cx="3314700" cy="13811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100" name="Picture 4" descr="An open source SystemVerilog Test Suite">
            <a:extLst>
              <a:ext uri="{FF2B5EF4-FFF2-40B4-BE49-F238E27FC236}">
                <a16:creationId xmlns:a16="http://schemas.microsoft.com/office/drawing/2014/main" id="{801DBC8A-FE69-D5CD-7DDD-73B2C46A752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40980" y="3603644"/>
            <a:ext cx="3395329" cy="178528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98490065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3A70D58-DCF1-8845-786C-3A09A1022DF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Synthesis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CE6DEB0-091F-84A1-CB5C-05ED180700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9637A9-119A-49DA-BD12-AAC58B377D80}" type="slidenum">
              <a:rPr lang="en-US" smtClean="0"/>
              <a:t>8</a:t>
            </a:fld>
            <a:endParaRPr lang="en-US" dirty="0"/>
          </a:p>
        </p:txBody>
      </p:sp>
      <p:pic>
        <p:nvPicPr>
          <p:cNvPr id="3074" name="Picture 2" descr="Logic gates - Creating a Digital counter - Electrical Engineering Stack  Exchange">
            <a:extLst>
              <a:ext uri="{FF2B5EF4-FFF2-40B4-BE49-F238E27FC236}">
                <a16:creationId xmlns:a16="http://schemas.microsoft.com/office/drawing/2014/main" id="{A42CAEBF-2982-C506-503D-88ADA84330F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350109" y="3067335"/>
            <a:ext cx="2757488" cy="16556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BB4AC1B6-0E63-2796-A907-D243B9DF8066}"/>
              </a:ext>
            </a:extLst>
          </p:cNvPr>
          <p:cNvSpPr txBox="1"/>
          <p:nvPr/>
        </p:nvSpPr>
        <p:spPr>
          <a:xfrm>
            <a:off x="8047363" y="1682341"/>
            <a:ext cx="3631828" cy="144655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>
                <a:solidFill>
                  <a:schemeClr val="accent1"/>
                </a:solidFill>
              </a:rPr>
              <a:t>Implementation</a:t>
            </a:r>
            <a:br>
              <a:rPr lang="en-US" sz="2000" dirty="0">
                <a:solidFill>
                  <a:schemeClr val="accent1"/>
                </a:solidFill>
              </a:rPr>
            </a:br>
            <a:r>
              <a:rPr lang="en-US" sz="2000" i="1" dirty="0"/>
              <a:t>How functions maps to hardware</a:t>
            </a:r>
            <a:br>
              <a:rPr lang="en-US" sz="2000" i="1" dirty="0"/>
            </a:br>
            <a:br>
              <a:rPr lang="en-US" sz="2000" dirty="0">
                <a:solidFill>
                  <a:schemeClr val="accent1"/>
                </a:solidFill>
              </a:rPr>
            </a:br>
            <a:endParaRPr lang="en-US" sz="2000" dirty="0"/>
          </a:p>
        </p:txBody>
      </p:sp>
      <p:sp>
        <p:nvSpPr>
          <p:cNvPr id="10" name="Arrow: Right 9">
            <a:extLst>
              <a:ext uri="{FF2B5EF4-FFF2-40B4-BE49-F238E27FC236}">
                <a16:creationId xmlns:a16="http://schemas.microsoft.com/office/drawing/2014/main" id="{CA88CDCD-3CE7-7BA6-31D7-DB19C668C2F6}"/>
              </a:ext>
            </a:extLst>
          </p:cNvPr>
          <p:cNvSpPr/>
          <p:nvPr/>
        </p:nvSpPr>
        <p:spPr>
          <a:xfrm>
            <a:off x="5114100" y="3179716"/>
            <a:ext cx="2095500" cy="856108"/>
          </a:xfrm>
          <a:prstGeom prst="rightArrow">
            <a:avLst/>
          </a:prstGeom>
          <a:solidFill>
            <a:schemeClr val="accent1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Content Placeholder 2">
            <a:extLst>
              <a:ext uri="{FF2B5EF4-FFF2-40B4-BE49-F238E27FC236}">
                <a16:creationId xmlns:a16="http://schemas.microsoft.com/office/drawing/2014/main" id="{D299A6AA-1FB6-2D0A-800E-9233E8E908E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32014" y="1694531"/>
            <a:ext cx="4029697" cy="1485185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2400" dirty="0">
                <a:solidFill>
                  <a:schemeClr val="accent1">
                    <a:lumMod val="75000"/>
                  </a:schemeClr>
                </a:solidFill>
              </a:rPr>
              <a:t>Behavioral Description</a:t>
            </a:r>
            <a:br>
              <a:rPr lang="en-US" sz="1800" dirty="0">
                <a:solidFill>
                  <a:schemeClr val="accent1">
                    <a:lumMod val="75000"/>
                  </a:schemeClr>
                </a:solidFill>
              </a:rPr>
            </a:br>
            <a:r>
              <a:rPr lang="en-US" sz="1800" i="1" dirty="0"/>
              <a:t>What module does?</a:t>
            </a:r>
            <a:br>
              <a:rPr lang="en-US" sz="1800" i="1" dirty="0"/>
            </a:br>
            <a:r>
              <a:rPr lang="en-US" sz="1800" dirty="0"/>
              <a:t>Ex:  Verilog, HLS, SV</a:t>
            </a:r>
          </a:p>
          <a:p>
            <a:pPr marL="0" indent="0">
              <a:buNone/>
            </a:pPr>
            <a:endParaRPr lang="en-US" sz="2400" dirty="0"/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32C62B2A-C5CD-2B21-777A-DE5981A4D32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25889" y="2821364"/>
            <a:ext cx="3716607" cy="2676569"/>
          </a:xfrm>
          <a:prstGeom prst="rect">
            <a:avLst/>
          </a:prstGeom>
        </p:spPr>
      </p:pic>
      <p:sp>
        <p:nvSpPr>
          <p:cNvPr id="14" name="Content Placeholder 2">
            <a:extLst>
              <a:ext uri="{FF2B5EF4-FFF2-40B4-BE49-F238E27FC236}">
                <a16:creationId xmlns:a16="http://schemas.microsoft.com/office/drawing/2014/main" id="{FE66F599-E80D-1641-8E18-424DAC7ABD0E}"/>
              </a:ext>
            </a:extLst>
          </p:cNvPr>
          <p:cNvSpPr txBox="1">
            <a:spLocks/>
          </p:cNvSpPr>
          <p:nvPr/>
        </p:nvSpPr>
        <p:spPr>
          <a:xfrm>
            <a:off x="5450824" y="2658029"/>
            <a:ext cx="1630111" cy="661719"/>
          </a:xfrm>
          <a:prstGeom prst="rect">
            <a:avLst/>
          </a:prstGeom>
        </p:spPr>
        <p:txBody>
          <a:bodyPr vert="horz" lIns="0" tIns="45720" rIns="0" bIns="45720" rtlCol="0">
            <a:normAutofit/>
          </a:bodyPr>
          <a:lstStyle>
            <a:lvl1pPr marL="91440" indent="-91440" algn="l" defTabSz="914400" rtl="0" eaLnBrk="1" latinLnBrk="0" hangingPunct="1">
              <a:lnSpc>
                <a:spcPct val="90000"/>
              </a:lnSpc>
              <a:spcBef>
                <a:spcPts val="1200"/>
              </a:spcBef>
              <a:spcAft>
                <a:spcPts val="200"/>
              </a:spcAft>
              <a:buClr>
                <a:schemeClr val="accent1"/>
              </a:buClr>
              <a:buSzPct val="100000"/>
              <a:buFont typeface="Wingdings" panose="05000000000000000000" pitchFamily="2" charset="2"/>
              <a:buChar char="q"/>
              <a:defRPr sz="20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384048" indent="-18288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8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566928" indent="-18288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749808" indent="-18288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932688" indent="-18288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1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13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15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17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Wingdings" panose="05000000000000000000" pitchFamily="2" charset="2"/>
              <a:buNone/>
            </a:pPr>
            <a:r>
              <a:rPr lang="en-US" sz="2600" dirty="0">
                <a:solidFill>
                  <a:schemeClr val="accent1">
                    <a:lumMod val="75000"/>
                  </a:schemeClr>
                </a:solidFill>
              </a:rPr>
              <a:t>Synthesis</a:t>
            </a:r>
            <a:endParaRPr lang="en-US" sz="2600" dirty="0"/>
          </a:p>
          <a:p>
            <a:pPr marL="0" indent="0">
              <a:buFont typeface="Wingdings" panose="05000000000000000000" pitchFamily="2" charset="2"/>
              <a:buNone/>
            </a:pPr>
            <a:endParaRPr lang="en-US" sz="2400" dirty="0"/>
          </a:p>
        </p:txBody>
      </p:sp>
    </p:spTree>
    <p:extLst>
      <p:ext uri="{BB962C8B-B14F-4D97-AF65-F5344CB8AC3E}">
        <p14:creationId xmlns:p14="http://schemas.microsoft.com/office/powerpoint/2010/main" val="68111985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6161421-1052-4C97-133B-945F9996100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Implementation Depends on the Target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CC90FE7-1DD0-E5A2-5567-21D2AF35D6A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Components for implementation depend on target</a:t>
            </a:r>
          </a:p>
          <a:p>
            <a:r>
              <a:rPr lang="en-US" dirty="0">
                <a:solidFill>
                  <a:schemeClr val="accent1"/>
                </a:solidFill>
              </a:rPr>
              <a:t>Gate‑level netlist </a:t>
            </a:r>
            <a:r>
              <a:rPr lang="en-US" dirty="0"/>
              <a:t>(classic implementation)</a:t>
            </a:r>
          </a:p>
          <a:p>
            <a:pPr lvl="1"/>
            <a:r>
              <a:rPr lang="en-US" dirty="0"/>
              <a:t>AND, OR, XOR, NOT gates</a:t>
            </a:r>
          </a:p>
          <a:p>
            <a:pPr lvl="1"/>
            <a:r>
              <a:rPr lang="en-US" dirty="0"/>
              <a:t>Multiplexers, adders, subtractors, flip‑flops, latches</a:t>
            </a:r>
          </a:p>
          <a:p>
            <a:r>
              <a:rPr lang="en-US" dirty="0"/>
              <a:t>Technology‑mapped </a:t>
            </a:r>
            <a:r>
              <a:rPr lang="en-US" dirty="0">
                <a:solidFill>
                  <a:schemeClr val="accent1"/>
                </a:solidFill>
              </a:rPr>
              <a:t>standard cells </a:t>
            </a:r>
            <a:r>
              <a:rPr lang="en-US" dirty="0"/>
              <a:t>for ASICs</a:t>
            </a:r>
          </a:p>
          <a:p>
            <a:pPr lvl="1"/>
            <a:r>
              <a:rPr lang="en-US" dirty="0"/>
              <a:t>NAND2_X1, DFFR_X2, AOI21_X4, INV_X1</a:t>
            </a:r>
          </a:p>
          <a:p>
            <a:pPr lvl="1"/>
            <a:r>
              <a:rPr lang="en-US" dirty="0"/>
              <a:t>Actual cells in foundry’s library</a:t>
            </a:r>
          </a:p>
          <a:p>
            <a:r>
              <a:rPr lang="en-US" dirty="0">
                <a:solidFill>
                  <a:schemeClr val="accent1"/>
                </a:solidFill>
              </a:rPr>
              <a:t>FPGA primitives</a:t>
            </a:r>
          </a:p>
          <a:p>
            <a:pPr lvl="1"/>
            <a:r>
              <a:rPr lang="en-US" dirty="0"/>
              <a:t>DSP units, LUTS, BRAM, …	  </a:t>
            </a:r>
          </a:p>
          <a:p>
            <a:endParaRPr lang="en-US" dirty="0"/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F0E5B6F-02FF-5A8A-8C64-8D4512A4E44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9637A9-119A-49DA-BD12-AAC58B377D80}" type="slidenum">
              <a:rPr lang="en-US" smtClean="0"/>
              <a:t>9</a:t>
            </a:fld>
            <a:endParaRPr lang="en-US" dirty="0"/>
          </a:p>
        </p:txBody>
      </p:sp>
      <p:pic>
        <p:nvPicPr>
          <p:cNvPr id="5124" name="Picture 4" descr="Schematic and layout of 1X 2-input NAND gates with (a) GLB applied to... |  Download Scientific Diagram">
            <a:extLst>
              <a:ext uri="{FF2B5EF4-FFF2-40B4-BE49-F238E27FC236}">
                <a16:creationId xmlns:a16="http://schemas.microsoft.com/office/drawing/2014/main" id="{9B3C0D34-9A0C-072B-B20F-F042B18E629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362950" y="1614487"/>
            <a:ext cx="2657475" cy="294443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B7066EA7-A781-AB6B-EAEC-EB2086933821}"/>
              </a:ext>
            </a:extLst>
          </p:cNvPr>
          <p:cNvSpPr txBox="1"/>
          <p:nvPr/>
        </p:nvSpPr>
        <p:spPr>
          <a:xfrm>
            <a:off x="5519737" y="5191435"/>
            <a:ext cx="6096000" cy="6001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100" b="0" i="0" dirty="0">
                <a:solidFill>
                  <a:srgbClr val="222222"/>
                </a:solidFill>
                <a:effectLst/>
                <a:latin typeface="Arial" panose="020B0604020202020204" pitchFamily="34" charset="0"/>
              </a:rPr>
              <a:t>Cui, </a:t>
            </a:r>
            <a:r>
              <a:rPr lang="en-US" sz="1100" b="0" i="0" dirty="0" err="1">
                <a:solidFill>
                  <a:srgbClr val="222222"/>
                </a:solidFill>
                <a:effectLst/>
                <a:latin typeface="Arial" panose="020B0604020202020204" pitchFamily="34" charset="0"/>
              </a:rPr>
              <a:t>Tiansong</a:t>
            </a:r>
            <a:r>
              <a:rPr lang="en-US" sz="1100" b="0" i="0" dirty="0">
                <a:solidFill>
                  <a:srgbClr val="222222"/>
                </a:solidFill>
                <a:effectLst/>
                <a:latin typeface="Arial" panose="020B0604020202020204" pitchFamily="34" charset="0"/>
              </a:rPr>
              <a:t>, et al. "An exploration of applying gate-length-biasing techniques to deeply-scaled </a:t>
            </a:r>
            <a:r>
              <a:rPr lang="en-US" sz="1100" b="0" i="0" dirty="0" err="1">
                <a:solidFill>
                  <a:srgbClr val="222222"/>
                </a:solidFill>
                <a:effectLst/>
                <a:latin typeface="Arial" panose="020B0604020202020204" pitchFamily="34" charset="0"/>
              </a:rPr>
              <a:t>FinFETs</a:t>
            </a:r>
            <a:r>
              <a:rPr lang="en-US" sz="1100" b="0" i="0" dirty="0">
                <a:solidFill>
                  <a:srgbClr val="222222"/>
                </a:solidFill>
                <a:effectLst/>
                <a:latin typeface="Arial" panose="020B0604020202020204" pitchFamily="34" charset="0"/>
              </a:rPr>
              <a:t> operating in multiple voltage regimes." </a:t>
            </a:r>
            <a:r>
              <a:rPr lang="en-US" sz="1100" b="0" i="1" dirty="0">
                <a:solidFill>
                  <a:srgbClr val="222222"/>
                </a:solidFill>
                <a:effectLst/>
                <a:latin typeface="Arial" panose="020B0604020202020204" pitchFamily="34" charset="0"/>
              </a:rPr>
              <a:t>IEEE Transactions on Emerging Topics in Computing</a:t>
            </a:r>
            <a:r>
              <a:rPr lang="en-US" sz="1100" b="0" i="0" dirty="0">
                <a:solidFill>
                  <a:srgbClr val="222222"/>
                </a:solidFill>
                <a:effectLst/>
                <a:latin typeface="Arial" panose="020B0604020202020204" pitchFamily="34" charset="0"/>
              </a:rPr>
              <a:t> 6.2 (2016): 172-183.</a:t>
            </a:r>
            <a:endParaRPr lang="en-US" sz="1100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821D99A8-7CC5-423E-D504-5B767A93FFC0}"/>
              </a:ext>
            </a:extLst>
          </p:cNvPr>
          <p:cNvSpPr txBox="1"/>
          <p:nvPr/>
        </p:nvSpPr>
        <p:spPr>
          <a:xfrm>
            <a:off x="8958262" y="4665539"/>
            <a:ext cx="2657475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600" b="0" i="0" dirty="0" err="1">
                <a:solidFill>
                  <a:srgbClr val="222222"/>
                </a:solidFill>
                <a:effectLst/>
                <a:latin typeface="Arial" panose="020B0604020202020204" pitchFamily="34" charset="0"/>
              </a:rPr>
              <a:t>FinFET</a:t>
            </a:r>
            <a:r>
              <a:rPr lang="en-US" sz="1600" b="0" i="0" dirty="0">
                <a:solidFill>
                  <a:srgbClr val="222222"/>
                </a:solidFill>
                <a:effectLst/>
                <a:latin typeface="Arial" panose="020B0604020202020204" pitchFamily="34" charset="0"/>
              </a:rPr>
              <a:t> NAND gate</a:t>
            </a:r>
            <a:endParaRPr lang="en-US" sz="1100" dirty="0"/>
          </a:p>
        </p:txBody>
      </p:sp>
    </p:spTree>
    <p:extLst>
      <p:ext uri="{BB962C8B-B14F-4D97-AF65-F5344CB8AC3E}">
        <p14:creationId xmlns:p14="http://schemas.microsoft.com/office/powerpoint/2010/main" val="291440906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F8D784-9A01-55DB-D193-0DE0BF6F06F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Block Diagram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EBB04E1-70CB-65A5-6FD8-98DF333F2C7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Function of a module typically represented by a </a:t>
            </a:r>
            <a:r>
              <a:rPr lang="en-US" dirty="0">
                <a:solidFill>
                  <a:schemeClr val="accent1"/>
                </a:solidFill>
              </a:rPr>
              <a:t>block diagram</a:t>
            </a:r>
          </a:p>
          <a:p>
            <a:r>
              <a:rPr lang="en-US" dirty="0"/>
              <a:t>Graphical representation of a potential implementation</a:t>
            </a:r>
          </a:p>
          <a:p>
            <a:r>
              <a:rPr lang="en-US" dirty="0"/>
              <a:t>Typically, diagram is at high-level</a:t>
            </a:r>
          </a:p>
          <a:p>
            <a:pPr lvl="1"/>
            <a:r>
              <a:rPr lang="en-US" dirty="0"/>
              <a:t>Adders, multipliers not low-level details components like gates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3B0CB96-3F47-24B5-9142-7743E60AFA3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9637A9-119A-49DA-BD12-AAC58B377D80}" type="slidenum">
              <a:rPr lang="en-US" smtClean="0"/>
              <a:t>10</a:t>
            </a:fld>
            <a:endParaRPr lang="en-US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372233B5-D650-2A86-938A-F2909D3DEF5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77361" y="3186113"/>
            <a:ext cx="7724119" cy="237227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5438607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3CB9274-49CF-A399-3E66-65EF31CA3E9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C487E1C-79BD-A2D1-86DA-A03E424C517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Outline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8DC9A0F-D1A5-D20D-DCF3-144693B7B97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sz="2400" dirty="0"/>
              <a:t>Combinational Logic</a:t>
            </a:r>
          </a:p>
          <a:p>
            <a:r>
              <a:rPr lang="en-US" sz="2400" dirty="0"/>
              <a:t>Timing Diagrams for Combinational Logic</a:t>
            </a:r>
          </a:p>
          <a:p>
            <a:r>
              <a:rPr lang="en-US" sz="2400" dirty="0"/>
              <a:t>Registers, Clocks and Sequential Logic</a:t>
            </a:r>
          </a:p>
          <a:p>
            <a:r>
              <a:rPr lang="en-US" sz="2400" dirty="0"/>
              <a:t>Simulating and Synthesizing Simple Modules in </a:t>
            </a:r>
            <a:r>
              <a:rPr lang="en-US" sz="2400" dirty="0" err="1"/>
              <a:t>Vivado</a:t>
            </a:r>
            <a:endParaRPr lang="en-US" sz="240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08BEABF-D4DF-B9AC-03AE-B84B2628E20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9637A9-119A-49DA-BD12-AAC58B377D80}" type="slidenum">
              <a:rPr lang="en-US" smtClean="0"/>
              <a:t>11</a:t>
            </a:fld>
            <a:endParaRPr lang="en-US" dirty="0"/>
          </a:p>
        </p:txBody>
      </p:sp>
      <p:sp>
        <p:nvSpPr>
          <p:cNvPr id="5" name="Arrow: Right 4">
            <a:extLst>
              <a:ext uri="{FF2B5EF4-FFF2-40B4-BE49-F238E27FC236}">
                <a16:creationId xmlns:a16="http://schemas.microsoft.com/office/drawing/2014/main" id="{41531A9D-32A8-D4FE-2120-F68D8CE430C0}"/>
              </a:ext>
            </a:extLst>
          </p:cNvPr>
          <p:cNvSpPr/>
          <p:nvPr/>
        </p:nvSpPr>
        <p:spPr>
          <a:xfrm>
            <a:off x="421576" y="1960434"/>
            <a:ext cx="938784" cy="484632"/>
          </a:xfrm>
          <a:prstGeom prst="rightArrow">
            <a:avLst/>
          </a:prstGeom>
          <a:solidFill>
            <a:schemeClr val="accent1">
              <a:lumMod val="40000"/>
              <a:lumOff val="6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2803365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82DCB82-027A-224A-7674-C98F65A259B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Timing Diagrams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48BAE71-1459-824A-6CF9-5C16D09BF97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400" dirty="0"/>
              <a:t>Graphical representation of the signals in the circuit over time</a:t>
            </a:r>
          </a:p>
          <a:p>
            <a:r>
              <a:rPr lang="en-US" sz="2400" dirty="0"/>
              <a:t>Key to analyzing circuits</a:t>
            </a:r>
          </a:p>
          <a:p>
            <a:r>
              <a:rPr lang="en-US" sz="2400" dirty="0"/>
              <a:t>Demonstrates:</a:t>
            </a:r>
          </a:p>
          <a:p>
            <a:pPr lvl="1"/>
            <a:r>
              <a:rPr lang="en-US" sz="2000" dirty="0"/>
              <a:t>Sequence of operations</a:t>
            </a:r>
          </a:p>
          <a:p>
            <a:pPr lvl="1"/>
            <a:r>
              <a:rPr lang="en-US" sz="2000" dirty="0"/>
              <a:t>Latency in each step</a:t>
            </a:r>
          </a:p>
          <a:p>
            <a:pPr lvl="1"/>
            <a:r>
              <a:rPr lang="en-US" sz="2000" dirty="0"/>
              <a:t>Critical paths</a:t>
            </a: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E3DA2F0-2BE0-2360-50C9-AAD684E65E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9637A9-119A-49DA-BD12-AAC58B377D80}" type="slidenum">
              <a:rPr lang="en-US" smtClean="0"/>
              <a:t>12</a:t>
            </a:fld>
            <a:endParaRPr lang="en-US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2BE7CAD9-DA1C-0CCC-6324-71BA0E74B88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67199" y="2660777"/>
            <a:ext cx="7148513" cy="239369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243899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64FC5CB-9F65-A419-49E5-3548CDBEE08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Binary Signals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C762B15-C347-EB4E-A849-6F232BE1729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400" dirty="0"/>
              <a:t>Signal:  Any time-varying quantity</a:t>
            </a:r>
          </a:p>
          <a:p>
            <a:endParaRPr lang="en-US" sz="2400" dirty="0"/>
          </a:p>
          <a:p>
            <a:r>
              <a:rPr lang="en-US" sz="2400" dirty="0"/>
              <a:t>Digital </a:t>
            </a:r>
            <a:r>
              <a:rPr lang="en-US" sz="2400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Binary</a:t>
            </a:r>
            <a:r>
              <a:rPr lang="en-US" sz="2400" dirty="0"/>
              <a:t> Signals:  </a:t>
            </a:r>
          </a:p>
          <a:p>
            <a:pPr lvl="1"/>
            <a:r>
              <a:rPr lang="en-US" sz="2000" dirty="0"/>
              <a:t>Two </a:t>
            </a:r>
            <a:r>
              <a:rPr lang="en-US" sz="2000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logical values</a:t>
            </a:r>
            <a:r>
              <a:rPr lang="en-US" sz="2000" dirty="0"/>
              <a:t>: 0 or 1</a:t>
            </a:r>
          </a:p>
          <a:p>
            <a:pPr lvl="1"/>
            <a:r>
              <a:rPr lang="en-US" sz="2000" dirty="0"/>
              <a:t>Physically: Typically, a continuous voltage</a:t>
            </a:r>
          </a:p>
          <a:p>
            <a:pPr lvl="1"/>
            <a:r>
              <a:rPr lang="en-US" sz="2000" dirty="0"/>
              <a:t>Logical value by thresholding</a:t>
            </a:r>
          </a:p>
          <a:p>
            <a:endParaRPr lang="en-US" sz="2400" dirty="0"/>
          </a:p>
          <a:p>
            <a:r>
              <a:rPr lang="en-US" sz="2400" dirty="0"/>
              <a:t>Other signals (e.g. integer, floats)  built from binary signals</a:t>
            </a:r>
          </a:p>
          <a:p>
            <a:endParaRPr lang="en-US" dirty="0"/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A8DC28D-EA44-4E34-F2B9-86B1CF1BA0C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9637A9-119A-49DA-BD12-AAC58B377D80}" type="slidenum">
              <a:rPr lang="en-US" smtClean="0"/>
              <a:t>13</a:t>
            </a:fld>
            <a:endParaRPr lang="en-US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4CEA7D17-01BA-DCD9-B020-D4B2ABA5E74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51299" y="1726315"/>
            <a:ext cx="5526388" cy="250049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02586248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4FB091C-616C-58B0-52FE-B50FFB118F5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Undefined Logic Value:  </a:t>
            </a:r>
            <a:r>
              <a:rPr lang="en-US" dirty="0">
                <a:solidFill>
                  <a:srgbClr val="FF0000"/>
                </a:solidFill>
              </a:rPr>
              <a:t>‘X’</a:t>
            </a:r>
            <a:r>
              <a:rPr lang="en-US" dirty="0"/>
              <a:t>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1350434-70A4-1E7F-DCA8-50141D013DA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97280" y="1539277"/>
            <a:ext cx="5394084" cy="4329817"/>
          </a:xfrm>
        </p:spPr>
        <p:txBody>
          <a:bodyPr>
            <a:normAutofit/>
          </a:bodyPr>
          <a:lstStyle/>
          <a:p>
            <a:r>
              <a:rPr lang="en-US" dirty="0"/>
              <a:t>Signals take time to transition</a:t>
            </a:r>
          </a:p>
          <a:p>
            <a:pPr lvl="1"/>
            <a:r>
              <a:rPr lang="en-US" sz="2000" dirty="0"/>
              <a:t>They are outputs of physical circuits</a:t>
            </a:r>
          </a:p>
          <a:p>
            <a:pPr lvl="1"/>
            <a:r>
              <a:rPr lang="en-US" sz="2000" dirty="0"/>
              <a:t>Gates, computational units, …</a:t>
            </a:r>
          </a:p>
          <a:p>
            <a:r>
              <a:rPr lang="en-US" dirty="0"/>
              <a:t>Creates an </a:t>
            </a:r>
            <a:r>
              <a:rPr lang="en-US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undefined</a:t>
            </a:r>
            <a:r>
              <a:rPr lang="en-US" dirty="0"/>
              <a:t> period</a:t>
            </a:r>
          </a:p>
          <a:p>
            <a:pPr lvl="1"/>
            <a:r>
              <a:rPr lang="en-US" sz="2000" dirty="0"/>
              <a:t>Also called indeterminate, unknown, …</a:t>
            </a:r>
          </a:p>
          <a:p>
            <a:r>
              <a:rPr lang="en-US" dirty="0"/>
              <a:t>Usually denoted as X</a:t>
            </a:r>
          </a:p>
          <a:p>
            <a:r>
              <a:rPr lang="en-US" dirty="0"/>
              <a:t>So binary logic signals have three values:</a:t>
            </a:r>
          </a:p>
          <a:p>
            <a:pPr lvl="1"/>
            <a:r>
              <a:rPr lang="en-US" sz="2000" dirty="0"/>
              <a:t> 0, 1 and X</a:t>
            </a:r>
          </a:p>
          <a:p>
            <a:pPr lvl="1"/>
            <a:r>
              <a:rPr lang="en-US" sz="2000" dirty="0"/>
              <a:t>Will discuss a fourth value Z later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08B2C78-9EBE-3338-FD65-712D6453A38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9637A9-119A-49DA-BD12-AAC58B377D80}" type="slidenum">
              <a:rPr lang="en-US" smtClean="0"/>
              <a:t>14</a:t>
            </a:fld>
            <a:endParaRPr lang="en-US" dirty="0"/>
          </a:p>
        </p:txBody>
      </p:sp>
      <p:pic>
        <p:nvPicPr>
          <p:cNvPr id="2050" name="Picture 2" descr="Rise time and fall time indicate the length of time a signal takes to change voltage between the low level and high level">
            <a:extLst>
              <a:ext uri="{FF2B5EF4-FFF2-40B4-BE49-F238E27FC236}">
                <a16:creationId xmlns:a16="http://schemas.microsoft.com/office/drawing/2014/main" id="{F7A55619-EF33-89D1-1A47-91A9DF34CD2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382359" y="1596142"/>
            <a:ext cx="5632844" cy="322198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E80F4E29-D843-DA3C-EF40-271BA0FE05E7}"/>
              </a:ext>
            </a:extLst>
          </p:cNvPr>
          <p:cNvSpPr txBox="1"/>
          <p:nvPr/>
        </p:nvSpPr>
        <p:spPr>
          <a:xfrm>
            <a:off x="6990562" y="4738676"/>
            <a:ext cx="367408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/>
              <a:t>0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9CC8A78-5D78-C2E6-5CFF-D913EB9DB06A}"/>
              </a:ext>
            </a:extLst>
          </p:cNvPr>
          <p:cNvSpPr txBox="1"/>
          <p:nvPr/>
        </p:nvSpPr>
        <p:spPr>
          <a:xfrm>
            <a:off x="7857168" y="4738638"/>
            <a:ext cx="367408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>
                <a:solidFill>
                  <a:srgbClr val="FF0000"/>
                </a:solidFill>
              </a:rPr>
              <a:t>X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4FC2038-1D69-247D-67F7-2BDDF4ED897D}"/>
              </a:ext>
            </a:extLst>
          </p:cNvPr>
          <p:cNvSpPr txBox="1"/>
          <p:nvPr/>
        </p:nvSpPr>
        <p:spPr>
          <a:xfrm>
            <a:off x="9069579" y="4738638"/>
            <a:ext cx="367408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/>
              <a:t>1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908DBDF4-7F05-C3D5-3427-CA90793158E9}"/>
              </a:ext>
            </a:extLst>
          </p:cNvPr>
          <p:cNvSpPr txBox="1"/>
          <p:nvPr/>
        </p:nvSpPr>
        <p:spPr>
          <a:xfrm>
            <a:off x="10098286" y="4721282"/>
            <a:ext cx="367408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>
                <a:solidFill>
                  <a:srgbClr val="FF0000"/>
                </a:solidFill>
              </a:rPr>
              <a:t>X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DCCD49F1-0703-6830-ECD0-967DD841E577}"/>
              </a:ext>
            </a:extLst>
          </p:cNvPr>
          <p:cNvSpPr txBox="1"/>
          <p:nvPr/>
        </p:nvSpPr>
        <p:spPr>
          <a:xfrm>
            <a:off x="11073897" y="4721282"/>
            <a:ext cx="367408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/>
              <a:t>0</a:t>
            </a:r>
          </a:p>
        </p:txBody>
      </p:sp>
    </p:spTree>
    <p:extLst>
      <p:ext uri="{BB962C8B-B14F-4D97-AF65-F5344CB8AC3E}">
        <p14:creationId xmlns:p14="http://schemas.microsoft.com/office/powerpoint/2010/main" val="2142928235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F13D39C-7945-2FB1-B8A7-BEC477DAB6E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Undefined Regions Illustrated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5BD34DD-AC2B-7388-61E8-45A608CA8A6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562851" y="1852613"/>
            <a:ext cx="4397692" cy="3964094"/>
          </a:xfrm>
        </p:spPr>
        <p:txBody>
          <a:bodyPr/>
          <a:lstStyle/>
          <a:p>
            <a:r>
              <a:rPr lang="en-US" dirty="0">
                <a:solidFill>
                  <a:schemeClr val="tx2">
                    <a:lumMod val="60000"/>
                    <a:lumOff val="40000"/>
                  </a:schemeClr>
                </a:solidFill>
              </a:rPr>
              <a:t>Analog physical signal</a:t>
            </a:r>
          </a:p>
          <a:p>
            <a:pPr lvl="1"/>
            <a:r>
              <a:rPr lang="en-US" dirty="0"/>
              <a:t>Typically, a voltage</a:t>
            </a:r>
          </a:p>
          <a:p>
            <a:pPr lvl="1"/>
            <a:r>
              <a:rPr lang="en-US" dirty="0"/>
              <a:t>Continuous valued</a:t>
            </a:r>
          </a:p>
          <a:p>
            <a:pPr lvl="1"/>
            <a:r>
              <a:rPr lang="en-US" dirty="0"/>
              <a:t>Has finite transition periods</a:t>
            </a:r>
          </a:p>
          <a:p>
            <a:pPr lvl="1"/>
            <a:endParaRPr lang="en-US" dirty="0"/>
          </a:p>
          <a:p>
            <a:pPr lvl="1"/>
            <a:endParaRPr lang="en-US" dirty="0"/>
          </a:p>
          <a:p>
            <a:r>
              <a:rPr lang="en-US" dirty="0">
                <a:solidFill>
                  <a:schemeClr val="tx2">
                    <a:lumMod val="60000"/>
                    <a:lumOff val="40000"/>
                  </a:schemeClr>
                </a:solidFill>
              </a:rPr>
              <a:t>Digital logic signal</a:t>
            </a:r>
          </a:p>
          <a:p>
            <a:pPr lvl="1"/>
            <a:r>
              <a:rPr lang="en-US" dirty="0"/>
              <a:t>Three values  0, 1 and X</a:t>
            </a:r>
          </a:p>
          <a:p>
            <a:pPr lvl="1"/>
            <a:r>
              <a:rPr lang="en-US" dirty="0"/>
              <a:t>X value shown in gray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CF5CC22-1D34-C503-051E-1D764EB03C3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9637A9-119A-49DA-BD12-AAC58B377D80}" type="slidenum">
              <a:rPr lang="en-US" smtClean="0"/>
              <a:t>15</a:t>
            </a:fld>
            <a:endParaRPr lang="en-US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DA0FB92D-C1EF-A3C6-C913-EA0B226D41B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3912" y="1596313"/>
            <a:ext cx="5762626" cy="4309188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82F054AD-A7DE-9BC8-4E9B-C74FC6B8B7C5}"/>
              </a:ext>
            </a:extLst>
          </p:cNvPr>
          <p:cNvSpPr txBox="1"/>
          <p:nvPr/>
        </p:nvSpPr>
        <p:spPr>
          <a:xfrm>
            <a:off x="1861181" y="4486225"/>
            <a:ext cx="367408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>
                <a:solidFill>
                  <a:srgbClr val="FF0000"/>
                </a:solidFill>
              </a:rPr>
              <a:t>X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83916287-4760-ACBD-178B-7CC15429C073}"/>
              </a:ext>
            </a:extLst>
          </p:cNvPr>
          <p:cNvSpPr txBox="1"/>
          <p:nvPr/>
        </p:nvSpPr>
        <p:spPr>
          <a:xfrm>
            <a:off x="2723194" y="4486225"/>
            <a:ext cx="367408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>
                <a:solidFill>
                  <a:srgbClr val="FF0000"/>
                </a:solidFill>
              </a:rPr>
              <a:t>X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E5152242-3DEE-C52F-7BD1-DDDD31B9C3C3}"/>
              </a:ext>
            </a:extLst>
          </p:cNvPr>
          <p:cNvSpPr txBox="1"/>
          <p:nvPr/>
        </p:nvSpPr>
        <p:spPr>
          <a:xfrm>
            <a:off x="3609149" y="4486225"/>
            <a:ext cx="367408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>
                <a:solidFill>
                  <a:srgbClr val="FF0000"/>
                </a:solidFill>
              </a:rPr>
              <a:t>X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FE753A8C-6C47-711E-930E-825184024BE7}"/>
              </a:ext>
            </a:extLst>
          </p:cNvPr>
          <p:cNvSpPr txBox="1"/>
          <p:nvPr/>
        </p:nvSpPr>
        <p:spPr>
          <a:xfrm>
            <a:off x="4495104" y="4492682"/>
            <a:ext cx="367408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>
                <a:solidFill>
                  <a:srgbClr val="FF0000"/>
                </a:solidFill>
              </a:rPr>
              <a:t>X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6E2BC464-B7CD-5E7E-1A9E-ACB383F362B0}"/>
              </a:ext>
            </a:extLst>
          </p:cNvPr>
          <p:cNvSpPr txBox="1"/>
          <p:nvPr/>
        </p:nvSpPr>
        <p:spPr>
          <a:xfrm>
            <a:off x="5409633" y="4486225"/>
            <a:ext cx="367408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>
                <a:solidFill>
                  <a:srgbClr val="FF0000"/>
                </a:solidFill>
              </a:rPr>
              <a:t>X</a:t>
            </a:r>
          </a:p>
        </p:txBody>
      </p:sp>
    </p:spTree>
    <p:extLst>
      <p:ext uri="{BB962C8B-B14F-4D97-AF65-F5344CB8AC3E}">
        <p14:creationId xmlns:p14="http://schemas.microsoft.com/office/powerpoint/2010/main" val="1284401521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BFB4D75-4931-40C1-EBC7-0FFCB99EE24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Value-Change Points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71ABBC8-94C7-4F6D-54E6-40FAED872D2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97280" y="1614488"/>
            <a:ext cx="10058400" cy="4254606"/>
          </a:xfrm>
        </p:spPr>
        <p:txBody>
          <a:bodyPr/>
          <a:lstStyle/>
          <a:p>
            <a:pPr marL="0" indent="0">
              <a:buNone/>
            </a:pPr>
            <a:r>
              <a:rPr lang="en-US" dirty="0"/>
              <a:t>In digital logic, signals are often described by their </a:t>
            </a:r>
            <a:r>
              <a:rPr lang="en-US" dirty="0">
                <a:solidFill>
                  <a:schemeClr val="accent1"/>
                </a:solidFill>
              </a:rPr>
              <a:t>value-change points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pPr lvl="1"/>
            <a:r>
              <a:rPr lang="en-US" dirty="0"/>
              <a:t>Value change points also called </a:t>
            </a:r>
            <a:r>
              <a:rPr lang="en-US" dirty="0">
                <a:solidFill>
                  <a:schemeClr val="accent2">
                    <a:lumMod val="75000"/>
                  </a:schemeClr>
                </a:solidFill>
              </a:rPr>
              <a:t>valued change events</a:t>
            </a:r>
            <a:r>
              <a:rPr lang="en-US" dirty="0"/>
              <a:t>, </a:t>
            </a:r>
            <a:r>
              <a:rPr lang="en-US" dirty="0">
                <a:solidFill>
                  <a:schemeClr val="accent2">
                    <a:lumMod val="75000"/>
                  </a:schemeClr>
                </a:solidFill>
              </a:rPr>
              <a:t>transitions</a:t>
            </a:r>
            <a:r>
              <a:rPr lang="en-US" dirty="0"/>
              <a:t>, …</a:t>
            </a: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DC260DF-6DFE-EFB3-0FAB-2FB566189F0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9637A9-119A-49DA-BD12-AAC58B377D80}" type="slidenum">
              <a:rPr lang="en-US" smtClean="0"/>
              <a:t>16</a:t>
            </a:fld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Rectangle: Rounded Corners 4">
                <a:extLst>
                  <a:ext uri="{FF2B5EF4-FFF2-40B4-BE49-F238E27FC236}">
                    <a16:creationId xmlns:a16="http://schemas.microsoft.com/office/drawing/2014/main" id="{63FB2108-4127-B3FB-E9F7-712A43794A70}"/>
                  </a:ext>
                </a:extLst>
              </p:cNvPr>
              <p:cNvSpPr/>
              <p:nvPr/>
            </p:nvSpPr>
            <p:spPr>
              <a:xfrm>
                <a:off x="1347788" y="2233612"/>
                <a:ext cx="9105900" cy="1641620"/>
              </a:xfrm>
              <a:prstGeom prst="roundRect">
                <a:avLst/>
              </a:prstGeom>
              <a:solidFill>
                <a:schemeClr val="accent1">
                  <a:lumMod val="20000"/>
                  <a:lumOff val="8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/>
                <a:r>
                  <a:rPr lang="en-US" sz="2000" dirty="0">
                    <a:solidFill>
                      <a:schemeClr val="accent2">
                        <a:lumMod val="75000"/>
                      </a:schemeClr>
                    </a:solidFill>
                  </a:rPr>
                  <a:t>Definition</a:t>
                </a:r>
                <a:r>
                  <a:rPr lang="en-US" sz="2000" dirty="0">
                    <a:solidFill>
                      <a:schemeClr val="tx1"/>
                    </a:solidFill>
                  </a:rPr>
                  <a:t>:  A signal </a:t>
                </a:r>
                <a14:m>
                  <m:oMath xmlns:m="http://schemas.openxmlformats.org/officeDocument/2006/math">
                    <m:r>
                      <a:rPr lang="en-US" sz="2000" i="1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sz="2000" i="1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2000" i="1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𝑡</m:t>
                    </m:r>
                    <m:r>
                      <a:rPr lang="en-US" sz="2000" i="1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2000" dirty="0">
                    <a:solidFill>
                      <a:schemeClr val="tx1"/>
                    </a:solidFill>
                  </a:rPr>
                  <a:t> has </a:t>
                </a:r>
                <a:r>
                  <a:rPr lang="en-US" sz="2000" dirty="0">
                    <a:solidFill>
                      <a:schemeClr val="accent2">
                        <a:lumMod val="75000"/>
                      </a:schemeClr>
                    </a:solidFill>
                  </a:rPr>
                  <a:t>value-change points </a:t>
                </a:r>
                <a14:m>
                  <m:oMath xmlns:m="http://schemas.openxmlformats.org/officeDocument/2006/math">
                    <m:r>
                      <a:rPr lang="en-US" sz="200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{</m:t>
                    </m:r>
                    <m:d>
                      <m:dPr>
                        <m:ctrlPr>
                          <a:rPr lang="en-US" sz="20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sz="20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0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𝑡</m:t>
                            </m:r>
                          </m:e>
                          <m:sub>
                            <m:r>
                              <a:rPr lang="en-US" sz="20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  <m:r>
                          <a:rPr lang="en-US" sz="20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en-US" sz="20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0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sz="20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e>
                    </m:d>
                    <m:r>
                      <a:rPr lang="en-US" sz="2000" i="1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, </m:t>
                    </m:r>
                    <m:r>
                      <a:rPr lang="en-US" sz="2000" i="1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𝑖</m:t>
                    </m:r>
                    <m:r>
                      <a:rPr lang="en-US" sz="2000" i="1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=0, …, </m:t>
                    </m:r>
                    <m:r>
                      <a:rPr lang="en-US" sz="2000" i="1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𝑛</m:t>
                    </m:r>
                    <m:r>
                      <a:rPr lang="en-US" sz="2000" i="1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−1}</m:t>
                    </m:r>
                  </m:oMath>
                </a14:m>
                <a:r>
                  <a:rPr lang="en-US" sz="2000" dirty="0">
                    <a:solidFill>
                      <a:schemeClr val="tx1"/>
                    </a:solidFill>
                  </a:rPr>
                  <a:t> if:</a:t>
                </a:r>
                <a:br>
                  <a:rPr lang="en-US" sz="2000" dirty="0">
                    <a:solidFill>
                      <a:schemeClr val="tx1"/>
                    </a:solidFill>
                  </a:rPr>
                </a:b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i="1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𝑥</m:t>
                      </m:r>
                      <m:d>
                        <m:dPr>
                          <m:ctrlPr>
                            <a:rPr lang="en-US" sz="20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0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en-US" sz="2000" i="1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 </m:t>
                      </m:r>
                      <m:d>
                        <m:dPr>
                          <m:begChr m:val="{"/>
                          <m:endChr m:val=""/>
                          <m:ctrlPr>
                            <a:rPr lang="en-US" sz="20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sz="20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m:rPr>
                                    <m:brk m:alnAt="7"/>
                                  </m:rPr>
                                  <a:rPr lang="en-US" sz="2000" i="1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𝑋</m:t>
                                </m:r>
                              </m:e>
                              <m:e>
                                <m:r>
                                  <a:rPr lang="en-US" sz="2000" i="1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𝑡</m:t>
                                </m:r>
                                <m:r>
                                  <a:rPr lang="en-US" sz="2000" i="1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&lt;</m:t>
                                </m:r>
                                <m:sSub>
                                  <m:sSubPr>
                                    <m:ctrlPr>
                                      <a:rPr lang="en-US" sz="2000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000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𝑡</m:t>
                                    </m:r>
                                  </m:e>
                                  <m:sub>
                                    <m:r>
                                      <a:rPr lang="en-US" sz="2000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0</m:t>
                                    </m:r>
                                  </m:sub>
                                </m:sSub>
                              </m:e>
                            </m:mr>
                            <m:mr>
                              <m:e>
                                <m:sSub>
                                  <m:sSubPr>
                                    <m:ctrlPr>
                                      <a:rPr lang="en-US" sz="2000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000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𝑥</m:t>
                                    </m:r>
                                  </m:e>
                                  <m:sub>
                                    <m:r>
                                      <a:rPr lang="en-US" sz="2000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𝑖</m:t>
                                    </m:r>
                                  </m:sub>
                                </m:sSub>
                              </m:e>
                              <m:e>
                                <m:sSub>
                                  <m:sSubPr>
                                    <m:ctrlPr>
                                      <a:rPr lang="en-US" sz="2000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000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𝑡</m:t>
                                    </m:r>
                                  </m:e>
                                  <m:sub>
                                    <m:r>
                                      <a:rPr lang="en-US" sz="2000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𝑖</m:t>
                                    </m:r>
                                  </m:sub>
                                </m:sSub>
                                <m:r>
                                  <a:rPr lang="en-US" sz="2000" i="1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≤</m:t>
                                </m:r>
                                <m:r>
                                  <a:rPr lang="en-US" sz="2000" i="1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𝑡</m:t>
                                </m:r>
                                <m:r>
                                  <a:rPr lang="en-US" sz="2000" i="1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&lt;</m:t>
                                </m:r>
                                <m:sSub>
                                  <m:sSubPr>
                                    <m:ctrlPr>
                                      <a:rPr lang="en-US" sz="2000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000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𝑡</m:t>
                                    </m:r>
                                  </m:e>
                                  <m:sub>
                                    <m:r>
                                      <a:rPr lang="en-US" sz="2000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𝑖</m:t>
                                    </m:r>
                                    <m:r>
                                      <a:rPr lang="en-US" sz="2000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+1</m:t>
                                    </m:r>
                                  </m:sub>
                                </m:sSub>
                                <m:r>
                                  <a:rPr lang="en-US" sz="2000" i="1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,   </m:t>
                                </m:r>
                                <m:r>
                                  <a:rPr lang="en-US" sz="2000" i="1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  <m:r>
                                  <a:rPr lang="en-US" sz="2000" i="1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=0,…,</m:t>
                                </m:r>
                                <m:r>
                                  <a:rPr lang="en-US" sz="2000" i="1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𝑛</m:t>
                                </m:r>
                                <m:r>
                                  <a:rPr lang="en-US" sz="2000" i="1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−2</m:t>
                                </m:r>
                              </m:e>
                            </m:mr>
                            <m:mr>
                              <m:e>
                                <m:sSub>
                                  <m:sSubPr>
                                    <m:ctrlPr>
                                      <a:rPr lang="en-US" sz="2000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000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𝑥</m:t>
                                    </m:r>
                                  </m:e>
                                  <m:sub>
                                    <m:r>
                                      <a:rPr lang="en-US" sz="2000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𝑛</m:t>
                                    </m:r>
                                    <m:r>
                                      <a:rPr lang="en-US" sz="2000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−1</m:t>
                                    </m:r>
                                  </m:sub>
                                </m:sSub>
                              </m:e>
                              <m:e>
                                <m:r>
                                  <a:rPr lang="en-US" sz="2000" i="1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𝑡</m:t>
                                </m:r>
                                <m:r>
                                  <a:rPr lang="en-US" sz="2000" i="1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≥</m:t>
                                </m:r>
                                <m:sSub>
                                  <m:sSubPr>
                                    <m:ctrlPr>
                                      <a:rPr lang="en-US" sz="2000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000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𝑡</m:t>
                                    </m:r>
                                  </m:e>
                                  <m:sub>
                                    <m:r>
                                      <a:rPr lang="en-US" sz="2000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𝑛</m:t>
                                    </m:r>
                                    <m:r>
                                      <a:rPr lang="en-US" sz="2000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−1</m:t>
                                    </m:r>
                                  </m:sub>
                                </m:sSub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en-US" sz="2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5" name="Rectangle: Rounded Corners 4">
                <a:extLst>
                  <a:ext uri="{FF2B5EF4-FFF2-40B4-BE49-F238E27FC236}">
                    <a16:creationId xmlns:a16="http://schemas.microsoft.com/office/drawing/2014/main" id="{63FB2108-4127-B3FB-E9F7-712A43794A70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347788" y="2233612"/>
                <a:ext cx="9105900" cy="1641620"/>
              </a:xfrm>
              <a:prstGeom prst="round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462512612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060B3CF-6EB1-F0C4-33DD-F5ABD8AD4F7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Timing Diagram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3C78F721-F643-EB56-FAE6-FDE29667C7AA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dirty="0">
                    <a:solidFill>
                      <a:schemeClr val="accent2">
                        <a:lumMod val="75000"/>
                      </a:schemeClr>
                    </a:solidFill>
                  </a:rPr>
                  <a:t>Timing diagram:  </a:t>
                </a:r>
                <a:r>
                  <a:rPr lang="en-US" dirty="0"/>
                  <a:t>A plot of signals over time showing with value-change points</a:t>
                </a:r>
              </a:p>
              <a:p>
                <a:r>
                  <a:rPr lang="en-US" dirty="0"/>
                  <a:t>Example with two signals:</a:t>
                </a:r>
              </a:p>
              <a:p>
                <a:r>
                  <a:rPr lang="en-US" dirty="0"/>
                  <a:t>VC points for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dirty="0"/>
                  <a:t> :  {(3,5), (20,17), (40,8)}</a:t>
                </a:r>
              </a:p>
              <a:p>
                <a:r>
                  <a:rPr lang="en-US" dirty="0"/>
                  <a:t>VC points for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𝑦</m:t>
                    </m:r>
                  </m:oMath>
                </a14:m>
                <a:r>
                  <a:rPr lang="en-US" dirty="0"/>
                  <a:t>  : {(12,3), (25,12), (35,0)}</a:t>
                </a:r>
              </a:p>
              <a:p>
                <a:r>
                  <a:rPr lang="en-US" dirty="0"/>
                  <a:t>In this plot, times are in ns</a:t>
                </a:r>
              </a:p>
              <a:p>
                <a:pPr lvl="1"/>
                <a:endParaRPr lang="en-US" dirty="0"/>
              </a:p>
              <a:p>
                <a:pPr lvl="1"/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3C78F721-F643-EB56-FAE6-FDE29667C7AA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455" t="-154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6E35A32-A270-A4B9-D5D4-41484D8A801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9637A9-119A-49DA-BD12-AAC58B377D80}" type="slidenum">
              <a:rPr lang="en-US" smtClean="0"/>
              <a:t>17</a:t>
            </a:fld>
            <a:endParaRPr lang="en-US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DF52BD75-F1F7-9C23-7239-DBF74163F0C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2623" y="3901267"/>
            <a:ext cx="10526753" cy="17994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02094721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3FE62AD-256F-8DEC-B0AC-DCD6A0667DE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2B60511-BB91-8AA6-A88D-A86C48CD0CE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Propagation Delays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D15579F-6104-AC5B-37DF-7E01387473F8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1190626" y="1539277"/>
                <a:ext cx="9965054" cy="4329817"/>
              </a:xfrm>
            </p:spPr>
            <p:txBody>
              <a:bodyPr/>
              <a:lstStyle/>
              <a:p>
                <a:r>
                  <a:rPr lang="en-US" dirty="0"/>
                  <a:t>Each circuit element incurs a </a:t>
                </a:r>
                <a:r>
                  <a:rPr lang="en-US" dirty="0">
                    <a:solidFill>
                      <a:schemeClr val="tx2">
                        <a:lumMod val="60000"/>
                        <a:lumOff val="40000"/>
                      </a:schemeClr>
                    </a:solidFill>
                  </a:rPr>
                  <a:t>propagation delay</a:t>
                </a:r>
              </a:p>
              <a:p>
                <a:pPr lvl="1"/>
                <a:r>
                  <a:rPr lang="en-US" dirty="0">
                    <a:solidFill>
                      <a:schemeClr val="tx1"/>
                    </a:solidFill>
                  </a:rPr>
                  <a:t>Time for the output to settle after the input changes</a:t>
                </a:r>
              </a:p>
              <a:p>
                <a:r>
                  <a:rPr lang="en-US" dirty="0">
                    <a:solidFill>
                      <a:schemeClr val="tx1"/>
                    </a:solidFill>
                  </a:rPr>
                  <a:t>On transition of input</a:t>
                </a:r>
              </a:p>
              <a:p>
                <a:pPr lvl="1"/>
                <a:r>
                  <a:rPr lang="en-US" dirty="0">
                    <a:solidFill>
                      <a:schemeClr val="tx1"/>
                    </a:solidFill>
                  </a:rPr>
                  <a:t>Output is initially unknown ‘X’</a:t>
                </a:r>
              </a:p>
              <a:p>
                <a:pPr lvl="1"/>
                <a:r>
                  <a:rPr lang="en-US" dirty="0">
                    <a:solidFill>
                      <a:schemeClr val="tx1"/>
                    </a:solidFill>
                  </a:rPr>
                  <a:t>We cannot assume the value is stable during transition</a:t>
                </a:r>
              </a:p>
              <a:p>
                <a:pPr lvl="1"/>
                <a:r>
                  <a:rPr lang="en-US" dirty="0">
                    <a:solidFill>
                      <a:schemeClr val="tx1"/>
                    </a:solidFill>
                  </a:rPr>
                  <a:t>After propagation delay, output settles at value</a:t>
                </a:r>
              </a:p>
              <a:p>
                <a:r>
                  <a:rPr lang="en-US" dirty="0">
                    <a:solidFill>
                      <a:schemeClr val="tx1"/>
                    </a:solidFill>
                  </a:rPr>
                  <a:t>Example:</a:t>
                </a:r>
              </a:p>
              <a:p>
                <a:pPr lvl="1"/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𝑦</m:t>
                    </m:r>
                    <m:r>
                      <a:rPr lang="en-US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en-US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p>
                        <m:r>
                          <a:rPr lang="en-US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</m:oMath>
                </a14:m>
                <a:endParaRPr lang="en-US" dirty="0">
                  <a:solidFill>
                    <a:schemeClr val="tx1"/>
                  </a:solidFill>
                </a:endParaRPr>
              </a:p>
              <a:p>
                <a:pPr lvl="1"/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r>
                  <a:rPr lang="en-US" dirty="0">
                    <a:solidFill>
                      <a:schemeClr val="tx1"/>
                    </a:solidFill>
                  </a:rPr>
                  <a:t> has VC points {(0,4), (10,5)}</a:t>
                </a:r>
              </a:p>
              <a:p>
                <a:pPr lvl="1"/>
                <a:r>
                  <a:rPr lang="en-US" dirty="0">
                    <a:solidFill>
                      <a:schemeClr val="tx1"/>
                    </a:solidFill>
                  </a:rPr>
                  <a:t>Prop delay is 3 ns</a:t>
                </a:r>
              </a:p>
              <a:p>
                <a:pPr lvl="1"/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𝑦</m:t>
                    </m:r>
                  </m:oMath>
                </a14:m>
                <a:r>
                  <a:rPr lang="en-US" dirty="0">
                    <a:solidFill>
                      <a:schemeClr val="tx1"/>
                    </a:solidFill>
                  </a:rPr>
                  <a:t> has VC points {(0,X), (3,16), (10,X), (13,25)}  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D15579F-6104-AC5B-37DF-7E01387473F8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1190626" y="1539277"/>
                <a:ext cx="9965054" cy="4329817"/>
              </a:xfrm>
              <a:blipFill>
                <a:blip r:embed="rId2"/>
                <a:stretch>
                  <a:fillRect l="-1468" t="-154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8D5024F-7EB5-CDA2-A375-ABCFDB855B9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9637A9-119A-49DA-BD12-AAC58B377D80}" type="slidenum">
              <a:rPr lang="en-US" smtClean="0"/>
              <a:t>18</a:t>
            </a:fld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E1F993C4-0BF7-944D-F0B4-E71C31097389}"/>
                  </a:ext>
                </a:extLst>
              </p:cNvPr>
              <p:cNvSpPr txBox="1"/>
              <p:nvPr/>
            </p:nvSpPr>
            <p:spPr>
              <a:xfrm>
                <a:off x="8495489" y="2503114"/>
                <a:ext cx="1397434" cy="390748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𝑝𝑟𝑜𝑝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=3</m:t>
                    </m:r>
                  </m:oMath>
                </a14:m>
                <a:r>
                  <a:rPr lang="en-US" dirty="0"/>
                  <a:t> ns</a:t>
                </a:r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E1F993C4-0BF7-944D-F0B4-E71C3109738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495489" y="2503114"/>
                <a:ext cx="1397434" cy="390748"/>
              </a:xfrm>
              <a:prstGeom prst="rect">
                <a:avLst/>
              </a:prstGeom>
              <a:blipFill>
                <a:blip r:embed="rId3"/>
                <a:stretch>
                  <a:fillRect t="-7813" r="-3057" b="-2031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Oval 4">
            <a:extLst>
              <a:ext uri="{FF2B5EF4-FFF2-40B4-BE49-F238E27FC236}">
                <a16:creationId xmlns:a16="http://schemas.microsoft.com/office/drawing/2014/main" id="{FE3C8B4D-376D-6264-3140-6273EEE99861}"/>
              </a:ext>
            </a:extLst>
          </p:cNvPr>
          <p:cNvSpPr/>
          <p:nvPr/>
        </p:nvSpPr>
        <p:spPr>
          <a:xfrm>
            <a:off x="8891588" y="1924050"/>
            <a:ext cx="561975" cy="561975"/>
          </a:xfrm>
          <a:prstGeom prst="ellipse">
            <a:avLst/>
          </a:prstGeom>
          <a:solidFill>
            <a:srgbClr val="92D05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E3956B86-942C-3460-341A-65DCD66F0598}"/>
              </a:ext>
            </a:extLst>
          </p:cNvPr>
          <p:cNvCxnSpPr>
            <a:cxnSpLocks/>
            <a:endCxn id="5" idx="2"/>
          </p:cNvCxnSpPr>
          <p:nvPr/>
        </p:nvCxnSpPr>
        <p:spPr>
          <a:xfrm>
            <a:off x="7687945" y="2205037"/>
            <a:ext cx="1203643" cy="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AE4644E3-D110-D9CC-B0A6-5339D0930A75}"/>
              </a:ext>
            </a:extLst>
          </p:cNvPr>
          <p:cNvCxnSpPr>
            <a:cxnSpLocks/>
          </p:cNvCxnSpPr>
          <p:nvPr/>
        </p:nvCxnSpPr>
        <p:spPr>
          <a:xfrm>
            <a:off x="9453563" y="2205037"/>
            <a:ext cx="1203643" cy="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C4C62696-CC60-6D12-9717-701A2BB5BB22}"/>
                  </a:ext>
                </a:extLst>
              </p:cNvPr>
              <p:cNvSpPr txBox="1"/>
              <p:nvPr/>
            </p:nvSpPr>
            <p:spPr>
              <a:xfrm>
                <a:off x="7892671" y="1759863"/>
                <a:ext cx="367986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𝑥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C4C62696-CC60-6D12-9717-701A2BB5BB2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892671" y="1759863"/>
                <a:ext cx="367986" cy="369332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05A99C96-4D6C-A359-D19D-2169BCDB50A2}"/>
                  </a:ext>
                </a:extLst>
              </p:cNvPr>
              <p:cNvSpPr txBox="1"/>
              <p:nvPr/>
            </p:nvSpPr>
            <p:spPr>
              <a:xfrm>
                <a:off x="9892923" y="1729474"/>
                <a:ext cx="916148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05A99C96-4D6C-A359-D19D-2169BCDB50A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892923" y="1729474"/>
                <a:ext cx="916148" cy="369332"/>
              </a:xfrm>
              <a:prstGeom prst="rect">
                <a:avLst/>
              </a:prstGeom>
              <a:blipFill>
                <a:blip r:embed="rId5"/>
                <a:stretch>
                  <a:fillRect b="-666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7" name="Picture 16">
            <a:extLst>
              <a:ext uri="{FF2B5EF4-FFF2-40B4-BE49-F238E27FC236}">
                <a16:creationId xmlns:a16="http://schemas.microsoft.com/office/drawing/2014/main" id="{A1F566D2-BC96-EE60-D51B-EFB79BE66698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79794" y="3836432"/>
            <a:ext cx="7361726" cy="1246241"/>
          </a:xfrm>
          <a:prstGeom prst="rect">
            <a:avLst/>
          </a:prstGeom>
        </p:spPr>
      </p:pic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60B49DFE-64F1-5CBF-E546-D7274CBAF86B}"/>
              </a:ext>
            </a:extLst>
          </p:cNvPr>
          <p:cNvCxnSpPr>
            <a:cxnSpLocks/>
          </p:cNvCxnSpPr>
          <p:nvPr/>
        </p:nvCxnSpPr>
        <p:spPr>
          <a:xfrm>
            <a:off x="9015414" y="3987298"/>
            <a:ext cx="0" cy="1768078"/>
          </a:xfrm>
          <a:prstGeom prst="line">
            <a:avLst/>
          </a:prstGeom>
          <a:ln w="2222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F74072D3-554B-5025-2B56-B551CC56444C}"/>
              </a:ext>
            </a:extLst>
          </p:cNvPr>
          <p:cNvCxnSpPr>
            <a:cxnSpLocks/>
          </p:cNvCxnSpPr>
          <p:nvPr/>
        </p:nvCxnSpPr>
        <p:spPr>
          <a:xfrm>
            <a:off x="9858377" y="4409970"/>
            <a:ext cx="0" cy="1345406"/>
          </a:xfrm>
          <a:prstGeom prst="line">
            <a:avLst/>
          </a:prstGeom>
          <a:ln w="254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Straight Connector 19">
            <a:extLst>
              <a:ext uri="{FF2B5EF4-FFF2-40B4-BE49-F238E27FC236}">
                <a16:creationId xmlns:a16="http://schemas.microsoft.com/office/drawing/2014/main" id="{3F674AD7-7664-422F-01CD-754D6414B06C}"/>
              </a:ext>
            </a:extLst>
          </p:cNvPr>
          <p:cNvCxnSpPr>
            <a:cxnSpLocks/>
          </p:cNvCxnSpPr>
          <p:nvPr/>
        </p:nvCxnSpPr>
        <p:spPr>
          <a:xfrm>
            <a:off x="9015414" y="5205413"/>
            <a:ext cx="842963" cy="0"/>
          </a:xfrm>
          <a:prstGeom prst="line">
            <a:avLst/>
          </a:prstGeom>
          <a:ln w="25400"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AEF8654E-451D-BA51-1053-C939550959D6}"/>
                  </a:ext>
                </a:extLst>
              </p:cNvPr>
              <p:cNvSpPr txBox="1"/>
              <p:nvPr/>
            </p:nvSpPr>
            <p:spPr>
              <a:xfrm>
                <a:off x="10028019" y="5010039"/>
                <a:ext cx="1397434" cy="390748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𝑝𝑟𝑜𝑝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=3</m:t>
                    </m:r>
                  </m:oMath>
                </a14:m>
                <a:r>
                  <a:rPr lang="en-US" dirty="0"/>
                  <a:t> ns</a:t>
                </a:r>
              </a:p>
            </p:txBody>
          </p:sp>
        </mc:Choice>
        <mc:Fallback xmlns=""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AEF8654E-451D-BA51-1053-C939550959D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028019" y="5010039"/>
                <a:ext cx="1397434" cy="390748"/>
              </a:xfrm>
              <a:prstGeom prst="rect">
                <a:avLst/>
              </a:prstGeom>
              <a:blipFill>
                <a:blip r:embed="rId7"/>
                <a:stretch>
                  <a:fillRect t="-7813" r="-3493" b="-2031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620394534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6DDE036-D666-EF45-CD63-FA963274522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Drawing Timing Diagrams in Python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CF1D77C-3506-36B3-0A50-71D74310D4E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Course repo contains a </a:t>
            </a:r>
            <a:r>
              <a:rPr lang="en-US" dirty="0" err="1">
                <a:hlinkClick r:id="rId2"/>
              </a:rPr>
              <a:t>xilinxutils</a:t>
            </a:r>
            <a:r>
              <a:rPr lang="en-US" dirty="0">
                <a:hlinkClick r:id="rId2"/>
              </a:rPr>
              <a:t> package</a:t>
            </a:r>
            <a:endParaRPr lang="en-US" dirty="0"/>
          </a:p>
          <a:p>
            <a:pPr lvl="1"/>
            <a:r>
              <a:rPr lang="en-US" dirty="0"/>
              <a:t>Custom package in this class</a:t>
            </a:r>
          </a:p>
          <a:p>
            <a:pPr lvl="1"/>
            <a:r>
              <a:rPr lang="en-US" dirty="0"/>
              <a:t>Many helper routines for Xilinx tools</a:t>
            </a:r>
          </a:p>
          <a:p>
            <a:r>
              <a:rPr lang="en-US" dirty="0"/>
              <a:t>Tools for parsing and visualizing VCD files</a:t>
            </a:r>
          </a:p>
          <a:p>
            <a:r>
              <a:rPr lang="en-US" dirty="0"/>
              <a:t>Code to produce timing diagram</a:t>
            </a:r>
          </a:p>
          <a:p>
            <a:endParaRPr lang="en-US" dirty="0"/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FD8AB31-4A4F-BDC8-BC22-90D7957B69F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9637A9-119A-49DA-BD12-AAC58B377D80}" type="slidenum">
              <a:rPr lang="en-US" smtClean="0"/>
              <a:t>19</a:t>
            </a:fld>
            <a:endParaRPr lang="en-US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8176A5D7-7183-783F-8A99-303D99B9AB7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98865" y="1462329"/>
            <a:ext cx="3495855" cy="1552655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D8B13CDA-5F87-190D-BAAC-62557220B80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53674" y="3227447"/>
            <a:ext cx="4603282" cy="3037901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C70BE597-03D8-D39F-2126-DB55488BE7F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62813" y="4383997"/>
            <a:ext cx="5521561" cy="93472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53289699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427DC26-E3A5-F949-2640-10973AE363F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Propagation Delays of a Series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A539D900-5211-C173-5E2F-B28DB1479A0B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1190626" y="1539277"/>
                <a:ext cx="9965054" cy="4329817"/>
              </a:xfrm>
            </p:spPr>
            <p:txBody>
              <a:bodyPr/>
              <a:lstStyle/>
              <a:p>
                <a:r>
                  <a:rPr lang="en-US" dirty="0">
                    <a:solidFill>
                      <a:schemeClr val="tx1"/>
                    </a:solidFill>
                  </a:rPr>
                  <a:t>Our example:  Three propagation delays</a:t>
                </a:r>
              </a:p>
              <a:p>
                <a:pPr lvl="1"/>
                <a:r>
                  <a:rPr lang="en-US" dirty="0">
                    <a:solidFill>
                      <a:schemeClr val="tx1"/>
                    </a:solidFill>
                  </a:rPr>
                  <a:t>Multiplier</a:t>
                </a:r>
              </a:p>
              <a:p>
                <a:pPr lvl="1"/>
                <a:r>
                  <a:rPr lang="en-US" dirty="0">
                    <a:solidFill>
                      <a:schemeClr val="tx1"/>
                    </a:solidFill>
                  </a:rPr>
                  <a:t>Adder</a:t>
                </a:r>
              </a:p>
              <a:p>
                <a:pPr lvl="1"/>
                <a:r>
                  <a:rPr lang="en-US" dirty="0">
                    <a:solidFill>
                      <a:schemeClr val="tx1"/>
                    </a:solidFill>
                  </a:rPr>
                  <a:t>Max operator</a:t>
                </a:r>
              </a:p>
              <a:p>
                <a:r>
                  <a:rPr lang="en-US" dirty="0">
                    <a:solidFill>
                      <a:schemeClr val="tx1"/>
                    </a:solidFill>
                  </a:rPr>
                  <a:t>Propagation delays will add</a:t>
                </a:r>
              </a:p>
              <a:p>
                <a:r>
                  <a:rPr lang="en-US" dirty="0">
                    <a:solidFill>
                      <a:schemeClr val="tx1"/>
                    </a:solidFill>
                  </a:rPr>
                  <a:t>Called the </a:t>
                </a:r>
                <a:r>
                  <a:rPr lang="en-US" dirty="0">
                    <a:solidFill>
                      <a:schemeClr val="accent2">
                        <a:lumMod val="75000"/>
                      </a:schemeClr>
                    </a:solidFill>
                  </a:rPr>
                  <a:t>total propagation delay</a:t>
                </a:r>
              </a:p>
              <a:p>
                <a:pPr lvl="1"/>
                <a:r>
                  <a:rPr lang="en-US" dirty="0">
                    <a:solidFill>
                      <a:schemeClr val="tx1"/>
                    </a:solidFill>
                  </a:rPr>
                  <a:t>Or </a:t>
                </a:r>
                <a:r>
                  <a:rPr lang="en-US" dirty="0">
                    <a:solidFill>
                      <a:schemeClr val="accent2">
                        <a:lumMod val="75000"/>
                      </a:schemeClr>
                    </a:solidFill>
                  </a:rPr>
                  <a:t>total path delay</a:t>
                </a:r>
              </a:p>
              <a:p>
                <a:r>
                  <a:rPr lang="en-US" dirty="0">
                    <a:solidFill>
                      <a:schemeClr val="tx1"/>
                    </a:solidFill>
                  </a:rPr>
                  <a:t>Key property: When input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r>
                  <a:rPr lang="en-US" dirty="0">
                    <a:solidFill>
                      <a:schemeClr val="tx1"/>
                    </a:solidFill>
                  </a:rPr>
                  <a:t> changes</a:t>
                </a:r>
              </a:p>
              <a:p>
                <a:pPr lvl="1"/>
                <a:r>
                  <a:rPr lang="en-US" dirty="0">
                    <a:solidFill>
                      <a:schemeClr val="tx1"/>
                    </a:solidFill>
                  </a:rPr>
                  <a:t>All downstream values initially go to X</a:t>
                </a:r>
              </a:p>
              <a:p>
                <a:endParaRPr lang="en-US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A539D900-5211-C173-5E2F-B28DB1479A0B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1190626" y="1539277"/>
                <a:ext cx="9965054" cy="4329817"/>
              </a:xfrm>
              <a:blipFill>
                <a:blip r:embed="rId2"/>
                <a:stretch>
                  <a:fillRect l="-1468" t="-154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52EB597-18FB-B787-CE61-5531A45D50E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9637A9-119A-49DA-BD12-AAC58B377D80}" type="slidenum">
              <a:rPr lang="en-US" smtClean="0"/>
              <a:t>20</a:t>
            </a:fld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3F7A4A72-9772-91DF-0638-E6595E2DE9A2}"/>
                  </a:ext>
                </a:extLst>
              </p:cNvPr>
              <p:cNvSpPr txBox="1"/>
              <p:nvPr/>
            </p:nvSpPr>
            <p:spPr>
              <a:xfrm>
                <a:off x="6909858" y="3780027"/>
                <a:ext cx="763799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𝑇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𝑚𝑢𝑙𝑡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3F7A4A72-9772-91DF-0638-E6595E2DE9A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909858" y="3780027"/>
                <a:ext cx="763799" cy="369332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9F025801-6D43-D2EB-CC41-B88F51273019}"/>
                  </a:ext>
                </a:extLst>
              </p:cNvPr>
              <p:cNvSpPr txBox="1"/>
              <p:nvPr/>
            </p:nvSpPr>
            <p:spPr>
              <a:xfrm>
                <a:off x="9964802" y="3794494"/>
                <a:ext cx="720197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𝑇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𝑚𝑎𝑥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9F025801-6D43-D2EB-CC41-B88F5127301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964802" y="3794494"/>
                <a:ext cx="720197" cy="369332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05B68D07-B636-A237-1F08-6D1145FFB4F1}"/>
                  </a:ext>
                </a:extLst>
              </p:cNvPr>
              <p:cNvSpPr txBox="1"/>
              <p:nvPr/>
            </p:nvSpPr>
            <p:spPr>
              <a:xfrm>
                <a:off x="8314791" y="3794494"/>
                <a:ext cx="686085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𝑇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𝑎𝑑𝑑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05B68D07-B636-A237-1F08-6D1145FFB4F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14791" y="3794494"/>
                <a:ext cx="686085" cy="369332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9" name="Picture 8">
            <a:extLst>
              <a:ext uri="{FF2B5EF4-FFF2-40B4-BE49-F238E27FC236}">
                <a16:creationId xmlns:a16="http://schemas.microsoft.com/office/drawing/2014/main" id="{968A6B94-9B1F-8DFC-08B1-75FC0AD2307C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691726" y="1849985"/>
            <a:ext cx="6037276" cy="1854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6643680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AC33E12-0AF8-D024-DDA3-A125865E00B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Picture 15">
            <a:extLst>
              <a:ext uri="{FF2B5EF4-FFF2-40B4-BE49-F238E27FC236}">
                <a16:creationId xmlns:a16="http://schemas.microsoft.com/office/drawing/2014/main" id="{48AA81A0-3CC0-6F75-1C47-376899A6D404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r="20860"/>
          <a:stretch>
            <a:fillRect/>
          </a:stretch>
        </p:blipFill>
        <p:spPr>
          <a:xfrm>
            <a:off x="269956" y="1963649"/>
            <a:ext cx="5496978" cy="2315278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EBE73A91-7772-2CF3-6EB4-8D5235FDA89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Example Total Propagation Delay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9C4ABA1-AD95-B889-FBA9-16D5858B1D1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9637A9-119A-49DA-BD12-AAC58B377D80}" type="slidenum">
              <a:rPr lang="en-US" smtClean="0"/>
              <a:t>21</a:t>
            </a:fld>
            <a:endParaRPr lang="en-US" dirty="0"/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28E57E49-077D-E708-A682-1BC240503962}"/>
              </a:ext>
            </a:extLst>
          </p:cNvPr>
          <p:cNvCxnSpPr>
            <a:cxnSpLocks/>
          </p:cNvCxnSpPr>
          <p:nvPr/>
        </p:nvCxnSpPr>
        <p:spPr>
          <a:xfrm>
            <a:off x="1856923" y="2755107"/>
            <a:ext cx="0" cy="2774156"/>
          </a:xfrm>
          <a:prstGeom prst="line">
            <a:avLst/>
          </a:prstGeom>
          <a:ln w="2222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780C26EF-023F-0884-8E78-63C30B5CFD5A}"/>
              </a:ext>
            </a:extLst>
          </p:cNvPr>
          <p:cNvCxnSpPr>
            <a:cxnSpLocks/>
          </p:cNvCxnSpPr>
          <p:nvPr/>
        </p:nvCxnSpPr>
        <p:spPr>
          <a:xfrm>
            <a:off x="3076124" y="2755107"/>
            <a:ext cx="0" cy="2190750"/>
          </a:xfrm>
          <a:prstGeom prst="line">
            <a:avLst/>
          </a:prstGeom>
          <a:ln w="254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84BC7961-E6BB-DDAF-213B-6A1E08DB506E}"/>
              </a:ext>
            </a:extLst>
          </p:cNvPr>
          <p:cNvCxnSpPr>
            <a:cxnSpLocks/>
          </p:cNvCxnSpPr>
          <p:nvPr/>
        </p:nvCxnSpPr>
        <p:spPr>
          <a:xfrm>
            <a:off x="3680961" y="2755107"/>
            <a:ext cx="0" cy="2190750"/>
          </a:xfrm>
          <a:prstGeom prst="line">
            <a:avLst/>
          </a:prstGeom>
          <a:ln w="254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700DFAA1-DFAB-6531-D513-8B66333B4B55}"/>
              </a:ext>
            </a:extLst>
          </p:cNvPr>
          <p:cNvCxnSpPr>
            <a:cxnSpLocks/>
          </p:cNvCxnSpPr>
          <p:nvPr/>
        </p:nvCxnSpPr>
        <p:spPr>
          <a:xfrm>
            <a:off x="4095299" y="2755107"/>
            <a:ext cx="0" cy="2774156"/>
          </a:xfrm>
          <a:prstGeom prst="line">
            <a:avLst/>
          </a:prstGeom>
          <a:ln w="254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6B1DBD37-B18E-0152-E94A-FBDE7D3ADE6B}"/>
                  </a:ext>
                </a:extLst>
              </p:cNvPr>
              <p:cNvSpPr txBox="1"/>
              <p:nvPr/>
            </p:nvSpPr>
            <p:spPr>
              <a:xfrm>
                <a:off x="3053706" y="4546430"/>
                <a:ext cx="686085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𝑇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𝑎𝑑𝑑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6B1DBD37-B18E-0152-E94A-FBDE7D3ADE6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053706" y="4546430"/>
                <a:ext cx="686085" cy="369332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AA8F1114-1E41-C56F-B7D3-E1D8220A839A}"/>
                  </a:ext>
                </a:extLst>
              </p:cNvPr>
              <p:cNvSpPr txBox="1"/>
              <p:nvPr/>
            </p:nvSpPr>
            <p:spPr>
              <a:xfrm>
                <a:off x="2137595" y="4450399"/>
                <a:ext cx="763799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𝑇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𝑚𝑢𝑙𝑡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AA8F1114-1E41-C56F-B7D3-E1D8220A839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137595" y="4450399"/>
                <a:ext cx="763799" cy="369332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1F1DAF76-CDB5-C1ED-0175-DCE34EB8FF9C}"/>
                  </a:ext>
                </a:extLst>
              </p:cNvPr>
              <p:cNvSpPr txBox="1"/>
              <p:nvPr/>
            </p:nvSpPr>
            <p:spPr>
              <a:xfrm>
                <a:off x="4073654" y="4243060"/>
                <a:ext cx="720197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𝑇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𝑚𝑎𝑥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1F1DAF76-CDB5-C1ED-0175-DCE34EB8FF9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073654" y="4243060"/>
                <a:ext cx="720197" cy="369332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BDCC1300-EC72-3401-B03D-3BD4DFF26046}"/>
              </a:ext>
            </a:extLst>
          </p:cNvPr>
          <p:cNvCxnSpPr>
            <a:cxnSpLocks/>
          </p:cNvCxnSpPr>
          <p:nvPr/>
        </p:nvCxnSpPr>
        <p:spPr>
          <a:xfrm>
            <a:off x="1856923" y="4429127"/>
            <a:ext cx="1216819" cy="0"/>
          </a:xfrm>
          <a:prstGeom prst="line">
            <a:avLst/>
          </a:prstGeom>
          <a:ln w="25400"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Straight Connector 25">
            <a:extLst>
              <a:ext uri="{FF2B5EF4-FFF2-40B4-BE49-F238E27FC236}">
                <a16:creationId xmlns:a16="http://schemas.microsoft.com/office/drawing/2014/main" id="{5037B60A-4DF5-15CF-46D3-CE8494E37C9F}"/>
              </a:ext>
            </a:extLst>
          </p:cNvPr>
          <p:cNvCxnSpPr>
            <a:cxnSpLocks/>
          </p:cNvCxnSpPr>
          <p:nvPr/>
        </p:nvCxnSpPr>
        <p:spPr>
          <a:xfrm>
            <a:off x="3073742" y="4440874"/>
            <a:ext cx="607219" cy="0"/>
          </a:xfrm>
          <a:prstGeom prst="line">
            <a:avLst/>
          </a:prstGeom>
          <a:ln w="25400"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Straight Connector 27">
            <a:extLst>
              <a:ext uri="{FF2B5EF4-FFF2-40B4-BE49-F238E27FC236}">
                <a16:creationId xmlns:a16="http://schemas.microsoft.com/office/drawing/2014/main" id="{6F2C939F-6E57-AD89-2C78-55E4F2787203}"/>
              </a:ext>
            </a:extLst>
          </p:cNvPr>
          <p:cNvCxnSpPr>
            <a:cxnSpLocks/>
          </p:cNvCxnSpPr>
          <p:nvPr/>
        </p:nvCxnSpPr>
        <p:spPr>
          <a:xfrm>
            <a:off x="3680591" y="4440874"/>
            <a:ext cx="414708" cy="0"/>
          </a:xfrm>
          <a:prstGeom prst="line">
            <a:avLst/>
          </a:prstGeom>
          <a:ln w="25400"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10" name="Content Placeholder 6">
                <a:extLst>
                  <a:ext uri="{FF2B5EF4-FFF2-40B4-BE49-F238E27FC236}">
                    <a16:creationId xmlns:a16="http://schemas.microsoft.com/office/drawing/2014/main" id="{4838C77A-DAF7-C0FD-1F4F-B385ADB40414}"/>
                  </a:ext>
                </a:extLst>
              </p:cNvPr>
              <p:cNvGraphicFramePr>
                <a:graphicFrameLocks noGrp="1"/>
              </p:cNvGraphicFramePr>
              <p:nvPr>
                <p:ph idx="1"/>
              </p:nvPr>
            </p:nvGraphicFramePr>
            <p:xfrm>
              <a:off x="6967446" y="1856582"/>
              <a:ext cx="4267255" cy="1854200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1876425">
                      <a:extLst>
                        <a:ext uri="{9D8B030D-6E8A-4147-A177-3AD203B41FA5}">
                          <a16:colId xmlns:a16="http://schemas.microsoft.com/office/drawing/2014/main" val="3489589385"/>
                        </a:ext>
                      </a:extLst>
                    </a:gridCol>
                    <a:gridCol w="2390830">
                      <a:extLst>
                        <a:ext uri="{9D8B030D-6E8A-4147-A177-3AD203B41FA5}">
                          <a16:colId xmlns:a16="http://schemas.microsoft.com/office/drawing/2014/main" val="1638097169"/>
                        </a:ext>
                      </a:extLst>
                    </a:gridCol>
                  </a:tblGrid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Hardware block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Example Value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704626930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Multiplier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14:m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𝑇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𝑚𝑢𝑙𝑡</m:t>
                                  </m:r>
                                </m:sub>
                              </m:s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=</m:t>
                              </m:r>
                            </m:oMath>
                          </a14:m>
                          <a:r>
                            <a:rPr lang="en-US" dirty="0"/>
                            <a:t>3 ns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350641339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Adder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𝑇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𝑎𝑑𝑑</m:t>
                                  </m:r>
                                </m:sub>
                              </m:s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=</m:t>
                              </m:r>
                            </m:oMath>
                          </a14:m>
                          <a:r>
                            <a:rPr lang="en-US" b="0" dirty="0"/>
                            <a:t>1.5 ns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770428240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Max operator 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14:m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𝑇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𝑚𝑎𝑥</m:t>
                                  </m:r>
                                </m:sub>
                              </m:s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=</m:t>
                              </m:r>
                            </m:oMath>
                          </a14:m>
                          <a:r>
                            <a:rPr lang="en-US" dirty="0"/>
                            <a:t>1 ns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912293951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dirty="0">
                              <a:solidFill>
                                <a:srgbClr val="00B050"/>
                              </a:solidFill>
                            </a:rPr>
                            <a:t>Total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14:m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en-US" b="0" i="1" smtClean="0">
                                      <a:solidFill>
                                        <a:srgbClr val="00B05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smtClean="0">
                                      <a:solidFill>
                                        <a:srgbClr val="00B050"/>
                                      </a:solidFill>
                                      <a:latin typeface="Cambria Math" panose="02040503050406030204" pitchFamily="18" charset="0"/>
                                    </a:rPr>
                                    <m:t>𝑇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solidFill>
                                        <a:srgbClr val="00B050"/>
                                      </a:solidFill>
                                      <a:latin typeface="Cambria Math" panose="02040503050406030204" pitchFamily="18" charset="0"/>
                                    </a:rPr>
                                    <m:t>𝑡𝑜𝑡</m:t>
                                  </m:r>
                                </m:sub>
                              </m:sSub>
                              <m:r>
                                <a:rPr lang="en-US" b="0" i="1" smtClean="0">
                                  <a:solidFill>
                                    <a:srgbClr val="00B050"/>
                                  </a:solidFill>
                                  <a:latin typeface="Cambria Math" panose="02040503050406030204" pitchFamily="18" charset="0"/>
                                </a:rPr>
                                <m:t>= </m:t>
                              </m:r>
                            </m:oMath>
                          </a14:m>
                          <a:r>
                            <a:rPr lang="en-US" dirty="0">
                              <a:solidFill>
                                <a:srgbClr val="00B050"/>
                              </a:solidFill>
                            </a:rPr>
                            <a:t>5.5 ns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40079541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10" name="Content Placeholder 6">
                <a:extLst>
                  <a:ext uri="{FF2B5EF4-FFF2-40B4-BE49-F238E27FC236}">
                    <a16:creationId xmlns:a16="http://schemas.microsoft.com/office/drawing/2014/main" id="{4838C77A-DAF7-C0FD-1F4F-B385ADB40414}"/>
                  </a:ext>
                </a:extLst>
              </p:cNvPr>
              <p:cNvGraphicFramePr>
                <a:graphicFrameLocks noGrp="1"/>
              </p:cNvGraphicFramePr>
              <p:nvPr>
                <p:ph idx="1"/>
                <p:extLst>
                  <p:ext uri="{D42A27DB-BD31-4B8C-83A1-F6EECF244321}">
                    <p14:modId xmlns:p14="http://schemas.microsoft.com/office/powerpoint/2010/main" val="3276743027"/>
                  </p:ext>
                </p:extLst>
              </p:nvPr>
            </p:nvGraphicFramePr>
            <p:xfrm>
              <a:off x="6967446" y="1856582"/>
              <a:ext cx="4267255" cy="1854200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1876425">
                      <a:extLst>
                        <a:ext uri="{9D8B030D-6E8A-4147-A177-3AD203B41FA5}">
                          <a16:colId xmlns:a16="http://schemas.microsoft.com/office/drawing/2014/main" val="3489589385"/>
                        </a:ext>
                      </a:extLst>
                    </a:gridCol>
                    <a:gridCol w="2390830">
                      <a:extLst>
                        <a:ext uri="{9D8B030D-6E8A-4147-A177-3AD203B41FA5}">
                          <a16:colId xmlns:a16="http://schemas.microsoft.com/office/drawing/2014/main" val="1638097169"/>
                        </a:ext>
                      </a:extLst>
                    </a:gridCol>
                  </a:tblGrid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Hardware block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Example Value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704626930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Multiplier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6"/>
                          <a:stretch>
                            <a:fillRect l="-78626" t="-108197" r="-1272" b="-324590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3350641339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Adder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6"/>
                          <a:stretch>
                            <a:fillRect l="-78626" t="-208197" r="-1272" b="-224590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770428240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Max operator 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6"/>
                          <a:stretch>
                            <a:fillRect l="-78626" t="-308197" r="-1272" b="-124590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912293951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dirty="0">
                              <a:solidFill>
                                <a:srgbClr val="00B050"/>
                              </a:solidFill>
                            </a:rPr>
                            <a:t>Total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6"/>
                          <a:stretch>
                            <a:fillRect l="-78626" t="-408197" r="-1272" b="-24590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40079541"/>
                      </a:ext>
                    </a:extLst>
                  </a:tr>
                </a:tbl>
              </a:graphicData>
            </a:graphic>
          </p:graphicFrame>
        </mc:Fallback>
      </mc:AlternateContent>
      <p:pic>
        <p:nvPicPr>
          <p:cNvPr id="18" name="Picture 17">
            <a:extLst>
              <a:ext uri="{FF2B5EF4-FFF2-40B4-BE49-F238E27FC236}">
                <a16:creationId xmlns:a16="http://schemas.microsoft.com/office/drawing/2014/main" id="{60BD2029-0C53-3771-53A4-436300AE7DFE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487351" y="4018757"/>
            <a:ext cx="6037276" cy="1854200"/>
          </a:xfrm>
          <a:prstGeom prst="rect">
            <a:avLst/>
          </a:prstGeom>
        </p:spPr>
      </p:pic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86040E28-C4D7-6C54-005F-CB0E3E8ED4C2}"/>
              </a:ext>
            </a:extLst>
          </p:cNvPr>
          <p:cNvCxnSpPr>
            <a:cxnSpLocks/>
          </p:cNvCxnSpPr>
          <p:nvPr/>
        </p:nvCxnSpPr>
        <p:spPr>
          <a:xfrm>
            <a:off x="1856923" y="5181602"/>
            <a:ext cx="2216731" cy="0"/>
          </a:xfrm>
          <a:prstGeom prst="line">
            <a:avLst/>
          </a:prstGeom>
          <a:ln w="25400"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9" name="TextBox 28">
                <a:extLst>
                  <a:ext uri="{FF2B5EF4-FFF2-40B4-BE49-F238E27FC236}">
                    <a16:creationId xmlns:a16="http://schemas.microsoft.com/office/drawing/2014/main" id="{F75A2489-30D6-4E15-1A2F-75698B162107}"/>
                  </a:ext>
                </a:extLst>
              </p:cNvPr>
              <p:cNvSpPr txBox="1"/>
              <p:nvPr/>
            </p:nvSpPr>
            <p:spPr>
              <a:xfrm>
                <a:off x="2258571" y="5262777"/>
                <a:ext cx="1427442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b>
                        <m:r>
                          <a:rPr lang="en-US" b="0" i="1" smtClean="0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</a:rPr>
                          <m:t>𝑡𝑜𝑡</m:t>
                        </m:r>
                      </m:sub>
                    </m:sSub>
                    <m:r>
                      <a:rPr lang="en-US" b="0" i="1" smtClean="0">
                        <a:solidFill>
                          <a:srgbClr val="00B050"/>
                        </a:solidFill>
                        <a:latin typeface="Cambria Math" panose="02040503050406030204" pitchFamily="18" charset="0"/>
                      </a:rPr>
                      <m:t>=5.5 </m:t>
                    </m:r>
                  </m:oMath>
                </a14:m>
                <a:r>
                  <a:rPr lang="en-US" dirty="0">
                    <a:solidFill>
                      <a:srgbClr val="00B050"/>
                    </a:solidFill>
                  </a:rPr>
                  <a:t>ns</a:t>
                </a:r>
                <a:endParaRPr lang="en-US" dirty="0"/>
              </a:p>
            </p:txBody>
          </p:sp>
        </mc:Choice>
        <mc:Fallback xmlns="">
          <p:sp>
            <p:nvSpPr>
              <p:cNvPr id="29" name="TextBox 28">
                <a:extLst>
                  <a:ext uri="{FF2B5EF4-FFF2-40B4-BE49-F238E27FC236}">
                    <a16:creationId xmlns:a16="http://schemas.microsoft.com/office/drawing/2014/main" id="{F75A2489-30D6-4E15-1A2F-75698B16210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258571" y="5262777"/>
                <a:ext cx="1427442" cy="369332"/>
              </a:xfrm>
              <a:prstGeom prst="rect">
                <a:avLst/>
              </a:prstGeom>
              <a:blipFill>
                <a:blip r:embed="rId8"/>
                <a:stretch>
                  <a:fillRect t="-8197" r="-2991" b="-2459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139236616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538EBED-AF9F-B904-7FB1-1196F4DA93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Example Timing Over Multiple Inputs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A6B5B64-8AF2-278C-2D19-D6D935DFCD0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9637A9-119A-49DA-BD12-AAC58B377D80}" type="slidenum">
              <a:rPr lang="en-US" smtClean="0"/>
              <a:t>22</a:t>
            </a:fld>
            <a:endParaRPr lang="en-US" dirty="0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F7D743F6-2CEB-3CDF-6938-2BF04CC2C6F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6035" y="1838326"/>
            <a:ext cx="10012784" cy="3352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00094980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5F6DA0E-C1C2-4B25-093B-26163C081BD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Typical Propagation Delays:  Low-End FPGA</a:t>
            </a:r>
          </a:p>
        </p:txBody>
      </p:sp>
      <p:graphicFrame>
        <p:nvGraphicFramePr>
          <p:cNvPr id="7" name="Content Placeholder 6">
            <a:extLst>
              <a:ext uri="{FF2B5EF4-FFF2-40B4-BE49-F238E27FC236}">
                <a16:creationId xmlns:a16="http://schemas.microsoft.com/office/drawing/2014/main" id="{8D9AE152-6E99-5A5F-FADD-526C60A2DE74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839243628"/>
              </p:ext>
            </p:extLst>
          </p:nvPr>
        </p:nvGraphicFramePr>
        <p:xfrm>
          <a:off x="1044577" y="1777764"/>
          <a:ext cx="8228012" cy="1752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23246">
                  <a:extLst>
                    <a:ext uri="{9D8B030D-6E8A-4147-A177-3AD203B41FA5}">
                      <a16:colId xmlns:a16="http://schemas.microsoft.com/office/drawing/2014/main" val="3489589385"/>
                    </a:ext>
                  </a:extLst>
                </a:gridCol>
                <a:gridCol w="2446588">
                  <a:extLst>
                    <a:ext uri="{9D8B030D-6E8A-4147-A177-3AD203B41FA5}">
                      <a16:colId xmlns:a16="http://schemas.microsoft.com/office/drawing/2014/main" val="3600933310"/>
                    </a:ext>
                  </a:extLst>
                </a:gridCol>
                <a:gridCol w="3858178">
                  <a:extLst>
                    <a:ext uri="{9D8B030D-6E8A-4147-A177-3AD203B41FA5}">
                      <a16:colId xmlns:a16="http://schemas.microsoft.com/office/drawing/2014/main" val="163809716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Hardware block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FPGA resource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Typical range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0462693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32-bit adder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LUT + dedicated carry chain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1.5–3.0 ns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5064133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16-bit multiplier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DSP48E1 block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b="0" dirty="0"/>
                        <a:t>2.5–5.0 ns 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7042824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16-bit comparator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LUT logic + carry chain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1.0–2.0 ns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12293951"/>
                  </a:ext>
                </a:extLst>
              </a:tr>
            </a:tbl>
          </a:graphicData>
        </a:graphic>
      </p:graphicFrame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6AC121A-91E0-CE04-DEFA-C2317BEA599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9637A9-119A-49DA-BD12-AAC58B377D80}" type="slidenum">
              <a:rPr lang="en-US" smtClean="0"/>
              <a:t>23</a:t>
            </a:fld>
            <a:endParaRPr lang="en-US" dirty="0"/>
          </a:p>
        </p:txBody>
      </p:sp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2FA86B23-9C2E-23ED-1B0E-D59B1613D2FA}"/>
              </a:ext>
            </a:extLst>
          </p:cNvPr>
          <p:cNvSpPr txBox="1">
            <a:spLocks/>
          </p:cNvSpPr>
          <p:nvPr/>
        </p:nvSpPr>
        <p:spPr>
          <a:xfrm>
            <a:off x="1189196" y="3968378"/>
            <a:ext cx="9813608" cy="1878119"/>
          </a:xfrm>
          <a:prstGeom prst="rect">
            <a:avLst/>
          </a:prstGeom>
        </p:spPr>
        <p:txBody>
          <a:bodyPr vert="horz" lIns="0" tIns="45720" rIns="0" bIns="45720" rtlCol="0">
            <a:normAutofit/>
          </a:bodyPr>
          <a:lstStyle>
            <a:lvl1pPr marL="91440" indent="-91440" algn="l" defTabSz="914400" rtl="0" eaLnBrk="1" latinLnBrk="0" hangingPunct="1">
              <a:lnSpc>
                <a:spcPct val="90000"/>
              </a:lnSpc>
              <a:spcBef>
                <a:spcPts val="1200"/>
              </a:spcBef>
              <a:spcAft>
                <a:spcPts val="200"/>
              </a:spcAft>
              <a:buClr>
                <a:schemeClr val="accent1"/>
              </a:buClr>
              <a:buSzPct val="100000"/>
              <a:buFont typeface="Wingdings" panose="05000000000000000000" pitchFamily="2" charset="2"/>
              <a:buChar char="q"/>
              <a:defRPr sz="20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384048" indent="-18288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8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566928" indent="-18288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749808" indent="-18288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932688" indent="-18288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1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13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15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17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Rough delays for a low-end FPGA (e.g., </a:t>
            </a:r>
            <a:r>
              <a:rPr lang="en-US" dirty="0" err="1"/>
              <a:t>Pynq</a:t>
            </a:r>
            <a:r>
              <a:rPr lang="en-US" dirty="0"/>
              <a:t> Z2)</a:t>
            </a:r>
          </a:p>
          <a:p>
            <a:r>
              <a:rPr lang="en-US" dirty="0"/>
              <a:t>We will explain the FPGA resources more in later units</a:t>
            </a:r>
          </a:p>
          <a:p>
            <a:r>
              <a:rPr lang="en-US" dirty="0"/>
              <a:t>Routing delays not included</a:t>
            </a:r>
          </a:p>
          <a:p>
            <a:pPr lvl="1"/>
            <a:r>
              <a:rPr lang="en-US" dirty="0"/>
              <a:t>May be large for more complex designs</a:t>
            </a:r>
          </a:p>
          <a:p>
            <a:endParaRPr lang="en-US" dirty="0"/>
          </a:p>
          <a:p>
            <a:pPr lvl="1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1843626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663BE3E-BAA4-C755-7CA1-58981F9912F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21D6DD0-8304-5FB1-55A9-F9FA7C2672E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Typical Propagation Delays:  ASIC</a:t>
            </a:r>
          </a:p>
        </p:txBody>
      </p:sp>
      <p:graphicFrame>
        <p:nvGraphicFramePr>
          <p:cNvPr id="7" name="Content Placeholder 6">
            <a:extLst>
              <a:ext uri="{FF2B5EF4-FFF2-40B4-BE49-F238E27FC236}">
                <a16:creationId xmlns:a16="http://schemas.microsoft.com/office/drawing/2014/main" id="{3B275D51-FB46-1F6B-4BFC-DD42E042F02B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899829831"/>
              </p:ext>
            </p:extLst>
          </p:nvPr>
        </p:nvGraphicFramePr>
        <p:xfrm>
          <a:off x="1044576" y="1777764"/>
          <a:ext cx="7518398" cy="2291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57378">
                  <a:extLst>
                    <a:ext uri="{9D8B030D-6E8A-4147-A177-3AD203B41FA5}">
                      <a16:colId xmlns:a16="http://schemas.microsoft.com/office/drawing/2014/main" val="3489589385"/>
                    </a:ext>
                  </a:extLst>
                </a:gridCol>
                <a:gridCol w="2232525">
                  <a:extLst>
                    <a:ext uri="{9D8B030D-6E8A-4147-A177-3AD203B41FA5}">
                      <a16:colId xmlns:a16="http://schemas.microsoft.com/office/drawing/2014/main" val="3600933310"/>
                    </a:ext>
                  </a:extLst>
                </a:gridCol>
                <a:gridCol w="3528495">
                  <a:extLst>
                    <a:ext uri="{9D8B030D-6E8A-4147-A177-3AD203B41FA5}">
                      <a16:colId xmlns:a16="http://schemas.microsoft.com/office/drawing/2014/main" val="163809716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Hardware block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Typical structure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Typical range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0462693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32-bit adder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nb-NO" dirty="0"/>
                        <a:t>Kogge‑Stone / Brent‑Kung / hybrid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150-450 </a:t>
                      </a:r>
                      <a:r>
                        <a:rPr lang="en-US" dirty="0" err="1"/>
                        <a:t>ps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5064133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16-bit multiplier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Wallace/Dadda tree + final </a:t>
                      </a:r>
                      <a:r>
                        <a:rPr lang="en-US" dirty="0" err="1"/>
                        <a:t>adde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b="0" dirty="0"/>
                        <a:t>300-700 </a:t>
                      </a:r>
                      <a:r>
                        <a:rPr lang="en-US" b="0" dirty="0" err="1"/>
                        <a:t>ps</a:t>
                      </a:r>
                      <a:endParaRPr lang="en-US" b="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7042824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16-bit comparator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XOR/AND/OR chain with early‑out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50-300 </a:t>
                      </a:r>
                      <a:r>
                        <a:rPr lang="en-US" dirty="0" err="1"/>
                        <a:t>ps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12293951"/>
                  </a:ext>
                </a:extLst>
              </a:tr>
            </a:tbl>
          </a:graphicData>
        </a:graphic>
      </p:graphicFrame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7AD3A7C-EF26-CC2E-BE5D-3B19DE156B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9637A9-119A-49DA-BD12-AAC58B377D80}" type="slidenum">
              <a:rPr lang="en-US" smtClean="0"/>
              <a:t>24</a:t>
            </a:fld>
            <a:endParaRPr lang="en-US" dirty="0"/>
          </a:p>
        </p:txBody>
      </p:sp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0D163503-62A8-33C2-066E-B6FAD0FF25CF}"/>
              </a:ext>
            </a:extLst>
          </p:cNvPr>
          <p:cNvSpPr txBox="1">
            <a:spLocks/>
          </p:cNvSpPr>
          <p:nvPr/>
        </p:nvSpPr>
        <p:spPr>
          <a:xfrm>
            <a:off x="1097280" y="4167188"/>
            <a:ext cx="7808595" cy="1381125"/>
          </a:xfrm>
          <a:prstGeom prst="rect">
            <a:avLst/>
          </a:prstGeom>
        </p:spPr>
        <p:txBody>
          <a:bodyPr vert="horz" lIns="0" tIns="45720" rIns="0" bIns="45720" rtlCol="0">
            <a:normAutofit/>
          </a:bodyPr>
          <a:lstStyle>
            <a:lvl1pPr marL="91440" indent="-91440" algn="l" defTabSz="914400" rtl="0" eaLnBrk="1" latinLnBrk="0" hangingPunct="1">
              <a:lnSpc>
                <a:spcPct val="90000"/>
              </a:lnSpc>
              <a:spcBef>
                <a:spcPts val="1200"/>
              </a:spcBef>
              <a:spcAft>
                <a:spcPts val="200"/>
              </a:spcAft>
              <a:buClr>
                <a:schemeClr val="accent1"/>
              </a:buClr>
              <a:buSzPct val="100000"/>
              <a:buFont typeface="Wingdings" panose="05000000000000000000" pitchFamily="2" charset="2"/>
              <a:buChar char="q"/>
              <a:defRPr sz="20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384048" indent="-18288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8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566928" indent="-18288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749808" indent="-18288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932688" indent="-18288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1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13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15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17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Rough delays for TSMC 16nm</a:t>
            </a:r>
          </a:p>
          <a:p>
            <a:r>
              <a:rPr lang="en-US" dirty="0"/>
              <a:t>Custom ASICs are much faster than FPGAs</a:t>
            </a:r>
          </a:p>
          <a:p>
            <a:pPr lvl="1"/>
            <a:r>
              <a:rPr lang="en-US" dirty="0"/>
              <a:t>Easily 5 to 10x faster</a:t>
            </a:r>
          </a:p>
          <a:p>
            <a:endParaRPr lang="en-US" dirty="0"/>
          </a:p>
          <a:p>
            <a:pPr lvl="1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82398950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C5F9584-98AE-4630-C6E4-824A9110433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299D659-62F0-E5A4-81C3-FCC5F5D62C6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Critical Path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BB1A171-5C25-F07A-2152-04DE0A56057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97279" y="1539277"/>
            <a:ext cx="7213284" cy="4329817"/>
          </a:xfrm>
        </p:spPr>
        <p:txBody>
          <a:bodyPr>
            <a:normAutofit/>
          </a:bodyPr>
          <a:lstStyle/>
          <a:p>
            <a:r>
              <a:rPr lang="en-US" sz="2400" dirty="0">
                <a:solidFill>
                  <a:schemeClr val="tx1"/>
                </a:solidFill>
              </a:rPr>
              <a:t>Signals may need to propagate over multiple </a:t>
            </a:r>
            <a:r>
              <a:rPr lang="en-US" sz="2400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paths</a:t>
            </a:r>
          </a:p>
          <a:p>
            <a:r>
              <a:rPr lang="en-US" sz="2400" b="0" dirty="0">
                <a:solidFill>
                  <a:schemeClr val="tx1"/>
                </a:solidFill>
              </a:rPr>
              <a:t>Each path accumulates different path delay</a:t>
            </a:r>
          </a:p>
          <a:p>
            <a:pPr lvl="1"/>
            <a:r>
              <a:rPr lang="en-US" sz="2000" dirty="0">
                <a:solidFill>
                  <a:schemeClr val="tx1"/>
                </a:solidFill>
              </a:rPr>
              <a:t>Total propagation time on path</a:t>
            </a:r>
          </a:p>
          <a:p>
            <a:r>
              <a:rPr lang="en-US" sz="2400" b="0" dirty="0">
                <a:solidFill>
                  <a:schemeClr val="accent1"/>
                </a:solidFill>
              </a:rPr>
              <a:t>Critical path:</a:t>
            </a:r>
          </a:p>
          <a:p>
            <a:pPr lvl="1"/>
            <a:r>
              <a:rPr lang="en-US" sz="2000" dirty="0">
                <a:solidFill>
                  <a:schemeClr val="tx1"/>
                </a:solidFill>
              </a:rPr>
              <a:t>The path with the highest total propagation delay</a:t>
            </a:r>
          </a:p>
          <a:p>
            <a:r>
              <a:rPr lang="en-US" sz="2400" b="0" dirty="0">
                <a:solidFill>
                  <a:schemeClr val="tx1"/>
                </a:solidFill>
              </a:rPr>
              <a:t>Crit</a:t>
            </a:r>
            <a:r>
              <a:rPr lang="en-US" sz="2400" dirty="0">
                <a:solidFill>
                  <a:schemeClr val="tx1"/>
                </a:solidFill>
              </a:rPr>
              <a:t>ical path will determine total delay of module</a:t>
            </a:r>
            <a:endParaRPr lang="en-US" sz="2400" b="0" dirty="0">
              <a:solidFill>
                <a:schemeClr val="tx1"/>
              </a:solidFill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212D430-3FF6-FA2B-25E6-E9F80E9577A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9637A9-119A-49DA-BD12-AAC58B377D80}" type="slidenum">
              <a:rPr lang="en-US" smtClean="0"/>
              <a:t>25</a:t>
            </a:fld>
            <a:endParaRPr lang="en-US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F1A0484D-2625-5A7D-DCA4-3016FFAF893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13677" y="2501304"/>
            <a:ext cx="4361558" cy="263847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47672638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1191222-6E85-4597-FD89-BBA57084525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Critical Path Example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303C8AC7-FEDF-B362-9D6F-500036DC41F1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1097280" y="1539277"/>
                <a:ext cx="5070158" cy="4329817"/>
              </a:xfrm>
            </p:spPr>
            <p:txBody>
              <a:bodyPr/>
              <a:lstStyle/>
              <a:p>
                <a:r>
                  <a:rPr lang="en-US" dirty="0"/>
                  <a:t>Example:  For some functions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𝐹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,…,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𝐹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4</m:t>
                        </m:r>
                      </m:sub>
                    </m:sSub>
                  </m:oMath>
                </a14:m>
                <a:endParaRPr lang="en-US" dirty="0"/>
              </a:p>
              <a:p>
                <a:pPr lvl="1"/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𝐹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𝐹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d>
                          <m:d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</m:d>
                      </m:e>
                    </m:d>
                  </m:oMath>
                </a14:m>
                <a:endParaRPr lang="en-US" b="0" dirty="0"/>
              </a:p>
              <a:p>
                <a:pPr lvl="1"/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𝐹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3</m:t>
                        </m:r>
                      </m:sub>
                    </m:sSub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𝑏</m:t>
                        </m:r>
                      </m:e>
                    </m:d>
                  </m:oMath>
                </a14:m>
                <a:endParaRPr lang="en-US" b="0" dirty="0"/>
              </a:p>
              <a:p>
                <a:pPr lvl="1"/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𝑦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𝐹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4</m:t>
                        </m:r>
                      </m:sub>
                    </m:sSub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e>
                    </m:d>
                  </m:oMath>
                </a14:m>
                <a:endParaRPr lang="en-US" b="0" dirty="0"/>
              </a:p>
              <a:p>
                <a:r>
                  <a:rPr lang="en-US" dirty="0">
                    <a:solidFill>
                      <a:srgbClr val="FF0000"/>
                    </a:solidFill>
                  </a:rPr>
                  <a:t>Path 1 </a:t>
                </a:r>
                <a:r>
                  <a:rPr lang="en-US" dirty="0"/>
                  <a:t>(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𝐹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i="1">
                        <a:latin typeface="Cambria Math" panose="02040503050406030204" pitchFamily="18" charset="0"/>
                      </a:rPr>
                      <m:t>→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𝐹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en-US" i="1">
                        <a:latin typeface="Cambria Math" panose="02040503050406030204" pitchFamily="18" charset="0"/>
                      </a:rPr>
                      <m:t>→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𝐹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4</m:t>
                        </m:r>
                      </m:sub>
                    </m:sSub>
                  </m:oMath>
                </a14:m>
                <a:r>
                  <a:rPr lang="en-US" dirty="0"/>
                  <a:t>):</a:t>
                </a:r>
              </a:p>
              <a:p>
                <a:pPr lvl="1"/>
                <a:r>
                  <a:rPr lang="en-US" dirty="0"/>
                  <a:t>Delay = 3+2+2.5 = 7.5 ns</a:t>
                </a:r>
              </a:p>
              <a:p>
                <a:pPr lvl="1"/>
                <a:r>
                  <a:rPr lang="en-US" dirty="0"/>
                  <a:t>Longest = </a:t>
                </a:r>
                <a:r>
                  <a:rPr lang="en-US" dirty="0">
                    <a:solidFill>
                      <a:srgbClr val="FF0000"/>
                    </a:solidFill>
                  </a:rPr>
                  <a:t>Critical path</a:t>
                </a:r>
              </a:p>
              <a:p>
                <a:r>
                  <a:rPr lang="en-US" dirty="0">
                    <a:solidFill>
                      <a:srgbClr val="00B050"/>
                    </a:solidFill>
                  </a:rPr>
                  <a:t>Path 2 </a:t>
                </a:r>
                <a:r>
                  <a:rPr lang="en-US" dirty="0"/>
                  <a:t>(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𝐹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3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𝐹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4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:</a:t>
                </a:r>
              </a:p>
              <a:p>
                <a:pPr lvl="1"/>
                <a:r>
                  <a:rPr lang="en-US" dirty="0"/>
                  <a:t>Delay = 3.5 + 2.5 = 6 ns</a:t>
                </a:r>
              </a:p>
              <a:p>
                <a:pPr lvl="1"/>
                <a:r>
                  <a:rPr lang="en-US" dirty="0"/>
                  <a:t> Shorter = </a:t>
                </a:r>
                <a:r>
                  <a:rPr lang="en-US" dirty="0">
                    <a:solidFill>
                      <a:srgbClr val="00B050"/>
                    </a:solidFill>
                  </a:rPr>
                  <a:t>Non-critical</a:t>
                </a:r>
                <a:endParaRPr lang="en-US" b="0" dirty="0">
                  <a:solidFill>
                    <a:srgbClr val="00B050"/>
                  </a:solidFill>
                </a:endParaRP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303C8AC7-FEDF-B362-9D6F-500036DC41F1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1097280" y="1539277"/>
                <a:ext cx="5070158" cy="4329817"/>
              </a:xfrm>
              <a:blipFill>
                <a:blip r:embed="rId2"/>
                <a:stretch>
                  <a:fillRect l="-2885" t="-154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FC966B0-4D33-6329-4DD5-AC5F8C3E434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9637A9-119A-49DA-BD12-AAC58B377D80}" type="slidenum">
              <a:rPr lang="en-US" smtClean="0"/>
              <a:t>26</a:t>
            </a:fld>
            <a:endParaRPr lang="en-US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0B249633-FE1C-CB6C-0782-A65062A735F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93205" y="1858365"/>
            <a:ext cx="4361558" cy="263847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87376256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6C38C2B-4D3C-45EA-58FF-906B38A080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Delay Depends on Implementation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57E522C-7255-8294-5105-84CA58ADA9A6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r>
                  <a:rPr lang="en-US" sz="2400" dirty="0"/>
                  <a:t>Example:  Consider 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𝑦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𝑏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𝑐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𝑑</m:t>
                    </m:r>
                  </m:oMath>
                </a14:m>
                <a:endParaRPr lang="en-US" sz="2400" dirty="0"/>
              </a:p>
              <a:p>
                <a:r>
                  <a:rPr lang="en-US" sz="2400" dirty="0"/>
                  <a:t>Suppose each add takes 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𝐷</m:t>
                    </m:r>
                  </m:oMath>
                </a14:m>
                <a:r>
                  <a:rPr lang="en-US" sz="2400" dirty="0"/>
                  <a:t> seconds</a:t>
                </a:r>
              </a:p>
              <a:p>
                <a:r>
                  <a:rPr lang="en-US" sz="2400" dirty="0"/>
                  <a:t>Synthesis tools try to find low delay implementations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57E522C-7255-8294-5105-84CA58ADA9A6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697" t="-197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FB07630-8518-444A-3039-188CF194DD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9637A9-119A-49DA-BD12-AAC58B377D80}" type="slidenum">
              <a:rPr lang="en-US" smtClean="0"/>
              <a:t>27</a:t>
            </a:fld>
            <a:endParaRPr lang="en-US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DE532A85-6C3F-C862-93A1-8A78D3CA4B8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03496" y="2224088"/>
            <a:ext cx="3598620" cy="3295439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2AE17A01-334C-6F13-937B-793EDA5A3EA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373191" y="4114562"/>
            <a:ext cx="3739828" cy="1581177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8F2135AA-06AD-D2E1-420A-ADB668107EF9}"/>
                  </a:ext>
                </a:extLst>
              </p:cNvPr>
              <p:cNvSpPr txBox="1"/>
              <p:nvPr/>
            </p:nvSpPr>
            <p:spPr>
              <a:xfrm>
                <a:off x="1884945" y="3364232"/>
                <a:ext cx="2945102" cy="83099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400" dirty="0">
                    <a:solidFill>
                      <a:schemeClr val="accent1"/>
                    </a:solidFill>
                  </a:rPr>
                  <a:t>Serial implementation</a:t>
                </a:r>
              </a:p>
              <a:p>
                <a:r>
                  <a:rPr lang="en-US" sz="2400" dirty="0"/>
                  <a:t>Prop delay = 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3</m:t>
                    </m:r>
                    <m:r>
                      <a:rPr lang="en-US" sz="2400" b="0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𝐷</m:t>
                    </m:r>
                  </m:oMath>
                </a14:m>
                <a:endParaRPr lang="en-US" sz="2400" dirty="0"/>
              </a:p>
            </p:txBody>
          </p:sp>
        </mc:Choice>
        <mc:Fallback xmlns="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8F2135AA-06AD-D2E1-420A-ADB668107EF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884945" y="3364232"/>
                <a:ext cx="2945102" cy="830997"/>
              </a:xfrm>
              <a:prstGeom prst="rect">
                <a:avLst/>
              </a:prstGeom>
              <a:blipFill>
                <a:blip r:embed="rId5"/>
                <a:stretch>
                  <a:fillRect l="-3106" t="-5882" r="-2070" b="-1617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084A1042-4158-F0F6-8996-98210CD02ECE}"/>
                  </a:ext>
                </a:extLst>
              </p:cNvPr>
              <p:cNvSpPr txBox="1"/>
              <p:nvPr/>
            </p:nvSpPr>
            <p:spPr>
              <a:xfrm>
                <a:off x="6954524" y="3364232"/>
                <a:ext cx="2121093" cy="83099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400" dirty="0">
                    <a:solidFill>
                      <a:schemeClr val="accent1"/>
                    </a:solidFill>
                  </a:rPr>
                  <a:t>Parallel</a:t>
                </a:r>
              </a:p>
              <a:p>
                <a:r>
                  <a:rPr lang="en-US" sz="2400" dirty="0"/>
                  <a:t>Prop delay =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solidFill>
                          <a:srgbClr val="00B050"/>
                        </a:solidFill>
                        <a:latin typeface="Cambria Math" panose="02040503050406030204" pitchFamily="18" charset="0"/>
                      </a:rPr>
                      <m:t>2</m:t>
                    </m:r>
                    <m:r>
                      <a:rPr lang="en-US" sz="2400" b="0" i="1" smtClean="0">
                        <a:solidFill>
                          <a:srgbClr val="00B050"/>
                        </a:solidFill>
                        <a:latin typeface="Cambria Math" panose="02040503050406030204" pitchFamily="18" charset="0"/>
                      </a:rPr>
                      <m:t>𝐷</m:t>
                    </m:r>
                  </m:oMath>
                </a14:m>
                <a:endParaRPr lang="en-US" sz="2400" dirty="0"/>
              </a:p>
            </p:txBody>
          </p:sp>
        </mc:Choice>
        <mc:Fallback xmlns="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084A1042-4158-F0F6-8996-98210CD02EC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954524" y="3364232"/>
                <a:ext cx="2121093" cy="830997"/>
              </a:xfrm>
              <a:prstGeom prst="rect">
                <a:avLst/>
              </a:prstGeom>
              <a:blipFill>
                <a:blip r:embed="rId6"/>
                <a:stretch>
                  <a:fillRect l="-4598" t="-5882" b="-1617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556922068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CD8E287-BAF3-1DC8-7ED8-977104818E3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D19D0E2-1343-DA9A-1C42-37DA21D6C82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Outline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891D324-10F0-BBD5-1073-708A07EA111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sz="2400" dirty="0"/>
              <a:t>Combinational Logic</a:t>
            </a:r>
          </a:p>
          <a:p>
            <a:r>
              <a:rPr lang="en-US" sz="2400" dirty="0"/>
              <a:t>Timing Diagrams for Combinational Logic</a:t>
            </a:r>
          </a:p>
          <a:p>
            <a:r>
              <a:rPr lang="en-US" sz="2400" dirty="0"/>
              <a:t>Registers, Clocks and Sequential Logic</a:t>
            </a:r>
          </a:p>
          <a:p>
            <a:r>
              <a:rPr lang="en-US" sz="2400" dirty="0"/>
              <a:t>Simulating and Synthesizing Simple Modules in </a:t>
            </a:r>
            <a:r>
              <a:rPr lang="en-US" sz="2400" dirty="0" err="1"/>
              <a:t>Vivado</a:t>
            </a:r>
            <a:endParaRPr lang="en-US" sz="240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1BC72EA-80B9-D79C-A44D-1689DC6C055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9637A9-119A-49DA-BD12-AAC58B377D80}" type="slidenum">
              <a:rPr lang="en-US" smtClean="0"/>
              <a:t>28</a:t>
            </a:fld>
            <a:endParaRPr lang="en-US" dirty="0"/>
          </a:p>
        </p:txBody>
      </p:sp>
      <p:sp>
        <p:nvSpPr>
          <p:cNvPr id="5" name="Arrow: Right 4">
            <a:extLst>
              <a:ext uri="{FF2B5EF4-FFF2-40B4-BE49-F238E27FC236}">
                <a16:creationId xmlns:a16="http://schemas.microsoft.com/office/drawing/2014/main" id="{259404E5-BB35-804C-FF42-38ADC799BC84}"/>
              </a:ext>
            </a:extLst>
          </p:cNvPr>
          <p:cNvSpPr/>
          <p:nvPr/>
        </p:nvSpPr>
        <p:spPr>
          <a:xfrm>
            <a:off x="407289" y="2484310"/>
            <a:ext cx="938784" cy="484632"/>
          </a:xfrm>
          <a:prstGeom prst="rightArrow">
            <a:avLst/>
          </a:prstGeom>
          <a:solidFill>
            <a:schemeClr val="accent1">
              <a:lumMod val="40000"/>
              <a:lumOff val="6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1320045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>
            <a:extLst>
              <a:ext uri="{FF2B5EF4-FFF2-40B4-BE49-F238E27FC236}">
                <a16:creationId xmlns:a16="http://schemas.microsoft.com/office/drawing/2014/main" id="{276CA79D-EBD9-AA57-8A75-5919CEF3CBE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95408" y="3828056"/>
            <a:ext cx="6037276" cy="18542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3011CEB7-614C-5A0C-3EAF-0455FA16009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Limitations of Combinational Logic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8721DD7-A95F-2051-72C0-1B345C98A4B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No memory — cannot store past values</a:t>
            </a:r>
          </a:p>
          <a:p>
            <a:r>
              <a:rPr lang="en-US" dirty="0"/>
              <a:t>Output changes immediately with input changes (no control over timing)</a:t>
            </a:r>
          </a:p>
          <a:p>
            <a:r>
              <a:rPr lang="en-US" dirty="0"/>
              <a:t>Long combinational paths lead to large propagation delays</a:t>
            </a:r>
          </a:p>
          <a:p>
            <a:r>
              <a:rPr lang="en-US" dirty="0"/>
              <a:t>Hard to build large systems without controlled timing boundaries</a:t>
            </a:r>
          </a:p>
          <a:p>
            <a:r>
              <a:rPr lang="en-US" dirty="0"/>
              <a:t>Glitches and hazards can propagate freely</a:t>
            </a:r>
          </a:p>
          <a:p>
            <a:r>
              <a:rPr lang="en-US" dirty="0"/>
              <a:t>No notion of “steps” or “cycles” — everything is continuous</a:t>
            </a: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33AA4B0-CBC0-DC73-9E26-F3484FB7614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9637A9-119A-49DA-BD12-AAC58B377D80}" type="slidenum">
              <a:rPr lang="en-US" smtClean="0"/>
              <a:t>29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63146465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7AD911-3BF4-D32D-0851-6EEAC370579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Synchronous (Sequential) Logic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EF8832D-5242-3E39-8CC3-5BE1BCC6A65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Introduces </a:t>
            </a:r>
            <a:r>
              <a:rPr lang="en-US" dirty="0">
                <a:solidFill>
                  <a:schemeClr val="accent1"/>
                </a:solidFill>
              </a:rPr>
              <a:t>state</a:t>
            </a:r>
            <a:r>
              <a:rPr lang="en-US" dirty="0"/>
              <a:t> via </a:t>
            </a:r>
            <a:r>
              <a:rPr lang="en-US" dirty="0">
                <a:solidFill>
                  <a:schemeClr val="accent1"/>
                </a:solidFill>
              </a:rPr>
              <a:t>flip‑flops </a:t>
            </a:r>
            <a:r>
              <a:rPr lang="en-US" dirty="0"/>
              <a:t>or </a:t>
            </a:r>
            <a:r>
              <a:rPr lang="en-US" dirty="0">
                <a:solidFill>
                  <a:schemeClr val="accent1"/>
                </a:solidFill>
              </a:rPr>
              <a:t>registers</a:t>
            </a:r>
          </a:p>
          <a:p>
            <a:r>
              <a:rPr lang="en-US" dirty="0"/>
              <a:t>Breaks long logic into </a:t>
            </a:r>
            <a:r>
              <a:rPr lang="en-US" dirty="0">
                <a:solidFill>
                  <a:schemeClr val="accent1"/>
                </a:solidFill>
              </a:rPr>
              <a:t>clocked stages</a:t>
            </a:r>
            <a:r>
              <a:rPr lang="en-US" dirty="0"/>
              <a:t>, improving performance</a:t>
            </a:r>
          </a:p>
          <a:p>
            <a:r>
              <a:rPr lang="en-US" dirty="0"/>
              <a:t>Provides </a:t>
            </a:r>
            <a:r>
              <a:rPr lang="en-US" dirty="0">
                <a:solidFill>
                  <a:schemeClr val="accent1"/>
                </a:solidFill>
              </a:rPr>
              <a:t>predictable timing </a:t>
            </a:r>
            <a:r>
              <a:rPr lang="en-US" dirty="0"/>
              <a:t>— changes only occur on clock edges</a:t>
            </a:r>
          </a:p>
          <a:p>
            <a:r>
              <a:rPr lang="en-US" dirty="0"/>
              <a:t>Makes large systems modular and easier to reason about</a:t>
            </a:r>
          </a:p>
          <a:p>
            <a:r>
              <a:rPr lang="en-US" dirty="0"/>
              <a:t>Eliminates most hazards/glitches from propagating across stages</a:t>
            </a:r>
          </a:p>
          <a:p>
            <a:r>
              <a:rPr lang="en-US" dirty="0"/>
              <a:t>Enables pipelining, finite‑state machines, and sequential algorithms</a:t>
            </a:r>
          </a:p>
          <a:p>
            <a:r>
              <a:rPr lang="en-US" dirty="0"/>
              <a:t>Allows clean interfaces between modules (valid/ready, handshakes, etc.)</a:t>
            </a: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70420C8-93C4-94D3-F760-A89275C8A2F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9637A9-119A-49DA-BD12-AAC58B377D80}" type="slidenum">
              <a:rPr lang="en-US" smtClean="0"/>
              <a:t>30</a:t>
            </a:fld>
            <a:endParaRPr lang="en-US" dirty="0"/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2D26C523-87AC-2853-856A-0E6B98452D41}"/>
              </a:ext>
            </a:extLst>
          </p:cNvPr>
          <p:cNvSpPr/>
          <p:nvPr/>
        </p:nvSpPr>
        <p:spPr>
          <a:xfrm>
            <a:off x="1681162" y="4861523"/>
            <a:ext cx="7705726" cy="914400"/>
          </a:xfrm>
          <a:prstGeom prst="roundRect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>
                <a:solidFill>
                  <a:schemeClr val="accent1"/>
                </a:solidFill>
              </a:rPr>
              <a:t>Synchronous logic is the dominant paradigm for design </a:t>
            </a:r>
          </a:p>
        </p:txBody>
      </p:sp>
    </p:spTree>
    <p:extLst>
      <p:ext uri="{BB962C8B-B14F-4D97-AF65-F5344CB8AC3E}">
        <p14:creationId xmlns:p14="http://schemas.microsoft.com/office/powerpoint/2010/main" val="910885870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362BDCC-D4A7-DD40-30B1-14C265FC72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Clock Signal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A4E86D5B-ABF1-37F4-8E83-F95D13D6747C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dirty="0">
                    <a:solidFill>
                      <a:schemeClr val="accent1"/>
                    </a:solidFill>
                  </a:rPr>
                  <a:t>Clock</a:t>
                </a:r>
                <a:r>
                  <a:rPr lang="en-US" dirty="0"/>
                  <a:t>:  An alternating binary signal</a:t>
                </a:r>
              </a:p>
              <a:p>
                <a:pPr lvl="1"/>
                <a:r>
                  <a:rPr lang="en-US" dirty="0"/>
                  <a:t>Visualized as a square wave</a:t>
                </a:r>
              </a:p>
              <a:p>
                <a:r>
                  <a:rPr lang="en-US" dirty="0"/>
                  <a:t>Each period is called a </a:t>
                </a:r>
                <a:r>
                  <a:rPr lang="en-US" dirty="0">
                    <a:solidFill>
                      <a:schemeClr val="accent1"/>
                    </a:solidFill>
                  </a:rPr>
                  <a:t>clock cycle</a:t>
                </a:r>
              </a:p>
              <a:p>
                <a:pPr lvl="1"/>
                <a:r>
                  <a:rPr lang="en-US" dirty="0">
                    <a:solidFill>
                      <a:schemeClr val="tx1"/>
                    </a:solidFill>
                  </a:rPr>
                  <a:t>Typically, between two </a:t>
                </a:r>
                <a:r>
                  <a:rPr lang="en-US" dirty="0">
                    <a:solidFill>
                      <a:schemeClr val="accent1"/>
                    </a:solidFill>
                  </a:rPr>
                  <a:t>rising edges</a:t>
                </a:r>
              </a:p>
              <a:p>
                <a:r>
                  <a:rPr lang="en-US" dirty="0"/>
                  <a:t>Parameters:</a:t>
                </a:r>
              </a:p>
              <a:p>
                <a:pPr lvl="1"/>
                <a:r>
                  <a:rPr lang="en-US" dirty="0"/>
                  <a:t>Clock </a:t>
                </a:r>
                <a:r>
                  <a:rPr lang="en-US" dirty="0">
                    <a:solidFill>
                      <a:schemeClr val="accent1"/>
                    </a:solidFill>
                  </a:rPr>
                  <a:t>period</a:t>
                </a:r>
                <a:r>
                  <a:rPr lang="en-US" dirty="0"/>
                  <a:t>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𝑇</m:t>
                    </m:r>
                  </m:oMath>
                </a14:m>
                <a:endParaRPr lang="en-US" dirty="0"/>
              </a:p>
              <a:p>
                <a:pPr lvl="1"/>
                <a:r>
                  <a:rPr lang="en-US" dirty="0">
                    <a:solidFill>
                      <a:schemeClr val="accent1"/>
                    </a:solidFill>
                  </a:rPr>
                  <a:t>Frequency</a:t>
                </a:r>
                <a:r>
                  <a:rPr lang="en-US" dirty="0"/>
                  <a:t>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𝑓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𝑇</m:t>
                        </m:r>
                      </m:den>
                    </m:f>
                  </m:oMath>
                </a14:m>
                <a:endParaRPr lang="en-US" dirty="0">
                  <a:solidFill>
                    <a:schemeClr val="accent1"/>
                  </a:solidFill>
                </a:endParaRPr>
              </a:p>
              <a:p>
                <a:r>
                  <a:rPr lang="en-US" dirty="0"/>
                  <a:t>Typical parameters:</a:t>
                </a:r>
              </a:p>
              <a:p>
                <a:pPr lvl="1"/>
                <a:r>
                  <a:rPr lang="en-US" dirty="0"/>
                  <a:t>FPGA logic: 100 to 500 MHz</a:t>
                </a:r>
              </a:p>
              <a:p>
                <a:pPr lvl="1"/>
                <a:r>
                  <a:rPr lang="en-US" dirty="0"/>
                  <a:t>ASIC:  500 MHz to 1 GHz</a:t>
                </a:r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A4E86D5B-ABF1-37F4-8E83-F95D13D6747C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455" t="-154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C93B641-E06B-52DB-F256-2E5D90262DE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9637A9-119A-49DA-BD12-AAC58B377D80}" type="slidenum">
              <a:rPr lang="en-US" smtClean="0"/>
              <a:t>31</a:t>
            </a:fld>
            <a:endParaRPr lang="en-US" dirty="0"/>
          </a:p>
        </p:txBody>
      </p:sp>
      <p:pic>
        <p:nvPicPr>
          <p:cNvPr id="15362" name="Picture 2">
            <a:extLst>
              <a:ext uri="{FF2B5EF4-FFF2-40B4-BE49-F238E27FC236}">
                <a16:creationId xmlns:a16="http://schemas.microsoft.com/office/drawing/2014/main" id="{361ACB54-5B4E-B9B7-3F31-46A05A565B8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078855" y="3209925"/>
            <a:ext cx="5076825" cy="13144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852787915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38BBEBF-1DB4-B24B-8066-50107652703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Synchronous Logic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2E24E99-BD05-85EA-FBCD-C17E8627945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Key idea:  </a:t>
            </a:r>
            <a:r>
              <a:rPr lang="en-US" dirty="0"/>
              <a:t>Save system state on each rising edge</a:t>
            </a:r>
          </a:p>
          <a:p>
            <a:r>
              <a:rPr lang="en-US" dirty="0"/>
              <a:t>Save state in a storage element</a:t>
            </a:r>
          </a:p>
          <a:p>
            <a:pPr lvl="1"/>
            <a:r>
              <a:rPr lang="en-US" dirty="0"/>
              <a:t>This unit we will use </a:t>
            </a:r>
            <a:r>
              <a:rPr lang="en-US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registers</a:t>
            </a:r>
            <a:r>
              <a:rPr lang="en-US" dirty="0"/>
              <a:t> (next slide)</a:t>
            </a:r>
          </a:p>
          <a:p>
            <a:r>
              <a:rPr lang="en-US" dirty="0"/>
              <a:t>Brings system to a known state in each cycle </a:t>
            </a:r>
          </a:p>
          <a:p>
            <a:r>
              <a:rPr lang="en-US" dirty="0"/>
              <a:t>Computation can be performed in known steps</a:t>
            </a: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A03682F-AF82-981E-E567-E20D33DE05B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9637A9-119A-49DA-BD12-AAC58B377D80}" type="slidenum">
              <a:rPr lang="en-US" smtClean="0"/>
              <a:t>32</a:t>
            </a:fld>
            <a:endParaRPr lang="en-US" dirty="0"/>
          </a:p>
        </p:txBody>
      </p:sp>
      <p:pic>
        <p:nvPicPr>
          <p:cNvPr id="5" name="Picture 2">
            <a:extLst>
              <a:ext uri="{FF2B5EF4-FFF2-40B4-BE49-F238E27FC236}">
                <a16:creationId xmlns:a16="http://schemas.microsoft.com/office/drawing/2014/main" id="{98710AD0-85CA-1FF8-2237-C58E53131AD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719244" y="3893301"/>
            <a:ext cx="5076825" cy="13144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070258856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51E92B1-A97D-53AC-17DF-46A912C176E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Register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28B2C3E-B9B7-BDE3-692E-A050AF37569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97280" y="1539277"/>
            <a:ext cx="6656070" cy="4329817"/>
          </a:xfrm>
        </p:spPr>
        <p:txBody>
          <a:bodyPr/>
          <a:lstStyle/>
          <a:p>
            <a:r>
              <a:rPr lang="en-US" dirty="0"/>
              <a:t>Basic storage element in synchronous logic</a:t>
            </a:r>
          </a:p>
          <a:p>
            <a:r>
              <a:rPr lang="en-US" dirty="0"/>
              <a:t>On each rising edge of </a:t>
            </a:r>
            <a:r>
              <a:rPr lang="en-US" dirty="0" err="1"/>
              <a:t>clk</a:t>
            </a:r>
            <a:r>
              <a:rPr lang="en-US" dirty="0"/>
              <a:t>:</a:t>
            </a:r>
          </a:p>
          <a:p>
            <a:pPr lvl="1"/>
            <a:r>
              <a:rPr lang="en-US" dirty="0"/>
              <a:t>Assigns </a:t>
            </a:r>
            <a:r>
              <a:rPr lang="en-US" dirty="0" err="1"/>
              <a:t>xreg</a:t>
            </a:r>
            <a:r>
              <a:rPr lang="en-US" dirty="0"/>
              <a:t> to x</a:t>
            </a:r>
          </a:p>
          <a:p>
            <a:r>
              <a:rPr lang="en-US" dirty="0"/>
              <a:t>Value of </a:t>
            </a:r>
            <a:r>
              <a:rPr lang="en-US" dirty="0" err="1"/>
              <a:t>xreg</a:t>
            </a:r>
            <a:r>
              <a:rPr lang="en-US" dirty="0"/>
              <a:t> is maintained even if x changes</a:t>
            </a:r>
          </a:p>
          <a:p>
            <a:r>
              <a:rPr lang="en-US" dirty="0"/>
              <a:t>Example below:  Input is “sampled” at rising edges</a:t>
            </a:r>
          </a:p>
          <a:p>
            <a:pPr lvl="1"/>
            <a:r>
              <a:rPr lang="en-US" dirty="0"/>
              <a:t>Unknown periods not propagated</a:t>
            </a: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7EA63A6-E642-5955-7C66-AB62FB1F1B6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9637A9-119A-49DA-BD12-AAC58B377D80}" type="slidenum">
              <a:rPr lang="en-US" smtClean="0"/>
              <a:t>33</a:t>
            </a:fld>
            <a:endParaRPr lang="en-US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0BA67D62-9841-DC18-7791-401AD3C4B98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34164" y="642706"/>
            <a:ext cx="3987450" cy="2590832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0AFF2819-6A50-59BC-4ACA-348D5F77158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87342" y="4195753"/>
            <a:ext cx="8453589" cy="159444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28125662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8DA9ECA-9ED7-93EB-1BD5-B29363655A2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Register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4A8F033-2868-B865-FE5D-62ED0A99782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97280" y="1539277"/>
            <a:ext cx="4246245" cy="4329817"/>
          </a:xfrm>
        </p:spPr>
        <p:txBody>
          <a:bodyPr/>
          <a:lstStyle/>
          <a:p>
            <a:r>
              <a:rPr lang="en-US" dirty="0"/>
              <a:t>Samples input at each rising edge</a:t>
            </a:r>
          </a:p>
          <a:p>
            <a:r>
              <a:rPr lang="en-US" dirty="0"/>
              <a:t>Input may have  X values</a:t>
            </a:r>
          </a:p>
          <a:p>
            <a:pPr lvl="1"/>
            <a:r>
              <a:rPr lang="en-US" dirty="0"/>
              <a:t>Not propagated assuming input is </a:t>
            </a:r>
            <a:r>
              <a:rPr lang="en-US" dirty="0" err="1"/>
              <a:t>vald</a:t>
            </a:r>
            <a:r>
              <a:rPr lang="en-US" dirty="0"/>
              <a:t> on positive edges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7ED1F47-A257-097A-4168-E60AE5B72CF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9637A9-119A-49DA-BD12-AAC58B377D80}" type="slidenum">
              <a:rPr lang="en-US" smtClean="0"/>
              <a:t>34</a:t>
            </a:fld>
            <a:endParaRPr lang="en-US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7518AFC9-3FD9-078B-5ECF-7ECB00BB368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7406" y="3857729"/>
            <a:ext cx="8453589" cy="1594449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141F5F22-3E16-DB3B-8B5D-34347CFC5E7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66632" y="1405822"/>
            <a:ext cx="3182294" cy="206768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94535586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5BC700F-8425-AC74-ED49-156CC12AE00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Making the Module Synchronous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5744BE5-EE9C-4628-886D-D4D5F26350C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4380" y="1658885"/>
            <a:ext cx="5859780" cy="3702156"/>
          </a:xfrm>
        </p:spPr>
        <p:txBody>
          <a:bodyPr/>
          <a:lstStyle/>
          <a:p>
            <a:r>
              <a:rPr lang="en-US" dirty="0"/>
              <a:t>Making module synchronous is easy</a:t>
            </a:r>
          </a:p>
          <a:p>
            <a:r>
              <a:rPr lang="en-US" dirty="0"/>
              <a:t>First add two inputs to ports</a:t>
            </a:r>
          </a:p>
          <a:p>
            <a:pPr lvl="1"/>
            <a:r>
              <a:rPr lang="en-US" dirty="0">
                <a:solidFill>
                  <a:srgbClr val="00B050"/>
                </a:solidFill>
              </a:rPr>
              <a:t>Clock signal</a:t>
            </a:r>
          </a:p>
          <a:p>
            <a:pPr lvl="1"/>
            <a:r>
              <a:rPr lang="en-US" dirty="0">
                <a:solidFill>
                  <a:srgbClr val="0070C0"/>
                </a:solidFill>
              </a:rPr>
              <a:t>Reset</a:t>
            </a:r>
            <a:r>
              <a:rPr lang="en-US" dirty="0"/>
              <a:t> on negative edge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27190D6-424F-828D-4896-0CF2119815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9637A9-119A-49DA-BD12-AAC58B377D80}" type="slidenum">
              <a:rPr lang="en-US" smtClean="0"/>
              <a:t>35</a:t>
            </a:fld>
            <a:endParaRPr lang="en-US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EBF991A0-6C34-B3F9-8FB8-A161EA3047B2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r="52226" b="71813"/>
          <a:stretch>
            <a:fillRect/>
          </a:stretch>
        </p:blipFill>
        <p:spPr>
          <a:xfrm>
            <a:off x="6004619" y="2122189"/>
            <a:ext cx="3263550" cy="2223100"/>
          </a:xfrm>
          <a:prstGeom prst="rect">
            <a:avLst/>
          </a:prstGeom>
        </p:spPr>
      </p:pic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E1F6D6C2-1F24-DA7D-CA88-CFE36C37DDA4}"/>
              </a:ext>
            </a:extLst>
          </p:cNvPr>
          <p:cNvCxnSpPr>
            <a:cxnSpLocks/>
            <a:stCxn id="11" idx="1"/>
          </p:cNvCxnSpPr>
          <p:nvPr/>
        </p:nvCxnSpPr>
        <p:spPr>
          <a:xfrm flipH="1">
            <a:off x="8491538" y="2353022"/>
            <a:ext cx="1030725" cy="142529"/>
          </a:xfrm>
          <a:prstGeom prst="straightConnector1">
            <a:avLst/>
          </a:prstGeom>
          <a:ln w="254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7A8007E4-4D36-BCA1-3B22-50B8E566D052}"/>
              </a:ext>
            </a:extLst>
          </p:cNvPr>
          <p:cNvCxnSpPr>
            <a:cxnSpLocks/>
            <a:stCxn id="12" idx="1"/>
          </p:cNvCxnSpPr>
          <p:nvPr/>
        </p:nvCxnSpPr>
        <p:spPr>
          <a:xfrm flipH="1" flipV="1">
            <a:off x="8715019" y="2832846"/>
            <a:ext cx="807244" cy="53576"/>
          </a:xfrm>
          <a:prstGeom prst="straightConnector1">
            <a:avLst/>
          </a:prstGeom>
          <a:ln w="254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B8680E97-C491-5A57-BB00-7BF8B22CDD70}"/>
              </a:ext>
            </a:extLst>
          </p:cNvPr>
          <p:cNvSpPr txBox="1"/>
          <p:nvPr/>
        </p:nvSpPr>
        <p:spPr>
          <a:xfrm>
            <a:off x="9522263" y="2122189"/>
            <a:ext cx="84991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>
                <a:solidFill>
                  <a:srgbClr val="00B050"/>
                </a:solidFill>
              </a:rPr>
              <a:t>Clock</a:t>
            </a:r>
            <a:endParaRPr lang="en-US" dirty="0">
              <a:solidFill>
                <a:srgbClr val="00B050"/>
              </a:solidFill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7D8BFEFE-EAC6-C656-B88C-F6ECBB697A03}"/>
              </a:ext>
            </a:extLst>
          </p:cNvPr>
          <p:cNvSpPr txBox="1"/>
          <p:nvPr/>
        </p:nvSpPr>
        <p:spPr>
          <a:xfrm>
            <a:off x="9522263" y="2655589"/>
            <a:ext cx="87492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>
                <a:solidFill>
                  <a:schemeClr val="accent5">
                    <a:lumMod val="75000"/>
                  </a:schemeClr>
                </a:solidFill>
              </a:rPr>
              <a:t>Reset</a:t>
            </a:r>
            <a:endParaRPr lang="en-US" dirty="0">
              <a:solidFill>
                <a:schemeClr val="accent5">
                  <a:lumMod val="7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040483622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DE6D53F-5A03-BB22-E08C-2B6B8D53272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System Verilog Main Body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7E5EA93-333A-848E-930F-1BAD55552FD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Synchronous logic has two parts</a:t>
            </a:r>
          </a:p>
          <a:p>
            <a:r>
              <a:rPr lang="en-US" dirty="0" err="1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always_ff</a:t>
            </a:r>
            <a:r>
              <a:rPr lang="en-US" dirty="0">
                <a:solidFill>
                  <a:schemeClr val="tx2">
                    <a:lumMod val="60000"/>
                    <a:lumOff val="40000"/>
                  </a:schemeClr>
                </a:solidFill>
              </a:rPr>
              <a:t>:</a:t>
            </a:r>
          </a:p>
          <a:p>
            <a:pPr lvl="1"/>
            <a:r>
              <a:rPr lang="en-US" dirty="0"/>
              <a:t>Assigns register outputs</a:t>
            </a:r>
          </a:p>
          <a:p>
            <a:pPr lvl="1"/>
            <a:r>
              <a:rPr lang="en-US" dirty="0"/>
              <a:t>All operations are in parallel (non-blocking)</a:t>
            </a:r>
          </a:p>
          <a:p>
            <a:pPr lvl="1"/>
            <a:r>
              <a:rPr lang="en-US" dirty="0"/>
              <a:t>Our example:  Saves inputs to registers</a:t>
            </a:r>
          </a:p>
          <a:p>
            <a:r>
              <a:rPr lang="en-US" dirty="0" err="1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always_comb</a:t>
            </a:r>
            <a:r>
              <a:rPr lang="en-US" dirty="0">
                <a:solidFill>
                  <a:schemeClr val="accent1">
                    <a:lumMod val="75000"/>
                  </a:schemeClr>
                </a:solidFill>
              </a:rPr>
              <a:t>:</a:t>
            </a:r>
          </a:p>
          <a:p>
            <a:pPr lvl="1"/>
            <a:r>
              <a:rPr lang="en-US" dirty="0"/>
              <a:t>Assigns signals via combinational logic</a:t>
            </a:r>
          </a:p>
          <a:p>
            <a:pPr lvl="1"/>
            <a:r>
              <a:rPr lang="en-US" dirty="0"/>
              <a:t>Operations are sequential (blocking)</a:t>
            </a:r>
          </a:p>
          <a:p>
            <a:pPr lvl="1"/>
            <a:r>
              <a:rPr lang="en-US" dirty="0"/>
              <a:t>Our example:  Computes output from registered inputs</a:t>
            </a:r>
          </a:p>
          <a:p>
            <a:pPr lvl="1"/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9EB4C9F-CEAE-BE7C-7287-337AF935C14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9637A9-119A-49DA-BD12-AAC58B377D80}" type="slidenum">
              <a:rPr lang="en-US" smtClean="0"/>
              <a:t>36</a:t>
            </a:fld>
            <a:endParaRPr 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7B036926-9C6B-A618-7D90-C910277F70A9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1515" t="27161" r="-236" b="-1"/>
          <a:stretch>
            <a:fillRect/>
          </a:stretch>
        </p:blipFill>
        <p:spPr>
          <a:xfrm>
            <a:off x="6631305" y="1429740"/>
            <a:ext cx="4969010" cy="423287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92661005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8ED0390-4115-440C-DC17-54227B35548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Synchronous Block Diagram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05B5D85-6A2A-4111-C9C4-6F3B3F53739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97280" y="1539277"/>
            <a:ext cx="10058399" cy="4329817"/>
          </a:xfrm>
        </p:spPr>
        <p:txBody>
          <a:bodyPr/>
          <a:lstStyle/>
          <a:p>
            <a:r>
              <a:rPr lang="en-US" dirty="0"/>
              <a:t>Inputs are registered</a:t>
            </a:r>
          </a:p>
          <a:p>
            <a:r>
              <a:rPr lang="en-US" dirty="0"/>
              <a:t>Output is combinational from input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B6DEC50-644A-8FE6-6FA0-BAD586B8799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9637A9-119A-49DA-BD12-AAC58B377D80}" type="slidenum">
              <a:rPr lang="en-US" smtClean="0"/>
              <a:t>37</a:t>
            </a:fld>
            <a:endParaRPr lang="en-US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F3F40314-A49F-93B1-1EB5-F2D2D90D38E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1365" y="2967991"/>
            <a:ext cx="10390228" cy="26325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54525543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AAB0A21-BAF0-E9AF-7811-E1FAA27DE2D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Synchronous Timing Diagram</a:t>
            </a:r>
          </a:p>
        </p:txBody>
      </p:sp>
      <p:pic>
        <p:nvPicPr>
          <p:cNvPr id="6" name="Content Placeholder 5">
            <a:extLst>
              <a:ext uri="{FF2B5EF4-FFF2-40B4-BE49-F238E27FC236}">
                <a16:creationId xmlns:a16="http://schemas.microsoft.com/office/drawing/2014/main" id="{20E21C71-961F-1DE8-9032-B1BAE1891023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388984" y="1686941"/>
            <a:ext cx="8305800" cy="4267200"/>
          </a:xfrm>
          <a:prstGeom prst="rect">
            <a:avLst/>
          </a:prstGeom>
        </p:spPr>
      </p:pic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BAD144C-C50E-43E4-5362-C5DD70BCA1E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9637A9-119A-49DA-BD12-AAC58B377D80}" type="slidenum">
              <a:rPr lang="en-US" smtClean="0"/>
              <a:t>38</a:t>
            </a:fld>
            <a:endParaRPr lang="en-US" dirty="0"/>
          </a:p>
        </p:txBody>
      </p:sp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7D9708EE-2B4F-F03A-980A-8894C2ECD9FE}"/>
              </a:ext>
            </a:extLst>
          </p:cNvPr>
          <p:cNvSpPr txBox="1">
            <a:spLocks/>
          </p:cNvSpPr>
          <p:nvPr/>
        </p:nvSpPr>
        <p:spPr>
          <a:xfrm>
            <a:off x="8772888" y="1624324"/>
            <a:ext cx="3030128" cy="4329817"/>
          </a:xfrm>
          <a:prstGeom prst="rect">
            <a:avLst/>
          </a:prstGeom>
        </p:spPr>
        <p:txBody>
          <a:bodyPr vert="horz" lIns="0" tIns="45720" rIns="0" bIns="45720" rtlCol="0">
            <a:normAutofit/>
          </a:bodyPr>
          <a:lstStyle>
            <a:lvl1pPr marL="91440" indent="-91440" algn="l" defTabSz="914400" rtl="0" eaLnBrk="1" latinLnBrk="0" hangingPunct="1">
              <a:lnSpc>
                <a:spcPct val="90000"/>
              </a:lnSpc>
              <a:spcBef>
                <a:spcPts val="1200"/>
              </a:spcBef>
              <a:spcAft>
                <a:spcPts val="200"/>
              </a:spcAft>
              <a:buClr>
                <a:schemeClr val="accent1"/>
              </a:buClr>
              <a:buSzPct val="100000"/>
              <a:buFont typeface="Wingdings" panose="05000000000000000000" pitchFamily="2" charset="2"/>
              <a:buChar char="q"/>
              <a:defRPr sz="20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384048" indent="-18288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8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566928" indent="-18288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749808" indent="-18288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932688" indent="-18288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1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13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15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17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 err="1"/>
              <a:t>Clk</a:t>
            </a:r>
            <a:r>
              <a:rPr lang="en-US" dirty="0"/>
              <a:t> period = 10 ns</a:t>
            </a:r>
          </a:p>
          <a:p>
            <a:r>
              <a:rPr lang="en-US" dirty="0" err="1"/>
              <a:t>Clk</a:t>
            </a:r>
            <a:r>
              <a:rPr lang="en-US" dirty="0"/>
              <a:t> frequency = 100 MHz</a:t>
            </a:r>
          </a:p>
        </p:txBody>
      </p:sp>
    </p:spTree>
    <p:extLst>
      <p:ext uri="{BB962C8B-B14F-4D97-AF65-F5344CB8AC3E}">
        <p14:creationId xmlns:p14="http://schemas.microsoft.com/office/powerpoint/2010/main" val="319915654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E99B502-979E-4DEA-8DB1-7FFADFA0CE1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Maximum Clock Frequency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AF5D54C4-789F-1B4A-A0F3-C4728472440E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fontScale="92500" lnSpcReduction="20000"/>
              </a:bodyPr>
              <a:lstStyle/>
              <a:p>
                <a:r>
                  <a:rPr lang="en-US" dirty="0"/>
                  <a:t>Consider combinational path</a:t>
                </a:r>
              </a:p>
              <a:p>
                <a:pPr lvl="1"/>
                <a:r>
                  <a:rPr lang="en-US" dirty="0" err="1"/>
                  <a:t>xreg</a:t>
                </a:r>
                <a:r>
                  <a:rPr lang="en-US" dirty="0"/>
                  <a:t>, </a:t>
                </a:r>
                <a:r>
                  <a:rPr lang="en-US" dirty="0" err="1"/>
                  <a:t>areg</a:t>
                </a:r>
                <a:r>
                  <a:rPr lang="en-US" dirty="0"/>
                  <a:t>, </a:t>
                </a:r>
                <a:r>
                  <a:rPr lang="en-US" dirty="0" err="1"/>
                  <a:t>breg</a:t>
                </a:r>
                <a:r>
                  <a:rPr lang="en-US" dirty="0"/>
                  <a:t>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→</m:t>
                    </m:r>
                  </m:oMath>
                </a14:m>
                <a:r>
                  <a:rPr lang="en-US" dirty="0"/>
                  <a:t>  y</a:t>
                </a:r>
              </a:p>
              <a:p>
                <a:r>
                  <a:rPr lang="en-US" dirty="0"/>
                  <a:t>This path must complete within one clock cycle</a:t>
                </a:r>
              </a:p>
              <a:p>
                <a:r>
                  <a:rPr lang="en-US" dirty="0"/>
                  <a:t>Otherwise, next input to next stage not correctly sampled</a:t>
                </a:r>
              </a:p>
              <a:p>
                <a:endParaRPr lang="en-US" dirty="0"/>
              </a:p>
              <a:p>
                <a:pPr marL="0" indent="0">
                  <a:buNone/>
                </a:pPr>
                <a:endParaRPr lang="en-US" dirty="0"/>
              </a:p>
              <a:p>
                <a:pPr marL="0" indent="0">
                  <a:buNone/>
                </a:pPr>
                <a:endParaRPr lang="en-US" dirty="0"/>
              </a:p>
              <a:p>
                <a:pPr lvl="1"/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𝑐𝑟𝑖𝑡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</m:oMath>
                </a14:m>
                <a:r>
                  <a:rPr lang="en-US" dirty="0"/>
                  <a:t> delay of critical path, 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𝑐𝑙𝑘</m:t>
                        </m:r>
                      </m:sub>
                    </m:sSub>
                  </m:oMath>
                </a14:m>
                <a:r>
                  <a:rPr lang="en-US" dirty="0"/>
                  <a:t> = clock period</a:t>
                </a:r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𝑐𝑙𝑘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 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&gt;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𝑐𝑟𝑖𝑡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dirty="0"/>
                  <a:t>: System </a:t>
                </a:r>
                <a:r>
                  <a:rPr lang="en-US" dirty="0">
                    <a:solidFill>
                      <a:srgbClr val="00B050"/>
                    </a:solidFill>
                  </a:rPr>
                  <a:t>meets timing</a:t>
                </a:r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𝑐𝑙𝑘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 </m:t>
                        </m:r>
                      </m:sub>
                    </m:sSub>
                    <m:r>
                      <a:rPr lang="en-US" i="1">
                        <a:latin typeface="Cambria Math" panose="02040503050406030204" pitchFamily="18" charset="0"/>
                      </a:rPr>
                      <m:t>&gt;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𝑐𝑟𝑖𝑡</m:t>
                        </m:r>
                      </m:sub>
                    </m:sSub>
                    <m:r>
                      <a:rPr lang="en-US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dirty="0"/>
                  <a:t>: System </a:t>
                </a:r>
                <a:r>
                  <a:rPr lang="en-US" dirty="0">
                    <a:solidFill>
                      <a:srgbClr val="FF0000"/>
                    </a:solidFill>
                  </a:rPr>
                  <a:t>fails timing </a:t>
                </a:r>
                <a:r>
                  <a:rPr lang="en-US" dirty="0"/>
                  <a:t>/ </a:t>
                </a:r>
                <a:r>
                  <a:rPr lang="en-US" dirty="0">
                    <a:solidFill>
                      <a:srgbClr val="FF0000"/>
                    </a:solidFill>
                  </a:rPr>
                  <a:t>timing violation </a:t>
                </a:r>
              </a:p>
              <a:p>
                <a:pPr marL="0" indent="0">
                  <a:buNone/>
                </a:pPr>
                <a:br>
                  <a:rPr lang="en-US" dirty="0"/>
                </a:br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AF5D54C4-789F-1B4A-A0F3-C4728472440E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333" t="-239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D0EE3BB-AFAC-2CFC-A6C9-F882DBF82A8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9637A9-119A-49DA-BD12-AAC58B377D80}" type="slidenum">
              <a:rPr lang="en-US" smtClean="0"/>
              <a:t>39</a:t>
            </a:fld>
            <a:endParaRPr 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BDFE201B-E27F-C600-4D4A-641E05E7778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78087" y="3195637"/>
            <a:ext cx="5043271" cy="1277779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6" name="Rectangle: Rounded Corners 5">
                <a:extLst>
                  <a:ext uri="{FF2B5EF4-FFF2-40B4-BE49-F238E27FC236}">
                    <a16:creationId xmlns:a16="http://schemas.microsoft.com/office/drawing/2014/main" id="{C13F66F8-0180-B917-B8EA-17F1041746C1}"/>
                  </a:ext>
                </a:extLst>
              </p:cNvPr>
              <p:cNvSpPr/>
              <p:nvPr/>
            </p:nvSpPr>
            <p:spPr>
              <a:xfrm>
                <a:off x="1534383" y="2970356"/>
                <a:ext cx="4140518" cy="677084"/>
              </a:xfrm>
              <a:prstGeom prst="roundRect">
                <a:avLst/>
              </a:prstGeom>
              <a:solidFill>
                <a:schemeClr val="accent1">
                  <a:lumMod val="20000"/>
                  <a:lumOff val="8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400" dirty="0">
                    <a:solidFill>
                      <a:schemeClr val="accent1"/>
                    </a:solidFill>
                  </a:rPr>
                  <a:t>To meet timing: 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400" b="0" i="1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b="0" i="1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b>
                        <m:r>
                          <a:rPr lang="en-US" sz="2400" b="0" i="1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  <m:t>𝑐𝑙𝑘</m:t>
                        </m:r>
                      </m:sub>
                    </m:sSub>
                    <m:r>
                      <a:rPr lang="en-US" sz="2400" b="0" i="1" smtClean="0">
                        <a:solidFill>
                          <a:schemeClr val="accent1"/>
                        </a:solidFill>
                        <a:latin typeface="Cambria Math" panose="02040503050406030204" pitchFamily="18" charset="0"/>
                      </a:rPr>
                      <m:t>&gt;</m:t>
                    </m:r>
                    <m:sSub>
                      <m:sSubPr>
                        <m:ctrlPr>
                          <a:rPr lang="en-US" sz="2400" b="0" i="1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b="0" i="1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b>
                        <m:r>
                          <a:rPr lang="en-US" sz="2400" b="0" i="1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  <m:t>𝑐𝑟𝑖𝑡</m:t>
                        </m:r>
                      </m:sub>
                    </m:sSub>
                  </m:oMath>
                </a14:m>
                <a:endParaRPr lang="en-US" sz="2400" dirty="0">
                  <a:solidFill>
                    <a:schemeClr val="accent1"/>
                  </a:solidFill>
                </a:endParaRPr>
              </a:p>
            </p:txBody>
          </p:sp>
        </mc:Choice>
        <mc:Fallback xmlns="">
          <p:sp>
            <p:nvSpPr>
              <p:cNvPr id="6" name="Rectangle: Rounded Corners 5">
                <a:extLst>
                  <a:ext uri="{FF2B5EF4-FFF2-40B4-BE49-F238E27FC236}">
                    <a16:creationId xmlns:a16="http://schemas.microsoft.com/office/drawing/2014/main" id="{C13F66F8-0180-B917-B8EA-17F1041746C1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534383" y="2970356"/>
                <a:ext cx="4140518" cy="677084"/>
              </a:xfrm>
              <a:prstGeom prst="roundRect">
                <a:avLst/>
              </a:prstGeom>
              <a:blipFill>
                <a:blip r:embed="rId4"/>
                <a:stretch>
                  <a:fillRect b="-263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636257108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BD89065-9A44-E71D-15B1-D5C5A0A0C22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Content Placeholder 5">
            <a:extLst>
              <a:ext uri="{FF2B5EF4-FFF2-40B4-BE49-F238E27FC236}">
                <a16:creationId xmlns:a16="http://schemas.microsoft.com/office/drawing/2014/main" id="{A5AC167B-54C6-1582-9451-6CA51A9940D8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r="31025"/>
          <a:stretch>
            <a:fillRect/>
          </a:stretch>
        </p:blipFill>
        <p:spPr>
          <a:xfrm>
            <a:off x="681400" y="1497569"/>
            <a:ext cx="4467964" cy="3327968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05DBAC81-41EA-227D-9B05-1E2739B68BB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 err="1"/>
              <a:t>ReLU+Linear</a:t>
            </a:r>
            <a:r>
              <a:rPr lang="en-US" dirty="0"/>
              <a:t> Example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10CAE10-E023-07FD-CF9C-61F2CEFA358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9637A9-119A-49DA-BD12-AAC58B377D80}" type="slidenum">
              <a:rPr lang="en-US" smtClean="0"/>
              <a:t>40</a:t>
            </a:fld>
            <a:endParaRPr lang="en-US" dirty="0"/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91EFF6FC-8C7F-1D96-71B0-6BFC36005EB6}"/>
              </a:ext>
            </a:extLst>
          </p:cNvPr>
          <p:cNvCxnSpPr>
            <a:cxnSpLocks/>
          </p:cNvCxnSpPr>
          <p:nvPr/>
        </p:nvCxnSpPr>
        <p:spPr>
          <a:xfrm>
            <a:off x="2428422" y="1576388"/>
            <a:ext cx="0" cy="4305300"/>
          </a:xfrm>
          <a:prstGeom prst="line">
            <a:avLst/>
          </a:prstGeom>
          <a:ln w="2222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8841AD6A-F187-D540-A017-9AF935DB753A}"/>
              </a:ext>
            </a:extLst>
          </p:cNvPr>
          <p:cNvCxnSpPr>
            <a:cxnSpLocks/>
          </p:cNvCxnSpPr>
          <p:nvPr/>
        </p:nvCxnSpPr>
        <p:spPr>
          <a:xfrm>
            <a:off x="3033753" y="4191000"/>
            <a:ext cx="0" cy="933450"/>
          </a:xfrm>
          <a:prstGeom prst="line">
            <a:avLst/>
          </a:prstGeom>
          <a:ln w="254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10" name="Content Placeholder 6">
                <a:extLst>
                  <a:ext uri="{FF2B5EF4-FFF2-40B4-BE49-F238E27FC236}">
                    <a16:creationId xmlns:a16="http://schemas.microsoft.com/office/drawing/2014/main" id="{03A77A43-E078-DA3A-D5BD-191D7C4507B9}"/>
                  </a:ext>
                </a:extLst>
              </p:cNvPr>
              <p:cNvGraphicFramePr>
                <a:graphicFrameLocks noGrp="1"/>
              </p:cNvGraphicFramePr>
              <p:nvPr>
                <p:ph idx="1"/>
                <p:extLst>
                  <p:ext uri="{D42A27DB-BD31-4B8C-83A1-F6EECF244321}">
                    <p14:modId xmlns:p14="http://schemas.microsoft.com/office/powerpoint/2010/main" val="3500230244"/>
                  </p:ext>
                </p:extLst>
              </p:nvPr>
            </p:nvGraphicFramePr>
            <p:xfrm>
              <a:off x="7605713" y="1727042"/>
              <a:ext cx="3904887" cy="2123440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1717083">
                      <a:extLst>
                        <a:ext uri="{9D8B030D-6E8A-4147-A177-3AD203B41FA5}">
                          <a16:colId xmlns:a16="http://schemas.microsoft.com/office/drawing/2014/main" val="3489589385"/>
                        </a:ext>
                      </a:extLst>
                    </a:gridCol>
                    <a:gridCol w="2187804">
                      <a:extLst>
                        <a:ext uri="{9D8B030D-6E8A-4147-A177-3AD203B41FA5}">
                          <a16:colId xmlns:a16="http://schemas.microsoft.com/office/drawing/2014/main" val="1638097169"/>
                        </a:ext>
                      </a:extLst>
                    </a:gridCol>
                  </a:tblGrid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Hardware block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Example Value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704626930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Multiplier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14:m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𝑇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𝑚𝑢𝑙𝑡</m:t>
                                  </m:r>
                                </m:sub>
                              </m:s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=</m:t>
                              </m:r>
                            </m:oMath>
                          </a14:m>
                          <a:r>
                            <a:rPr lang="en-US" dirty="0"/>
                            <a:t>3 ns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350641339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Adder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𝑇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𝑎𝑑𝑑</m:t>
                                  </m:r>
                                </m:sub>
                              </m:s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=</m:t>
                              </m:r>
                            </m:oMath>
                          </a14:m>
                          <a:r>
                            <a:rPr lang="en-US" b="0" dirty="0"/>
                            <a:t>1.5 ns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770428240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Max operator 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14:m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𝑇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𝑚𝑎𝑥</m:t>
                                  </m:r>
                                </m:sub>
                              </m:s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=</m:t>
                              </m:r>
                            </m:oMath>
                          </a14:m>
                          <a:r>
                            <a:rPr lang="en-US" dirty="0"/>
                            <a:t>1 ns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912293951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dirty="0">
                              <a:solidFill>
                                <a:schemeClr val="accent2">
                                  <a:lumMod val="75000"/>
                                </a:schemeClr>
                              </a:solidFill>
                            </a:rPr>
                            <a:t>Total</a:t>
                          </a:r>
                          <a:br>
                            <a:rPr lang="en-US" dirty="0">
                              <a:solidFill>
                                <a:schemeClr val="accent2">
                                  <a:lumMod val="75000"/>
                                </a:schemeClr>
                              </a:solidFill>
                            </a:rPr>
                          </a:br>
                          <a:r>
                            <a:rPr lang="en-US" dirty="0">
                              <a:solidFill>
                                <a:schemeClr val="accent2">
                                  <a:lumMod val="75000"/>
                                </a:schemeClr>
                              </a:solidFill>
                            </a:rPr>
                            <a:t>=critical path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14:m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en-US" b="0" i="1" smtClean="0">
                                      <a:solidFill>
                                        <a:schemeClr val="accent2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smtClean="0">
                                      <a:solidFill>
                                        <a:schemeClr val="accent2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𝑇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solidFill>
                                        <a:schemeClr val="accent2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𝑐𝑟𝑖𝑡</m:t>
                                  </m:r>
                                </m:sub>
                              </m:sSub>
                              <m:r>
                                <a:rPr lang="en-US" b="0" i="1" smtClean="0">
                                  <a:solidFill>
                                    <a:schemeClr val="accent2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= </m:t>
                              </m:r>
                            </m:oMath>
                          </a14:m>
                          <a:r>
                            <a:rPr lang="en-US" dirty="0">
                              <a:solidFill>
                                <a:schemeClr val="accent2">
                                  <a:lumMod val="75000"/>
                                </a:schemeClr>
                              </a:solidFill>
                            </a:rPr>
                            <a:t>5.5 ns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40079541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10" name="Content Placeholder 6">
                <a:extLst>
                  <a:ext uri="{FF2B5EF4-FFF2-40B4-BE49-F238E27FC236}">
                    <a16:creationId xmlns:a16="http://schemas.microsoft.com/office/drawing/2014/main" id="{03A77A43-E078-DA3A-D5BD-191D7C4507B9}"/>
                  </a:ext>
                </a:extLst>
              </p:cNvPr>
              <p:cNvGraphicFramePr>
                <a:graphicFrameLocks noGrp="1"/>
              </p:cNvGraphicFramePr>
              <p:nvPr>
                <p:ph idx="1"/>
                <p:extLst>
                  <p:ext uri="{D42A27DB-BD31-4B8C-83A1-F6EECF244321}">
                    <p14:modId xmlns:p14="http://schemas.microsoft.com/office/powerpoint/2010/main" val="3500230244"/>
                  </p:ext>
                </p:extLst>
              </p:nvPr>
            </p:nvGraphicFramePr>
            <p:xfrm>
              <a:off x="7605713" y="1727042"/>
              <a:ext cx="3904887" cy="2123440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1717083">
                      <a:extLst>
                        <a:ext uri="{9D8B030D-6E8A-4147-A177-3AD203B41FA5}">
                          <a16:colId xmlns:a16="http://schemas.microsoft.com/office/drawing/2014/main" val="3489589385"/>
                        </a:ext>
                      </a:extLst>
                    </a:gridCol>
                    <a:gridCol w="2187804">
                      <a:extLst>
                        <a:ext uri="{9D8B030D-6E8A-4147-A177-3AD203B41FA5}">
                          <a16:colId xmlns:a16="http://schemas.microsoft.com/office/drawing/2014/main" val="1638097169"/>
                        </a:ext>
                      </a:extLst>
                    </a:gridCol>
                  </a:tblGrid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Hardware block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Example Value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704626930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Multiplier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3"/>
                          <a:stretch>
                            <a:fillRect l="-78611" t="-108197" r="-1111" b="-398361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3350641339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Adder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3"/>
                          <a:stretch>
                            <a:fillRect l="-78611" t="-208197" r="-1111" b="-298361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770428240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Max operator 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3"/>
                          <a:stretch>
                            <a:fillRect l="-78611" t="-308197" r="-1111" b="-198361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912293951"/>
                      </a:ext>
                    </a:extLst>
                  </a:tr>
                  <a:tr h="640080">
                    <a:tc>
                      <a:txBody>
                        <a:bodyPr/>
                        <a:lstStyle/>
                        <a:p>
                          <a:r>
                            <a:rPr lang="en-US" dirty="0">
                              <a:solidFill>
                                <a:schemeClr val="accent2">
                                  <a:lumMod val="75000"/>
                                </a:schemeClr>
                              </a:solidFill>
                            </a:rPr>
                            <a:t>Total</a:t>
                          </a:r>
                          <a:br>
                            <a:rPr lang="en-US" dirty="0">
                              <a:solidFill>
                                <a:schemeClr val="accent2">
                                  <a:lumMod val="75000"/>
                                </a:schemeClr>
                              </a:solidFill>
                            </a:rPr>
                          </a:br>
                          <a:r>
                            <a:rPr lang="en-US" dirty="0">
                              <a:solidFill>
                                <a:schemeClr val="accent2">
                                  <a:lumMod val="75000"/>
                                </a:schemeClr>
                              </a:solidFill>
                            </a:rPr>
                            <a:t>=critical path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3"/>
                          <a:stretch>
                            <a:fillRect l="-78611" t="-237143" r="-1111" b="-15238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40079541"/>
                      </a:ext>
                    </a:extLst>
                  </a:tr>
                </a:tbl>
              </a:graphicData>
            </a:graphic>
          </p:graphicFrame>
        </mc:Fallback>
      </mc:AlternateContent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5CAE1E1D-A283-7590-ACD3-01D9D9213F64}"/>
              </a:ext>
            </a:extLst>
          </p:cNvPr>
          <p:cNvCxnSpPr>
            <a:cxnSpLocks/>
          </p:cNvCxnSpPr>
          <p:nvPr/>
        </p:nvCxnSpPr>
        <p:spPr>
          <a:xfrm>
            <a:off x="2408758" y="5486400"/>
            <a:ext cx="1157902" cy="0"/>
          </a:xfrm>
          <a:prstGeom prst="line">
            <a:avLst/>
          </a:prstGeom>
          <a:ln w="25400"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9" name="TextBox 28">
                <a:extLst>
                  <a:ext uri="{FF2B5EF4-FFF2-40B4-BE49-F238E27FC236}">
                    <a16:creationId xmlns:a16="http://schemas.microsoft.com/office/drawing/2014/main" id="{211B6DAC-2758-F457-E56C-A567D23D76FE}"/>
                  </a:ext>
                </a:extLst>
              </p:cNvPr>
              <p:cNvSpPr txBox="1"/>
              <p:nvPr/>
            </p:nvSpPr>
            <p:spPr>
              <a:xfrm>
                <a:off x="714863" y="4811626"/>
                <a:ext cx="1488356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solidFill>
                              <a:schemeClr val="accent1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solidFill>
                              <a:schemeClr val="accent1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b>
                        <m:r>
                          <a:rPr lang="en-US" b="0" i="1" smtClean="0">
                            <a:solidFill>
                              <a:schemeClr val="accent1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𝑐𝑟𝑖𝑡</m:t>
                        </m:r>
                      </m:sub>
                    </m:sSub>
                    <m:r>
                      <a:rPr lang="en-US" b="0" i="1" smtClean="0">
                        <a:solidFill>
                          <a:schemeClr val="accent1">
                            <a:lumMod val="75000"/>
                          </a:schemeClr>
                        </a:solidFill>
                        <a:latin typeface="Cambria Math" panose="02040503050406030204" pitchFamily="18" charset="0"/>
                      </a:rPr>
                      <m:t>=5.5 </m:t>
                    </m:r>
                  </m:oMath>
                </a14:m>
                <a:r>
                  <a:rPr lang="en-US" dirty="0">
                    <a:solidFill>
                      <a:schemeClr val="accent1">
                        <a:lumMod val="75000"/>
                      </a:schemeClr>
                    </a:solidFill>
                  </a:rPr>
                  <a:t>ns</a:t>
                </a:r>
                <a:endParaRPr lang="en-US" dirty="0"/>
              </a:p>
            </p:txBody>
          </p:sp>
        </mc:Choice>
        <mc:Fallback xmlns="">
          <p:sp>
            <p:nvSpPr>
              <p:cNvPr id="29" name="TextBox 28">
                <a:extLst>
                  <a:ext uri="{FF2B5EF4-FFF2-40B4-BE49-F238E27FC236}">
                    <a16:creationId xmlns:a16="http://schemas.microsoft.com/office/drawing/2014/main" id="{211B6DAC-2758-F457-E56C-A567D23D76F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14863" y="4811626"/>
                <a:ext cx="1488356" cy="369332"/>
              </a:xfrm>
              <a:prstGeom prst="rect">
                <a:avLst/>
              </a:prstGeom>
              <a:blipFill>
                <a:blip r:embed="rId4"/>
                <a:stretch>
                  <a:fillRect t="-8197" r="-2869" b="-2459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3" name="Picture 2">
            <a:extLst>
              <a:ext uri="{FF2B5EF4-FFF2-40B4-BE49-F238E27FC236}">
                <a16:creationId xmlns:a16="http://schemas.microsoft.com/office/drawing/2014/main" id="{6F17A9CD-4EE0-1C33-3734-D64F28EEA1C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931908" y="4470532"/>
            <a:ext cx="4829771" cy="1223686"/>
          </a:xfrm>
          <a:prstGeom prst="rect">
            <a:avLst/>
          </a:prstGeom>
        </p:spPr>
      </p:pic>
      <p:cxnSp>
        <p:nvCxnSpPr>
          <p:cNvPr id="24" name="Straight Connector 23">
            <a:extLst>
              <a:ext uri="{FF2B5EF4-FFF2-40B4-BE49-F238E27FC236}">
                <a16:creationId xmlns:a16="http://schemas.microsoft.com/office/drawing/2014/main" id="{A08141DA-A05D-3A80-34FA-96FC9BCDF004}"/>
              </a:ext>
            </a:extLst>
          </p:cNvPr>
          <p:cNvCxnSpPr>
            <a:cxnSpLocks/>
          </p:cNvCxnSpPr>
          <p:nvPr/>
        </p:nvCxnSpPr>
        <p:spPr>
          <a:xfrm>
            <a:off x="3566660" y="1615090"/>
            <a:ext cx="0" cy="4176110"/>
          </a:xfrm>
          <a:prstGeom prst="line">
            <a:avLst/>
          </a:prstGeom>
          <a:ln w="2222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" name="Straight Connector 32">
            <a:extLst>
              <a:ext uri="{FF2B5EF4-FFF2-40B4-BE49-F238E27FC236}">
                <a16:creationId xmlns:a16="http://schemas.microsoft.com/office/drawing/2014/main" id="{9B004340-2BB4-ADE4-6003-ACF8912432F7}"/>
              </a:ext>
            </a:extLst>
          </p:cNvPr>
          <p:cNvCxnSpPr>
            <a:cxnSpLocks/>
          </p:cNvCxnSpPr>
          <p:nvPr/>
        </p:nvCxnSpPr>
        <p:spPr>
          <a:xfrm>
            <a:off x="2408758" y="4919663"/>
            <a:ext cx="624995" cy="0"/>
          </a:xfrm>
          <a:prstGeom prst="line">
            <a:avLst/>
          </a:prstGeom>
          <a:ln w="25400"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36" name="TextBox 35">
                <a:extLst>
                  <a:ext uri="{FF2B5EF4-FFF2-40B4-BE49-F238E27FC236}">
                    <a16:creationId xmlns:a16="http://schemas.microsoft.com/office/drawing/2014/main" id="{01C946BD-E895-C1B7-2ECD-D26EC6C17BCD}"/>
                  </a:ext>
                </a:extLst>
              </p:cNvPr>
              <p:cNvSpPr txBox="1"/>
              <p:nvPr/>
            </p:nvSpPr>
            <p:spPr>
              <a:xfrm>
                <a:off x="714863" y="5235112"/>
                <a:ext cx="1379801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b>
                        <m:r>
                          <a:rPr lang="en-US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𝑐𝑙𝑘</m:t>
                        </m:r>
                      </m:sub>
                    </m:sSub>
                    <m:r>
                      <a:rPr lang="en-US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=10 </m:t>
                    </m:r>
                  </m:oMath>
                </a14:m>
                <a:r>
                  <a:rPr lang="en-US" dirty="0">
                    <a:solidFill>
                      <a:schemeClr val="tx1"/>
                    </a:solidFill>
                  </a:rPr>
                  <a:t>ns</a:t>
                </a:r>
              </a:p>
            </p:txBody>
          </p:sp>
        </mc:Choice>
        <mc:Fallback xmlns="">
          <p:sp>
            <p:nvSpPr>
              <p:cNvPr id="36" name="TextBox 35">
                <a:extLst>
                  <a:ext uri="{FF2B5EF4-FFF2-40B4-BE49-F238E27FC236}">
                    <a16:creationId xmlns:a16="http://schemas.microsoft.com/office/drawing/2014/main" id="{01C946BD-E895-C1B7-2ECD-D26EC6C17BC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14863" y="5235112"/>
                <a:ext cx="1379801" cy="369332"/>
              </a:xfrm>
              <a:prstGeom prst="rect">
                <a:avLst/>
              </a:prstGeom>
              <a:blipFill>
                <a:blip r:embed="rId6"/>
                <a:stretch>
                  <a:fillRect t="-10000" r="-3084" b="-2666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7" name="Rectangle: Rounded Corners 36">
                <a:extLst>
                  <a:ext uri="{FF2B5EF4-FFF2-40B4-BE49-F238E27FC236}">
                    <a16:creationId xmlns:a16="http://schemas.microsoft.com/office/drawing/2014/main" id="{50DC7418-475B-E318-5CF3-7E56A73C99F0}"/>
                  </a:ext>
                </a:extLst>
              </p:cNvPr>
              <p:cNvSpPr/>
              <p:nvPr/>
            </p:nvSpPr>
            <p:spPr>
              <a:xfrm>
                <a:off x="3877208" y="4957154"/>
                <a:ext cx="2575668" cy="757238"/>
              </a:xfrm>
              <a:prstGeom prst="roundRect">
                <a:avLst/>
              </a:prstGeom>
              <a:solidFill>
                <a:srgbClr val="CCFF99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400" b="0" dirty="0">
                    <a:solidFill>
                      <a:srgbClr val="00B050"/>
                    </a:solidFill>
                  </a:rPr>
                  <a:t>Meets timing: 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400" b="0" i="1" smtClean="0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b="0" i="1" smtClean="0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b>
                        <m:r>
                          <a:rPr lang="en-US" sz="2400" b="0" i="1" smtClean="0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</a:rPr>
                          <m:t>𝑐𝑙𝑘</m:t>
                        </m:r>
                      </m:sub>
                    </m:sSub>
                    <m:r>
                      <a:rPr lang="en-US" sz="2400" b="0" i="1" smtClean="0">
                        <a:solidFill>
                          <a:srgbClr val="00B050"/>
                        </a:solidFill>
                        <a:latin typeface="Cambria Math" panose="02040503050406030204" pitchFamily="18" charset="0"/>
                      </a:rPr>
                      <m:t>&gt;</m:t>
                    </m:r>
                    <m:sSub>
                      <m:sSubPr>
                        <m:ctrlPr>
                          <a:rPr lang="en-US" sz="2400" b="0" i="1" smtClean="0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b="0" i="1" smtClean="0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b>
                        <m:r>
                          <a:rPr lang="en-US" sz="2400" b="0" i="1" smtClean="0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</a:rPr>
                          <m:t>𝑐𝑟𝑖𝑡</m:t>
                        </m:r>
                      </m:sub>
                    </m:sSub>
                  </m:oMath>
                </a14:m>
                <a:endParaRPr lang="en-US" sz="2400" dirty="0">
                  <a:solidFill>
                    <a:srgbClr val="00B050"/>
                  </a:solidFill>
                </a:endParaRPr>
              </a:p>
            </p:txBody>
          </p:sp>
        </mc:Choice>
        <mc:Fallback xmlns="">
          <p:sp>
            <p:nvSpPr>
              <p:cNvPr id="37" name="Rectangle: Rounded Corners 36">
                <a:extLst>
                  <a:ext uri="{FF2B5EF4-FFF2-40B4-BE49-F238E27FC236}">
                    <a16:creationId xmlns:a16="http://schemas.microsoft.com/office/drawing/2014/main" id="{50DC7418-475B-E318-5CF3-7E56A73C99F0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77208" y="4957154"/>
                <a:ext cx="2575668" cy="757238"/>
              </a:xfrm>
              <a:prstGeom prst="roundRect">
                <a:avLst/>
              </a:prstGeom>
              <a:blipFill>
                <a:blip r:embed="rId7"/>
                <a:stretch>
                  <a:fillRect t="-9449" b="-472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6612950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10ABB7C-2EDB-4318-7ECA-B6D74782AEE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Content Placeholder 5">
            <a:extLst>
              <a:ext uri="{FF2B5EF4-FFF2-40B4-BE49-F238E27FC236}">
                <a16:creationId xmlns:a16="http://schemas.microsoft.com/office/drawing/2014/main" id="{1EA7F9C3-ADCE-8C8C-8DB0-B5D8663A6723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r="31025"/>
          <a:stretch>
            <a:fillRect/>
          </a:stretch>
        </p:blipFill>
        <p:spPr>
          <a:xfrm>
            <a:off x="681400" y="1497569"/>
            <a:ext cx="4467964" cy="3327968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34D983B7-EE45-A808-5323-B71DD096E7F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Max Clock Frequency Example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5FB5789-2815-69F4-2BAB-81E2CB50C4E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9637A9-119A-49DA-BD12-AAC58B377D80}" type="slidenum">
              <a:rPr lang="en-US" smtClean="0"/>
              <a:t>41</a:t>
            </a:fld>
            <a:endParaRPr lang="en-US" dirty="0"/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A6FCA914-19FE-FC90-18DD-98BAD9571328}"/>
              </a:ext>
            </a:extLst>
          </p:cNvPr>
          <p:cNvCxnSpPr>
            <a:cxnSpLocks/>
          </p:cNvCxnSpPr>
          <p:nvPr/>
        </p:nvCxnSpPr>
        <p:spPr>
          <a:xfrm>
            <a:off x="2428422" y="1576388"/>
            <a:ext cx="0" cy="4305300"/>
          </a:xfrm>
          <a:prstGeom prst="line">
            <a:avLst/>
          </a:prstGeom>
          <a:ln w="2222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84AA1A46-56A3-16D5-14EF-B8C3C116F576}"/>
              </a:ext>
            </a:extLst>
          </p:cNvPr>
          <p:cNvCxnSpPr>
            <a:cxnSpLocks/>
          </p:cNvCxnSpPr>
          <p:nvPr/>
        </p:nvCxnSpPr>
        <p:spPr>
          <a:xfrm>
            <a:off x="3033753" y="4191000"/>
            <a:ext cx="0" cy="933450"/>
          </a:xfrm>
          <a:prstGeom prst="line">
            <a:avLst/>
          </a:prstGeom>
          <a:ln w="254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B190F144-7EDE-DA80-539D-3E28F53A7832}"/>
              </a:ext>
            </a:extLst>
          </p:cNvPr>
          <p:cNvCxnSpPr>
            <a:cxnSpLocks/>
          </p:cNvCxnSpPr>
          <p:nvPr/>
        </p:nvCxnSpPr>
        <p:spPr>
          <a:xfrm>
            <a:off x="2408758" y="5486400"/>
            <a:ext cx="1157902" cy="0"/>
          </a:xfrm>
          <a:prstGeom prst="line">
            <a:avLst/>
          </a:prstGeom>
          <a:ln w="25400"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9" name="TextBox 28">
                <a:extLst>
                  <a:ext uri="{FF2B5EF4-FFF2-40B4-BE49-F238E27FC236}">
                    <a16:creationId xmlns:a16="http://schemas.microsoft.com/office/drawing/2014/main" id="{3241A829-C28D-1D20-E805-3CB99EE3F56F}"/>
                  </a:ext>
                </a:extLst>
              </p:cNvPr>
              <p:cNvSpPr txBox="1"/>
              <p:nvPr/>
            </p:nvSpPr>
            <p:spPr>
              <a:xfrm>
                <a:off x="714863" y="4811626"/>
                <a:ext cx="1488356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solidFill>
                              <a:schemeClr val="accent1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solidFill>
                              <a:schemeClr val="accent1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b>
                        <m:r>
                          <a:rPr lang="en-US" b="0" i="1" smtClean="0">
                            <a:solidFill>
                              <a:schemeClr val="accent1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𝑐𝑟𝑖𝑡</m:t>
                        </m:r>
                      </m:sub>
                    </m:sSub>
                    <m:r>
                      <a:rPr lang="en-US" b="0" i="1" smtClean="0">
                        <a:solidFill>
                          <a:schemeClr val="accent1">
                            <a:lumMod val="75000"/>
                          </a:schemeClr>
                        </a:solidFill>
                        <a:latin typeface="Cambria Math" panose="02040503050406030204" pitchFamily="18" charset="0"/>
                      </a:rPr>
                      <m:t>=5.5 </m:t>
                    </m:r>
                  </m:oMath>
                </a14:m>
                <a:r>
                  <a:rPr lang="en-US" dirty="0">
                    <a:solidFill>
                      <a:schemeClr val="accent1">
                        <a:lumMod val="75000"/>
                      </a:schemeClr>
                    </a:solidFill>
                  </a:rPr>
                  <a:t>ns</a:t>
                </a:r>
                <a:endParaRPr lang="en-US" dirty="0"/>
              </a:p>
            </p:txBody>
          </p:sp>
        </mc:Choice>
        <mc:Fallback xmlns="">
          <p:sp>
            <p:nvSpPr>
              <p:cNvPr id="29" name="TextBox 28">
                <a:extLst>
                  <a:ext uri="{FF2B5EF4-FFF2-40B4-BE49-F238E27FC236}">
                    <a16:creationId xmlns:a16="http://schemas.microsoft.com/office/drawing/2014/main" id="{3241A829-C28D-1D20-E805-3CB99EE3F56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14863" y="4811626"/>
                <a:ext cx="1488356" cy="369332"/>
              </a:xfrm>
              <a:prstGeom prst="rect">
                <a:avLst/>
              </a:prstGeom>
              <a:blipFill>
                <a:blip r:embed="rId3"/>
                <a:stretch>
                  <a:fillRect t="-8197" r="-2869" b="-2459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3" name="Picture 2">
            <a:extLst>
              <a:ext uri="{FF2B5EF4-FFF2-40B4-BE49-F238E27FC236}">
                <a16:creationId xmlns:a16="http://schemas.microsoft.com/office/drawing/2014/main" id="{9C5F8F37-7FAA-1A79-F5B8-190542D4C5F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95988" y="3579157"/>
            <a:ext cx="4829771" cy="1223686"/>
          </a:xfrm>
          <a:prstGeom prst="rect">
            <a:avLst/>
          </a:prstGeom>
        </p:spPr>
      </p:pic>
      <p:cxnSp>
        <p:nvCxnSpPr>
          <p:cNvPr id="24" name="Straight Connector 23">
            <a:extLst>
              <a:ext uri="{FF2B5EF4-FFF2-40B4-BE49-F238E27FC236}">
                <a16:creationId xmlns:a16="http://schemas.microsoft.com/office/drawing/2014/main" id="{F5C319D9-B8B4-1627-BBF6-F04DCBDDEF68}"/>
              </a:ext>
            </a:extLst>
          </p:cNvPr>
          <p:cNvCxnSpPr>
            <a:cxnSpLocks/>
          </p:cNvCxnSpPr>
          <p:nvPr/>
        </p:nvCxnSpPr>
        <p:spPr>
          <a:xfrm>
            <a:off x="3566660" y="1615090"/>
            <a:ext cx="0" cy="4176110"/>
          </a:xfrm>
          <a:prstGeom prst="line">
            <a:avLst/>
          </a:prstGeom>
          <a:ln w="2222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" name="Straight Connector 32">
            <a:extLst>
              <a:ext uri="{FF2B5EF4-FFF2-40B4-BE49-F238E27FC236}">
                <a16:creationId xmlns:a16="http://schemas.microsoft.com/office/drawing/2014/main" id="{A00424EE-1AEC-43D1-9613-0448C601CA45}"/>
              </a:ext>
            </a:extLst>
          </p:cNvPr>
          <p:cNvCxnSpPr>
            <a:cxnSpLocks/>
          </p:cNvCxnSpPr>
          <p:nvPr/>
        </p:nvCxnSpPr>
        <p:spPr>
          <a:xfrm>
            <a:off x="2408758" y="4919663"/>
            <a:ext cx="624995" cy="0"/>
          </a:xfrm>
          <a:prstGeom prst="line">
            <a:avLst/>
          </a:prstGeom>
          <a:ln w="25400"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36" name="TextBox 35">
                <a:extLst>
                  <a:ext uri="{FF2B5EF4-FFF2-40B4-BE49-F238E27FC236}">
                    <a16:creationId xmlns:a16="http://schemas.microsoft.com/office/drawing/2014/main" id="{0BC4ABD5-E209-38B5-5AB6-59EBDBACF362}"/>
                  </a:ext>
                </a:extLst>
              </p:cNvPr>
              <p:cNvSpPr txBox="1"/>
              <p:nvPr/>
            </p:nvSpPr>
            <p:spPr>
              <a:xfrm>
                <a:off x="714863" y="5235112"/>
                <a:ext cx="1379801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b>
                        <m:r>
                          <a:rPr lang="en-US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𝑐𝑙𝑘</m:t>
                        </m:r>
                      </m:sub>
                    </m:sSub>
                    <m:r>
                      <a:rPr lang="en-US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=10 </m:t>
                    </m:r>
                  </m:oMath>
                </a14:m>
                <a:r>
                  <a:rPr lang="en-US" dirty="0">
                    <a:solidFill>
                      <a:schemeClr val="tx1"/>
                    </a:solidFill>
                  </a:rPr>
                  <a:t>ns</a:t>
                </a:r>
              </a:p>
            </p:txBody>
          </p:sp>
        </mc:Choice>
        <mc:Fallback xmlns="">
          <p:sp>
            <p:nvSpPr>
              <p:cNvPr id="36" name="TextBox 35">
                <a:extLst>
                  <a:ext uri="{FF2B5EF4-FFF2-40B4-BE49-F238E27FC236}">
                    <a16:creationId xmlns:a16="http://schemas.microsoft.com/office/drawing/2014/main" id="{0BC4ABD5-E209-38B5-5AB6-59EBDBACF36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14863" y="5235112"/>
                <a:ext cx="1379801" cy="369332"/>
              </a:xfrm>
              <a:prstGeom prst="rect">
                <a:avLst/>
              </a:prstGeom>
              <a:blipFill>
                <a:blip r:embed="rId5"/>
                <a:stretch>
                  <a:fillRect t="-10000" r="-3084" b="-2666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Content Placeholder 6">
                <a:extLst>
                  <a:ext uri="{FF2B5EF4-FFF2-40B4-BE49-F238E27FC236}">
                    <a16:creationId xmlns:a16="http://schemas.microsoft.com/office/drawing/2014/main" id="{E15E6483-4210-090F-B633-4B7C02A7A858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5995988" y="1539277"/>
                <a:ext cx="5159691" cy="4329817"/>
              </a:xfrm>
            </p:spPr>
            <p:txBody>
              <a:bodyPr/>
              <a:lstStyle/>
              <a:p>
                <a:r>
                  <a:rPr lang="en-US" dirty="0"/>
                  <a:t>Max clock frequency in our example:</a:t>
                </a:r>
              </a:p>
              <a:p>
                <a:pPr lvl="1"/>
                <a:r>
                  <a:rPr lang="en-US" dirty="0"/>
                  <a:t>Min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𝑐𝑙𝑘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𝑐𝑟𝑖𝑡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=5.5</m:t>
                    </m:r>
                  </m:oMath>
                </a14:m>
                <a:r>
                  <a:rPr lang="en-US" dirty="0"/>
                  <a:t> ns</a:t>
                </a:r>
              </a:p>
              <a:p>
                <a:pPr lvl="1"/>
                <a:r>
                  <a:rPr lang="en-US" dirty="0"/>
                  <a:t>Max clock frequency =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5.5</m:t>
                        </m:r>
                      </m:den>
                    </m:f>
                    <m:r>
                      <a:rPr lang="en-US" b="0" i="1" smtClean="0">
                        <a:latin typeface="Cambria Math" panose="02040503050406030204" pitchFamily="18" charset="0"/>
                      </a:rPr>
                      <m:t>≅180 </m:t>
                    </m:r>
                  </m:oMath>
                </a14:m>
                <a:r>
                  <a:rPr lang="en-US" dirty="0"/>
                  <a:t>MHz</a:t>
                </a:r>
              </a:p>
            </p:txBody>
          </p:sp>
        </mc:Choice>
        <mc:Fallback xmlns="">
          <p:sp>
            <p:nvSpPr>
              <p:cNvPr id="7" name="Content Placeholder 6">
                <a:extLst>
                  <a:ext uri="{FF2B5EF4-FFF2-40B4-BE49-F238E27FC236}">
                    <a16:creationId xmlns:a16="http://schemas.microsoft.com/office/drawing/2014/main" id="{E15E6483-4210-090F-B633-4B7C02A7A858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5995988" y="1539277"/>
                <a:ext cx="5159691" cy="4329817"/>
              </a:xfrm>
              <a:blipFill>
                <a:blip r:embed="rId6"/>
                <a:stretch>
                  <a:fillRect l="-2837" t="-154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662713733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BB94A4A-7EC3-F1D5-CCD1-F3A2252BE2B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 More Complex Example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AB850F2B-0267-F55D-667E-FCD9D833C664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dirty="0"/>
                  <a:t>Consider a quadratic function: 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𝑦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𝑤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en-US" b="0" i="1" smtClean="0"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𝑤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𝑤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</m:oMath>
                </a14:m>
                <a:endParaRPr lang="en-US" dirty="0"/>
              </a:p>
              <a:p>
                <a:r>
                  <a:rPr lang="en-US" dirty="0"/>
                  <a:t>For simplicity, assume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𝑤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,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𝑤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,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𝑤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en-US" dirty="0"/>
                  <a:t> are fixed parameters</a:t>
                </a:r>
              </a:p>
              <a:p>
                <a:r>
                  <a:rPr lang="en-US" dirty="0"/>
                  <a:t>Single cycle implementation to the right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AB850F2B-0267-F55D-667E-FCD9D833C664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455" t="-154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6683774-5CDF-B36B-08BA-D3D91EDBF71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9637A9-119A-49DA-BD12-AAC58B377D80}" type="slidenum">
              <a:rPr lang="en-US" smtClean="0"/>
              <a:t>42</a:t>
            </a:fld>
            <a:endParaRPr lang="en-US" dirty="0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50EDCF24-DFBA-3C20-2850-3888BD5ED1E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62863" y="861947"/>
            <a:ext cx="4002404" cy="4813702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187B7621-A59E-9A00-279D-23D4462AFAA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409577" y="2923049"/>
            <a:ext cx="5505573" cy="283487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69335221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1D925CC-3FAE-1C38-5338-4F54381D7C2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Finding the Critical Path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08EF3B3E-B8D7-F21E-CD8F-53C070E03AA2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6720028" y="1539277"/>
                <a:ext cx="5029060" cy="4329817"/>
              </a:xfrm>
            </p:spPr>
            <p:txBody>
              <a:bodyPr/>
              <a:lstStyle/>
              <a:p>
                <a:r>
                  <a:rPr lang="en-US" dirty="0"/>
                  <a:t>Consider implementation with times in table</a:t>
                </a:r>
              </a:p>
              <a:p>
                <a:r>
                  <a:rPr lang="en-US" dirty="0"/>
                  <a:t>Two paths:</a:t>
                </a:r>
              </a:p>
              <a:p>
                <a:r>
                  <a:rPr lang="en-US" dirty="0"/>
                  <a:t>Path 1:  x, </a:t>
                </a:r>
                <a:r>
                  <a:rPr lang="en-US" dirty="0" err="1"/>
                  <a:t>x_reg</a:t>
                </a:r>
                <a:r>
                  <a:rPr lang="en-US" dirty="0"/>
                  <a:t>, xsq_w2, y</a:t>
                </a:r>
              </a:p>
              <a:p>
                <a:pPr lvl="1"/>
                <a:r>
                  <a:rPr lang="en-US" dirty="0"/>
                  <a:t>1 register, 2 </a:t>
                </a:r>
                <a:r>
                  <a:rPr lang="en-US" dirty="0" err="1"/>
                  <a:t>mults</a:t>
                </a:r>
                <a:r>
                  <a:rPr lang="en-US" dirty="0"/>
                  <a:t>, 2 adders = 12 ns</a:t>
                </a:r>
              </a:p>
              <a:p>
                <a:r>
                  <a:rPr lang="en-US" dirty="0"/>
                  <a:t>Path 2:  x, </a:t>
                </a:r>
                <a:r>
                  <a:rPr lang="en-US" dirty="0" err="1"/>
                  <a:t>x_reg</a:t>
                </a:r>
                <a:r>
                  <a:rPr lang="en-US" dirty="0"/>
                  <a:t>, x_w1, y</a:t>
                </a:r>
              </a:p>
              <a:p>
                <a:pPr lvl="1"/>
                <a:r>
                  <a:rPr lang="en-US" dirty="0"/>
                  <a:t>1 register, 1 </a:t>
                </a:r>
                <a:r>
                  <a:rPr lang="en-US" dirty="0" err="1"/>
                  <a:t>mult</a:t>
                </a:r>
                <a:r>
                  <a:rPr lang="en-US" dirty="0"/>
                  <a:t>, 2 adders = 8 ns</a:t>
                </a:r>
              </a:p>
              <a:p>
                <a:r>
                  <a:rPr lang="en-US" dirty="0"/>
                  <a:t>Path 1 is critical </a:t>
                </a:r>
              </a:p>
              <a:p>
                <a:r>
                  <a:rPr lang="en-US" dirty="0"/>
                  <a:t>Max clock frequency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12 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𝑛𝑠</m:t>
                        </m:r>
                      </m:den>
                    </m:f>
                    <m:r>
                      <a:rPr lang="en-US" b="0" i="1" smtClean="0">
                        <a:latin typeface="Cambria Math" panose="02040503050406030204" pitchFamily="18" charset="0"/>
                      </a:rPr>
                      <m:t>=83</m:t>
                    </m:r>
                  </m:oMath>
                </a14:m>
                <a:r>
                  <a:rPr lang="en-US" dirty="0"/>
                  <a:t> MHz</a:t>
                </a:r>
              </a:p>
              <a:p>
                <a:r>
                  <a:rPr lang="en-US" dirty="0"/>
                  <a:t>Would </a:t>
                </a:r>
                <a:r>
                  <a:rPr lang="en-US" dirty="0">
                    <a:solidFill>
                      <a:srgbClr val="FF0000"/>
                    </a:solidFill>
                  </a:rPr>
                  <a:t>fail timing </a:t>
                </a:r>
                <a:r>
                  <a:rPr lang="en-US" dirty="0"/>
                  <a:t>at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100</m:t>
                    </m:r>
                  </m:oMath>
                </a14:m>
                <a:r>
                  <a:rPr lang="en-US" dirty="0"/>
                  <a:t> MHz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08EF3B3E-B8D7-F21E-CD8F-53C070E03AA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6720028" y="1539277"/>
                <a:ext cx="5029060" cy="4329817"/>
              </a:xfrm>
              <a:blipFill>
                <a:blip r:embed="rId2"/>
                <a:stretch>
                  <a:fillRect l="-2909" t="-154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FC661ED-ACB6-1F1B-7341-4BFDA341AA8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9637A9-119A-49DA-BD12-AAC58B377D80}" type="slidenum">
              <a:rPr lang="en-US" smtClean="0"/>
              <a:t>43</a:t>
            </a:fld>
            <a:endParaRPr 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5BE8A388-7D9A-964A-6E24-A30F124C182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88695" y="3518335"/>
            <a:ext cx="4878705" cy="2512096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6" name="Content Placeholder 6">
                <a:extLst>
                  <a:ext uri="{FF2B5EF4-FFF2-40B4-BE49-F238E27FC236}">
                    <a16:creationId xmlns:a16="http://schemas.microsoft.com/office/drawing/2014/main" id="{D0809D2E-1732-FB1C-B5B2-470369B4616B}"/>
                  </a:ext>
                </a:extLst>
              </p:cNvPr>
              <p:cNvGraphicFramePr>
                <a:graphicFrameLocks/>
              </p:cNvGraphicFramePr>
              <p:nvPr>
                <p:extLst>
                  <p:ext uri="{D42A27DB-BD31-4B8C-83A1-F6EECF244321}">
                    <p14:modId xmlns:p14="http://schemas.microsoft.com/office/powerpoint/2010/main" val="2833947551"/>
                  </p:ext>
                </p:extLst>
              </p:nvPr>
            </p:nvGraphicFramePr>
            <p:xfrm>
              <a:off x="1320559" y="1539277"/>
              <a:ext cx="4267255" cy="2242312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1876425">
                      <a:extLst>
                        <a:ext uri="{9D8B030D-6E8A-4147-A177-3AD203B41FA5}">
                          <a16:colId xmlns:a16="http://schemas.microsoft.com/office/drawing/2014/main" val="3489589385"/>
                        </a:ext>
                      </a:extLst>
                    </a:gridCol>
                    <a:gridCol w="2390830">
                      <a:extLst>
                        <a:ext uri="{9D8B030D-6E8A-4147-A177-3AD203B41FA5}">
                          <a16:colId xmlns:a16="http://schemas.microsoft.com/office/drawing/2014/main" val="1638097169"/>
                        </a:ext>
                      </a:extLst>
                    </a:gridCol>
                  </a:tblGrid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Hardware block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Example Value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704626930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Register 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14:m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𝑇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𝑟𝑒𝑔</m:t>
                                  </m:r>
                                </m:sub>
                              </m:sSub>
                            </m:oMath>
                          </a14:m>
                          <a:r>
                            <a:rPr lang="en-US" dirty="0"/>
                            <a:t>= 1 ns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35170388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Multiplier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14:m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𝑇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𝑚𝑢𝑙𝑡</m:t>
                                  </m:r>
                                </m:sub>
                              </m:sSub>
                            </m:oMath>
                          </a14:m>
                          <a:r>
                            <a:rPr lang="en-US" dirty="0"/>
                            <a:t> = 4 ns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350641339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Adder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𝑇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𝑎𝑑𝑑</m:t>
                                  </m:r>
                                </m:sub>
                              </m:s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=</m:t>
                              </m:r>
                            </m:oMath>
                          </a14:m>
                          <a:r>
                            <a:rPr lang="en-US" b="0" dirty="0"/>
                            <a:t>1.5 ns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770428240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dirty="0">
                              <a:solidFill>
                                <a:srgbClr val="FF0000"/>
                              </a:solidFill>
                            </a:rPr>
                            <a:t>Path 1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>
                              <a:solidFill>
                                <a:srgbClr val="FF0000"/>
                              </a:solidFill>
                            </a:rPr>
                            <a:t>1+4+4+1.5+1.5 = 12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40079541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dirty="0">
                              <a:solidFill>
                                <a:srgbClr val="00B050"/>
                              </a:solidFill>
                            </a:rPr>
                            <a:t>Path 2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>
                              <a:solidFill>
                                <a:srgbClr val="00B050"/>
                              </a:solidFill>
                            </a:rPr>
                            <a:t>1+4+1.5+1.5=8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665162302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6" name="Content Placeholder 6">
                <a:extLst>
                  <a:ext uri="{FF2B5EF4-FFF2-40B4-BE49-F238E27FC236}">
                    <a16:creationId xmlns:a16="http://schemas.microsoft.com/office/drawing/2014/main" id="{D0809D2E-1732-FB1C-B5B2-470369B4616B}"/>
                  </a:ext>
                </a:extLst>
              </p:cNvPr>
              <p:cNvGraphicFramePr>
                <a:graphicFrameLocks/>
              </p:cNvGraphicFramePr>
              <p:nvPr>
                <p:extLst>
                  <p:ext uri="{D42A27DB-BD31-4B8C-83A1-F6EECF244321}">
                    <p14:modId xmlns:p14="http://schemas.microsoft.com/office/powerpoint/2010/main" val="2833947551"/>
                  </p:ext>
                </p:extLst>
              </p:nvPr>
            </p:nvGraphicFramePr>
            <p:xfrm>
              <a:off x="1320559" y="1539277"/>
              <a:ext cx="4267255" cy="2242312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1876425">
                      <a:extLst>
                        <a:ext uri="{9D8B030D-6E8A-4147-A177-3AD203B41FA5}">
                          <a16:colId xmlns:a16="http://schemas.microsoft.com/office/drawing/2014/main" val="3489589385"/>
                        </a:ext>
                      </a:extLst>
                    </a:gridCol>
                    <a:gridCol w="2390830">
                      <a:extLst>
                        <a:ext uri="{9D8B030D-6E8A-4147-A177-3AD203B41FA5}">
                          <a16:colId xmlns:a16="http://schemas.microsoft.com/office/drawing/2014/main" val="1638097169"/>
                        </a:ext>
                      </a:extLst>
                    </a:gridCol>
                  </a:tblGrid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Hardware block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Example Value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704626930"/>
                      </a:ext>
                    </a:extLst>
                  </a:tr>
                  <a:tr h="388112"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Register 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4"/>
                          <a:stretch>
                            <a:fillRect l="-78626" t="-103125" r="-1018" b="-404688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335170388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Multiplier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4"/>
                          <a:stretch>
                            <a:fillRect l="-78626" t="-213115" r="-1018" b="-324590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3350641339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Adder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4"/>
                          <a:stretch>
                            <a:fillRect l="-78626" t="-313115" r="-1018" b="-224590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770428240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dirty="0">
                              <a:solidFill>
                                <a:srgbClr val="FF0000"/>
                              </a:solidFill>
                            </a:rPr>
                            <a:t>Path 1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>
                              <a:solidFill>
                                <a:srgbClr val="FF0000"/>
                              </a:solidFill>
                            </a:rPr>
                            <a:t>1+4+4+1.5+1.5 = 12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40079541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dirty="0">
                              <a:solidFill>
                                <a:srgbClr val="00B050"/>
                              </a:solidFill>
                            </a:rPr>
                            <a:t>Path 2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>
                              <a:solidFill>
                                <a:srgbClr val="00B050"/>
                              </a:solidFill>
                            </a:rPr>
                            <a:t>1+4+1.5+1.5=8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665162302"/>
                      </a:ext>
                    </a:extLst>
                  </a:tr>
                </a:tbl>
              </a:graphicData>
            </a:graphic>
          </p:graphicFrame>
        </mc:Fallback>
      </mc:AlternateContent>
    </p:spTree>
    <p:extLst>
      <p:ext uri="{BB962C8B-B14F-4D97-AF65-F5344CB8AC3E}">
        <p14:creationId xmlns:p14="http://schemas.microsoft.com/office/powerpoint/2010/main" val="3450426592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C3B4F9-E779-590A-C8ED-63B7616F11B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 Two Cycle Design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4C50DFC-FB98-979E-4E4F-99F0FBA1C6B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We can improve throughput by breaking computation over two cycles</a:t>
            </a:r>
          </a:p>
          <a:p>
            <a:r>
              <a:rPr lang="en-US" dirty="0"/>
              <a:t>Register two intermediate terms:</a:t>
            </a:r>
          </a:p>
          <a:p>
            <a:pPr lvl="1"/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xsq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=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xreg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*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xreg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lvl="1"/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lin_term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= w1*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xreg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+ w0</a:t>
            </a:r>
          </a:p>
          <a:p>
            <a:pPr lvl="1"/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F35234D-CAB4-024E-EF1D-840B21D17C8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9637A9-119A-49DA-BD12-AAC58B377D80}" type="slidenum">
              <a:rPr lang="en-US" smtClean="0"/>
              <a:t>44</a:t>
            </a:fld>
            <a:endParaRPr lang="en-US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2C9E648D-5421-41D3-24F2-423FFF956B3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77027" y="2604069"/>
            <a:ext cx="4385213" cy="2714654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532F5FBB-9813-2E90-5E91-D9D54F972C9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9356" y="3086100"/>
            <a:ext cx="5635271" cy="26574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84134511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1C39BBA-A50E-FE84-C290-1308077A3D2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Three Stages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112673EF-ACCC-0796-B3DB-87EB7711CF1B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dirty="0"/>
                  <a:t>Design is processed in three stages = 2 cycles</a:t>
                </a:r>
              </a:p>
              <a:p>
                <a:r>
                  <a:rPr lang="en-US" dirty="0"/>
                  <a:t>Stage 0</a:t>
                </a:r>
              </a:p>
              <a:p>
                <a:pPr lvl="1"/>
                <a:r>
                  <a:rPr lang="en-US" dirty="0"/>
                  <a:t>Register input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r>
                  <a:rPr lang="en-US" dirty="0"/>
                  <a:t> to </a:t>
                </a:r>
                <a:r>
                  <a:rPr lang="en-US" dirty="0" err="1">
                    <a:latin typeface="Courier New" panose="02070309020205020404" pitchFamily="49" charset="0"/>
                    <a:cs typeface="Courier New" panose="02070309020205020404" pitchFamily="49" charset="0"/>
                  </a:rPr>
                  <a:t>xreg</a:t>
                </a:r>
                <a:endParaRPr lang="en-US" dirty="0">
                  <a:latin typeface="Courier New" panose="02070309020205020404" pitchFamily="49" charset="0"/>
                  <a:cs typeface="Courier New" panose="02070309020205020404" pitchFamily="49" charset="0"/>
                </a:endParaRPr>
              </a:p>
              <a:p>
                <a:r>
                  <a:rPr lang="en-US" dirty="0"/>
                  <a:t>Stage 1:  Compute and register:</a:t>
                </a:r>
              </a:p>
              <a:p>
                <a:pPr lvl="1"/>
                <a:r>
                  <a:rPr lang="en-US" dirty="0" err="1">
                    <a:latin typeface="Courier New" panose="02070309020205020404" pitchFamily="49" charset="0"/>
                    <a:cs typeface="Courier New" panose="02070309020205020404" pitchFamily="49" charset="0"/>
                  </a:rPr>
                  <a:t>xsq</a:t>
                </a:r>
                <a:r>
                  <a:rPr lang="en-US" dirty="0">
                    <a:latin typeface="Courier New" panose="02070309020205020404" pitchFamily="49" charset="0"/>
                    <a:cs typeface="Courier New" panose="02070309020205020404" pitchFamily="49" charset="0"/>
                  </a:rPr>
                  <a:t> = </a:t>
                </a:r>
                <a:r>
                  <a:rPr lang="en-US" dirty="0" err="1">
                    <a:latin typeface="Courier New" panose="02070309020205020404" pitchFamily="49" charset="0"/>
                    <a:cs typeface="Courier New" panose="02070309020205020404" pitchFamily="49" charset="0"/>
                  </a:rPr>
                  <a:t>xreg</a:t>
                </a:r>
                <a:r>
                  <a:rPr lang="en-US" dirty="0">
                    <a:latin typeface="Courier New" panose="02070309020205020404" pitchFamily="49" charset="0"/>
                    <a:cs typeface="Courier New" panose="02070309020205020404" pitchFamily="49" charset="0"/>
                  </a:rPr>
                  <a:t> * </a:t>
                </a:r>
                <a:r>
                  <a:rPr lang="en-US" dirty="0" err="1">
                    <a:latin typeface="Courier New" panose="02070309020205020404" pitchFamily="49" charset="0"/>
                    <a:cs typeface="Courier New" panose="02070309020205020404" pitchFamily="49" charset="0"/>
                  </a:rPr>
                  <a:t>xreg</a:t>
                </a:r>
                <a:endParaRPr lang="en-US" dirty="0">
                  <a:latin typeface="Courier New" panose="02070309020205020404" pitchFamily="49" charset="0"/>
                  <a:cs typeface="Courier New" panose="02070309020205020404" pitchFamily="49" charset="0"/>
                </a:endParaRPr>
              </a:p>
              <a:p>
                <a:pPr lvl="1"/>
                <a:r>
                  <a:rPr lang="en-US" dirty="0" err="1">
                    <a:latin typeface="Courier New" panose="02070309020205020404" pitchFamily="49" charset="0"/>
                    <a:cs typeface="Courier New" panose="02070309020205020404" pitchFamily="49" charset="0"/>
                  </a:rPr>
                  <a:t>lin_term</a:t>
                </a:r>
                <a:r>
                  <a:rPr lang="en-US" dirty="0">
                    <a:latin typeface="Courier New" panose="02070309020205020404" pitchFamily="49" charset="0"/>
                    <a:cs typeface="Courier New" panose="02070309020205020404" pitchFamily="49" charset="0"/>
                  </a:rPr>
                  <a:t> = w1*</a:t>
                </a:r>
                <a:r>
                  <a:rPr lang="en-US" dirty="0" err="1">
                    <a:latin typeface="Courier New" panose="02070309020205020404" pitchFamily="49" charset="0"/>
                    <a:cs typeface="Courier New" panose="02070309020205020404" pitchFamily="49" charset="0"/>
                  </a:rPr>
                  <a:t>xreg</a:t>
                </a:r>
                <a:r>
                  <a:rPr lang="en-US" dirty="0">
                    <a:latin typeface="Courier New" panose="02070309020205020404" pitchFamily="49" charset="0"/>
                    <a:cs typeface="Courier New" panose="02070309020205020404" pitchFamily="49" charset="0"/>
                  </a:rPr>
                  <a:t> + w0</a:t>
                </a:r>
              </a:p>
              <a:p>
                <a:r>
                  <a:rPr lang="en-US" dirty="0"/>
                  <a:t>Stage 2: Compute output</a:t>
                </a:r>
              </a:p>
              <a:p>
                <a:pPr lvl="1"/>
                <a:r>
                  <a:rPr lang="en-US" dirty="0">
                    <a:latin typeface="Courier New" panose="02070309020205020404" pitchFamily="49" charset="0"/>
                    <a:cs typeface="Courier New" panose="02070309020205020404" pitchFamily="49" charset="0"/>
                  </a:rPr>
                  <a:t>y = w2*</a:t>
                </a:r>
                <a:r>
                  <a:rPr lang="en-US" dirty="0" err="1">
                    <a:latin typeface="Courier New" panose="02070309020205020404" pitchFamily="49" charset="0"/>
                    <a:cs typeface="Courier New" panose="02070309020205020404" pitchFamily="49" charset="0"/>
                  </a:rPr>
                  <a:t>xsq</a:t>
                </a:r>
                <a:r>
                  <a:rPr lang="en-US" dirty="0">
                    <a:latin typeface="Courier New" panose="02070309020205020404" pitchFamily="49" charset="0"/>
                    <a:cs typeface="Courier New" panose="02070309020205020404" pitchFamily="49" charset="0"/>
                  </a:rPr>
                  <a:t> + </a:t>
                </a:r>
                <a:r>
                  <a:rPr lang="en-US" dirty="0" err="1">
                    <a:latin typeface="Courier New" panose="02070309020205020404" pitchFamily="49" charset="0"/>
                    <a:cs typeface="Courier New" panose="02070309020205020404" pitchFamily="49" charset="0"/>
                  </a:rPr>
                  <a:t>lin_term</a:t>
                </a:r>
                <a:endParaRPr lang="en-US" dirty="0">
                  <a:latin typeface="Courier New" panose="02070309020205020404" pitchFamily="49" charset="0"/>
                  <a:cs typeface="Courier New" panose="02070309020205020404" pitchFamily="49" charset="0"/>
                </a:endParaRP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112673EF-ACCC-0796-B3DB-87EB7711CF1B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455" t="-154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2BD5EA0-8335-E815-2F77-A4824334CA2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9637A9-119A-49DA-BD12-AAC58B377D80}" type="slidenum">
              <a:rPr lang="en-US" smtClean="0"/>
              <a:t>45</a:t>
            </a:fld>
            <a:endParaRPr 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00413C95-29D4-0DDB-81C3-4DC2051BFA7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11906" y="1771988"/>
            <a:ext cx="4385213" cy="271465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89359139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E07722C-C37C-3D3F-B9ED-54257254052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34D81B0E-BD91-1BD5-AEC9-BE67CA90A05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4823" y="4035500"/>
            <a:ext cx="4389679" cy="207008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AC4181E1-CA7D-8DCE-4EE2-F499B7C5FF9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Critical Path with Three Stages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4401DD4D-9432-C6BA-7C88-A938908D4060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6720028" y="1539277"/>
                <a:ext cx="5029060" cy="4329817"/>
              </a:xfrm>
            </p:spPr>
            <p:txBody>
              <a:bodyPr>
                <a:normAutofit/>
              </a:bodyPr>
              <a:lstStyle/>
              <a:p>
                <a:r>
                  <a:rPr lang="en-US" dirty="0"/>
                  <a:t>Measure paths from register to register</a:t>
                </a:r>
              </a:p>
              <a:p>
                <a:r>
                  <a:rPr lang="en-US" dirty="0"/>
                  <a:t>Path 1:  </a:t>
                </a:r>
                <a:r>
                  <a:rPr lang="en-US" dirty="0">
                    <a:latin typeface="Courier New" panose="02070309020205020404" pitchFamily="49" charset="0"/>
                    <a:cs typeface="Courier New" panose="02070309020205020404" pitchFamily="49" charset="0"/>
                  </a:rPr>
                  <a:t>x, </a:t>
                </a:r>
                <a:r>
                  <a:rPr lang="en-US" dirty="0" err="1">
                    <a:latin typeface="Courier New" panose="02070309020205020404" pitchFamily="49" charset="0"/>
                    <a:cs typeface="Courier New" panose="02070309020205020404" pitchFamily="49" charset="0"/>
                  </a:rPr>
                  <a:t>x_reg</a:t>
                </a:r>
                <a:r>
                  <a:rPr lang="en-US" dirty="0">
                    <a:latin typeface="Courier New" panose="02070309020205020404" pitchFamily="49" charset="0"/>
                    <a:cs typeface="Courier New" panose="02070309020205020404" pitchFamily="49" charset="0"/>
                  </a:rPr>
                  <a:t>, </a:t>
                </a:r>
                <a:r>
                  <a:rPr lang="en-US" dirty="0" err="1">
                    <a:latin typeface="Courier New" panose="02070309020205020404" pitchFamily="49" charset="0"/>
                    <a:cs typeface="Courier New" panose="02070309020205020404" pitchFamily="49" charset="0"/>
                  </a:rPr>
                  <a:t>xsq</a:t>
                </a:r>
                <a:r>
                  <a:rPr lang="en-US" dirty="0">
                    <a:latin typeface="Courier New" panose="02070309020205020404" pitchFamily="49" charset="0"/>
                    <a:cs typeface="Courier New" panose="02070309020205020404" pitchFamily="49" charset="0"/>
                  </a:rPr>
                  <a:t> </a:t>
                </a:r>
                <a:r>
                  <a:rPr lang="en-US" dirty="0"/>
                  <a:t>input</a:t>
                </a:r>
              </a:p>
              <a:p>
                <a:pPr lvl="1"/>
                <a:r>
                  <a:rPr lang="en-US" dirty="0"/>
                  <a:t>1 register, 1 </a:t>
                </a:r>
                <a:r>
                  <a:rPr lang="en-US" dirty="0" err="1"/>
                  <a:t>mult</a:t>
                </a:r>
                <a:r>
                  <a:rPr lang="en-US" dirty="0"/>
                  <a:t> = 5 ns</a:t>
                </a:r>
              </a:p>
              <a:p>
                <a:r>
                  <a:rPr lang="en-US" dirty="0"/>
                  <a:t>Path 2:  </a:t>
                </a:r>
                <a:r>
                  <a:rPr lang="en-US" dirty="0">
                    <a:latin typeface="Courier New" panose="02070309020205020404" pitchFamily="49" charset="0"/>
                    <a:cs typeface="Courier New" panose="02070309020205020404" pitchFamily="49" charset="0"/>
                  </a:rPr>
                  <a:t>x, </a:t>
                </a:r>
                <a:r>
                  <a:rPr lang="en-US" dirty="0" err="1">
                    <a:latin typeface="Courier New" panose="02070309020205020404" pitchFamily="49" charset="0"/>
                    <a:cs typeface="Courier New" panose="02070309020205020404" pitchFamily="49" charset="0"/>
                  </a:rPr>
                  <a:t>x_reg</a:t>
                </a:r>
                <a:r>
                  <a:rPr lang="en-US" dirty="0">
                    <a:latin typeface="Courier New" panose="02070309020205020404" pitchFamily="49" charset="0"/>
                    <a:cs typeface="Courier New" panose="02070309020205020404" pitchFamily="49" charset="0"/>
                  </a:rPr>
                  <a:t>, w1_x, </a:t>
                </a:r>
                <a:r>
                  <a:rPr lang="en-US" dirty="0" err="1">
                    <a:latin typeface="Courier New" panose="02070309020205020404" pitchFamily="49" charset="0"/>
                    <a:cs typeface="Courier New" panose="02070309020205020404" pitchFamily="49" charset="0"/>
                  </a:rPr>
                  <a:t>lin_x</a:t>
                </a:r>
                <a:r>
                  <a:rPr lang="en-US" dirty="0"/>
                  <a:t> input</a:t>
                </a:r>
              </a:p>
              <a:p>
                <a:pPr lvl="1"/>
                <a:r>
                  <a:rPr lang="en-US" dirty="0"/>
                  <a:t>1 register, 1 </a:t>
                </a:r>
                <a:r>
                  <a:rPr lang="en-US" dirty="0" err="1"/>
                  <a:t>mult</a:t>
                </a:r>
                <a:r>
                  <a:rPr lang="en-US" dirty="0"/>
                  <a:t>, 1 add = 6.5 ns</a:t>
                </a:r>
              </a:p>
              <a:p>
                <a:r>
                  <a:rPr lang="en-US" dirty="0"/>
                  <a:t>Path 3</a:t>
                </a:r>
                <a:r>
                  <a:rPr lang="en-US" dirty="0">
                    <a:latin typeface="Courier New" panose="02070309020205020404" pitchFamily="49" charset="0"/>
                    <a:cs typeface="Courier New" panose="02070309020205020404" pitchFamily="49" charset="0"/>
                  </a:rPr>
                  <a:t>: </a:t>
                </a:r>
                <a:r>
                  <a:rPr lang="en-US" dirty="0" err="1">
                    <a:latin typeface="Courier New" panose="02070309020205020404" pitchFamily="49" charset="0"/>
                    <a:cs typeface="Courier New" panose="02070309020205020404" pitchFamily="49" charset="0"/>
                  </a:rPr>
                  <a:t>xsq_reg</a:t>
                </a:r>
                <a:r>
                  <a:rPr lang="en-US" dirty="0">
                    <a:latin typeface="Courier New" panose="02070309020205020404" pitchFamily="49" charset="0"/>
                    <a:cs typeface="Courier New" panose="02070309020205020404" pitchFamily="49" charset="0"/>
                  </a:rPr>
                  <a:t>, </a:t>
                </a:r>
                <a:r>
                  <a:rPr lang="en-US" dirty="0" err="1">
                    <a:latin typeface="Courier New" panose="02070309020205020404" pitchFamily="49" charset="0"/>
                    <a:cs typeface="Courier New" panose="02070309020205020404" pitchFamily="49" charset="0"/>
                  </a:rPr>
                  <a:t>lin_x</a:t>
                </a:r>
                <a:r>
                  <a:rPr lang="en-US" dirty="0">
                    <a:latin typeface="Courier New" panose="02070309020205020404" pitchFamily="49" charset="0"/>
                    <a:cs typeface="Courier New" panose="02070309020205020404" pitchFamily="49" charset="0"/>
                  </a:rPr>
                  <a:t>, w2_xsq, y</a:t>
                </a:r>
              </a:p>
              <a:p>
                <a:pPr lvl="1"/>
                <a:r>
                  <a:rPr lang="en-US" dirty="0"/>
                  <a:t>1 register, 1 </a:t>
                </a:r>
                <a:r>
                  <a:rPr lang="en-US" dirty="0" err="1"/>
                  <a:t>mult</a:t>
                </a:r>
                <a:r>
                  <a:rPr lang="en-US" dirty="0"/>
                  <a:t>, 1 add = 6.5 ns </a:t>
                </a:r>
              </a:p>
              <a:p>
                <a:r>
                  <a:rPr lang="en-US" dirty="0"/>
                  <a:t>Critical path delay = 6.5 ns</a:t>
                </a:r>
              </a:p>
              <a:p>
                <a:r>
                  <a:rPr lang="en-US" dirty="0"/>
                  <a:t>Max </a:t>
                </a:r>
                <a:r>
                  <a:rPr lang="en-US" dirty="0" err="1"/>
                  <a:t>freq</a:t>
                </a:r>
                <a:r>
                  <a:rPr lang="en-US" dirty="0"/>
                  <a:t> =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6.5</m:t>
                        </m:r>
                      </m:den>
                    </m:f>
                    <m:r>
                      <a:rPr lang="en-US" b="0" i="1" smtClean="0">
                        <a:latin typeface="Cambria Math" panose="02040503050406030204" pitchFamily="18" charset="0"/>
                      </a:rPr>
                      <m:t>≈153</m:t>
                    </m:r>
                  </m:oMath>
                </a14:m>
                <a:r>
                  <a:rPr lang="en-US" b="0" dirty="0"/>
                  <a:t> MHz</a:t>
                </a:r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4401DD4D-9432-C6BA-7C88-A938908D406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6720028" y="1539277"/>
                <a:ext cx="5029060" cy="4329817"/>
              </a:xfrm>
              <a:blipFill>
                <a:blip r:embed="rId3"/>
                <a:stretch>
                  <a:fillRect l="-2909" t="-1549" r="-242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95072DF-A5C9-274B-B44A-30ABBB1F3B4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9637A9-119A-49DA-BD12-AAC58B377D80}" type="slidenum">
              <a:rPr lang="en-US" smtClean="0"/>
              <a:t>46</a:t>
            </a:fld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6" name="Content Placeholder 6">
                <a:extLst>
                  <a:ext uri="{FF2B5EF4-FFF2-40B4-BE49-F238E27FC236}">
                    <a16:creationId xmlns:a16="http://schemas.microsoft.com/office/drawing/2014/main" id="{88C38444-713B-9C0E-7BE6-AC8C593AD611}"/>
                  </a:ext>
                </a:extLst>
              </p:cNvPr>
              <p:cNvGraphicFramePr>
                <a:graphicFrameLocks/>
              </p:cNvGraphicFramePr>
              <p:nvPr>
                <p:extLst>
                  <p:ext uri="{D42A27DB-BD31-4B8C-83A1-F6EECF244321}">
                    <p14:modId xmlns:p14="http://schemas.microsoft.com/office/powerpoint/2010/main" val="1329909816"/>
                  </p:ext>
                </p:extLst>
              </p:nvPr>
            </p:nvGraphicFramePr>
            <p:xfrm>
              <a:off x="1320559" y="1539277"/>
              <a:ext cx="4267255" cy="2613152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1876425">
                      <a:extLst>
                        <a:ext uri="{9D8B030D-6E8A-4147-A177-3AD203B41FA5}">
                          <a16:colId xmlns:a16="http://schemas.microsoft.com/office/drawing/2014/main" val="3489589385"/>
                        </a:ext>
                      </a:extLst>
                    </a:gridCol>
                    <a:gridCol w="2390830">
                      <a:extLst>
                        <a:ext uri="{9D8B030D-6E8A-4147-A177-3AD203B41FA5}">
                          <a16:colId xmlns:a16="http://schemas.microsoft.com/office/drawing/2014/main" val="1638097169"/>
                        </a:ext>
                      </a:extLst>
                    </a:gridCol>
                  </a:tblGrid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Hardware block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Example Value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704626930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Register 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14:m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𝑇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𝑟𝑒𝑔</m:t>
                                  </m:r>
                                </m:sub>
                              </m:sSub>
                            </m:oMath>
                          </a14:m>
                          <a:r>
                            <a:rPr lang="en-US" dirty="0"/>
                            <a:t>= 1 ns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35170388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Multiplier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14:m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𝑇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𝑚𝑢𝑙𝑡</m:t>
                                  </m:r>
                                </m:sub>
                              </m:sSub>
                            </m:oMath>
                          </a14:m>
                          <a:r>
                            <a:rPr lang="en-US" dirty="0"/>
                            <a:t> = 4 ns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350641339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Adder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𝑇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𝑎𝑑𝑑</m:t>
                                  </m:r>
                                </m:sub>
                              </m:s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=</m:t>
                              </m:r>
                            </m:oMath>
                          </a14:m>
                          <a:r>
                            <a:rPr lang="en-US" b="0" dirty="0"/>
                            <a:t>1.5 ns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770428240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dirty="0">
                              <a:solidFill>
                                <a:srgbClr val="00B050"/>
                              </a:solidFill>
                            </a:rPr>
                            <a:t>Path 1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>
                              <a:solidFill>
                                <a:srgbClr val="00B050"/>
                              </a:solidFill>
                            </a:rPr>
                            <a:t>1+4=5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40079541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dirty="0">
                              <a:solidFill>
                                <a:srgbClr val="FF0000"/>
                              </a:solidFill>
                            </a:rPr>
                            <a:t>Path 2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>
                              <a:solidFill>
                                <a:srgbClr val="FF0000"/>
                              </a:solidFill>
                            </a:rPr>
                            <a:t>1+4+1.5=6.5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665162302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dirty="0">
                              <a:solidFill>
                                <a:srgbClr val="FF0000"/>
                              </a:solidFill>
                            </a:rPr>
                            <a:t>Path 3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>
                              <a:solidFill>
                                <a:srgbClr val="FF0000"/>
                              </a:solidFill>
                            </a:rPr>
                            <a:t>1+4+1.5=6.5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585794617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6" name="Content Placeholder 6">
                <a:extLst>
                  <a:ext uri="{FF2B5EF4-FFF2-40B4-BE49-F238E27FC236}">
                    <a16:creationId xmlns:a16="http://schemas.microsoft.com/office/drawing/2014/main" id="{88C38444-713B-9C0E-7BE6-AC8C593AD611}"/>
                  </a:ext>
                </a:extLst>
              </p:cNvPr>
              <p:cNvGraphicFramePr>
                <a:graphicFrameLocks/>
              </p:cNvGraphicFramePr>
              <p:nvPr>
                <p:extLst>
                  <p:ext uri="{D42A27DB-BD31-4B8C-83A1-F6EECF244321}">
                    <p14:modId xmlns:p14="http://schemas.microsoft.com/office/powerpoint/2010/main" val="1329909816"/>
                  </p:ext>
                </p:extLst>
              </p:nvPr>
            </p:nvGraphicFramePr>
            <p:xfrm>
              <a:off x="1320559" y="1539277"/>
              <a:ext cx="4267255" cy="2613152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1876425">
                      <a:extLst>
                        <a:ext uri="{9D8B030D-6E8A-4147-A177-3AD203B41FA5}">
                          <a16:colId xmlns:a16="http://schemas.microsoft.com/office/drawing/2014/main" val="3489589385"/>
                        </a:ext>
                      </a:extLst>
                    </a:gridCol>
                    <a:gridCol w="2390830">
                      <a:extLst>
                        <a:ext uri="{9D8B030D-6E8A-4147-A177-3AD203B41FA5}">
                          <a16:colId xmlns:a16="http://schemas.microsoft.com/office/drawing/2014/main" val="1638097169"/>
                        </a:ext>
                      </a:extLst>
                    </a:gridCol>
                  </a:tblGrid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Hardware block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Example Value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704626930"/>
                      </a:ext>
                    </a:extLst>
                  </a:tr>
                  <a:tr h="388112"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Register 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4"/>
                          <a:stretch>
                            <a:fillRect l="-78626" t="-103125" r="-1018" b="-498438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335170388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Multiplier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4"/>
                          <a:stretch>
                            <a:fillRect l="-78626" t="-213115" r="-1018" b="-422951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3350641339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Adder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4"/>
                          <a:stretch>
                            <a:fillRect l="-78626" t="-313115" r="-1018" b="-322951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770428240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dirty="0">
                              <a:solidFill>
                                <a:srgbClr val="00B050"/>
                              </a:solidFill>
                            </a:rPr>
                            <a:t>Path 1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>
                              <a:solidFill>
                                <a:srgbClr val="00B050"/>
                              </a:solidFill>
                            </a:rPr>
                            <a:t>1+4=5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40079541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dirty="0">
                              <a:solidFill>
                                <a:srgbClr val="FF0000"/>
                              </a:solidFill>
                            </a:rPr>
                            <a:t>Path 2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>
                              <a:solidFill>
                                <a:srgbClr val="FF0000"/>
                              </a:solidFill>
                            </a:rPr>
                            <a:t>1+4+1.5=6.5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665162302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dirty="0">
                              <a:solidFill>
                                <a:srgbClr val="FF0000"/>
                              </a:solidFill>
                            </a:rPr>
                            <a:t>Path 3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>
                              <a:solidFill>
                                <a:srgbClr val="FF0000"/>
                              </a:solidFill>
                            </a:rPr>
                            <a:t>1+4+1.5=6.5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585794617"/>
                      </a:ext>
                    </a:extLst>
                  </a:tr>
                </a:tbl>
              </a:graphicData>
            </a:graphic>
          </p:graphicFrame>
        </mc:Fallback>
      </mc:AlternateContent>
    </p:spTree>
    <p:extLst>
      <p:ext uri="{BB962C8B-B14F-4D97-AF65-F5344CB8AC3E}">
        <p14:creationId xmlns:p14="http://schemas.microsoft.com/office/powerpoint/2010/main" val="1436678405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9A7C07C-EB0B-97B4-859D-2F689E2CE21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Two Cycle Timing Diagram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93C86380-5297-40CD-2A67-625F22E27FC0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7896225" y="1539277"/>
                <a:ext cx="3259454" cy="4329817"/>
              </a:xfrm>
            </p:spPr>
            <p:txBody>
              <a:bodyPr/>
              <a:lstStyle/>
              <a:p>
                <a:r>
                  <a:rPr lang="en-US" dirty="0"/>
                  <a:t>Example with</a:t>
                </a:r>
              </a:p>
              <a:p>
                <a:pPr lvl="1"/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𝑤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=[4,−7,5]</m:t>
                    </m:r>
                  </m:oMath>
                </a14:m>
                <a:endParaRPr lang="en-US" dirty="0"/>
              </a:p>
              <a:p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r>
                  <a:rPr lang="en-US" dirty="0"/>
                  <a:t> inputs 10, -4, 8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93C86380-5297-40CD-2A67-625F22E27FC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7896225" y="1539277"/>
                <a:ext cx="3259454" cy="4329817"/>
              </a:xfrm>
              <a:blipFill>
                <a:blip r:embed="rId2"/>
                <a:stretch>
                  <a:fillRect l="-4486" t="-154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CD3CCF7-5743-CF44-E716-EC09CD1C7CD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9637A9-119A-49DA-BD12-AAC58B377D80}" type="slidenum">
              <a:rPr lang="en-US" smtClean="0"/>
              <a:t>47</a:t>
            </a:fld>
            <a:endParaRPr lang="en-US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48B012A9-BBEC-7F31-30C4-5DD516347F9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71474" y="2021595"/>
            <a:ext cx="7291388" cy="301236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3554686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EF216A1-8BB4-A975-14A1-78201A4AFFB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Latency, Throughput and Pipelining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D7C4090-076C-FFCA-0064-AC011E5D91B6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dirty="0"/>
                  <a:t>Suppose that we run at our design at 100 MHz clock</a:t>
                </a:r>
              </a:p>
              <a:p>
                <a:r>
                  <a:rPr lang="en-US" dirty="0">
                    <a:solidFill>
                      <a:schemeClr val="accent1">
                        <a:lumMod val="75000"/>
                      </a:schemeClr>
                    </a:solidFill>
                  </a:rPr>
                  <a:t>Latency</a:t>
                </a:r>
                <a:r>
                  <a:rPr lang="en-US" dirty="0"/>
                  <a:t>:</a:t>
                </a:r>
              </a:p>
              <a:p>
                <a:pPr lvl="1"/>
                <a:r>
                  <a:rPr lang="en-US" dirty="0"/>
                  <a:t>Suppose input is valid on rising edge of clock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endParaRPr lang="en-US" dirty="0"/>
              </a:p>
              <a:p>
                <a:pPr lvl="1"/>
                <a:r>
                  <a:rPr lang="en-US" dirty="0"/>
                  <a:t>Then output is valid before rising edge of clock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𝑛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+2</m:t>
                    </m:r>
                  </m:oMath>
                </a14:m>
                <a:endParaRPr lang="en-US" dirty="0"/>
              </a:p>
              <a:p>
                <a:pPr lvl="1"/>
                <a:r>
                  <a:rPr lang="en-US" dirty="0"/>
                  <a:t>Latency = 2 clock cycles = 20 ns</a:t>
                </a:r>
              </a:p>
              <a:p>
                <a:pPr lvl="1"/>
                <a:endParaRPr lang="en-US" dirty="0"/>
              </a:p>
              <a:p>
                <a:r>
                  <a:rPr lang="en-US" dirty="0">
                    <a:solidFill>
                      <a:schemeClr val="accent1">
                        <a:lumMod val="75000"/>
                      </a:schemeClr>
                    </a:solidFill>
                  </a:rPr>
                  <a:t>Throughput</a:t>
                </a:r>
                <a:r>
                  <a:rPr lang="en-US" dirty="0"/>
                  <a:t>:</a:t>
                </a:r>
              </a:p>
              <a:p>
                <a:pPr lvl="1"/>
                <a:r>
                  <a:rPr lang="en-US" dirty="0"/>
                  <a:t>Circuit can take a new input each cycle</a:t>
                </a:r>
              </a:p>
              <a:p>
                <a:pPr lvl="1"/>
                <a:r>
                  <a:rPr lang="en-US" dirty="0"/>
                  <a:t>Throughput = 1 input / cycle =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100</m:t>
                    </m:r>
                  </m:oMath>
                </a14:m>
                <a:r>
                  <a:rPr lang="en-US" dirty="0"/>
                  <a:t> MHz</a:t>
                </a:r>
              </a:p>
              <a:p>
                <a:r>
                  <a:rPr lang="en-US" dirty="0"/>
                  <a:t>Process is called a pipeline</a:t>
                </a:r>
              </a:p>
              <a:p>
                <a:pPr lvl="1"/>
                <a:r>
                  <a:rPr lang="en-US" dirty="0"/>
                  <a:t>Circuit is processing multiple inputs</a:t>
                </a:r>
                <a:br>
                  <a:rPr lang="en-US" dirty="0"/>
                </a:br>
                <a:r>
                  <a:rPr lang="en-US" dirty="0"/>
                  <a:t>at the same time</a:t>
                </a:r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D7C4090-076C-FFCA-0064-AC011E5D91B6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455" t="-154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88A09E3-9481-B9AE-2A2B-7BEACEB38D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9637A9-119A-49DA-BD12-AAC58B377D80}" type="slidenum">
              <a:rPr lang="en-US" smtClean="0"/>
              <a:t>48</a:t>
            </a:fld>
            <a:endParaRPr 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70402F70-DD93-3CBB-DD10-6025493B0C47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r="16329"/>
          <a:stretch>
            <a:fillRect/>
          </a:stretch>
        </p:blipFill>
        <p:spPr>
          <a:xfrm>
            <a:off x="5429592" y="3069963"/>
            <a:ext cx="6099199" cy="3011594"/>
          </a:xfrm>
          <a:prstGeom prst="rect">
            <a:avLst/>
          </a:prstGeom>
        </p:spPr>
      </p:pic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6499CF7F-004A-5C71-61E1-5C2DD396E2E6}"/>
              </a:ext>
            </a:extLst>
          </p:cNvPr>
          <p:cNvCxnSpPr>
            <a:cxnSpLocks/>
          </p:cNvCxnSpPr>
          <p:nvPr/>
        </p:nvCxnSpPr>
        <p:spPr>
          <a:xfrm>
            <a:off x="7355241" y="3583096"/>
            <a:ext cx="2247900" cy="189071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35665462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A5A6320-0BB0-59C0-96B5-D8F6F19B713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Performance Comparison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5" name="Content Placeholder 4">
                <a:extLst>
                  <a:ext uri="{FF2B5EF4-FFF2-40B4-BE49-F238E27FC236}">
                    <a16:creationId xmlns:a16="http://schemas.microsoft.com/office/drawing/2014/main" id="{8DE64FD1-E8B6-43E8-490A-FC65782DB210}"/>
                  </a:ext>
                </a:extLst>
              </p:cNvPr>
              <p:cNvGraphicFramePr>
                <a:graphicFrameLocks noGrp="1"/>
              </p:cNvGraphicFramePr>
              <p:nvPr>
                <p:ph idx="1"/>
                <p:extLst>
                  <p:ext uri="{D42A27DB-BD31-4B8C-83A1-F6EECF244321}">
                    <p14:modId xmlns:p14="http://schemas.microsoft.com/office/powerpoint/2010/main" val="1075800077"/>
                  </p:ext>
                </p:extLst>
              </p:nvPr>
            </p:nvGraphicFramePr>
            <p:xfrm>
              <a:off x="1096963" y="1539875"/>
              <a:ext cx="10058397" cy="1854200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3352799">
                      <a:extLst>
                        <a:ext uri="{9D8B030D-6E8A-4147-A177-3AD203B41FA5}">
                          <a16:colId xmlns:a16="http://schemas.microsoft.com/office/drawing/2014/main" val="2164064030"/>
                        </a:ext>
                      </a:extLst>
                    </a:gridCol>
                    <a:gridCol w="3352799">
                      <a:extLst>
                        <a:ext uri="{9D8B030D-6E8A-4147-A177-3AD203B41FA5}">
                          <a16:colId xmlns:a16="http://schemas.microsoft.com/office/drawing/2014/main" val="1511334170"/>
                        </a:ext>
                      </a:extLst>
                    </a:gridCol>
                    <a:gridCol w="3352799">
                      <a:extLst>
                        <a:ext uri="{9D8B030D-6E8A-4147-A177-3AD203B41FA5}">
                          <a16:colId xmlns:a16="http://schemas.microsoft.com/office/drawing/2014/main" val="1931492384"/>
                        </a:ext>
                      </a:extLst>
                    </a:gridCol>
                  </a:tblGrid>
                  <a:tr h="370840">
                    <a:tc>
                      <a:txBody>
                        <a:bodyPr/>
                        <a:lstStyle/>
                        <a:p>
                          <a:endParaRPr 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Single Cycle Design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Two Cycle Design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653486974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Critical path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12 ns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6.5 ns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774700831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Max clock frequency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14:m>
                            <m:oMath xmlns:m="http://schemas.openxmlformats.org/officeDocument/2006/math"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≈</m:t>
                              </m:r>
                            </m:oMath>
                          </a14:m>
                          <a:r>
                            <a:rPr lang="en-US" dirty="0"/>
                            <a:t> 80 MHz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14:m>
                            <m:oMath xmlns:m="http://schemas.openxmlformats.org/officeDocument/2006/math"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≈</m:t>
                              </m:r>
                            </m:oMath>
                          </a14:m>
                          <a:r>
                            <a:rPr lang="en-US" dirty="0"/>
                            <a:t> 150 MHz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670555254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Max throughput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80 MHz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150 MHz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816514245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Latency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1 cycle = 12 ns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2 cycles = 13 ns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668510706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5" name="Content Placeholder 4">
                <a:extLst>
                  <a:ext uri="{FF2B5EF4-FFF2-40B4-BE49-F238E27FC236}">
                    <a16:creationId xmlns:a16="http://schemas.microsoft.com/office/drawing/2014/main" id="{8DE64FD1-E8B6-43E8-490A-FC65782DB210}"/>
                  </a:ext>
                </a:extLst>
              </p:cNvPr>
              <p:cNvGraphicFramePr>
                <a:graphicFrameLocks noGrp="1"/>
              </p:cNvGraphicFramePr>
              <p:nvPr>
                <p:ph idx="1"/>
                <p:extLst>
                  <p:ext uri="{D42A27DB-BD31-4B8C-83A1-F6EECF244321}">
                    <p14:modId xmlns:p14="http://schemas.microsoft.com/office/powerpoint/2010/main" val="1075800077"/>
                  </p:ext>
                </p:extLst>
              </p:nvPr>
            </p:nvGraphicFramePr>
            <p:xfrm>
              <a:off x="1096963" y="1539875"/>
              <a:ext cx="10058397" cy="1854200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3352799">
                      <a:extLst>
                        <a:ext uri="{9D8B030D-6E8A-4147-A177-3AD203B41FA5}">
                          <a16:colId xmlns:a16="http://schemas.microsoft.com/office/drawing/2014/main" val="2164064030"/>
                        </a:ext>
                      </a:extLst>
                    </a:gridCol>
                    <a:gridCol w="3352799">
                      <a:extLst>
                        <a:ext uri="{9D8B030D-6E8A-4147-A177-3AD203B41FA5}">
                          <a16:colId xmlns:a16="http://schemas.microsoft.com/office/drawing/2014/main" val="1511334170"/>
                        </a:ext>
                      </a:extLst>
                    </a:gridCol>
                    <a:gridCol w="3352799">
                      <a:extLst>
                        <a:ext uri="{9D8B030D-6E8A-4147-A177-3AD203B41FA5}">
                          <a16:colId xmlns:a16="http://schemas.microsoft.com/office/drawing/2014/main" val="1931492384"/>
                        </a:ext>
                      </a:extLst>
                    </a:gridCol>
                  </a:tblGrid>
                  <a:tr h="370840">
                    <a:tc>
                      <a:txBody>
                        <a:bodyPr/>
                        <a:lstStyle/>
                        <a:p>
                          <a:endParaRPr 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Single Cycle Design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Two Cycle Design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653486974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Critical path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12 ns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6.5 ns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774700831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Max clock frequency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100000" t="-208197" r="-100726" b="-22459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200364" t="-208197" r="-909" b="-224590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670555254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Max throughput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80 MHz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150 MHz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816514245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Latency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1 cycle = 12 ns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2 cycles = 13 ns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668510706"/>
                      </a:ext>
                    </a:extLst>
                  </a:tr>
                </a:tbl>
              </a:graphicData>
            </a:graphic>
          </p:graphicFrame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93F55EB-0A0C-8FAC-45AF-A3B48484E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9637A9-119A-49DA-BD12-AAC58B377D80}" type="slidenum">
              <a:rPr lang="en-US" smtClean="0"/>
              <a:t>49</a:t>
            </a:fld>
            <a:endParaRPr lang="en-US" dirty="0"/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49A15382-EAA1-95BB-DECE-0659165C35A3}"/>
              </a:ext>
            </a:extLst>
          </p:cNvPr>
          <p:cNvSpPr/>
          <p:nvPr/>
        </p:nvSpPr>
        <p:spPr>
          <a:xfrm>
            <a:off x="1274031" y="4111308"/>
            <a:ext cx="9881329" cy="1142365"/>
          </a:xfrm>
          <a:prstGeom prst="roundRect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2400" i="1" dirty="0">
                <a:solidFill>
                  <a:schemeClr val="accent1"/>
                </a:solidFill>
              </a:rPr>
              <a:t>Pipelining benefit:  </a:t>
            </a:r>
            <a:br>
              <a:rPr lang="en-US" sz="2400" i="1" dirty="0">
                <a:solidFill>
                  <a:schemeClr val="accent1"/>
                </a:solidFill>
              </a:rPr>
            </a:br>
            <a:r>
              <a:rPr lang="en-US" sz="2400" i="1" dirty="0">
                <a:solidFill>
                  <a:schemeClr val="accent1"/>
                </a:solidFill>
              </a:rPr>
              <a:t>For small increase in latency, we dramatically improve throughput</a:t>
            </a:r>
          </a:p>
        </p:txBody>
      </p:sp>
    </p:spTree>
    <p:extLst>
      <p:ext uri="{BB962C8B-B14F-4D97-AF65-F5344CB8AC3E}">
        <p14:creationId xmlns:p14="http://schemas.microsoft.com/office/powerpoint/2010/main" val="1826111725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3F28622-738F-3F6F-E1A4-2C9AD362469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A9C1B25-58FF-FFE9-937B-2B1667E6E4B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Outline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CF242EA-07B3-3317-84F8-84C51F010E8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sz="2400" dirty="0"/>
              <a:t>Combinational Logic</a:t>
            </a:r>
          </a:p>
          <a:p>
            <a:r>
              <a:rPr lang="en-US" sz="2400" dirty="0"/>
              <a:t>Timing Diagrams for Combinational Logic</a:t>
            </a:r>
          </a:p>
          <a:p>
            <a:r>
              <a:rPr lang="en-US" sz="2400" dirty="0"/>
              <a:t>Registers, Clocks and Sequential Logic</a:t>
            </a:r>
          </a:p>
          <a:p>
            <a:r>
              <a:rPr lang="en-US" sz="2400" dirty="0"/>
              <a:t>Simulating and Synthesizing Simple Modules in </a:t>
            </a:r>
            <a:r>
              <a:rPr lang="en-US" sz="2400" dirty="0" err="1"/>
              <a:t>Vivado</a:t>
            </a:r>
            <a:endParaRPr lang="en-US" sz="240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5D032FD-E7D7-2959-649F-1957AEEB083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9637A9-119A-49DA-BD12-AAC58B377D80}" type="slidenum">
              <a:rPr lang="en-US" smtClean="0"/>
              <a:t>50</a:t>
            </a:fld>
            <a:endParaRPr lang="en-US" dirty="0"/>
          </a:p>
        </p:txBody>
      </p:sp>
      <p:sp>
        <p:nvSpPr>
          <p:cNvPr id="5" name="Arrow: Right 4">
            <a:extLst>
              <a:ext uri="{FF2B5EF4-FFF2-40B4-BE49-F238E27FC236}">
                <a16:creationId xmlns:a16="http://schemas.microsoft.com/office/drawing/2014/main" id="{F462AA2A-0BB2-8384-7AE3-222069C8D958}"/>
              </a:ext>
            </a:extLst>
          </p:cNvPr>
          <p:cNvSpPr/>
          <p:nvPr/>
        </p:nvSpPr>
        <p:spPr>
          <a:xfrm>
            <a:off x="402527" y="2993897"/>
            <a:ext cx="938784" cy="484632"/>
          </a:xfrm>
          <a:prstGeom prst="rightArrow">
            <a:avLst/>
          </a:prstGeom>
          <a:solidFill>
            <a:schemeClr val="accent1">
              <a:lumMod val="40000"/>
              <a:lumOff val="6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86147439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AA2ECF6-7BEA-C3E4-BFEE-DD9023C3EDD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FPGA Development Flow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A19CCD8-9CEB-A3B2-04C7-BD5D719896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9637A9-119A-49DA-BD12-AAC58B377D80}" type="slidenum">
              <a:rPr lang="en-US" smtClean="0"/>
              <a:t>51</a:t>
            </a:fld>
            <a:endParaRPr lang="en-US" dirty="0"/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9643B5EA-41F2-95F6-09BD-3ACA1A405A69}"/>
              </a:ext>
            </a:extLst>
          </p:cNvPr>
          <p:cNvSpPr/>
          <p:nvPr/>
        </p:nvSpPr>
        <p:spPr>
          <a:xfrm>
            <a:off x="978361" y="1692534"/>
            <a:ext cx="1238588" cy="837271"/>
          </a:xfrm>
          <a:prstGeom prst="roundRect">
            <a:avLst/>
          </a:prstGeom>
          <a:solidFill>
            <a:schemeClr val="accent2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Design</a:t>
            </a:r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1AF65526-2536-C4AD-F7CC-739AA826338D}"/>
              </a:ext>
            </a:extLst>
          </p:cNvPr>
          <p:cNvSpPr/>
          <p:nvPr/>
        </p:nvSpPr>
        <p:spPr>
          <a:xfrm>
            <a:off x="2404729" y="1692533"/>
            <a:ext cx="1619588" cy="837271"/>
          </a:xfrm>
          <a:prstGeom prst="roundRect">
            <a:avLst/>
          </a:prstGeom>
          <a:solidFill>
            <a:schemeClr val="accent2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Functional simulation</a:t>
            </a:r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2C5ED7A9-0FE8-09EE-BD5A-51C62D4C9B4B}"/>
              </a:ext>
            </a:extLst>
          </p:cNvPr>
          <p:cNvSpPr/>
          <p:nvPr/>
        </p:nvSpPr>
        <p:spPr>
          <a:xfrm>
            <a:off x="4355313" y="1684851"/>
            <a:ext cx="1619588" cy="837271"/>
          </a:xfrm>
          <a:prstGeom prst="roundRect">
            <a:avLst/>
          </a:prstGeom>
          <a:solidFill>
            <a:schemeClr val="accent2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Synthesis</a:t>
            </a: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8B1CDF1B-A7D2-772D-D0B1-40BA5CF26836}"/>
              </a:ext>
            </a:extLst>
          </p:cNvPr>
          <p:cNvSpPr/>
          <p:nvPr/>
        </p:nvSpPr>
        <p:spPr>
          <a:xfrm>
            <a:off x="6162681" y="1692532"/>
            <a:ext cx="1619588" cy="837271"/>
          </a:xfrm>
          <a:prstGeom prst="roundRect">
            <a:avLst/>
          </a:prstGeom>
          <a:solidFill>
            <a:schemeClr val="accent2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Timing Simulation</a:t>
            </a:r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A332A7BD-93CB-3172-E74C-71A97B736D65}"/>
              </a:ext>
            </a:extLst>
          </p:cNvPr>
          <p:cNvSpPr/>
          <p:nvPr/>
        </p:nvSpPr>
        <p:spPr>
          <a:xfrm>
            <a:off x="7970049" y="1692532"/>
            <a:ext cx="1619588" cy="837271"/>
          </a:xfrm>
          <a:prstGeom prst="roundRect">
            <a:avLst/>
          </a:prstGeom>
          <a:solidFill>
            <a:schemeClr val="accent2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Generate</a:t>
            </a:r>
            <a:br>
              <a:rPr lang="en-US" dirty="0">
                <a:solidFill>
                  <a:schemeClr val="tx1"/>
                </a:solidFill>
              </a:rPr>
            </a:br>
            <a:r>
              <a:rPr lang="en-US" dirty="0">
                <a:solidFill>
                  <a:schemeClr val="tx1"/>
                </a:solidFill>
              </a:rPr>
              <a:t>bitstream</a:t>
            </a: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78FE2D17-D7EA-E826-9EDC-95E3743EAAB6}"/>
              </a:ext>
            </a:extLst>
          </p:cNvPr>
          <p:cNvSpPr/>
          <p:nvPr/>
        </p:nvSpPr>
        <p:spPr>
          <a:xfrm>
            <a:off x="9849025" y="1666083"/>
            <a:ext cx="1619588" cy="837271"/>
          </a:xfrm>
          <a:prstGeom prst="roundRect">
            <a:avLst/>
          </a:prstGeom>
          <a:solidFill>
            <a:schemeClr val="accent2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FPGA evaluation</a:t>
            </a:r>
          </a:p>
        </p:txBody>
      </p:sp>
      <p:sp>
        <p:nvSpPr>
          <p:cNvPr id="11" name="Left Brace 10">
            <a:extLst>
              <a:ext uri="{FF2B5EF4-FFF2-40B4-BE49-F238E27FC236}">
                <a16:creationId xmlns:a16="http://schemas.microsoft.com/office/drawing/2014/main" id="{7ED9E1B0-D407-C33F-9F7F-5C13F17A3B8D}"/>
              </a:ext>
            </a:extLst>
          </p:cNvPr>
          <p:cNvSpPr/>
          <p:nvPr/>
        </p:nvSpPr>
        <p:spPr>
          <a:xfrm rot="16200000">
            <a:off x="2251099" y="1512837"/>
            <a:ext cx="557627" cy="3103102"/>
          </a:xfrm>
          <a:prstGeom prst="leftBrace">
            <a:avLst/>
          </a:prstGeom>
          <a:ln w="25400">
            <a:solidFill>
              <a:schemeClr val="accent2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59BFCADF-036B-2B47-E571-6BF3EFD402F9}"/>
              </a:ext>
            </a:extLst>
          </p:cNvPr>
          <p:cNvSpPr txBox="1"/>
          <p:nvPr/>
        </p:nvSpPr>
        <p:spPr>
          <a:xfrm>
            <a:off x="1525406" y="3680462"/>
            <a:ext cx="200901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Covered in this unit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0F137EBC-0DC0-45EE-BEEE-3B189CDBD4B3}"/>
              </a:ext>
            </a:extLst>
          </p:cNvPr>
          <p:cNvSpPr txBox="1"/>
          <p:nvPr/>
        </p:nvSpPr>
        <p:spPr>
          <a:xfrm>
            <a:off x="4888929" y="3608894"/>
            <a:ext cx="247510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Provided in documents in github.io page</a:t>
            </a:r>
          </a:p>
        </p:txBody>
      </p:sp>
      <p:sp>
        <p:nvSpPr>
          <p:cNvPr id="14" name="Left Brace 13">
            <a:extLst>
              <a:ext uri="{FF2B5EF4-FFF2-40B4-BE49-F238E27FC236}">
                <a16:creationId xmlns:a16="http://schemas.microsoft.com/office/drawing/2014/main" id="{68224D3B-A299-34F7-BC8C-39BDF3334669}"/>
              </a:ext>
            </a:extLst>
          </p:cNvPr>
          <p:cNvSpPr/>
          <p:nvPr/>
        </p:nvSpPr>
        <p:spPr>
          <a:xfrm rot="16200000">
            <a:off x="5817187" y="1374105"/>
            <a:ext cx="557627" cy="3430528"/>
          </a:xfrm>
          <a:prstGeom prst="leftBrace">
            <a:avLst/>
          </a:prstGeom>
          <a:ln w="25400">
            <a:solidFill>
              <a:schemeClr val="accent2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EC242618-2CB4-0276-498A-9978DBC2E758}"/>
              </a:ext>
            </a:extLst>
          </p:cNvPr>
          <p:cNvSpPr txBox="1"/>
          <p:nvPr/>
        </p:nvSpPr>
        <p:spPr>
          <a:xfrm>
            <a:off x="8091011" y="3541962"/>
            <a:ext cx="3516027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Not covered for this unit</a:t>
            </a:r>
            <a:br>
              <a:rPr lang="en-US" dirty="0"/>
            </a:br>
            <a:r>
              <a:rPr lang="en-US" dirty="0"/>
              <a:t>Covered in later units with Vitis HLS</a:t>
            </a:r>
          </a:p>
        </p:txBody>
      </p:sp>
      <p:sp>
        <p:nvSpPr>
          <p:cNvPr id="16" name="Left Brace 15">
            <a:extLst>
              <a:ext uri="{FF2B5EF4-FFF2-40B4-BE49-F238E27FC236}">
                <a16:creationId xmlns:a16="http://schemas.microsoft.com/office/drawing/2014/main" id="{976E05BD-E25E-2382-6A9F-DBD3552C03AC}"/>
              </a:ext>
            </a:extLst>
          </p:cNvPr>
          <p:cNvSpPr/>
          <p:nvPr/>
        </p:nvSpPr>
        <p:spPr>
          <a:xfrm rot="16200000">
            <a:off x="9474536" y="1406172"/>
            <a:ext cx="557627" cy="3430528"/>
          </a:xfrm>
          <a:prstGeom prst="leftBrace">
            <a:avLst/>
          </a:prstGeom>
          <a:ln w="25400">
            <a:solidFill>
              <a:schemeClr val="accent2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Content Placeholder 17">
            <a:extLst>
              <a:ext uri="{FF2B5EF4-FFF2-40B4-BE49-F238E27FC236}">
                <a16:creationId xmlns:a16="http://schemas.microsoft.com/office/drawing/2014/main" id="{981C65F5-E4B0-7B24-B3BA-042A6E8131C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97280" y="4916058"/>
            <a:ext cx="10058400" cy="953036"/>
          </a:xfrm>
        </p:spPr>
        <p:txBody>
          <a:bodyPr/>
          <a:lstStyle/>
          <a:p>
            <a:r>
              <a:rPr lang="en-US" dirty="0"/>
              <a:t>We only show the first two steps</a:t>
            </a:r>
          </a:p>
        </p:txBody>
      </p:sp>
    </p:spTree>
    <p:extLst>
      <p:ext uri="{BB962C8B-B14F-4D97-AF65-F5344CB8AC3E}">
        <p14:creationId xmlns:p14="http://schemas.microsoft.com/office/powerpoint/2010/main" val="307001628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881A9B3-149C-0506-A1C5-9850C836CEB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Linear+ReLU</a:t>
            </a:r>
            <a:r>
              <a:rPr lang="en-US" dirty="0"/>
              <a:t> Example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C264632-4835-EC8B-3EFC-34BFB5C3E10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All code in </a:t>
            </a:r>
            <a:r>
              <a:rPr lang="en-US" dirty="0" err="1">
                <a:hlinkClick r:id="rId2"/>
              </a:rPr>
              <a:t>github</a:t>
            </a:r>
            <a:r>
              <a:rPr lang="en-US" dirty="0">
                <a:hlinkClick r:id="rId2"/>
              </a:rPr>
              <a:t> repo</a:t>
            </a:r>
            <a:endParaRPr lang="en-US" dirty="0"/>
          </a:p>
          <a:p>
            <a:r>
              <a:rPr lang="en-US" dirty="0"/>
              <a:t>We test code on the right</a:t>
            </a:r>
          </a:p>
          <a:p>
            <a:r>
              <a:rPr lang="en-US" dirty="0"/>
              <a:t>Similar to discussed</a:t>
            </a:r>
          </a:p>
          <a:p>
            <a:r>
              <a:rPr lang="en-US" dirty="0"/>
              <a:t>Main difference:</a:t>
            </a:r>
          </a:p>
          <a:p>
            <a:pPr lvl="1"/>
            <a:r>
              <a:rPr lang="en-US" dirty="0"/>
              <a:t>Module in test uses 16-bit integer</a:t>
            </a:r>
          </a:p>
          <a:p>
            <a:pPr lvl="1"/>
            <a:r>
              <a:rPr lang="en-US" dirty="0"/>
              <a:t>Code before used int = 32 bit</a:t>
            </a: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72B3F44-F483-C1FD-6D5A-AB4A4B892B9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9637A9-119A-49DA-BD12-AAC58B377D80}" type="slidenum">
              <a:rPr lang="en-US" smtClean="0"/>
              <a:t>52</a:t>
            </a:fld>
            <a:endParaRPr lang="en-US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40968B09-1AA0-31EC-044F-E8BA5D14986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75078" y="1625034"/>
            <a:ext cx="5997556" cy="25573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42309437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DF40FE-E115-4CD6-C427-D44491FD08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Test Vectors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F43C873-C628-5DF7-FD56-CB826D2D691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Create a set of test inputs</a:t>
            </a:r>
          </a:p>
          <a:p>
            <a:endParaRPr lang="en-US" dirty="0"/>
          </a:p>
          <a:p>
            <a:r>
              <a:rPr lang="en-US" dirty="0"/>
              <a:t>Loop through inputs</a:t>
            </a:r>
          </a:p>
          <a:p>
            <a:r>
              <a:rPr lang="en-US" dirty="0"/>
              <a:t>Put one new input each clock cycle</a:t>
            </a:r>
          </a:p>
          <a:p>
            <a:r>
              <a:rPr lang="en-US" dirty="0"/>
              <a:t>Testbench uses an initial construct</a:t>
            </a:r>
          </a:p>
          <a:p>
            <a:pPr lvl="1"/>
            <a:r>
              <a:rPr lang="en-US" dirty="0"/>
              <a:t>Enables sequential set of events</a:t>
            </a: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18AE09C-305C-D94C-85CE-1B3305B0B8D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9637A9-119A-49DA-BD12-AAC58B377D80}" type="slidenum">
              <a:rPr lang="en-US" smtClean="0"/>
              <a:t>53</a:t>
            </a:fld>
            <a:endParaRPr lang="en-US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3C63CBDD-DD10-0D68-AAA4-429819C4832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96289" y="611546"/>
            <a:ext cx="3962530" cy="1643000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9F05CD8D-4092-30BD-C2FF-E84C900D19E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53110" y="2407215"/>
            <a:ext cx="4467455" cy="420074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74021395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354B08F-7261-1C9D-1C1F-DA4964FC55B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AE389BD-8F90-85BE-A7D8-438869491A2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Testbench Declaration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BF13A6F-D239-E6A9-56B6-9D4A65E833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>
                <a:solidFill>
                  <a:schemeClr val="accent1">
                    <a:lumMod val="75000"/>
                  </a:schemeClr>
                </a:solidFill>
              </a:rPr>
              <a:t>Testbench</a:t>
            </a:r>
            <a:r>
              <a:rPr lang="en-US" dirty="0"/>
              <a:t>: a module to test the module</a:t>
            </a:r>
          </a:p>
          <a:p>
            <a:pPr lvl="1"/>
            <a:r>
              <a:rPr lang="en-US" dirty="0"/>
              <a:t>Will not be synthesized</a:t>
            </a:r>
          </a:p>
          <a:p>
            <a:pPr lvl="1"/>
            <a:r>
              <a:rPr lang="en-US" dirty="0"/>
              <a:t>Can have un-synthesizable constructs</a:t>
            </a:r>
          </a:p>
          <a:p>
            <a:pPr lvl="1"/>
            <a:r>
              <a:rPr lang="en-US" dirty="0"/>
              <a:t>Ex: Read / write from file</a:t>
            </a:r>
          </a:p>
          <a:p>
            <a:endParaRPr lang="en-US" dirty="0"/>
          </a:p>
          <a:p>
            <a:r>
              <a:rPr lang="en-US" dirty="0"/>
              <a:t>Create a clock</a:t>
            </a:r>
          </a:p>
          <a:p>
            <a:endParaRPr lang="en-US" dirty="0"/>
          </a:p>
          <a:p>
            <a:r>
              <a:rPr lang="en-US" dirty="0"/>
              <a:t>Instantiate an instance of module to test</a:t>
            </a:r>
          </a:p>
          <a:p>
            <a:pPr lvl="1"/>
            <a:r>
              <a:rPr lang="en-US" dirty="0"/>
              <a:t>Called the </a:t>
            </a:r>
            <a:r>
              <a:rPr lang="en-US" dirty="0">
                <a:solidFill>
                  <a:schemeClr val="accent1">
                    <a:lumMod val="75000"/>
                  </a:schemeClr>
                </a:solidFill>
              </a:rPr>
              <a:t>DUT</a:t>
            </a:r>
            <a:r>
              <a:rPr lang="en-US" dirty="0"/>
              <a:t> = </a:t>
            </a:r>
            <a:r>
              <a:rPr lang="en-US" dirty="0">
                <a:solidFill>
                  <a:schemeClr val="accent1">
                    <a:lumMod val="75000"/>
                  </a:schemeClr>
                </a:solidFill>
              </a:rPr>
              <a:t>device under test</a:t>
            </a:r>
          </a:p>
          <a:p>
            <a:pPr lvl="1"/>
            <a:r>
              <a:rPr lang="en-US" dirty="0">
                <a:solidFill>
                  <a:schemeClr val="tx1"/>
                </a:solidFill>
              </a:rPr>
              <a:t>Connect DUT to testbench signals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A53069E-778C-47B5-25E1-B32A1CC081D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9637A9-119A-49DA-BD12-AAC58B377D80}" type="slidenum">
              <a:rPr lang="en-US" smtClean="0"/>
              <a:t>54</a:t>
            </a:fld>
            <a:endParaRPr lang="en-US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58DB4A1B-225B-4154-6B27-4491D52AEAE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32324" y="3066886"/>
            <a:ext cx="3602314" cy="3052260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8453708C-C900-4921-D75F-C6C8BC6E2A3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71583" y="515575"/>
            <a:ext cx="3131223" cy="2267797"/>
          </a:xfrm>
          <a:prstGeom prst="rect">
            <a:avLst/>
          </a:prstGeom>
        </p:spPr>
      </p:pic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6E88EB95-EB80-0D3F-E0CE-53ECB54A1EA2}"/>
              </a:ext>
            </a:extLst>
          </p:cNvPr>
          <p:cNvCxnSpPr/>
          <p:nvPr/>
        </p:nvCxnSpPr>
        <p:spPr>
          <a:xfrm>
            <a:off x="5429250" y="1876425"/>
            <a:ext cx="1290638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849B6E42-5885-CD78-0381-71857BA73B03}"/>
              </a:ext>
            </a:extLst>
          </p:cNvPr>
          <p:cNvCxnSpPr>
            <a:cxnSpLocks/>
          </p:cNvCxnSpPr>
          <p:nvPr/>
        </p:nvCxnSpPr>
        <p:spPr>
          <a:xfrm flipV="1">
            <a:off x="2738438" y="3471863"/>
            <a:ext cx="4038600" cy="12618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34384257-470F-CA45-8BC1-A963CD9E8A7C}"/>
              </a:ext>
            </a:extLst>
          </p:cNvPr>
          <p:cNvCxnSpPr>
            <a:cxnSpLocks/>
          </p:cNvCxnSpPr>
          <p:nvPr/>
        </p:nvCxnSpPr>
        <p:spPr>
          <a:xfrm flipV="1">
            <a:off x="5359677" y="4619625"/>
            <a:ext cx="1183999" cy="10477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652634537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774EC1F-55F6-3760-8555-3B9C9869996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Run Simulation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45ACD34-D2EF-ED4F-BC32-052E61EF762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We show how to run from the command-line</a:t>
            </a:r>
          </a:p>
          <a:p>
            <a:pPr lvl="1"/>
            <a:r>
              <a:rPr lang="en-US" dirty="0"/>
              <a:t>A </a:t>
            </a:r>
            <a:r>
              <a:rPr lang="en-US" dirty="0" err="1"/>
              <a:t>Vivado</a:t>
            </a:r>
            <a:r>
              <a:rPr lang="en-US" dirty="0"/>
              <a:t> GUI option is also available</a:t>
            </a:r>
          </a:p>
          <a:p>
            <a:pPr lvl="1"/>
            <a:r>
              <a:rPr lang="en-US" dirty="0"/>
              <a:t>But command-line is more flexible and automatable</a:t>
            </a:r>
          </a:p>
          <a:p>
            <a:r>
              <a:rPr lang="en-US" dirty="0"/>
              <a:t>Start a virtual environment with </a:t>
            </a:r>
            <a:r>
              <a:rPr lang="en-US" dirty="0" err="1"/>
              <a:t>xilinxutils</a:t>
            </a:r>
            <a:endParaRPr lang="en-US" dirty="0"/>
          </a:p>
          <a:p>
            <a:pPr lvl="1"/>
            <a:r>
              <a:rPr lang="en-US" dirty="0" err="1"/>
              <a:t>Xilinxutils</a:t>
            </a:r>
            <a:r>
              <a:rPr lang="en-US" dirty="0"/>
              <a:t>:  Python package provided in the course repo</a:t>
            </a:r>
          </a:p>
          <a:p>
            <a:r>
              <a:rPr lang="en-US" dirty="0"/>
              <a:t>Run command</a:t>
            </a:r>
          </a:p>
          <a:p>
            <a:r>
              <a:rPr lang="en-US" dirty="0"/>
              <a:t>Command is equivalent to</a:t>
            </a:r>
          </a:p>
          <a:p>
            <a:pPr lvl="1"/>
            <a:r>
              <a:rPr lang="en-US" dirty="0" err="1"/>
              <a:t>sv_sim</a:t>
            </a:r>
            <a:r>
              <a:rPr lang="en-US" dirty="0"/>
              <a:t> is a short-cut</a:t>
            </a:r>
            <a:br>
              <a:rPr lang="en-US" dirty="0"/>
            </a:br>
            <a:endParaRPr lang="en-US" dirty="0"/>
          </a:p>
          <a:p>
            <a:pPr lvl="1"/>
            <a:endParaRPr lang="en-US" dirty="0"/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9BA2057-3F08-B56C-4E49-989F311065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9637A9-119A-49DA-BD12-AAC58B377D80}" type="slidenum">
              <a:rPr lang="en-US" smtClean="0"/>
              <a:t>55</a:t>
            </a:fld>
            <a:endParaRPr lang="en-US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844BD7B6-AB86-D2F7-15B2-F47228FCA9D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32801" y="4688764"/>
            <a:ext cx="6522879" cy="1180330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02693625-F116-7501-D564-814470400AB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32801" y="3429000"/>
            <a:ext cx="6715216" cy="797321"/>
          </a:xfrm>
          <a:prstGeom prst="rect">
            <a:avLst/>
          </a:prstGeom>
        </p:spPr>
      </p:pic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FFE39A3C-D656-A293-E6B5-D2E61CF05193}"/>
              </a:ext>
            </a:extLst>
          </p:cNvPr>
          <p:cNvCxnSpPr/>
          <p:nvPr/>
        </p:nvCxnSpPr>
        <p:spPr>
          <a:xfrm>
            <a:off x="3029964" y="3598083"/>
            <a:ext cx="1325610" cy="10610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8ECDCC34-CB1B-5C03-323D-1F82132B240A}"/>
              </a:ext>
            </a:extLst>
          </p:cNvPr>
          <p:cNvCxnSpPr>
            <a:endCxn id="6" idx="1"/>
          </p:cNvCxnSpPr>
          <p:nvPr/>
        </p:nvCxnSpPr>
        <p:spPr>
          <a:xfrm>
            <a:off x="3538538" y="4357688"/>
            <a:ext cx="1094263" cy="103822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685438261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B8B042B-188C-A389-9F5C-E12AF93E522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Parsing the VCD File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59EEBDB-8E5B-5926-89C3-A144C449266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Simulation produces a VCD file:  Value Change Dump</a:t>
            </a:r>
          </a:p>
          <a:p>
            <a:pPr lvl="1"/>
            <a:r>
              <a:rPr lang="en-US" dirty="0"/>
              <a:t>File with value-change points of all the signals</a:t>
            </a:r>
          </a:p>
          <a:p>
            <a:r>
              <a:rPr lang="en-US" dirty="0"/>
              <a:t>VCD can be parsed in a </a:t>
            </a:r>
            <a:r>
              <a:rPr lang="en-US" dirty="0" err="1"/>
              <a:t>jupyter</a:t>
            </a:r>
            <a:r>
              <a:rPr lang="en-US" dirty="0"/>
              <a:t> notebook</a:t>
            </a:r>
          </a:p>
          <a:p>
            <a:r>
              <a:rPr lang="en-US" dirty="0"/>
              <a:t>Use </a:t>
            </a:r>
            <a:r>
              <a:rPr lang="en-US" dirty="0" err="1"/>
              <a:t>Xilinxutils</a:t>
            </a:r>
            <a:r>
              <a:rPr lang="en-US" dirty="0"/>
              <a:t> to:</a:t>
            </a:r>
          </a:p>
          <a:p>
            <a:pPr lvl="1"/>
            <a:r>
              <a:rPr lang="en-US" dirty="0"/>
              <a:t>Parse the VCD file</a:t>
            </a:r>
          </a:p>
          <a:p>
            <a:pPr lvl="1"/>
            <a:r>
              <a:rPr lang="en-US" dirty="0"/>
              <a:t>Visualize the timing diagram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8404073-DBA2-0BE5-D0E3-D6ECB15A28A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9637A9-119A-49DA-BD12-AAC58B377D80}" type="slidenum">
              <a:rPr lang="en-US" smtClean="0"/>
              <a:t>56</a:t>
            </a:fld>
            <a:endParaRPr lang="en-US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01516333-CF11-19FA-FF85-E9419D2AE0F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27040" y="2020937"/>
            <a:ext cx="4838323" cy="192844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23449691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13D8E84-B10D-851B-80A5-8505F49A41A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Timing Diagram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D2D18B4-2A36-E46A-B2D2-50D1FD79E40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206575" y="1539277"/>
            <a:ext cx="9949105" cy="4329817"/>
          </a:xfrm>
        </p:spPr>
        <p:txBody>
          <a:bodyPr/>
          <a:lstStyle/>
          <a:p>
            <a:r>
              <a:rPr lang="en-US" dirty="0"/>
              <a:t>Matches expected value output</a:t>
            </a:r>
          </a:p>
          <a:p>
            <a:r>
              <a:rPr lang="en-US" dirty="0"/>
              <a:t>Produces an idealized timing diagram</a:t>
            </a:r>
          </a:p>
          <a:p>
            <a:pPr lvl="1"/>
            <a:r>
              <a:rPr lang="en-US" dirty="0"/>
              <a:t>Timing simulation requires synthesis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8355320-6480-8903-34D9-AC88976398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9637A9-119A-49DA-BD12-AAC58B377D80}" type="slidenum">
              <a:rPr lang="en-US" smtClean="0"/>
              <a:t>57</a:t>
            </a:fld>
            <a:endParaRPr lang="en-US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B08DED5F-ABBC-45AF-0E92-78E2DC8DDAC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09800" y="2783409"/>
            <a:ext cx="7567612" cy="323082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06734307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687B532-DF83-F8BA-70D3-02AB1CE22CA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Quadratic Example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973E86C-98C2-89F0-07B8-5E381B12285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Code in </a:t>
            </a:r>
            <a:r>
              <a:rPr lang="en-US" dirty="0" err="1"/>
              <a:t>github</a:t>
            </a:r>
            <a:r>
              <a:rPr lang="en-US" dirty="0"/>
              <a:t> repo</a:t>
            </a:r>
          </a:p>
          <a:p>
            <a:r>
              <a:rPr lang="en-US" dirty="0"/>
              <a:t>We use 16-bit integers with wraparound</a:t>
            </a:r>
          </a:p>
          <a:p>
            <a:r>
              <a:rPr lang="en-US" dirty="0"/>
              <a:t>Process is similar 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6D30512-FB08-423E-0F91-2F54ED59C2D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9637A9-119A-49DA-BD12-AAC58B377D80}" type="slidenum">
              <a:rPr lang="en-US" smtClean="0"/>
              <a:t>58</a:t>
            </a:fld>
            <a:endParaRPr lang="en-US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5A28627F-E1D0-C827-A7F9-FAB4C1593B2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26802" y="988906"/>
            <a:ext cx="5058035" cy="467701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30124951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F60F9B0-81CE-4400-A782-C70B64996FD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Quadratic Timing Diagram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F7CBC2D-80A2-B6B0-25B1-7C308DA797D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Can see two cycle latency and pipelining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71E6E06-391A-7A33-04AE-60FDB67C9F7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9637A9-119A-49DA-BD12-AAC58B377D80}" type="slidenum">
              <a:rPr lang="en-US" smtClean="0"/>
              <a:t>59</a:t>
            </a:fld>
            <a:endParaRPr lang="en-US" dirty="0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82696D0D-B552-1E7F-83D4-6D836E44BD0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03810" y="2447925"/>
            <a:ext cx="10251870" cy="342116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8130473"/>
      </p:ext>
    </p:extLst>
  </p:cSld>
  <p:clrMapOvr>
    <a:masterClrMapping/>
  </p:clrMapOvr>
</p:sld>
</file>

<file path=ppt/theme/theme1.xml><?xml version="1.0" encoding="utf-8"?>
<a:theme xmlns:a="http://schemas.openxmlformats.org/drawingml/2006/main" name="Retrospect">
  <a:themeElements>
    <a:clrScheme name="Violet II">
      <a:dk1>
        <a:sysClr val="windowText" lastClr="000000"/>
      </a:dk1>
      <a:lt1>
        <a:sysClr val="window" lastClr="FFFFFF"/>
      </a:lt1>
      <a:dk2>
        <a:srgbClr val="632E62"/>
      </a:dk2>
      <a:lt2>
        <a:srgbClr val="EAE5EB"/>
      </a:lt2>
      <a:accent1>
        <a:srgbClr val="92278F"/>
      </a:accent1>
      <a:accent2>
        <a:srgbClr val="9B57D3"/>
      </a:accent2>
      <a:accent3>
        <a:srgbClr val="755DD9"/>
      </a:accent3>
      <a:accent4>
        <a:srgbClr val="665EB8"/>
      </a:accent4>
      <a:accent5>
        <a:srgbClr val="45A5ED"/>
      </a:accent5>
      <a:accent6>
        <a:srgbClr val="5982DB"/>
      </a:accent6>
      <a:hlink>
        <a:srgbClr val="0066FF"/>
      </a:hlink>
      <a:folHlink>
        <a:srgbClr val="666699"/>
      </a:folHlink>
    </a:clrScheme>
    <a:fontScheme name="Calibri">
      <a:majorFont>
        <a:latin typeface="Calibri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Retrospect">
      <a:fillStyleLst>
        <a:solidFill>
          <a:schemeClr val="phClr"/>
        </a:solidFill>
        <a:gradFill rotWithShape="1">
          <a:gsLst>
            <a:gs pos="0">
              <a:schemeClr val="phClr">
                <a:tint val="65000"/>
                <a:shade val="92000"/>
                <a:satMod val="130000"/>
              </a:schemeClr>
            </a:gs>
            <a:gs pos="45000">
              <a:schemeClr val="phClr">
                <a:tint val="60000"/>
                <a:shade val="99000"/>
                <a:satMod val="120000"/>
              </a:schemeClr>
            </a:gs>
            <a:gs pos="100000">
              <a:schemeClr val="phClr">
                <a:tint val="55000"/>
                <a:satMod val="140000"/>
              </a:schemeClr>
            </a:gs>
          </a:gsLst>
          <a:path path="circle">
            <a:fillToRect l="100000" t="100000" r="100000" b="100000"/>
          </a:path>
        </a:gradFill>
        <a:gradFill rotWithShape="1">
          <a:gsLst>
            <a:gs pos="0">
              <a:schemeClr val="phClr">
                <a:shade val="85000"/>
                <a:satMod val="130000"/>
              </a:schemeClr>
            </a:gs>
            <a:gs pos="34000">
              <a:schemeClr val="phClr">
                <a:shade val="87000"/>
                <a:satMod val="125000"/>
              </a:schemeClr>
            </a:gs>
            <a:gs pos="70000">
              <a:schemeClr val="phClr">
                <a:tint val="100000"/>
                <a:shade val="90000"/>
                <a:satMod val="130000"/>
              </a:schemeClr>
            </a:gs>
            <a:gs pos="100000">
              <a:schemeClr val="phClr">
                <a:tint val="100000"/>
                <a:shade val="100000"/>
                <a:satMod val="110000"/>
              </a:schemeClr>
            </a:gs>
          </a:gsLst>
          <a:path path="circle">
            <a:fillToRect l="100000" t="100000" r="100000" b="100000"/>
          </a:path>
        </a:gradFill>
      </a:fillStyleLst>
      <a:lnStyleLst>
        <a:ln w="12700" cap="flat" cmpd="sng" algn="ctr">
          <a:solidFill>
            <a:schemeClr val="phClr"/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2700000" algn="br" rotWithShape="0">
              <a:srgbClr val="000000">
                <a:alpha val="60000"/>
              </a:srgbClr>
            </a:outerShdw>
          </a:effectLst>
        </a:effectStyle>
        <a:effectStyle>
          <a:effectLst>
            <a:outerShdw blurRad="44450" dist="25400" dir="2700000" algn="br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9800000"/>
            </a:lightRig>
          </a:scene3d>
          <a:sp3d prstMaterial="flat">
            <a:bevelT w="25400" h="31750"/>
          </a:sp3d>
        </a:effectStyle>
      </a:effectStyleLst>
      <a:bgFillStyleLst>
        <a:solidFill>
          <a:schemeClr val="phClr"/>
        </a:solidFill>
        <a:solidFill>
          <a:schemeClr val="phClr">
            <a:tint val="90000"/>
            <a:shade val="97000"/>
            <a:satMod val="130000"/>
          </a:schemeClr>
        </a:solidFill>
        <a:gradFill rotWithShape="1">
          <a:gsLst>
            <a:gs pos="0">
              <a:schemeClr val="phClr">
                <a:tint val="96000"/>
                <a:shade val="99000"/>
                <a:satMod val="140000"/>
              </a:schemeClr>
            </a:gs>
            <a:gs pos="65000">
              <a:schemeClr val="phClr">
                <a:tint val="100000"/>
                <a:shade val="80000"/>
                <a:satMod val="130000"/>
              </a:schemeClr>
            </a:gs>
            <a:gs pos="100000">
              <a:schemeClr val="phClr">
                <a:tint val="100000"/>
                <a:shade val="48000"/>
                <a:satMod val="120000"/>
              </a:schemeClr>
            </a:gs>
          </a:gsLst>
          <a:lin ang="162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Retrospect" id="{5F128B03-DCCA-4EEB-AB3B-CF2899314A46}" vid="{02006FA4-1611-4B07-AF7F-85CF6D20EB3E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Retrospect</Template>
  <TotalTime>7213</TotalTime>
  <Words>2703</Words>
  <Application>Microsoft Office PowerPoint</Application>
  <PresentationFormat>Widescreen</PresentationFormat>
  <Paragraphs>584</Paragraphs>
  <Slides>59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59</vt:i4>
      </vt:variant>
    </vt:vector>
  </HeadingPairs>
  <TitlesOfParts>
    <vt:vector size="65" baseType="lpstr">
      <vt:lpstr>Arial</vt:lpstr>
      <vt:lpstr>Calibri</vt:lpstr>
      <vt:lpstr>Cambria Math</vt:lpstr>
      <vt:lpstr>Courier New</vt:lpstr>
      <vt:lpstr>Wingdings</vt:lpstr>
      <vt:lpstr>Retrospect</vt:lpstr>
      <vt:lpstr>Unit 1  Basic Digital Logic</vt:lpstr>
      <vt:lpstr>Learning Objectives</vt:lpstr>
      <vt:lpstr>Outline</vt:lpstr>
      <vt:lpstr>Simple Example:  ReLU + Linear</vt:lpstr>
      <vt:lpstr>SystemVerilog Description</vt:lpstr>
      <vt:lpstr>Module Components in SV</vt:lpstr>
      <vt:lpstr>System Verilog vs Verilog</vt:lpstr>
      <vt:lpstr>Synthesis</vt:lpstr>
      <vt:lpstr>Implementation Depends on the Target</vt:lpstr>
      <vt:lpstr>Block Diagram</vt:lpstr>
      <vt:lpstr>Outline</vt:lpstr>
      <vt:lpstr>Timing Diagrams</vt:lpstr>
      <vt:lpstr>Binary Signals</vt:lpstr>
      <vt:lpstr>Undefined Logic Value:  ‘X’ </vt:lpstr>
      <vt:lpstr>Undefined Regions Illustrated</vt:lpstr>
      <vt:lpstr>Value-Change Points</vt:lpstr>
      <vt:lpstr>Timing Diagram</vt:lpstr>
      <vt:lpstr>Propagation Delays</vt:lpstr>
      <vt:lpstr>Drawing Timing Diagrams in Python</vt:lpstr>
      <vt:lpstr>Propagation Delays of a Series</vt:lpstr>
      <vt:lpstr>Example Total Propagation Delay</vt:lpstr>
      <vt:lpstr>Example Timing Over Multiple Inputs</vt:lpstr>
      <vt:lpstr>Typical Propagation Delays:  Low-End FPGA</vt:lpstr>
      <vt:lpstr>Typical Propagation Delays:  ASIC</vt:lpstr>
      <vt:lpstr>Critical Path</vt:lpstr>
      <vt:lpstr>Critical Path Example</vt:lpstr>
      <vt:lpstr>Delay Depends on Implementation</vt:lpstr>
      <vt:lpstr>Outline</vt:lpstr>
      <vt:lpstr>Limitations of Combinational Logic</vt:lpstr>
      <vt:lpstr>Synchronous (Sequential) Logic</vt:lpstr>
      <vt:lpstr>Clock Signal</vt:lpstr>
      <vt:lpstr>Synchronous Logic</vt:lpstr>
      <vt:lpstr>Register</vt:lpstr>
      <vt:lpstr>Register</vt:lpstr>
      <vt:lpstr>Making the Module Synchronous </vt:lpstr>
      <vt:lpstr>System Verilog Main Body</vt:lpstr>
      <vt:lpstr>Synchronous Block Diagram</vt:lpstr>
      <vt:lpstr>Synchronous Timing Diagram</vt:lpstr>
      <vt:lpstr>Maximum Clock Frequency</vt:lpstr>
      <vt:lpstr>ReLU+Linear Example</vt:lpstr>
      <vt:lpstr>Max Clock Frequency Example</vt:lpstr>
      <vt:lpstr>A More Complex Example</vt:lpstr>
      <vt:lpstr>Finding the Critical Path</vt:lpstr>
      <vt:lpstr>A Two Cycle Design</vt:lpstr>
      <vt:lpstr>Three Stages</vt:lpstr>
      <vt:lpstr>Critical Path with Three Stages</vt:lpstr>
      <vt:lpstr>Two Cycle Timing Diagram</vt:lpstr>
      <vt:lpstr>Latency, Throughput and Pipelining</vt:lpstr>
      <vt:lpstr>Performance Comparison</vt:lpstr>
      <vt:lpstr>Outline</vt:lpstr>
      <vt:lpstr>FPGA Development Flow</vt:lpstr>
      <vt:lpstr>Linear+ReLU Example</vt:lpstr>
      <vt:lpstr>Test Vectors</vt:lpstr>
      <vt:lpstr>Testbench Declaration</vt:lpstr>
      <vt:lpstr>Run Simulation</vt:lpstr>
      <vt:lpstr>Parsing the VCD File</vt:lpstr>
      <vt:lpstr>Timing Diagram</vt:lpstr>
      <vt:lpstr>Quadratic Example</vt:lpstr>
      <vt:lpstr>Quadratic Timing Diagram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Sundeep Rangan</dc:creator>
  <cp:lastModifiedBy>Sundeep Rangan</cp:lastModifiedBy>
  <cp:revision>447</cp:revision>
  <cp:lastPrinted>2018-09-04T19:00:14Z</cp:lastPrinted>
  <dcterms:created xsi:type="dcterms:W3CDTF">2015-03-22T11:15:32Z</dcterms:created>
  <dcterms:modified xsi:type="dcterms:W3CDTF">2026-01-05T16:06:03Z</dcterms:modified>
</cp:coreProperties>
</file>