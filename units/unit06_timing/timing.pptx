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8" r:id="rId2"/>
    <p:sldId id="271" r:id="rId3"/>
    <p:sldId id="371" r:id="rId4"/>
    <p:sldId id="287" r:id="rId5"/>
    <p:sldId id="276" r:id="rId6"/>
    <p:sldId id="277" r:id="rId7"/>
    <p:sldId id="290" r:id="rId8"/>
    <p:sldId id="319" r:id="rId9"/>
    <p:sldId id="336" r:id="rId10"/>
    <p:sldId id="377" r:id="rId74"/>
    <p:sldId id="378" r:id="rId75"/>
    <p:sldId id="278" r:id="rId11"/>
    <p:sldId id="280" r:id="rId12"/>
    <p:sldId id="292" r:id="rId13"/>
    <p:sldId id="340" r:id="rId14"/>
    <p:sldId id="341" r:id="rId15"/>
    <p:sldId id="342" r:id="rId16"/>
    <p:sldId id="296" r:id="rId17"/>
    <p:sldId id="293" r:id="rId18"/>
    <p:sldId id="343" r:id="rId19"/>
    <p:sldId id="379" r:id="rId76"/>
    <p:sldId id="294" r:id="rId20"/>
    <p:sldId id="295" r:id="rId21"/>
    <p:sldId id="344" r:id="rId22"/>
    <p:sldId id="345" r:id="rId23"/>
    <p:sldId id="346" r:id="rId24"/>
    <p:sldId id="347" r:id="rId25"/>
    <p:sldId id="380" r:id="rId77"/>
    <p:sldId id="381" r:id="rId78"/>
    <p:sldId id="348" r:id="rId26"/>
    <p:sldId id="349" r:id="rId27"/>
    <p:sldId id="350" r:id="rId28"/>
    <p:sldId id="357" r:id="rId29"/>
    <p:sldId id="297" r:id="rId30"/>
    <p:sldId id="288" r:id="rId31"/>
    <p:sldId id="358" r:id="rId32"/>
    <p:sldId id="352" r:id="rId33"/>
    <p:sldId id="359" r:id="rId34"/>
    <p:sldId id="360" r:id="rId35"/>
    <p:sldId id="361" r:id="rId36"/>
    <p:sldId id="362" r:id="rId37"/>
    <p:sldId id="364" r:id="rId38"/>
    <p:sldId id="365" r:id="rId39"/>
    <p:sldId id="367" r:id="rId40"/>
    <p:sldId id="366" r:id="rId41"/>
    <p:sldId id="368" r:id="rId42"/>
    <p:sldId id="369" r:id="rId43"/>
    <p:sldId id="370" r:id="rId44"/>
    <p:sldId id="353" r:id="rId45"/>
    <p:sldId id="354" r:id="rId46"/>
    <p:sldId id="355" r:id="rId47"/>
    <p:sldId id="303" r:id="rId48"/>
    <p:sldId id="308" r:id="rId49"/>
    <p:sldId id="309" r:id="rId50"/>
    <p:sldId id="313" r:id="rId51"/>
    <p:sldId id="314" r:id="rId52"/>
    <p:sldId id="312" r:id="rId53"/>
    <p:sldId id="315" r:id="rId54"/>
    <p:sldId id="320" r:id="rId55"/>
    <p:sldId id="321" r:id="rId56"/>
    <p:sldId id="316" r:id="rId57"/>
    <p:sldId id="322" r:id="rId58"/>
    <p:sldId id="323" r:id="rId59"/>
    <p:sldId id="324" r:id="rId60"/>
    <p:sldId id="383" r:id="rId80"/>
    <p:sldId id="372" r:id="rId61"/>
    <p:sldId id="317" r:id="rId62"/>
    <p:sldId id="318" r:id="rId63"/>
    <p:sldId id="373" r:id="rId64"/>
    <p:sldId id="333" r:id="rId68"/>
    <p:sldId id="382" r:id="rId79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28" y="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  <Relationship Id="rId74" Type="http://schemas.openxmlformats.org/officeDocument/2006/relationships/slide" Target="slides/slide68.xml"/>
  <Relationship Id="rId75" Type="http://schemas.openxmlformats.org/officeDocument/2006/relationships/slide" Target="slides/slide69.xml"/>
  <Relationship Id="rId76" Type="http://schemas.openxmlformats.org/officeDocument/2006/relationships/slide" Target="slides/slide70.xml"/>
  <Relationship Id="rId77" Type="http://schemas.openxmlformats.org/officeDocument/2006/relationships/slide" Target="slides/slide71.xml"/>
  <Relationship Id="rId78" Type="http://schemas.openxmlformats.org/officeDocument/2006/relationships/slide" Target="slides/slide72.xml"/>
  <Relationship Id="rId79" Type="http://schemas.openxmlformats.org/officeDocument/2006/relationships/slide" Target="slides/slide73.xml"/>
  <Relationship Id="rId80" Type="http://schemas.openxmlformats.org/officeDocument/2006/relationships/slide" Target="slides/slide74.xml"/>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u6_series_multi.png"/></Relationships>
</file>

<file path=ppt/slides/_rels/slide5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u6_analog_levels.png"/></Relationships>
</file>

<file path=ppt/slides/_rels/slide6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u6_rise_fall.png"/></Relationships>
</file>

<file path=ppt/slides/_rels/slide7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u6_analog_digital.png"/></Relationships>
</file>

<file path=ppt/slides/_rels/slide8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8" Type="http://schemas.openxmlformats.org/officeDocument/2006/relationships/image" Target="../media/u6_stable_block.png"/><Relationship Id="rId9" Type="http://schemas.openxmlformats.org/officeDocument/2006/relationships/image" Target="../media/u6_stable_prop.png"/></Relationships>
</file>

<file path=ppt/slides/_rels/slide9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max_delay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80.png"/><Relationship Id="rId4" Type="http://schemas.openxmlformats.org/officeDocument/2006/relationships/image" Target="../media/image90.png"/><Relationship Id="rId5" Type="http://schemas.openxmlformats.org/officeDocument/2006/relationships/image" Target="../media/image100.png"/><Relationship Id="rId6" Type="http://schemas.openxmlformats.org/officeDocument/2006/relationships/image" Target="../media/image110.png"/></Relationships>
</file>

<file path=ppt/slides/_rels/slide1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relu_series.png"/></Relationships>
</file>

<file path=ppt/slides/_rels/slide1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relu_s0.png"/><Relationship Id="rId6" Type="http://schemas.openxmlformats.org/officeDocument/2006/relationships/image" Target="../media/u6_series_s0.png"/></Relationships>
</file>

<file path=ppt/slides/_rels/slide13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relu_s1.png"/><Relationship Id="rId5" Type="http://schemas.openxmlformats.org/officeDocument/2006/relationships/image" Target="../media/u6_series_s1.png"/></Relationships>
</file>

<file path=ppt/slides/_rels/slide14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relu_s2.png"/><Relationship Id="rId6" Type="http://schemas.openxmlformats.org/officeDocument/2006/relationships/image" Target="../media/u6_series_s2.png"/></Relationships>
</file>

<file path=ppt/slides/_rels/slide15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relu_s3.png"/><Relationship Id="rId6" Type="http://schemas.openxmlformats.org/officeDocument/2006/relationships/image" Target="../media/u6_series_s3.png"/></Relationships>
</file>

<file path=ppt/slides/_rels/slide16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9" Type="http://schemas.openxmlformats.org/officeDocument/2006/relationships/image" Target="../media/u6_series_total.png"/></Relationships>
</file>

<file path=ppt/slides/_rels/slide17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u6_series_multi.png"/></Relationships>
</file>

<file path=ppt/slides/_rels/slide18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multipath.png"/></Relationships>
</file>

<file path=ppt/slides/_rels/slide2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multipath_s0.png"/><Relationship Id="rId6" Type="http://schemas.openxmlformats.org/officeDocument/2006/relationships/image" Target="../media/u6_multipath_t0.png"/></Relationships>
</file>

<file path=ppt/slides/_rels/slide23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multipath_s1.png"/><Relationship Id="rId6" Type="http://schemas.openxmlformats.org/officeDocument/2006/relationships/image" Target="../media/u6_multipath_t1.png"/></Relationships>
</file>

<file path=ppt/slides/_rels/slide24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multipath_s2.png"/><Relationship Id="rId6" Type="http://schemas.openxmlformats.org/officeDocument/2006/relationships/image" Target="../media/u6_multipath_t2.png"/></Relationships>
</file>

<file path=ppt/slides/_rels/slide25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cond_mux.png"/></Relationships>
</file>

<file path=ppt/slides/_rels/slide27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mux_delays.png"/></Relationships>
</file>

<file path=ppt/slides/_rels/slide28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mux_critical.png"/></Relationships>
</file>

<file path=ppt/slides/_rels/slide29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crit_example.png"/></Relationships>
</file>

<file path=ppt/slides/_rels/slide30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7" Type="http://schemas.openxmlformats.org/officeDocument/2006/relationships/image" Target="../media/u6_adders_parallel.png"/><Relationship Id="rId8" Type="http://schemas.openxmlformats.org/officeDocument/2006/relationships/image" Target="../media/u6_adders_serial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reg_loop.png"/></Relationships>
</file>

<file path=ppt/slides/_rels/slide33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u6_reg_loop.png"/></Relationships>
</file>

<file path=ppt/slides/_rels/slide34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dff.png"/><Relationship Id="rId6" Type="http://schemas.openxmlformats.org/officeDocument/2006/relationships/image" Target="../media/u6_setup_hold.png"/></Relationships>
</file>

<file path=ppt/slides/_rels/slide35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clk_to_q.png"/><Relationship Id="rId6" Type="http://schemas.openxmlformats.org/officeDocument/2006/relationships/image" Target="../media/u6_dff.png"/></Relationships>
</file>

<file path=ppt/slides/_rels/slide36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twovar.png"/></Relationships>
</file>

<file path=ppt/slides/_rels/slide38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sta_path.png"/></Relationships>
</file>

<file path=ppt/slides/_rels/slide39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twovar_crit.png"/></Relationships>
</file>

<file path=ppt/slides/_rels/slide4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twovar_crit.png"/></Relationships>
</file>

<file path=ppt/slides/_rels/slide4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delay_line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7" Type="http://schemas.openxmlformats.org/officeDocument/2006/relationships/image" Target="../media/u6_counter_detailed.png"/><Relationship Id="rId8" Type="http://schemas.openxmlformats.org/officeDocument/2006/relationships/image" Target="../media/u6_reg_loop.png"/></Relationships>
</file>

<file path=ppt/slides/_rels/slide45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counter_detailed.png"/></Relationships>
</file>

<file path=ppt/slides/_rels/slide46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u6_counter_abstract.png"/></Relationships>
</file>

<file path=ppt/slides/_rels/slide47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relu_sync.png"/></Relationships>
</file>

<file path=ppt/slides/_rels/slide49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relu_sync_sta.png"/></Relationships>
</file>

<file path=ppt/slides/_rels/slide50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8" Type="http://schemas.openxmlformats.org/officeDocument/2006/relationships/image" Target="../media/u6_relu_sync_timing.png"/></Relationships>
</file>

<file path=ppt/slides/_rels/slide5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7" Type="http://schemas.openxmlformats.org/officeDocument/2006/relationships/image" Target="../media/u6_relu_sync_timing.png"/></Relationships>
</file>

<file path=ppt/slides/_rels/slide5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quad.png"/></Relationships>
</file>

<file path=ppt/slides/_rels/slide53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quad_crit.png"/></Relationships>
</file>

<file path=ppt/slides/_rels/slide54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quad2.png"/></Relationships>
</file>

<file path=ppt/slides/_rels/slide55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quad2.png"/></Relationships>
</file>

<file path=ppt/slides/_rels/slide56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u6_quad2_crit.png"/></Relationships>
</file>

<file path=ppt/slides/_rels/slide57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two_cycle.png"/></Relationships>
</file>

<file path=ppt/slides/_rels/slide58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pipeline.png"/></Relationships>
</file>

<file path=ppt/slides/_rels/slide59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
</file>

<file path=ppt/slides/_rels/slide6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u6_vcd_example.png"/></Relationships>
</file>

<file path=ppt/slides/_rels/slide63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drangan.github.io/hwdesign/support/repo/python.html" TargetMode="External"/><Relationship Id="rId6" Type="http://schemas.openxmlformats.org/officeDocument/2006/relationships/image" Target="../media/u6_vcd_example.png"/></Relationships>
</file>

<file path=ppt/slides/_rels/slide68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u6_q_propagation.png"/></Relationships>
</file>

<file path=ppt/slides/_rels/slide70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u6_q_series.png"/></Relationships>
</file>

<file path=ppt/slides/_rels/slide7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u6_q_multipath.png"/></Relationships>
</file>

<file path=ppt/slides/_rels/slide73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u6_quad_sweep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6 </a:t>
            </a:r>
            <a:br>
              <a:rPr lang="en-US" sz="6600" dirty="0"/>
            </a:br>
            <a:r>
              <a:rPr lang="en-US" sz="6600" dirty="0"/>
              <a:t>Timing and Critical Path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ECE-GY 6463:  Advanced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97280" y="1645920"/>
          <a:ext cx="10058400" cy="3401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6160"/>
                <a:gridCol w="6492240"/>
              </a:tblGrid>
              <a:tr h="566928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Skill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You will be able to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Reason about signal stability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Find when a signal is unknown after its input changes, and its stable values before and after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Compute propagation delay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Find when each signal settles: delays in series add, parallel paths wait for the latest, and a mux waits for every input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Perform static timing analysis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Find the critical path between registers and the maximum clock frequency, with clock-to-Q and setup time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Read and draw timing diagrams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Draw detailed and cycle-accurate diagrams, and describe a waveform by its value-change points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Decompose a function across clock cycles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Split a datapath into registered stages, and trade latency for clock rate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97280" y="5257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 xml:space="preserve">Each skill is assessed by problems in the LLM grader.  The demos add what no problem tests yet: extracting a VCD file from a Vitis simulation and plotting it in Python.</a:t>
            </a:r>
            <a:endParaRPr lang="en-US" sz="12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7CD32-0244-7759-C8FD-E8B3A486D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3A9E-38FF-E3BE-C4EB-094D2999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A0428-830C-44E6-22F7-8B6346FC6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/>
              <a:t>Static Timing Analysis in Combinational Logic</a:t>
            </a:r>
          </a:p>
          <a:p>
            <a:r>
              <a:rPr lang="en-US" sz="2400" dirty="0"/>
              <a:t>Static Timing Analysis in Sequential Logic</a:t>
            </a:r>
          </a:p>
          <a:p>
            <a:r>
              <a:rPr lang="en-US" sz="2400" dirty="0"/>
              <a:t>Sequential Logic Timing Diagrams</a:t>
            </a:r>
          </a:p>
          <a:p>
            <a:r>
              <a:rPr lang="en-US" sz="2400" dirty="0"/>
              <a:t>VCD Files and Timing Diagrams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D9DE4-B075-A26F-5C8D-B162E835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1DD6ABC-FB8E-3982-A0CA-7543FF76ACF2}"/>
              </a:ext>
            </a:extLst>
          </p:cNvPr>
          <p:cNvSpPr/>
          <p:nvPr/>
        </p:nvSpPr>
        <p:spPr>
          <a:xfrm>
            <a:off x="404044" y="147100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94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Timing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12064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b="1" dirty="0">
                <a:solidFill>
                  <a:srgbClr val="57068C"/>
                </a:solidFill>
              </a:rPr>
              <a:t>Timing analysis</a:t>
            </a:r>
            <a:r>
              <a:rPr lang="en-US" sz="1800" dirty="0">
                <a:solidFill>
                  <a:srgbClr val="262626"/>
                </a:solidFill>
              </a:rPr>
              <a:t>: how long signals take to pass through a circuit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 xml:space="preserve">Drawn as a </a:t>
            </a:r>
            <a:r>
              <a:rPr lang="en-US" sz="1500" b="1" dirty="0">
                <a:solidFill>
                  <a:srgbClr val="57068C"/>
                </a:solidFill>
              </a:rPr>
              <a:t>timing diagram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It sets the clock speed, the latency and the throughput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b="1" dirty="0">
                <a:solidFill>
                  <a:srgbClr val="57068C"/>
                </a:solidFill>
              </a:rPr>
              <a:t>Static</a:t>
            </a:r>
            <a:r>
              <a:rPr lang="en-US" sz="1800" dirty="0">
                <a:solidFill>
                  <a:srgbClr val="262626"/>
                </a:solidFill>
              </a:rPr>
              <a:t xml:space="preserve"> timing analysis (STA)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 xml:space="preserve">Uses each block's </a:t>
            </a:r>
            <a:r>
              <a:rPr lang="en-US" sz="1500" b="1" dirty="0">
                <a:solidFill>
                  <a:srgbClr val="57068C"/>
                </a:solidFill>
              </a:rPr>
              <a:t>maximum</a:t>
            </a:r>
            <a:r>
              <a:rPr lang="en-US" sz="1500" dirty="0">
                <a:solidFill>
                  <a:srgbClr val="262626"/>
                </a:solidFill>
              </a:rPr>
              <a:t xml:space="preserve"> propagation delay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Holds for every input: not data dependent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Conservative, but a hard guarantee: the default in industry</a:t>
            </a:r>
            <a:endParaRPr lang="en-US" sz="1800" dirty="0"/>
          </a:p>
        </p:txBody>
      </p:sp>
      <p:pic>
        <p:nvPicPr>
          <p:cNvPr id="4" name="Picture 4" descr="series_mult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499231"/>
            <a:ext cx="5440680" cy="2042419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 Signal Physically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12064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To understand timing, look at how a signal is carried physically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 xml:space="preserve">A </a:t>
            </a:r>
            <a:r>
              <a:rPr lang="en-US" sz="1800" b="1" dirty="0">
                <a:solidFill>
                  <a:srgbClr val="57068C"/>
                </a:solidFill>
              </a:rPr>
              <a:t>binary signal</a:t>
            </a:r>
            <a:r>
              <a:rPr lang="en-US" sz="1800" dirty="0">
                <a:solidFill>
                  <a:srgbClr val="262626"/>
                </a:solidFill>
              </a:rPr>
              <a:t xml:space="preserve"> has two logical values: 0 and 1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 xml:space="preserve">Physically, it is usually a </a:t>
            </a:r>
            <a:r>
              <a:rPr lang="en-US" sz="1800" b="1" dirty="0">
                <a:solidFill>
                  <a:srgbClr val="57068C"/>
                </a:solidFill>
              </a:rPr>
              <a:t>voltage</a:t>
            </a:r>
            <a:r>
              <a:rPr lang="en-US" sz="1800" dirty="0">
                <a:solidFill>
                  <a:srgbClr val="262626"/>
                </a:solidFill>
              </a:rPr>
              <a:t xml:space="preserve"> on a wire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The voltage takes continuous values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 xml:space="preserve">The logical value is read by </a:t>
            </a:r>
            <a:r>
              <a:rPr lang="en-US" sz="1500" b="1" dirty="0">
                <a:solidFill>
                  <a:srgbClr val="57068C"/>
                </a:solidFill>
              </a:rPr>
              <a:t>thresholding</a:t>
            </a:r>
            <a:r>
              <a:rPr lang="en-US" sz="1500" dirty="0">
                <a:solidFill>
                  <a:srgbClr val="262626"/>
                </a:solidFill>
              </a:rPr>
              <a:t xml:space="preserve"> it</a:t>
            </a:r>
            <a:endParaRPr lang="en-US" sz="1500" dirty="0"/>
          </a:p>
        </p:txBody>
      </p:sp>
      <p:pic>
        <p:nvPicPr>
          <p:cNvPr id="4" name="Picture 4" descr="analog_leve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240946"/>
            <a:ext cx="5440680" cy="2467548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Undefined Logic Value: X or 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21208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Signals take time to change: they are outputs of physical circuits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 xml:space="preserve">In between, the value is </a:t>
            </a:r>
            <a:r>
              <a:rPr lang="en-US" sz="1800" b="1" dirty="0">
                <a:solidFill>
                  <a:srgbClr val="57068C"/>
                </a:solidFill>
              </a:rPr>
              <a:t>undefined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Also called unknown or indeterminate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 xml:space="preserve">Written </a:t>
            </a:r>
            <a:r>
              <a:rPr lang="en-US" sz="1800" b="1" dirty="0">
                <a:solidFill>
                  <a:srgbClr val="57068C"/>
                </a:solidFill>
              </a:rPr>
              <a:t>X</a:t>
            </a:r>
            <a:r>
              <a:rPr lang="en-US" sz="1800" dirty="0">
                <a:solidFill>
                  <a:srgbClr val="262626"/>
                </a:solidFill>
              </a:rPr>
              <a:t xml:space="preserve">, or </a:t>
            </a:r>
            <a:r>
              <a:rPr lang="en-US" sz="1800" b="1" dirty="0">
                <a:solidFill>
                  <a:srgbClr val="57068C"/>
                </a:solidFill>
              </a:rPr>
              <a:t>?</a:t>
            </a:r>
            <a:r>
              <a:rPr lang="en-US" sz="1800" dirty="0">
                <a:solidFill>
                  <a:srgbClr val="262626"/>
                </a:solidFill>
              </a:rPr>
              <a:t xml:space="preserve"> to avoid confusion with a variable named x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So a logic signal has three values: 0, 1 and X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A fourth, Z (high impedance), comes later</a:t>
            </a:r>
            <a:endParaRPr lang="en-US" sz="1500" dirty="0"/>
          </a:p>
        </p:txBody>
      </p:sp>
      <p:pic>
        <p:nvPicPr>
          <p:cNvPr id="4" name="Picture 4" descr="rise_fa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66659"/>
            <a:ext cx="5349240" cy="2816122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Undefined Regions Illustrated</a:t>
            </a:r>
          </a:p>
        </p:txBody>
      </p:sp>
      <p:pic>
        <p:nvPicPr>
          <p:cNvPr id="3" name="Picture 3" descr="analog_digit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6400800" cy="349811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452360" y="1600200"/>
            <a:ext cx="402336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Analog</a:t>
            </a:r>
            <a:r>
              <a:rPr lang="en-US" sz="1700" dirty="0">
                <a:solidFill>
                  <a:srgbClr val="262626"/>
                </a:solidFill>
              </a:rPr>
              <a:t xml:space="preserve"> signal: a continuous voltage, with finite transitions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Digital</a:t>
            </a:r>
            <a:r>
              <a:rPr lang="en-US" sz="1700" dirty="0">
                <a:solidFill>
                  <a:srgbClr val="262626"/>
                </a:solidFill>
              </a:rPr>
              <a:t xml:space="preserve"> signal: 0 below 20%, 1 above 80%, X in between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X is drawn </a:t>
            </a:r>
            <a:r>
              <a:rPr lang="en-US" sz="1700" b="1" dirty="0">
                <a:solidFill>
                  <a:srgbClr val="57068C"/>
                </a:solidFill>
              </a:rPr>
              <a:t>grey</a:t>
            </a:r>
            <a:r>
              <a:rPr lang="en-US" sz="1700" dirty="0">
                <a:solidFill>
                  <a:srgbClr val="262626"/>
                </a:solidFill>
              </a:rPr>
              <a:t xml:space="preserve"> in every timing diagram in this unit</a:t>
            </a:r>
            <a:endParaRPr lang="en-US" sz="17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Stable Values and Propagation Delay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21208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b="1" dirty="0">
                <a:solidFill>
                  <a:srgbClr val="57068C"/>
                </a:solidFill>
              </a:rPr>
              <a:t>Stable value</a:t>
            </a:r>
            <a:r>
              <a:rPr lang="en-US" sz="1800" dirty="0">
                <a:solidFill>
                  <a:srgbClr val="262626"/>
                </a:solidFill>
              </a:rPr>
              <a:t>: the value once a transition settles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y = x</a:t>
            </a:r>
            <a:r>
              <a:rPr lang="en-US" sz="1500" baseline="30000" dirty="0">
                <a:solidFill>
                  <a:srgbClr val="262626"/>
                </a:solidFill>
              </a:rPr>
              <a:t>2</a:t>
            </a:r>
            <a:r>
              <a:rPr lang="en-US" sz="1500" dirty="0">
                <a:solidFill>
                  <a:srgbClr val="262626"/>
                </a:solidFill>
              </a:rPr>
              <a:t>, with x changing from 4 to 5: y settles at 25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b="1" dirty="0">
                <a:solidFill>
                  <a:srgbClr val="57068C"/>
                </a:solidFill>
              </a:rPr>
              <a:t>Propagation delay</a:t>
            </a:r>
            <a:r>
              <a:rPr lang="en-US" sz="1800" dirty="0">
                <a:solidFill>
                  <a:srgbClr val="262626"/>
                </a:solidFill>
              </a:rPr>
              <a:t>: the time the output takes to settle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It has two parts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b="1" dirty="0">
                <a:solidFill>
                  <a:srgbClr val="57068C"/>
                </a:solidFill>
              </a:rPr>
              <a:t>Logic delay</a:t>
            </a:r>
            <a:r>
              <a:rPr lang="en-US" sz="1500" dirty="0">
                <a:solidFill>
                  <a:srgbClr val="262626"/>
                </a:solidFill>
              </a:rPr>
              <a:t>: the gates settling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b="1" dirty="0">
                <a:solidFill>
                  <a:srgbClr val="57068C"/>
                </a:solidFill>
              </a:rPr>
              <a:t>Routing delay</a:t>
            </a:r>
            <a:r>
              <a:rPr lang="en-US" sz="1500" dirty="0">
                <a:solidFill>
                  <a:srgbClr val="262626"/>
                </a:solidFill>
              </a:rPr>
              <a:t>: the signal crossing the wires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Both depend on capacitance and drive current</a:t>
            </a:r>
            <a:endParaRPr lang="en-US" sz="1500" dirty="0"/>
          </a:p>
        </p:txBody>
      </p:sp>
      <p:pic>
        <p:nvPicPr>
          <p:cNvPr id="4" name="Picture 4" descr="stable_bloc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0364" y="1600200"/>
            <a:ext cx="2735752" cy="1097280"/>
          </a:xfrm>
          <a:prstGeom prst="rect">
            <a:avLst/>
          </a:prstGeom>
        </p:spPr>
      </p:pic>
      <p:pic>
        <p:nvPicPr>
          <p:cNvPr id="5" name="Picture 5" descr="stable_pro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330800"/>
            <a:ext cx="5349240" cy="1750880"/>
          </a:xfrm>
          <a:prstGeom prst="rect">
            <a:avLst/>
          </a:prstGeom>
        </p:spPr>
      </p:pic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Propagation Delay</a:t>
            </a:r>
          </a:p>
        </p:txBody>
      </p:sp>
      <p:pic>
        <p:nvPicPr>
          <p:cNvPr id="3" name="Picture 3" descr="max_del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54480"/>
            <a:ext cx="6035040" cy="34931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995160" y="1600200"/>
            <a:ext cx="448056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Actual delays vary: wire length, temperature, the device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Timing diagrams use the </a:t>
            </a:r>
            <a:r>
              <a:rPr lang="en-US" sz="1700" b="1" dirty="0">
                <a:solidFill>
                  <a:srgbClr val="57068C"/>
                </a:solidFill>
              </a:rPr>
              <a:t>maximum</a:t>
            </a:r>
            <a:r>
              <a:rPr lang="en-US" sz="1700" dirty="0">
                <a:solidFill>
                  <a:srgbClr val="262626"/>
                </a:solidFill>
              </a:rPr>
              <a:t xml:space="preserve"> propagation delay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X marks where the value is </a:t>
            </a:r>
            <a:r>
              <a:rPr lang="en-US" sz="1700" b="1" dirty="0">
                <a:solidFill>
                  <a:srgbClr val="57068C"/>
                </a:solidFill>
              </a:rPr>
              <a:t>not guaranteed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Often stable well before the maximum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The maximum is conservative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Real delays may be far below it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Exceeding it is usually catastrophic</a:t>
            </a:r>
            <a:endParaRPr lang="en-US" sz="15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39AD-C4E3-E69C-1A9B-E391E0A3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in a Series Circuit:  </a:t>
            </a:r>
            <a:r>
              <a:rPr lang="en-US" dirty="0" err="1"/>
              <a:t>ReLU</a:t>
            </a:r>
            <a:r>
              <a:rPr lang="en-US" dirty="0"/>
              <a:t> +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pPr marL="0" indent="0">
                  <a:buNone/>
                </a:pPr>
                <a:r>
                  <a:rPr lang="en-US" sz="2400" dirty="0"/>
                  <a:t>As an example, consider a more complicated circuit: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 0</m:t>
                            </m:r>
                          </m:e>
                        </m:d>
                      </m:e>
                    </m:func>
                  </m:oMath>
                </a14:m>
                <a:endParaRPr lang="en-US" sz="2400" b="0" dirty="0"/>
              </a:p>
              <a:p>
                <a:pPr lvl="1"/>
                <a:r>
                  <a:rPr lang="en-US" sz="2400" dirty="0"/>
                  <a:t>Linear function + </a:t>
                </a:r>
                <a:r>
                  <a:rPr lang="en-US" sz="2400" dirty="0" err="1"/>
                  <a:t>ReLU</a:t>
                </a:r>
                <a:r>
                  <a:rPr lang="en-US" sz="2400" dirty="0"/>
                  <a:t> from Unit 2</a:t>
                </a:r>
              </a:p>
              <a:p>
                <a:pPr lvl="1"/>
                <a:r>
                  <a:rPr lang="en-US" sz="2400" dirty="0"/>
                  <a:t>Used widely in machine learning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1972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1B6C6-52C3-B217-47F8-F3F70581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1FFF23-8720-B06E-AFD6-9918105B9306}"/>
              </a:ext>
            </a:extLst>
          </p:cNvPr>
          <p:cNvSpPr/>
          <p:nvPr/>
        </p:nvSpPr>
        <p:spPr>
          <a:xfrm>
            <a:off x="4773792" y="3704185"/>
            <a:ext cx="1990725" cy="1957388"/>
          </a:xfrm>
          <a:prstGeom prst="round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4DBA75-1DA1-3B37-064C-D0CD4B024C95}"/>
              </a:ext>
            </a:extLst>
          </p:cNvPr>
          <p:cNvCxnSpPr/>
          <p:nvPr/>
        </p:nvCxnSpPr>
        <p:spPr>
          <a:xfrm>
            <a:off x="3268842" y="421377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4785C0-8EA6-26C6-0F51-78BFECB37F58}"/>
              </a:ext>
            </a:extLst>
          </p:cNvPr>
          <p:cNvCxnSpPr/>
          <p:nvPr/>
        </p:nvCxnSpPr>
        <p:spPr>
          <a:xfrm>
            <a:off x="3268842" y="507102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9C9CE2-EB87-E202-5CB2-D6E50B4E525C}"/>
              </a:ext>
            </a:extLst>
          </p:cNvPr>
          <p:cNvCxnSpPr>
            <a:cxnSpLocks/>
          </p:cNvCxnSpPr>
          <p:nvPr/>
        </p:nvCxnSpPr>
        <p:spPr>
          <a:xfrm>
            <a:off x="6764517" y="4604297"/>
            <a:ext cx="130813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B4964D-ABD3-D4C7-D031-49F37CBFB325}"/>
              </a:ext>
            </a:extLst>
          </p:cNvPr>
          <p:cNvCxnSpPr/>
          <p:nvPr/>
        </p:nvCxnSpPr>
        <p:spPr>
          <a:xfrm>
            <a:off x="3268842" y="4604297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/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/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/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/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7A75226-4D24-50E7-4529-BB8CAA71C664}"/>
              </a:ext>
            </a:extLst>
          </p:cNvPr>
          <p:cNvSpPr txBox="1"/>
          <p:nvPr/>
        </p:nvSpPr>
        <p:spPr>
          <a:xfrm>
            <a:off x="8645506" y="4387319"/>
            <a:ext cx="168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857C"/>
                </a:solidFill>
              </a:rPr>
              <a:t>Output port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30F934-71D4-864A-E2F6-8243F49EF94A}"/>
              </a:ext>
            </a:extLst>
          </p:cNvPr>
          <p:cNvSpPr txBox="1"/>
          <p:nvPr/>
        </p:nvSpPr>
        <p:spPr>
          <a:xfrm>
            <a:off x="1036320" y="4435810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857C"/>
                </a:solidFill>
              </a:rPr>
              <a:t>Input ports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770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 for Series Connections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669280" cy="23774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 xml:space="preserve">Linear + ReLU is a </a:t>
            </a:r>
            <a:r>
              <a:rPr lang="en-US" sz="1800" b="1" dirty="0">
                <a:solidFill>
                  <a:srgbClr val="57068C"/>
                </a:solidFill>
              </a:rPr>
              <a:t>series</a:t>
            </a:r>
            <a:r>
              <a:rPr lang="en-US" sz="1800" dirty="0">
                <a:solidFill>
                  <a:srgbClr val="262626"/>
                </a:solidFill>
              </a:rPr>
              <a:t xml:space="preserve"> connection: three operations, one after another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Assume the maximum propagation delays in the table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What does the timing diagram look like when the inputs change?</a:t>
            </a:r>
            <a:endParaRPr lang="en-US" sz="1800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949440" y="1691640"/>
          <a:ext cx="452628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560"/>
                <a:gridCol w="2331720"/>
              </a:tblGrid>
              <a:tr h="402336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Hardware block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Max prop delay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Multiplier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500" baseline="-25000" dirty="0">
                          <a:solidFill>
                            <a:srgbClr val="262626"/>
                          </a:solidFill>
                        </a:rPr>
                        <a:t>mult</a:t>
                      </a: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 xml:space="preserve"> = 3 ns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Adder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500" baseline="-25000" dirty="0">
                          <a:solidFill>
                            <a:srgbClr val="262626"/>
                          </a:solidFill>
                        </a:rPr>
                        <a:t>add</a:t>
                      </a: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 xml:space="preserve"> = 1.5 ns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Max operator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500" baseline="-25000" dirty="0">
                          <a:solidFill>
                            <a:srgbClr val="262626"/>
                          </a:solidFill>
                        </a:rPr>
                        <a:t>max</a:t>
                      </a: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 xml:space="preserve"> = 1 ns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Total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500" b="1" baseline="-25000" dirty="0">
                          <a:solidFill>
                            <a:srgbClr val="262626"/>
                          </a:solidFill>
                        </a:rPr>
                        <a:t>tot</a:t>
                      </a: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 xml:space="preserve"> = 5.5 ns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5" descr="relu_seri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180" y="4114800"/>
            <a:ext cx="6995160" cy="1417320"/>
          </a:xfrm>
          <a:prstGeom prst="rect">
            <a:avLst/>
          </a:prstGeom>
        </p:spPr>
      </p:pic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 of a Series</a:t>
            </a:r>
          </a:p>
        </p:txBody>
      </p:sp>
      <p:pic>
        <p:nvPicPr>
          <p:cNvPr id="3" name="Picture 3" descr="relu_s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08760"/>
            <a:ext cx="5380892" cy="1143000"/>
          </a:xfrm>
          <a:prstGeom prst="rect">
            <a:avLst/>
          </a:prstGeom>
        </p:spPr>
      </p:pic>
      <p:pic>
        <p:nvPicPr>
          <p:cNvPr id="4" name="Picture 4" descr="series_s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788920"/>
            <a:ext cx="6443097" cy="2971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543800" y="1600200"/>
            <a:ext cx="393192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Suppose x, a and b are in transition for t ∈ [0, 2]</a:t>
            </a:r>
            <a:endParaRPr lang="en-US" sz="16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400" dirty="0">
                <a:solidFill>
                  <a:srgbClr val="262626"/>
                </a:solidFill>
              </a:rPr>
              <a:t>They are unknown, X, there</a:t>
            </a:r>
            <a:endParaRPr lang="en-US" sz="14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 xml:space="preserve">The unknown interval is written in </a:t>
            </a:r>
            <a:r>
              <a:rPr lang="en-US" sz="1600" b="1" dirty="0">
                <a:solidFill>
                  <a:srgbClr val="57068C"/>
                </a:solidFill>
              </a:rPr>
              <a:t>violet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When are the downstream signals stable?</a:t>
            </a:r>
            <a:endParaRPr lang="en-US" sz="16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Timing: First Block</a:t>
            </a:r>
          </a:p>
        </p:txBody>
      </p:sp>
      <p:pic>
        <p:nvPicPr>
          <p:cNvPr id="3" name="Picture 3" descr="relu_s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08760"/>
            <a:ext cx="5380892" cy="1143000"/>
          </a:xfrm>
          <a:prstGeom prst="rect">
            <a:avLst/>
          </a:prstGeom>
        </p:spPr>
      </p:pic>
      <p:pic>
        <p:nvPicPr>
          <p:cNvPr id="4" name="Picture 4" descr="series_s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88920"/>
            <a:ext cx="6443097" cy="2971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543800" y="1600200"/>
            <a:ext cx="393192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Start with the multiplier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Its inputs are unknown in [0, 2]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Its maximum delay is 3 ns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 xml:space="preserve">So mult_out is unknown in </a:t>
            </a:r>
            <a:r>
              <a:rPr lang="en-US" sz="1600" b="1" dirty="0">
                <a:solidFill>
                  <a:srgbClr val="57068C"/>
                </a:solidFill>
              </a:rPr>
              <a:t>[0, 5]</a:t>
            </a:r>
            <a:r>
              <a:rPr lang="en-US" sz="1600" dirty="0">
                <a:solidFill>
                  <a:srgbClr val="262626"/>
                </a:solidFill>
              </a:rPr>
              <a:t>: 3 ns longer than its inputs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Stable value: 3 × 10 = 30</a:t>
            </a:r>
            <a:endParaRPr lang="en-US" sz="16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Timing: Second Block</a:t>
            </a:r>
          </a:p>
        </p:txBody>
      </p:sp>
      <p:pic>
        <p:nvPicPr>
          <p:cNvPr id="3" name="Picture 3" descr="relu_s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08760"/>
            <a:ext cx="5380892" cy="1143000"/>
          </a:xfrm>
          <a:prstGeom prst="rect">
            <a:avLst/>
          </a:prstGeom>
        </p:spPr>
      </p:pic>
      <p:pic>
        <p:nvPicPr>
          <p:cNvPr id="4" name="Picture 4" descr="series_s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788920"/>
            <a:ext cx="6443097" cy="2971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543800" y="1600200"/>
            <a:ext cx="393192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mult_out is unknown in [0, 5]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 xml:space="preserve">The adder takes 1.5 ns, so add_out is unknown in </a:t>
            </a:r>
            <a:r>
              <a:rPr lang="en-US" sz="1600" b="1" dirty="0">
                <a:solidFill>
                  <a:srgbClr val="57068C"/>
                </a:solidFill>
              </a:rPr>
              <a:t>[0, 6.5]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 xml:space="preserve">add_out goes unknown </a:t>
            </a:r>
            <a:r>
              <a:rPr lang="en-US" sz="1600" b="1" dirty="0">
                <a:solidFill>
                  <a:srgbClr val="57068C"/>
                </a:solidFill>
              </a:rPr>
              <a:t>at t = 0</a:t>
            </a:r>
            <a:r>
              <a:rPr lang="en-US" sz="1600" dirty="0">
                <a:solidFill>
                  <a:srgbClr val="262626"/>
                </a:solidFill>
              </a:rPr>
              <a:t>, as soon as x does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b="1" dirty="0">
                <a:solidFill>
                  <a:srgbClr val="57068C"/>
                </a:solidFill>
              </a:rPr>
              <a:t>Unknown propagates at once; stability propagates with delay</a:t>
            </a:r>
            <a:endParaRPr lang="en-US" sz="16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Timing: Third Block</a:t>
            </a:r>
          </a:p>
        </p:txBody>
      </p:sp>
      <p:pic>
        <p:nvPicPr>
          <p:cNvPr id="3" name="Picture 3" descr="relu_s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08760"/>
            <a:ext cx="5380892" cy="1143000"/>
          </a:xfrm>
          <a:prstGeom prst="rect">
            <a:avLst/>
          </a:prstGeom>
        </p:spPr>
      </p:pic>
      <p:pic>
        <p:nvPicPr>
          <p:cNvPr id="4" name="Picture 4" descr="series_s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788920"/>
            <a:ext cx="6443097" cy="2971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543800" y="1600200"/>
            <a:ext cx="393192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Like add_out: the max block takes 1 ns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 xml:space="preserve">y is unknown in </a:t>
            </a:r>
            <a:r>
              <a:rPr lang="en-US" sz="1600" b="1" dirty="0">
                <a:solidFill>
                  <a:srgbClr val="57068C"/>
                </a:solidFill>
              </a:rPr>
              <a:t>[0, 7.5]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 xml:space="preserve">Total propagation delay: </a:t>
            </a:r>
            <a:r>
              <a:rPr lang="en-US" sz="1600" b="1" dirty="0">
                <a:solidFill>
                  <a:srgbClr val="00857C"/>
                </a:solidFill>
              </a:rPr>
              <a:t>5.5 ns</a:t>
            </a:r>
            <a:r>
              <a:rPr lang="en-US" sz="1600" dirty="0">
                <a:solidFill>
                  <a:srgbClr val="262626"/>
                </a:solidFill>
              </a:rPr>
              <a:t>, counted from when the inputs are stable</a:t>
            </a:r>
            <a:endParaRPr lang="en-US" sz="16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Total Propagation Delay</a:t>
            </a:r>
          </a:p>
        </p:txBody>
      </p:sp>
      <p:pic>
        <p:nvPicPr>
          <p:cNvPr id="3" name="Picture 3" descr="series_tota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508760"/>
            <a:ext cx="6035040" cy="3495212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040880" y="1691640"/>
          <a:ext cx="443484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560"/>
                <a:gridCol w="2240280"/>
              </a:tblGrid>
              <a:tr h="402336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Hardware block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 value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Multiplier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500" baseline="-25000" dirty="0">
                          <a:solidFill>
                            <a:srgbClr val="262626"/>
                          </a:solidFill>
                        </a:rPr>
                        <a:t>mult</a:t>
                      </a: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 xml:space="preserve"> = 3 ns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Adder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500" baseline="-25000" dirty="0">
                          <a:solidFill>
                            <a:srgbClr val="262626"/>
                          </a:solidFill>
                        </a:rPr>
                        <a:t>add</a:t>
                      </a: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 xml:space="preserve"> = 1.5 ns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Max operator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500" baseline="-25000" dirty="0">
                          <a:solidFill>
                            <a:srgbClr val="262626"/>
                          </a:solidFill>
                        </a:rPr>
                        <a:t>max</a:t>
                      </a:r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 xml:space="preserve"> = 1 ns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Total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500" b="1" baseline="-25000" dirty="0">
                          <a:solidFill>
                            <a:srgbClr val="262626"/>
                          </a:solidFill>
                        </a:rPr>
                        <a:t>tot</a:t>
                      </a:r>
                      <a:r>
                        <a:rPr lang="en-US" sz="1500" b="1" dirty="0">
                          <a:solidFill>
                            <a:srgbClr val="262626"/>
                          </a:solidFill>
                        </a:rPr>
                        <a:t xml:space="preserve"> = 5.5 ns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7040880" y="3886200"/>
            <a:ext cx="4434840" cy="1280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600" dirty="0">
                <a:solidFill>
                  <a:srgbClr val="262626"/>
                </a:solidFill>
              </a:rPr>
              <a:t xml:space="preserve">Along a series path the delays </a:t>
            </a:r>
            <a:r>
              <a:rPr lang="en-US" sz="1600" b="1" dirty="0">
                <a:solidFill>
                  <a:srgbClr val="57068C"/>
                </a:solidFill>
              </a:rPr>
              <a:t>add</a:t>
            </a:r>
            <a:r>
              <a:rPr lang="en-US" sz="1600" dirty="0">
                <a:solidFill>
                  <a:srgbClr val="262626"/>
                </a:solidFill>
              </a:rPr>
              <a:t>: T</a:t>
            </a:r>
            <a:r>
              <a:rPr lang="en-US" sz="1600" baseline="-25000" dirty="0">
                <a:solidFill>
                  <a:srgbClr val="262626"/>
                </a:solidFill>
              </a:rPr>
              <a:t>tot</a:t>
            </a:r>
            <a:r>
              <a:rPr lang="en-US" sz="1600" dirty="0">
                <a:solidFill>
                  <a:srgbClr val="262626"/>
                </a:solidFill>
              </a:rPr>
              <a:t xml:space="preserve"> = T</a:t>
            </a:r>
            <a:r>
              <a:rPr lang="en-US" sz="1600" baseline="-25000" dirty="0">
                <a:solidFill>
                  <a:srgbClr val="262626"/>
                </a:solidFill>
              </a:rPr>
              <a:t>mult</a:t>
            </a:r>
            <a:r>
              <a:rPr lang="en-US" sz="1600" dirty="0">
                <a:solidFill>
                  <a:srgbClr val="262626"/>
                </a:solidFill>
              </a:rPr>
              <a:t xml:space="preserve"> + T</a:t>
            </a:r>
            <a:r>
              <a:rPr lang="en-US" sz="1600" baseline="-25000" dirty="0">
                <a:solidFill>
                  <a:srgbClr val="262626"/>
                </a:solidFill>
              </a:rPr>
              <a:t>add</a:t>
            </a:r>
            <a:r>
              <a:rPr lang="en-US" sz="1600" dirty="0">
                <a:solidFill>
                  <a:srgbClr val="262626"/>
                </a:solidFill>
              </a:rPr>
              <a:t xml:space="preserve"> + T</a:t>
            </a:r>
            <a:r>
              <a:rPr lang="en-US" sz="1600" baseline="-25000" dirty="0">
                <a:solidFill>
                  <a:srgbClr val="262626"/>
                </a:solidFill>
              </a:rPr>
              <a:t>max</a:t>
            </a:r>
            <a:endParaRPr lang="en-US" sz="16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Timing Over Multiple Inputs</a:t>
            </a:r>
          </a:p>
        </p:txBody>
      </p:sp>
      <p:pic>
        <p:nvPicPr>
          <p:cNvPr id="3" name="Picture 3" descr="series_mult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394" y="1508760"/>
            <a:ext cx="8890732" cy="333756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85800" y="493776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Each change of the inputs repeats the pattern: y is unknown until 5.5 ns after the inputs settle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 xml:space="preserve">Stable values: max(10·3 + 15, 0) = 45,  max(−4·10 + 4, 0) = 0,  max(8·12 − 5, 0) = 91</a:t>
            </a:r>
            <a:endParaRPr lang="en-US" sz="15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Timing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45920"/>
            <a:ext cx="6309360" cy="3931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262626"/>
                </a:solidFill>
              </a:rPr>
              <a:t xml:space="preserve">Each multiplication has a maximum propagation delay of 3 ns and the addition 2 ns.  x = 0 for a long time before 10 ns, then changes to x = 4 at 10 ns and stays there.  a = 3 and b = 6 are constants.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(a)</a:t>
            </a:r>
            <a:r>
              <a:rPr lang="en-US" sz="1700" dirty="0">
                <a:solidFill>
                  <a:srgbClr val="262626"/>
                </a:solidFill>
              </a:rPr>
              <a:t xml:space="preserve">	What are the stable values of xsq, y and z before and after the change?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(b)</a:t>
            </a:r>
            <a:r>
              <a:rPr lang="en-US" sz="1700" dirty="0">
                <a:solidFill>
                  <a:srgbClr val="262626"/>
                </a:solidFill>
              </a:rPr>
              <a:t xml:space="preserve">	Draw the timing diagram of x, xsq, y and z from 0 to 25 ns: the unknown periods (?), the transition times and the values.</a:t>
            </a:r>
            <a:endParaRPr lang="en-US" sz="1700" dirty="0"/>
          </a:p>
        </p:txBody>
      </p:sp>
      <p:sp>
        <p:nvSpPr>
          <p:cNvPr id="5" name="TextBox 5"/>
          <p:cNvSpPr txBox="1"/>
          <p:nvPr/>
        </p:nvSpPr>
        <p:spPr>
          <a:xfrm>
            <a:off x="7360920" y="16916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SystemVerilog, combinational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7360920" y="2011680"/>
            <a:ext cx="4114800" cy="989838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xsq = x*x;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y = a*xsq;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z = y + b;</a:t>
            </a:r>
            <a:endParaRPr lang="en-US" sz="1500" dirty="0"/>
          </a:p>
        </p:txBody>
      </p:sp>
      <p:sp>
        <p:nvSpPr>
          <p:cNvPr id="7" name="Shape 7"/>
          <p:cNvSpPr/>
          <p:nvPr/>
        </p:nvSpPr>
        <p:spPr>
          <a:xfrm>
            <a:off x="7360920" y="3429000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57068C"/>
                </a:solidFill>
              </a:rPr>
              <a:t>Drawing the diagram</a:t>
            </a:r>
            <a:endParaRPr lang="en-US" sz="1400" dirty="0"/>
          </a:p>
          <a:p>
            <a:r>
              <a:rPr lang="en-US" sz="1300" dirty="0">
                <a:solidFill>
                  <a:srgbClr val="262626"/>
                </a:solidFill>
              </a:rPr>
              <a:t xml:space="preserve">By hand, or with waveflow's </a:t>
            </a:r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TimingDiagram</a:t>
            </a:r>
            <a:r>
              <a:rPr lang="en-US" sz="1300" dirty="0">
                <a:solidFill>
                  <a:srgbClr val="262626"/>
                </a:solidFill>
              </a:rPr>
              <a:t xml:space="preserve">: see the slide </a:t>
            </a:r>
            <a:r>
              <a:rPr lang="en-US" sz="1300" b="1" dirty="0">
                <a:solidFill>
                  <a:srgbClr val="57068C"/>
                </a:solidFill>
              </a:rPr>
              <a:t>Drawing Timing Diagrams in Python</a:t>
            </a:r>
            <a:r>
              <a:rPr lang="en-US" sz="1300" dirty="0">
                <a:solidFill>
                  <a:srgbClr val="262626"/>
                </a:solidFill>
              </a:rPr>
              <a:t>, where the value "x" draws an unknown period.</a:t>
            </a:r>
            <a:endParaRPr lang="en-US" sz="1300" dirty="0"/>
          </a:p>
        </p:txBody>
      </p:sp>
      <p:sp>
        <p:nvSpPr>
          <p:cNvPr id="8" name="TextBox 8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6 › Series timing</a:t>
            </a:r>
            <a:endParaRPr lang="en-US" sz="1200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6DA0E-C1C2-4B25-093B-26163C08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Typical Propagation Delays:  Low-End FPGA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D9AE152-6E99-5A5F-FADD-526C60A2DE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243628"/>
              </p:ext>
            </p:extLst>
          </p:nvPr>
        </p:nvGraphicFramePr>
        <p:xfrm>
          <a:off x="1044577" y="1777764"/>
          <a:ext cx="822801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3246">
                  <a:extLst>
                    <a:ext uri="{9D8B030D-6E8A-4147-A177-3AD203B41FA5}">
                      <a16:colId xmlns:a16="http://schemas.microsoft.com/office/drawing/2014/main" val="3489589385"/>
                    </a:ext>
                  </a:extLst>
                </a:gridCol>
                <a:gridCol w="2446588">
                  <a:extLst>
                    <a:ext uri="{9D8B030D-6E8A-4147-A177-3AD203B41FA5}">
                      <a16:colId xmlns:a16="http://schemas.microsoft.com/office/drawing/2014/main" val="3600933310"/>
                    </a:ext>
                  </a:extLst>
                </a:gridCol>
                <a:gridCol w="3858178">
                  <a:extLst>
                    <a:ext uri="{9D8B030D-6E8A-4147-A177-3AD203B41FA5}">
                      <a16:colId xmlns:a16="http://schemas.microsoft.com/office/drawing/2014/main" val="1638097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Hardware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FPGA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2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32-bit 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LUT + dedicated carry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1.5–3.0 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641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16-bit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DSP48E1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2.5–5.0 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8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16-bit comparator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LUT logic + carry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1.0–2.0 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2939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C121A-91E0-CE04-DEFA-C2317BEA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A86B23-9C2E-23ED-1B0E-D59B1613D2FA}"/>
              </a:ext>
            </a:extLst>
          </p:cNvPr>
          <p:cNvSpPr txBox="1">
            <a:spLocks/>
          </p:cNvSpPr>
          <p:nvPr/>
        </p:nvSpPr>
        <p:spPr>
          <a:xfrm>
            <a:off x="1189196" y="3968378"/>
            <a:ext cx="9813608" cy="187811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70000"/>
              <a:buFont typeface="Arial"/>
              <a:buChar char="■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Rough delays for a low-end FPGA (e.g., </a:t>
            </a:r>
            <a:r>
              <a:rPr lang="en-US" dirty="0" err="1"/>
              <a:t>Pynq</a:t>
            </a:r>
            <a:r>
              <a:rPr lang="en-US" dirty="0"/>
              <a:t> Z2)</a:t>
            </a:r>
          </a:p>
          <a:p>
            <a:r>
              <a:rPr lang="en-US" dirty="0"/>
              <a:t>We will explain the FPGA resources more in later units</a:t>
            </a:r>
          </a:p>
          <a:p>
            <a:r>
              <a:rPr lang="en-US" dirty="0"/>
              <a:t>Routing delays not included</a:t>
            </a:r>
          </a:p>
          <a:p>
            <a:pPr lvl="1"/>
            <a:r>
              <a:rPr lang="en-US" dirty="0"/>
              <a:t>May be large for more complex designs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43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3BE3E-BAA4-C755-7CA1-58981F99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6DD0-8304-5FB1-55A9-F9FA7C26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Propagation Delays:  ASIC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B275D51-FB46-1F6B-4BFC-DD42E042F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100826"/>
              </p:ext>
            </p:extLst>
          </p:nvPr>
        </p:nvGraphicFramePr>
        <p:xfrm>
          <a:off x="1044576" y="1777764"/>
          <a:ext cx="7518398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78">
                  <a:extLst>
                    <a:ext uri="{9D8B030D-6E8A-4147-A177-3AD203B41FA5}">
                      <a16:colId xmlns:a16="http://schemas.microsoft.com/office/drawing/2014/main" val="3489589385"/>
                    </a:ext>
                  </a:extLst>
                </a:gridCol>
                <a:gridCol w="2232525">
                  <a:extLst>
                    <a:ext uri="{9D8B030D-6E8A-4147-A177-3AD203B41FA5}">
                      <a16:colId xmlns:a16="http://schemas.microsoft.com/office/drawing/2014/main" val="3600933310"/>
                    </a:ext>
                  </a:extLst>
                </a:gridCol>
                <a:gridCol w="3528495">
                  <a:extLst>
                    <a:ext uri="{9D8B030D-6E8A-4147-A177-3AD203B41FA5}">
                      <a16:colId xmlns:a16="http://schemas.microsoft.com/office/drawing/2014/main" val="1638097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Hardware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2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32-bit 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Kogge‑Stone / Brent‑Kung / hybrid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150-450 </a:t>
                      </a:r>
                      <a:r>
                        <a:rPr lang="en-US" dirty="0" err="1"/>
                        <a:t>ps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641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16-bit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Wallace/Dadda tree + final 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300-700 </a:t>
                      </a:r>
                      <a:r>
                        <a:rPr lang="en-US" b="0" dirty="0" err="1"/>
                        <a:t>ps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8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16-bit comparator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XOR/AND/OR chain with early‑out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50-300 </a:t>
                      </a:r>
                      <a:r>
                        <a:rPr lang="en-US" dirty="0" err="1"/>
                        <a:t>ps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2939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D3A7C-EF26-CC2E-BE5D-3B19DE15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163503-62A8-33C2-066E-B6FAD0FF25CF}"/>
              </a:ext>
            </a:extLst>
          </p:cNvPr>
          <p:cNvSpPr txBox="1">
            <a:spLocks/>
          </p:cNvSpPr>
          <p:nvPr/>
        </p:nvSpPr>
        <p:spPr>
          <a:xfrm>
            <a:off x="1097280" y="4167188"/>
            <a:ext cx="7808595" cy="13811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70000"/>
              <a:buFont typeface="Arial"/>
              <a:buChar char="■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999999"/>
              </a:buClr>
              <a:buFont typeface="Arial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Rough delays for TSMC 16nm</a:t>
            </a:r>
          </a:p>
          <a:p>
            <a:r>
              <a:rPr lang="en-US" dirty="0"/>
              <a:t>Custom ASICs are much faster than FPGAs</a:t>
            </a:r>
          </a:p>
          <a:p>
            <a:pPr lvl="1"/>
            <a:r>
              <a:rPr lang="en-US" dirty="0"/>
              <a:t>Easily 5 to 10x faster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398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 with Multiple Paths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212080" cy="2560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 xml:space="preserve">Now a circuit with </a:t>
            </a:r>
            <a:r>
              <a:rPr lang="en-US" sz="1800" b="1" dirty="0">
                <a:solidFill>
                  <a:srgbClr val="57068C"/>
                </a:solidFill>
              </a:rPr>
              <a:t>two paths</a:t>
            </a:r>
            <a:r>
              <a:rPr lang="en-US" sz="1800" dirty="0">
                <a:solidFill>
                  <a:srgbClr val="262626"/>
                </a:solidFill>
              </a:rPr>
              <a:t xml:space="preserve"> into the adder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One through xsq = x·x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One through the ReLU: r = max(x, 0)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How does the timing diagram work?</a:t>
            </a:r>
            <a:endParaRPr lang="en-US" sz="1800" dirty="0"/>
          </a:p>
        </p:txBody>
      </p:sp>
      <p:sp>
        <p:nvSpPr>
          <p:cNvPr id="4" name="Shape 4"/>
          <p:cNvSpPr/>
          <p:nvPr/>
        </p:nvSpPr>
        <p:spPr>
          <a:xfrm>
            <a:off x="685800" y="4023360"/>
            <a:ext cx="4389120" cy="989838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xsq = x * x;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r = (x &gt; 0) ? x : 0;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y = xsq + r;</a:t>
            </a:r>
            <a:endParaRPr lang="en-US" sz="1500" dirty="0"/>
          </a:p>
        </p:txBody>
      </p:sp>
      <p:pic>
        <p:nvPicPr>
          <p:cNvPr id="5" name="Picture 5" descr="multipat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152775"/>
            <a:ext cx="5166360" cy="1820930"/>
          </a:xfrm>
          <a:prstGeom prst="rect">
            <a:avLst/>
          </a:prstGeom>
        </p:spPr>
      </p:pic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Multi-Path Timing: Input</a:t>
            </a:r>
          </a:p>
        </p:txBody>
      </p:sp>
      <p:pic>
        <p:nvPicPr>
          <p:cNvPr id="3" name="Picture 3" descr="multipath_s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08760"/>
            <a:ext cx="5058971" cy="1783080"/>
          </a:xfrm>
          <a:prstGeom prst="rect">
            <a:avLst/>
          </a:prstGeom>
        </p:spPr>
      </p:pic>
      <p:pic>
        <p:nvPicPr>
          <p:cNvPr id="4" name="Picture 4" descr="multipath_t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29000"/>
            <a:ext cx="6400800" cy="232592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452360" y="1600200"/>
            <a:ext cx="402336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x changes from 0 to 4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It is in transition, unknown, for t ∈ [10, 12]</a:t>
            </a:r>
            <a:endParaRPr lang="en-US" sz="16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Multi-Path Timing: First Steps</a:t>
            </a:r>
          </a:p>
        </p:txBody>
      </p:sp>
      <p:pic>
        <p:nvPicPr>
          <p:cNvPr id="3" name="Picture 3" descr="multipath_s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08760"/>
            <a:ext cx="4888444" cy="1783080"/>
          </a:xfrm>
          <a:prstGeom prst="rect">
            <a:avLst/>
          </a:prstGeom>
        </p:spPr>
      </p:pic>
      <p:pic>
        <p:nvPicPr>
          <p:cNvPr id="4" name="Picture 4" descr="multipath_t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29000"/>
            <a:ext cx="6400800" cy="232592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452360" y="1600200"/>
            <a:ext cx="402336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xsq: the multiplier takes 3 ns</a:t>
            </a:r>
            <a:endParaRPr lang="en-US" sz="16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400" dirty="0">
                <a:solidFill>
                  <a:srgbClr val="262626"/>
                </a:solidFill>
              </a:rPr>
              <a:t xml:space="preserve">Unknown in </a:t>
            </a:r>
            <a:r>
              <a:rPr lang="en-US" sz="1400" b="1" dirty="0">
                <a:solidFill>
                  <a:srgbClr val="57068C"/>
                </a:solidFill>
              </a:rPr>
              <a:t>[10, 15]</a:t>
            </a:r>
            <a:r>
              <a:rPr lang="en-US" sz="1400" dirty="0">
                <a:solidFill>
                  <a:srgbClr val="262626"/>
                </a:solidFill>
              </a:rPr>
              <a:t>, then 16</a:t>
            </a:r>
            <a:endParaRPr lang="en-US" sz="14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r: the ReLU takes 1 ns</a:t>
            </a:r>
            <a:endParaRPr lang="en-US" sz="16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400" dirty="0">
                <a:solidFill>
                  <a:srgbClr val="262626"/>
                </a:solidFill>
              </a:rPr>
              <a:t xml:space="preserve">Unknown in </a:t>
            </a:r>
            <a:r>
              <a:rPr lang="en-US" sz="1400" b="1" dirty="0">
                <a:solidFill>
                  <a:srgbClr val="57068C"/>
                </a:solidFill>
              </a:rPr>
              <a:t>[10, 13]</a:t>
            </a:r>
            <a:r>
              <a:rPr lang="en-US" sz="1400" dirty="0">
                <a:solidFill>
                  <a:srgbClr val="262626"/>
                </a:solidFill>
              </a:rPr>
              <a:t>, then 4</a:t>
            </a:r>
            <a:endParaRPr lang="en-US" sz="14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 xml:space="preserve">The two paths settle </a:t>
            </a:r>
            <a:r>
              <a:rPr lang="en-US" sz="1600" b="1" dirty="0">
                <a:solidFill>
                  <a:srgbClr val="57068C"/>
                </a:solidFill>
              </a:rPr>
              <a:t>in parallel</a:t>
            </a:r>
            <a:endParaRPr lang="en-US" sz="16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Multi-Path Timing: Output</a:t>
            </a:r>
          </a:p>
        </p:txBody>
      </p:sp>
      <p:pic>
        <p:nvPicPr>
          <p:cNvPr id="3" name="Picture 3" descr="multipath_s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08760"/>
            <a:ext cx="4888444" cy="1783080"/>
          </a:xfrm>
          <a:prstGeom prst="rect">
            <a:avLst/>
          </a:prstGeom>
        </p:spPr>
      </p:pic>
      <p:pic>
        <p:nvPicPr>
          <p:cNvPr id="4" name="Picture 4" descr="multipath_t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29000"/>
            <a:ext cx="6400800" cy="232592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452360" y="1600200"/>
            <a:ext cx="402336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 xml:space="preserve">y goes unknown when </a:t>
            </a:r>
            <a:r>
              <a:rPr lang="en-US" sz="1600" b="1" dirty="0">
                <a:solidFill>
                  <a:srgbClr val="57068C"/>
                </a:solidFill>
              </a:rPr>
              <a:t>either</a:t>
            </a:r>
            <a:r>
              <a:rPr lang="en-US" sz="1600" dirty="0">
                <a:solidFill>
                  <a:srgbClr val="262626"/>
                </a:solidFill>
              </a:rPr>
              <a:t xml:space="preserve"> input does: at 10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 xml:space="preserve">It settles once </a:t>
            </a:r>
            <a:r>
              <a:rPr lang="en-US" sz="1600" b="1" dirty="0">
                <a:solidFill>
                  <a:srgbClr val="57068C"/>
                </a:solidFill>
              </a:rPr>
              <a:t>both</a:t>
            </a:r>
            <a:r>
              <a:rPr lang="en-US" sz="1600" dirty="0">
                <a:solidFill>
                  <a:srgbClr val="262626"/>
                </a:solidFill>
              </a:rPr>
              <a:t xml:space="preserve"> are stable: xsq at 15, r at 13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 xml:space="preserve">The adder takes 1.5 ns: y is stable at </a:t>
            </a:r>
            <a:r>
              <a:rPr lang="en-US" sz="1600" b="1" dirty="0">
                <a:solidFill>
                  <a:srgbClr val="57068C"/>
                </a:solidFill>
              </a:rPr>
              <a:t>16.5</a:t>
            </a:r>
            <a:r>
              <a:rPr lang="en-US" sz="1600" dirty="0">
                <a:solidFill>
                  <a:srgbClr val="262626"/>
                </a:solidFill>
              </a:rPr>
              <a:t>, value 20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b="1" dirty="0">
                <a:solidFill>
                  <a:srgbClr val="57068C"/>
                </a:solidFill>
              </a:rPr>
              <a:t>The latest input sets the delay</a:t>
            </a:r>
            <a:endParaRPr lang="en-US" sz="16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Circuits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029200" cy="23774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Consider a conditional block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How is it implemented in hardware?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What is its maximum propagation delay?</a:t>
            </a:r>
            <a:endParaRPr lang="en-US" sz="1800" dirty="0"/>
          </a:p>
        </p:txBody>
      </p:sp>
      <p:sp>
        <p:nvSpPr>
          <p:cNvPr id="4" name="Shape 4"/>
          <p:cNvSpPr/>
          <p:nvPr/>
        </p:nvSpPr>
        <p:spPr>
          <a:xfrm>
            <a:off x="6035040" y="1737360"/>
            <a:ext cx="5440680" cy="1919478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// mux delay = 1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 xml:space="preserve">if (x &gt; 0) begin       // delay = 0.5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 xml:space="preserve">    z = func1(x);      // delay = 4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end else begin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 xml:space="preserve">    z = func2(x);      // delay = 2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end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 xml:space="preserve">y = func3(z);          // delay = 1.5</a:t>
            </a:r>
            <a:endParaRPr lang="en-US" sz="15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Conditionals as Multiplexers</a:t>
            </a:r>
          </a:p>
        </p:txBody>
      </p:sp>
      <p:pic>
        <p:nvPicPr>
          <p:cNvPr id="3" name="Picture 3" descr="cond_mu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91640"/>
            <a:ext cx="5852160" cy="240769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812280" y="16002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Multiplexer</a:t>
            </a:r>
            <a:r>
              <a:rPr lang="en-US" sz="1700" dirty="0">
                <a:solidFill>
                  <a:srgbClr val="262626"/>
                </a:solidFill>
              </a:rPr>
              <a:t>: passes one of its inputs, chosen by a condition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The inputs and the condition are </a:t>
            </a:r>
            <a:r>
              <a:rPr lang="en-US" sz="1700" b="1" dirty="0">
                <a:solidFill>
                  <a:srgbClr val="57068C"/>
                </a:solidFill>
              </a:rPr>
              <a:t>all computed in parallel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Each needs its own hardware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The branch not taken saves nothing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The output settles after the </a:t>
            </a:r>
            <a:r>
              <a:rPr lang="en-US" sz="1700" b="1" dirty="0">
                <a:solidFill>
                  <a:srgbClr val="57068C"/>
                </a:solidFill>
              </a:rPr>
              <a:t>slowest</a:t>
            </a:r>
            <a:r>
              <a:rPr lang="en-US" sz="1700" dirty="0">
                <a:solidFill>
                  <a:srgbClr val="262626"/>
                </a:solidFill>
              </a:rPr>
              <a:t xml:space="preserve"> input, plus the mux delay</a:t>
            </a:r>
            <a:endParaRPr lang="en-US" sz="17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Propagation Delay with a Multiplexer</a:t>
            </a:r>
          </a:p>
        </p:txBody>
      </p:sp>
      <p:pic>
        <p:nvPicPr>
          <p:cNvPr id="3" name="Picture 3" descr="mux_delay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600200"/>
            <a:ext cx="6035040" cy="248293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995160" y="1600200"/>
            <a:ext cx="448056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Arrival times in </a:t>
            </a:r>
            <a:r>
              <a:rPr lang="en-US" sz="1700" b="1" dirty="0">
                <a:solidFill>
                  <a:srgbClr val="57068C"/>
                </a:solidFill>
              </a:rPr>
              <a:t>violet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The slowest mux input is z = f</a:t>
            </a:r>
            <a:r>
              <a:rPr lang="en-US" sz="1700" baseline="-25000" dirty="0">
                <a:solidFill>
                  <a:srgbClr val="262626"/>
                </a:solidFill>
              </a:rPr>
              <a:t>1</a:t>
            </a:r>
            <a:r>
              <a:rPr lang="en-US" sz="1700" dirty="0">
                <a:solidFill>
                  <a:srgbClr val="262626"/>
                </a:solidFill>
              </a:rPr>
              <a:t>(x): 4 ns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Not the branch x happens to select: STA covers every input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The mux adds 1 ns: z is stable at </a:t>
            </a:r>
            <a:r>
              <a:rPr lang="en-US" sz="1700" b="1" dirty="0">
                <a:solidFill>
                  <a:srgbClr val="57068C"/>
                </a:solidFill>
              </a:rPr>
              <a:t>5 ns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y is stable 1.5 ns later: </a:t>
            </a:r>
            <a:r>
              <a:rPr lang="en-US" sz="1700" b="1" dirty="0">
                <a:solidFill>
                  <a:srgbClr val="57068C"/>
                </a:solidFill>
              </a:rPr>
              <a:t>6.5 ns</a:t>
            </a:r>
            <a:endParaRPr lang="en-US" sz="1700" dirty="0"/>
          </a:p>
        </p:txBody>
      </p:sp>
      <p:sp>
        <p:nvSpPr>
          <p:cNvPr id="5" name="TextBox 5"/>
          <p:cNvSpPr txBox="1"/>
          <p:nvPr/>
        </p:nvSpPr>
        <p:spPr>
          <a:xfrm>
            <a:off x="685800" y="566928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Homework in the LLM grader: Unit 6 › Timing with multiplexer</a:t>
            </a:r>
            <a:endParaRPr lang="en-US" sz="12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</a:t>
            </a:r>
          </a:p>
        </p:txBody>
      </p:sp>
      <p:pic>
        <p:nvPicPr>
          <p:cNvPr id="3" name="Picture 3" descr="mux_critic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00200"/>
            <a:ext cx="6035040" cy="248293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995160" y="1600200"/>
            <a:ext cx="448056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Critical path</a:t>
            </a:r>
            <a:r>
              <a:rPr lang="en-US" sz="1700" dirty="0">
                <a:solidFill>
                  <a:srgbClr val="262626"/>
                </a:solidFill>
              </a:rPr>
              <a:t>: the path with the largest propagation delay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Here: x → f</a:t>
            </a:r>
            <a:r>
              <a:rPr lang="en-US" sz="1500" baseline="-25000" dirty="0">
                <a:solidFill>
                  <a:srgbClr val="262626"/>
                </a:solidFill>
              </a:rPr>
              <a:t>1</a:t>
            </a:r>
            <a:r>
              <a:rPr lang="en-US" sz="1500" dirty="0">
                <a:solidFill>
                  <a:srgbClr val="262626"/>
                </a:solidFill>
              </a:rPr>
              <a:t xml:space="preserve"> → mux → f</a:t>
            </a:r>
            <a:r>
              <a:rPr lang="en-US" sz="1500" baseline="-25000" dirty="0">
                <a:solidFill>
                  <a:srgbClr val="262626"/>
                </a:solidFill>
              </a:rPr>
              <a:t>3</a:t>
            </a:r>
            <a:r>
              <a:rPr lang="en-US" sz="1500" dirty="0">
                <a:solidFill>
                  <a:srgbClr val="262626"/>
                </a:solidFill>
              </a:rPr>
              <a:t xml:space="preserve"> → y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To speed up the circuit, shorten the critical path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A faster f</a:t>
            </a:r>
            <a:r>
              <a:rPr lang="en-US" sz="1500" baseline="-25000" dirty="0">
                <a:solidFill>
                  <a:srgbClr val="262626"/>
                </a:solidFill>
              </a:rPr>
              <a:t>1</a:t>
            </a:r>
            <a:r>
              <a:rPr lang="en-US" sz="1500" dirty="0">
                <a:solidFill>
                  <a:srgbClr val="262626"/>
                </a:solidFill>
              </a:rPr>
              <a:t xml:space="preserve"> helps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A faster f</a:t>
            </a:r>
            <a:r>
              <a:rPr lang="en-US" sz="1500" baseline="-25000" dirty="0">
                <a:solidFill>
                  <a:srgbClr val="262626"/>
                </a:solidFill>
              </a:rPr>
              <a:t>2</a:t>
            </a:r>
            <a:r>
              <a:rPr lang="en-US" sz="1500" dirty="0">
                <a:solidFill>
                  <a:srgbClr val="262626"/>
                </a:solidFill>
              </a:rPr>
              <a:t xml:space="preserve"> does not</a:t>
            </a:r>
            <a:endParaRPr lang="en-US" sz="15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 Example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Functions F</a:t>
            </a:r>
            <a:r>
              <a:rPr lang="en-US" sz="1700" baseline="-25000" dirty="0">
                <a:solidFill>
                  <a:srgbClr val="262626"/>
                </a:solidFill>
              </a:rPr>
              <a:t>1</a:t>
            </a:r>
            <a:r>
              <a:rPr lang="en-US" sz="1700" dirty="0">
                <a:solidFill>
                  <a:srgbClr val="262626"/>
                </a:solidFill>
              </a:rPr>
              <a:t xml:space="preserve"> … F</a:t>
            </a:r>
            <a:r>
              <a:rPr lang="en-US" sz="1700" baseline="-25000" dirty="0">
                <a:solidFill>
                  <a:srgbClr val="262626"/>
                </a:solidFill>
              </a:rPr>
              <a:t>4</a:t>
            </a:r>
            <a:r>
              <a:rPr lang="en-US" sz="1700" dirty="0">
                <a:solidFill>
                  <a:srgbClr val="262626"/>
                </a:solidFill>
              </a:rPr>
              <a:t>, with x</a:t>
            </a:r>
            <a:r>
              <a:rPr lang="en-US" sz="1700" baseline="-25000" dirty="0">
                <a:solidFill>
                  <a:srgbClr val="262626"/>
                </a:solidFill>
              </a:rPr>
              <a:t>1</a:t>
            </a:r>
            <a:r>
              <a:rPr lang="en-US" sz="1700" dirty="0">
                <a:solidFill>
                  <a:srgbClr val="262626"/>
                </a:solidFill>
              </a:rPr>
              <a:t xml:space="preserve"> = F</a:t>
            </a:r>
            <a:r>
              <a:rPr lang="en-US" sz="1700" baseline="-25000" dirty="0">
                <a:solidFill>
                  <a:srgbClr val="262626"/>
                </a:solidFill>
              </a:rPr>
              <a:t>2</a:t>
            </a:r>
            <a:r>
              <a:rPr lang="en-US" sz="1700" dirty="0">
                <a:solidFill>
                  <a:srgbClr val="262626"/>
                </a:solidFill>
              </a:rPr>
              <a:t>(F</a:t>
            </a:r>
            <a:r>
              <a:rPr lang="en-US" sz="1700" baseline="-25000" dirty="0">
                <a:solidFill>
                  <a:srgbClr val="262626"/>
                </a:solidFill>
              </a:rPr>
              <a:t>1</a:t>
            </a:r>
            <a:r>
              <a:rPr lang="en-US" sz="1700" dirty="0">
                <a:solidFill>
                  <a:srgbClr val="262626"/>
                </a:solidFill>
              </a:rPr>
              <a:t>(a)), x</a:t>
            </a:r>
            <a:r>
              <a:rPr lang="en-US" sz="1700" baseline="-25000" dirty="0">
                <a:solidFill>
                  <a:srgbClr val="262626"/>
                </a:solidFill>
              </a:rPr>
              <a:t>2</a:t>
            </a:r>
            <a:r>
              <a:rPr lang="en-US" sz="1700" dirty="0">
                <a:solidFill>
                  <a:srgbClr val="262626"/>
                </a:solidFill>
              </a:rPr>
              <a:t xml:space="preserve"> = F</a:t>
            </a:r>
            <a:r>
              <a:rPr lang="en-US" sz="1700" baseline="-25000" dirty="0">
                <a:solidFill>
                  <a:srgbClr val="262626"/>
                </a:solidFill>
              </a:rPr>
              <a:t>3</a:t>
            </a:r>
            <a:r>
              <a:rPr lang="en-US" sz="1700" dirty="0">
                <a:solidFill>
                  <a:srgbClr val="262626"/>
                </a:solidFill>
              </a:rPr>
              <a:t>(b), y = F</a:t>
            </a:r>
            <a:r>
              <a:rPr lang="en-US" sz="1700" baseline="-25000" dirty="0">
                <a:solidFill>
                  <a:srgbClr val="262626"/>
                </a:solidFill>
              </a:rPr>
              <a:t>4</a:t>
            </a:r>
            <a:r>
              <a:rPr lang="en-US" sz="1700" dirty="0">
                <a:solidFill>
                  <a:srgbClr val="262626"/>
                </a:solidFill>
              </a:rPr>
              <a:t>(x</a:t>
            </a:r>
            <a:r>
              <a:rPr lang="en-US" sz="1700" baseline="-25000" dirty="0">
                <a:solidFill>
                  <a:srgbClr val="262626"/>
                </a:solidFill>
              </a:rPr>
              <a:t>1</a:t>
            </a:r>
            <a:r>
              <a:rPr lang="en-US" sz="1700" dirty="0">
                <a:solidFill>
                  <a:srgbClr val="262626"/>
                </a:solidFill>
              </a:rPr>
              <a:t>, x</a:t>
            </a:r>
            <a:r>
              <a:rPr lang="en-US" sz="1700" baseline="-25000" dirty="0">
                <a:solidFill>
                  <a:srgbClr val="262626"/>
                </a:solidFill>
              </a:rPr>
              <a:t>2</a:t>
            </a:r>
            <a:r>
              <a:rPr lang="en-US" sz="1700" dirty="0">
                <a:solidFill>
                  <a:srgbClr val="262626"/>
                </a:solidFill>
              </a:rPr>
              <a:t>)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Path 1</a:t>
            </a:r>
            <a:r>
              <a:rPr lang="en-US" sz="1700" dirty="0">
                <a:solidFill>
                  <a:srgbClr val="262626"/>
                </a:solidFill>
              </a:rPr>
              <a:t>: F</a:t>
            </a:r>
            <a:r>
              <a:rPr lang="en-US" sz="1700" baseline="-25000" dirty="0">
                <a:solidFill>
                  <a:srgbClr val="262626"/>
                </a:solidFill>
              </a:rPr>
              <a:t>1</a:t>
            </a:r>
            <a:r>
              <a:rPr lang="en-US" sz="1700" dirty="0">
                <a:solidFill>
                  <a:srgbClr val="262626"/>
                </a:solidFill>
              </a:rPr>
              <a:t xml:space="preserve"> → F</a:t>
            </a:r>
            <a:r>
              <a:rPr lang="en-US" sz="1700" baseline="-25000" dirty="0">
                <a:solidFill>
                  <a:srgbClr val="262626"/>
                </a:solidFill>
              </a:rPr>
              <a:t>2</a:t>
            </a:r>
            <a:r>
              <a:rPr lang="en-US" sz="1700" dirty="0">
                <a:solidFill>
                  <a:srgbClr val="262626"/>
                </a:solidFill>
              </a:rPr>
              <a:t xml:space="preserve"> → F</a:t>
            </a:r>
            <a:r>
              <a:rPr lang="en-US" sz="1700" baseline="-25000" dirty="0">
                <a:solidFill>
                  <a:srgbClr val="262626"/>
                </a:solidFill>
              </a:rPr>
              <a:t>4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 xml:space="preserve">3 + 2 + 2.5 = 7.5 ns: the longest, so the </a:t>
            </a:r>
            <a:r>
              <a:rPr lang="en-US" sz="1500" b="1" dirty="0">
                <a:solidFill>
                  <a:srgbClr val="00857C"/>
                </a:solidFill>
              </a:rPr>
              <a:t>critical path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Path 2</a:t>
            </a:r>
            <a:r>
              <a:rPr lang="en-US" sz="1700" dirty="0">
                <a:solidFill>
                  <a:srgbClr val="262626"/>
                </a:solidFill>
              </a:rPr>
              <a:t>: F</a:t>
            </a:r>
            <a:r>
              <a:rPr lang="en-US" sz="1700" baseline="-25000" dirty="0">
                <a:solidFill>
                  <a:srgbClr val="262626"/>
                </a:solidFill>
              </a:rPr>
              <a:t>3</a:t>
            </a:r>
            <a:r>
              <a:rPr lang="en-US" sz="1700" dirty="0">
                <a:solidFill>
                  <a:srgbClr val="262626"/>
                </a:solidFill>
              </a:rPr>
              <a:t xml:space="preserve"> → F</a:t>
            </a:r>
            <a:r>
              <a:rPr lang="en-US" sz="1700" baseline="-25000" dirty="0">
                <a:solidFill>
                  <a:srgbClr val="262626"/>
                </a:solidFill>
              </a:rPr>
              <a:t>4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3.5 + 2.5 = 6 ns: not critical</a:t>
            </a:r>
            <a:endParaRPr lang="en-US" sz="1500" dirty="0"/>
          </a:p>
        </p:txBody>
      </p:sp>
      <p:pic>
        <p:nvPicPr>
          <p:cNvPr id="4" name="Picture 4" descr="crit_examp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399106"/>
            <a:ext cx="4709160" cy="1968349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 Depends on the Implementation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10789920" cy="1097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Example: y = a + b + c + d, with each addition taking D</a:t>
            </a:r>
            <a:endParaRPr lang="en-US" sz="18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Synthesis tools look for a low-delay implementation</a:t>
            </a:r>
            <a:endParaRPr lang="en-US" sz="18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28803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IN SERIES: DELAY 3D</a:t>
            </a:r>
            <a:endParaRPr lang="en-US" sz="1200" dirty="0"/>
          </a:p>
        </p:txBody>
      </p:sp>
      <p:pic>
        <p:nvPicPr>
          <p:cNvPr id="5" name="Picture 5" descr="adders_seria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688492"/>
            <a:ext cx="4937760" cy="140125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355080" y="28803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AS A TREE: DELAY 2D</a:t>
            </a:r>
            <a:endParaRPr lang="en-US" sz="1200" dirty="0"/>
          </a:p>
        </p:txBody>
      </p:sp>
      <p:pic>
        <p:nvPicPr>
          <p:cNvPr id="7" name="Picture 7" descr="adders_paralle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6691" y="3200400"/>
            <a:ext cx="2677418" cy="2377440"/>
          </a:xfrm>
          <a:prstGeom prst="rect">
            <a:avLst/>
          </a:prstGeom>
        </p:spPr>
      </p:pic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08E9C-A299-169E-2B07-0B1B4BEF5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5944D-E548-45BE-F1A5-EA326FEEB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7440E-567D-0B5A-E1FF-5F9FA6121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/>
              <a:t>Static Timing Analysis in Combinational Logic</a:t>
            </a:r>
          </a:p>
          <a:p>
            <a:r>
              <a:rPr lang="en-US" sz="2400" dirty="0"/>
              <a:t>Static Timing Analysis in Sequential Logic</a:t>
            </a:r>
          </a:p>
          <a:p>
            <a:r>
              <a:rPr lang="en-US" sz="2400" dirty="0"/>
              <a:t>Sequential Logic Timing Diagrams</a:t>
            </a:r>
          </a:p>
          <a:p>
            <a:r>
              <a:rPr lang="en-US" sz="2400" dirty="0"/>
              <a:t>VCD Files and Timing Diagrams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FD378-C0A8-DA0D-4D68-D28FCC4D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7035030-B23F-1E79-576A-5C0785C3DB5D}"/>
              </a:ext>
            </a:extLst>
          </p:cNvPr>
          <p:cNvSpPr/>
          <p:nvPr/>
        </p:nvSpPr>
        <p:spPr>
          <a:xfrm>
            <a:off x="372294" y="198535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094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Logic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760720" cy="2743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Now: static timing analysis of synchronous logic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In this unit we assume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All registers are clocked on the same rising edge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 xml:space="preserve">The clock reaches every register at the same time: no </a:t>
            </a:r>
            <a:r>
              <a:rPr lang="en-US" sz="1500" b="1" dirty="0">
                <a:solidFill>
                  <a:srgbClr val="57068C"/>
                </a:solidFill>
              </a:rPr>
              <a:t>clock skew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Reset paths are not analyzed</a:t>
            </a:r>
            <a:endParaRPr lang="en-US" sz="1500" dirty="0"/>
          </a:p>
        </p:txBody>
      </p:sp>
      <p:pic>
        <p:nvPicPr>
          <p:cNvPr id="4" name="Picture 4" descr="reg_l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31920"/>
            <a:ext cx="3311378" cy="173736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6949440" y="1783080"/>
            <a:ext cx="4526280" cy="1687068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always_comb begin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 xml:space="preserve">    x_next = f(x);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end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always_ff @(posedge clk) begin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 xml:space="preserve">    x &lt;= x_next;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end</a:t>
            </a:r>
            <a:endParaRPr lang="en-US" sz="15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 for Synchronous Logic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640080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 xml:space="preserve">STA checks every </a:t>
            </a:r>
            <a:r>
              <a:rPr lang="en-US" sz="1800" b="1" dirty="0">
                <a:solidFill>
                  <a:srgbClr val="57068C"/>
                </a:solidFill>
              </a:rPr>
              <a:t>register-to-register</a:t>
            </a:r>
            <a:r>
              <a:rPr lang="en-US" sz="1800" dirty="0">
                <a:solidFill>
                  <a:srgbClr val="262626"/>
                </a:solidFill>
              </a:rPr>
              <a:t xml:space="preserve"> path: from a register output to a register input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Two conditions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b="1" dirty="0">
                <a:solidFill>
                  <a:srgbClr val="57068C"/>
                </a:solidFill>
              </a:rPr>
              <a:t>No path arrives too late</a:t>
            </a:r>
            <a:r>
              <a:rPr lang="en-US" sz="1500" dirty="0">
                <a:solidFill>
                  <a:srgbClr val="262626"/>
                </a:solidFill>
              </a:rPr>
              <a:t xml:space="preserve">: the next value must be stable a </a:t>
            </a:r>
            <a:r>
              <a:rPr lang="en-US" sz="1500" b="1" dirty="0">
                <a:solidFill>
                  <a:srgbClr val="57068C"/>
                </a:solidFill>
              </a:rPr>
              <a:t>setup time</a:t>
            </a:r>
            <a:r>
              <a:rPr lang="en-US" sz="1500" dirty="0">
                <a:solidFill>
                  <a:srgbClr val="262626"/>
                </a:solidFill>
              </a:rPr>
              <a:t xml:space="preserve"> before the next rising edge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b="1" dirty="0">
                <a:solidFill>
                  <a:srgbClr val="57068C"/>
                </a:solidFill>
              </a:rPr>
              <a:t>No path arrives too early</a:t>
            </a:r>
            <a:r>
              <a:rPr lang="en-US" sz="1500" dirty="0">
                <a:solidFill>
                  <a:srgbClr val="262626"/>
                </a:solidFill>
              </a:rPr>
              <a:t xml:space="preserve">: a register's input must stay stable a </a:t>
            </a:r>
            <a:r>
              <a:rPr lang="en-US" sz="1500" b="1" dirty="0">
                <a:solidFill>
                  <a:srgbClr val="57068C"/>
                </a:solidFill>
              </a:rPr>
              <a:t>hold time</a:t>
            </a:r>
            <a:r>
              <a:rPr lang="en-US" sz="1500" dirty="0">
                <a:solidFill>
                  <a:srgbClr val="262626"/>
                </a:solidFill>
              </a:rPr>
              <a:t xml:space="preserve"> after the edge</a:t>
            </a:r>
            <a:endParaRPr lang="en-US" sz="1500" dirty="0"/>
          </a:p>
        </p:txBody>
      </p:sp>
      <p:pic>
        <p:nvPicPr>
          <p:cNvPr id="4" name="Picture 4" descr="reg_l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858631"/>
            <a:ext cx="4069080" cy="2134898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and Hold Time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493776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Registers are usually </a:t>
            </a:r>
            <a:r>
              <a:rPr lang="en-US" sz="1700" b="1" dirty="0">
                <a:solidFill>
                  <a:srgbClr val="57068C"/>
                </a:solidFill>
              </a:rPr>
              <a:t>D flip-flops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Correct operation needs D stable around the rising edge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Setup margin</a:t>
            </a:r>
            <a:r>
              <a:rPr lang="en-US" sz="1700" dirty="0">
                <a:solidFill>
                  <a:srgbClr val="262626"/>
                </a:solidFill>
              </a:rPr>
              <a:t>: from D stable to the edge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 xml:space="preserve">Must exceed the </a:t>
            </a:r>
            <a:r>
              <a:rPr lang="en-US" sz="1500" b="1" dirty="0">
                <a:solidFill>
                  <a:srgbClr val="57068C"/>
                </a:solidFill>
              </a:rPr>
              <a:t>setup time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Hold margin</a:t>
            </a:r>
            <a:r>
              <a:rPr lang="en-US" sz="1700" dirty="0">
                <a:solidFill>
                  <a:srgbClr val="262626"/>
                </a:solidFill>
              </a:rPr>
              <a:t>: from the edge to D changing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 xml:space="preserve">Must exceed the </a:t>
            </a:r>
            <a:r>
              <a:rPr lang="en-US" sz="1500" b="1" dirty="0">
                <a:solidFill>
                  <a:srgbClr val="57068C"/>
                </a:solidFill>
              </a:rPr>
              <a:t>hold time</a:t>
            </a:r>
            <a:endParaRPr lang="en-US" sz="1500" dirty="0"/>
          </a:p>
        </p:txBody>
      </p:sp>
      <p:pic>
        <p:nvPicPr>
          <p:cNvPr id="4" name="Picture 4" descr="df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088" y="1554480"/>
            <a:ext cx="2256464" cy="1188720"/>
          </a:xfrm>
          <a:prstGeom prst="rect">
            <a:avLst/>
          </a:prstGeom>
        </p:spPr>
      </p:pic>
      <p:pic>
        <p:nvPicPr>
          <p:cNvPr id="5" name="Picture 5" descr="setup_hol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2993921"/>
            <a:ext cx="5623560" cy="2561798"/>
          </a:xfrm>
          <a:prstGeom prst="rect">
            <a:avLst/>
          </a:prstGeom>
        </p:spPr>
      </p:pic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Clock-to-Q Time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Clock-to-Q time</a:t>
            </a:r>
            <a:r>
              <a:rPr lang="en-US" sz="1700" dirty="0">
                <a:solidFill>
                  <a:srgbClr val="262626"/>
                </a:solidFill>
              </a:rPr>
              <a:t>: from the rising edge to a stable output Q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Loosely called the register delay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The time to pass D through to Q</a:t>
            </a:r>
            <a:endParaRPr lang="en-US" sz="1700" dirty="0"/>
          </a:p>
        </p:txBody>
      </p:sp>
      <p:pic>
        <p:nvPicPr>
          <p:cNvPr id="4" name="Picture 4" descr="df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4088" y="1554480"/>
            <a:ext cx="2256464" cy="1188720"/>
          </a:xfrm>
          <a:prstGeom prst="rect">
            <a:avLst/>
          </a:prstGeom>
        </p:spPr>
      </p:pic>
      <p:pic>
        <p:nvPicPr>
          <p:cNvPr id="5" name="Picture 5" descr="clk_to_q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042832"/>
            <a:ext cx="5623560" cy="2235375"/>
          </a:xfrm>
          <a:prstGeom prst="rect">
            <a:avLst/>
          </a:prstGeom>
        </p:spPr>
      </p:pic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Times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685800" y="1691640"/>
          <a:ext cx="10789920" cy="246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1840"/>
                <a:gridCol w="1554480"/>
                <a:gridCol w="1554480"/>
                <a:gridCol w="1600200"/>
                <a:gridCol w="2788920"/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Clock-to-Q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Setup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Hold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Typical clock period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Low-end FPGA (PYNQ-Z2 / Zynq-7000, Artix-7)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300–600 ps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150–300 ps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0–150 ps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5–10 ns (100–200 MHz)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High-end FPGA (UltraScale+, Stratix 10)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150–300 ps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100–200 ps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0–120 ps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1.5–3 ns (330–670 MHz)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ASIC, modern node (7–28 nm)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20–80 ps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20–60 ps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−20 to +40 ps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0.3–1 ns (1–3 GHz)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4" name="Shape 4"/>
          <p:cNvSpPr/>
          <p:nvPr/>
        </p:nvSpPr>
        <p:spPr>
          <a:xfrm>
            <a:off x="685800" y="4572000"/>
            <a:ext cx="10789920" cy="548640"/>
          </a:xfrm>
          <a:prstGeom prst="roundRect">
            <a:avLst>
              <a:gd name="adj" fmla="val 20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500" dirty="0">
                <a:solidFill>
                  <a:srgbClr val="262626"/>
                </a:solidFill>
              </a:rPr>
              <a:t xml:space="preserve">Modern nodes can have a </a:t>
            </a:r>
            <a:r>
              <a:rPr lang="en-US" sz="1500" b="1" dirty="0">
                <a:solidFill>
                  <a:srgbClr val="57068C"/>
                </a:solidFill>
              </a:rPr>
              <a:t>negative</a:t>
            </a:r>
            <a:r>
              <a:rPr lang="en-US" sz="1500" dirty="0">
                <a:solidFill>
                  <a:srgbClr val="262626"/>
                </a:solidFill>
              </a:rPr>
              <a:t xml:space="preserve"> hold time: the input may change slightly before the edge.</a:t>
            </a:r>
            <a:endParaRPr lang="en-US" sz="15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Register-to-Register Paths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645920"/>
            <a:ext cx="4206240" cy="2151888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always_comb begin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 xml:space="preserve">    z0 = func1(x0);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 xml:space="preserve">    z1 = func2(x1);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 xml:space="preserve">    x_next0 = func3(z0, z1);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 xml:space="preserve">    x_next1 = func4(z0, x1);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end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always_ff @(posedge clk) begin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 xml:space="preserve">    x0 &lt;= x_next0;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 xml:space="preserve">    x1 &lt;= x_next1;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end</a:t>
            </a:r>
            <a:endParaRPr lang="en-US" sz="1200" dirty="0"/>
          </a:p>
        </p:txBody>
      </p:sp>
      <p:sp>
        <p:nvSpPr>
          <p:cNvPr id="4" name="TextBox 4"/>
          <p:cNvSpPr txBox="1"/>
          <p:nvPr/>
        </p:nvSpPr>
        <p:spPr>
          <a:xfrm>
            <a:off x="5166360" y="1600200"/>
            <a:ext cx="6309360" cy="1554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b="1" dirty="0">
                <a:solidFill>
                  <a:srgbClr val="57068C"/>
                </a:solidFill>
              </a:rPr>
              <a:t>Register-to-register path</a:t>
            </a:r>
            <a:r>
              <a:rPr lang="en-US" sz="1600" dirty="0">
                <a:solidFill>
                  <a:srgbClr val="262626"/>
                </a:solidFill>
              </a:rPr>
              <a:t>: from any register output to any register input</a:t>
            </a:r>
            <a:endParaRPr lang="en-US" sz="16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Primed values x</a:t>
            </a:r>
            <a:r>
              <a:rPr lang="en-US" sz="1600" baseline="-25000" dirty="0">
                <a:solidFill>
                  <a:srgbClr val="262626"/>
                </a:solidFill>
              </a:rPr>
              <a:t>0</a:t>
            </a:r>
            <a:r>
              <a:rPr lang="en-US" sz="1600" dirty="0">
                <a:solidFill>
                  <a:srgbClr val="262626"/>
                </a:solidFill>
              </a:rPr>
              <a:t>′, x</a:t>
            </a:r>
            <a:r>
              <a:rPr lang="en-US" sz="1600" baseline="-25000" dirty="0">
                <a:solidFill>
                  <a:srgbClr val="262626"/>
                </a:solidFill>
              </a:rPr>
              <a:t>1</a:t>
            </a:r>
            <a:r>
              <a:rPr lang="en-US" sz="1600" dirty="0">
                <a:solidFill>
                  <a:srgbClr val="262626"/>
                </a:solidFill>
              </a:rPr>
              <a:t xml:space="preserve">′ are the values in the </a:t>
            </a:r>
            <a:r>
              <a:rPr lang="en-US" sz="1600" b="1" dirty="0">
                <a:solidFill>
                  <a:srgbClr val="57068C"/>
                </a:solidFill>
              </a:rPr>
              <a:t>next</a:t>
            </a:r>
            <a:r>
              <a:rPr lang="en-US" sz="1600" dirty="0">
                <a:solidFill>
                  <a:srgbClr val="262626"/>
                </a:solidFill>
              </a:rPr>
              <a:t xml:space="preserve"> cycle</a:t>
            </a:r>
            <a:endParaRPr lang="en-US" sz="1600" dirty="0"/>
          </a:p>
        </p:txBody>
      </p:sp>
      <p:pic>
        <p:nvPicPr>
          <p:cNvPr id="5" name="Picture 5" descr="twov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719" y="3108960"/>
            <a:ext cx="6150642" cy="2514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85800" y="42062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FOUR PATHS</a:t>
            </a:r>
            <a:endParaRPr lang="en-US" sz="12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448056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x0 → f1 → f3 → x0′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x0 → f1 → f4 → x1′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x1 → f2 → f3 → x0′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x1 → f4 → x1′</a:t>
            </a:r>
            <a:endParaRPr lang="en-US" sz="13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Verifying the Setup Time</a:t>
            </a:r>
          </a:p>
        </p:txBody>
      </p:sp>
      <p:pic>
        <p:nvPicPr>
          <p:cNvPr id="3" name="Picture 3" descr="sta_pat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00200"/>
            <a:ext cx="5394960" cy="248998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400800" y="1600200"/>
            <a:ext cx="507492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For now, assume the hold condition is met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Every path must arrive a setup time before the next edge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A path's delay has two parts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T</a:t>
            </a:r>
            <a:r>
              <a:rPr lang="en-US" sz="1500" baseline="-25000" dirty="0">
                <a:solidFill>
                  <a:srgbClr val="262626"/>
                </a:solidFill>
              </a:rPr>
              <a:t>clk-Q</a:t>
            </a:r>
            <a:r>
              <a:rPr lang="en-US" sz="1500" dirty="0">
                <a:solidFill>
                  <a:srgbClr val="262626"/>
                </a:solidFill>
              </a:rPr>
              <a:t>: the register that launches it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T</a:t>
            </a:r>
            <a:r>
              <a:rPr lang="en-US" sz="1500" baseline="-25000" dirty="0">
                <a:solidFill>
                  <a:srgbClr val="262626"/>
                </a:solidFill>
              </a:rPr>
              <a:t>PD</a:t>
            </a:r>
            <a:r>
              <a:rPr lang="en-US" sz="1500" dirty="0">
                <a:solidFill>
                  <a:srgbClr val="262626"/>
                </a:solidFill>
              </a:rPr>
              <a:t>: the combinational logic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T</a:t>
            </a:r>
            <a:r>
              <a:rPr lang="en-US" sz="1700" baseline="-25000" dirty="0">
                <a:solidFill>
                  <a:srgbClr val="262626"/>
                </a:solidFill>
              </a:rPr>
              <a:t>crit</a:t>
            </a:r>
            <a:r>
              <a:rPr lang="en-US" sz="1700" dirty="0">
                <a:solidFill>
                  <a:srgbClr val="262626"/>
                </a:solidFill>
              </a:rPr>
              <a:t>: the largest T</a:t>
            </a:r>
            <a:r>
              <a:rPr lang="en-US" sz="1700" baseline="-25000" dirty="0">
                <a:solidFill>
                  <a:srgbClr val="262626"/>
                </a:solidFill>
              </a:rPr>
              <a:t>PD</a:t>
            </a:r>
            <a:r>
              <a:rPr lang="en-US" sz="1700" dirty="0">
                <a:solidFill>
                  <a:srgbClr val="262626"/>
                </a:solidFill>
              </a:rPr>
              <a:t>, along the critical path</a:t>
            </a:r>
            <a:endParaRPr lang="en-US" sz="1700" dirty="0"/>
          </a:p>
        </p:txBody>
      </p:sp>
      <p:sp>
        <p:nvSpPr>
          <p:cNvPr id="5" name="Shape 5"/>
          <p:cNvSpPr/>
          <p:nvPr/>
        </p:nvSpPr>
        <p:spPr>
          <a:xfrm>
            <a:off x="685800" y="5074920"/>
            <a:ext cx="10789920" cy="640080"/>
          </a:xfrm>
          <a:prstGeom prst="rect">
            <a:avLst/>
          </a:prstGeom>
          <a:solidFill>
            <a:srgbClr val="EEE6F3"/>
          </a:solidFill>
          <a:ln w="15875">
            <a:solidFill>
              <a:srgbClr val="57068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2000" dirty="0">
                <a:solidFill>
                  <a:srgbClr val="262626"/>
                </a:solidFill>
              </a:rPr>
              <a:t xml:space="preserve">To meet timing:   </a:t>
            </a:r>
            <a:r>
              <a:rPr lang="en-US" sz="2000" b="1" dirty="0">
                <a:solidFill>
                  <a:srgbClr val="57068C"/>
                </a:solidFill>
              </a:rPr>
              <a:t>T</a:t>
            </a:r>
            <a:r>
              <a:rPr lang="en-US" sz="2000" b="1" baseline="-25000" dirty="0">
                <a:solidFill>
                  <a:srgbClr val="57068C"/>
                </a:solidFill>
              </a:rPr>
              <a:t>clk</a:t>
            </a:r>
            <a:r>
              <a:rPr lang="en-US" sz="2000" b="1" dirty="0">
                <a:solidFill>
                  <a:srgbClr val="57068C"/>
                </a:solidFill>
              </a:rPr>
              <a:t xml:space="preserve"> ≥ T</a:t>
            </a:r>
            <a:r>
              <a:rPr lang="en-US" sz="2000" b="1" baseline="-25000" dirty="0">
                <a:solidFill>
                  <a:srgbClr val="57068C"/>
                </a:solidFill>
              </a:rPr>
              <a:t>crit</a:t>
            </a:r>
            <a:r>
              <a:rPr lang="en-US" sz="2000" b="1" dirty="0">
                <a:solidFill>
                  <a:srgbClr val="57068C"/>
                </a:solidFill>
              </a:rPr>
              <a:t xml:space="preserve"> + T</a:t>
            </a:r>
            <a:r>
              <a:rPr lang="en-US" sz="2000" b="1" baseline="-25000" dirty="0">
                <a:solidFill>
                  <a:srgbClr val="57068C"/>
                </a:solidFill>
              </a:rPr>
              <a:t>clk-Q</a:t>
            </a:r>
            <a:r>
              <a:rPr lang="en-US" sz="2000" b="1" dirty="0">
                <a:solidFill>
                  <a:srgbClr val="57068C"/>
                </a:solidFill>
              </a:rPr>
              <a:t xml:space="preserve"> + T</a:t>
            </a:r>
            <a:r>
              <a:rPr lang="en-US" sz="2000" b="1" baseline="-25000" dirty="0">
                <a:solidFill>
                  <a:srgbClr val="57068C"/>
                </a:solidFill>
              </a:rPr>
              <a:t>setup</a:t>
            </a:r>
            <a:endParaRPr lang="en-US" sz="20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or Failing Timing</a:t>
            </a:r>
          </a:p>
        </p:txBody>
      </p:sp>
      <p:sp>
        <p:nvSpPr>
          <p:cNvPr id="3" name="Shape 3"/>
          <p:cNvSpPr/>
          <p:nvPr/>
        </p:nvSpPr>
        <p:spPr>
          <a:xfrm>
            <a:off x="2011680" y="1691640"/>
            <a:ext cx="8138160" cy="822960"/>
          </a:xfrm>
          <a:prstGeom prst="roundRect">
            <a:avLst>
              <a:gd name="adj" fmla="val 16000"/>
            </a:avLst>
          </a:prstGeom>
          <a:solidFill>
            <a:srgbClr val="EEE6F3"/>
          </a:solidFill>
          <a:ln w="15875">
            <a:solidFill>
              <a:srgbClr val="57068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2400" b="1" dirty="0">
                <a:solidFill>
                  <a:srgbClr val="57068C"/>
                </a:solidFill>
              </a:rPr>
              <a:t>T</a:t>
            </a:r>
            <a:r>
              <a:rPr lang="en-US" sz="2400" b="1" baseline="-25000" dirty="0">
                <a:solidFill>
                  <a:srgbClr val="57068C"/>
                </a:solidFill>
              </a:rPr>
              <a:t>clk</a:t>
            </a:r>
            <a:r>
              <a:rPr lang="en-US" sz="2400" b="1" dirty="0">
                <a:solidFill>
                  <a:srgbClr val="57068C"/>
                </a:solidFill>
              </a:rPr>
              <a:t xml:space="preserve"> ≥ T</a:t>
            </a:r>
            <a:r>
              <a:rPr lang="en-US" sz="2400" b="1" baseline="-25000" dirty="0">
                <a:solidFill>
                  <a:srgbClr val="57068C"/>
                </a:solidFill>
              </a:rPr>
              <a:t>crit</a:t>
            </a:r>
            <a:r>
              <a:rPr lang="en-US" sz="2400" b="1" dirty="0">
                <a:solidFill>
                  <a:srgbClr val="57068C"/>
                </a:solidFill>
              </a:rPr>
              <a:t xml:space="preserve"> + T</a:t>
            </a:r>
            <a:r>
              <a:rPr lang="en-US" sz="2400" b="1" baseline="-25000" dirty="0">
                <a:solidFill>
                  <a:srgbClr val="57068C"/>
                </a:solidFill>
              </a:rPr>
              <a:t>clk-Q</a:t>
            </a:r>
            <a:r>
              <a:rPr lang="en-US" sz="2400" b="1" dirty="0">
                <a:solidFill>
                  <a:srgbClr val="57068C"/>
                </a:solidFill>
              </a:rPr>
              <a:t xml:space="preserve"> + T</a:t>
            </a:r>
            <a:r>
              <a:rPr lang="en-US" sz="2400" b="1" baseline="-25000" dirty="0">
                <a:solidFill>
                  <a:srgbClr val="57068C"/>
                </a:solidFill>
              </a:rPr>
              <a:t>setup</a:t>
            </a:r>
            <a:endParaRPr lang="en-US" sz="24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2788920"/>
            <a:ext cx="10789920" cy="2926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T</a:t>
            </a:r>
            <a:r>
              <a:rPr lang="en-US" sz="1800" baseline="-25000" dirty="0">
                <a:solidFill>
                  <a:srgbClr val="262626"/>
                </a:solidFill>
              </a:rPr>
              <a:t>clk</a:t>
            </a:r>
            <a:r>
              <a:rPr lang="en-US" sz="1800" dirty="0">
                <a:solidFill>
                  <a:srgbClr val="262626"/>
                </a:solidFill>
              </a:rPr>
              <a:t xml:space="preserve">: the clock period;  f</a:t>
            </a:r>
            <a:r>
              <a:rPr lang="en-US" sz="1800" baseline="-25000" dirty="0">
                <a:solidFill>
                  <a:srgbClr val="262626"/>
                </a:solidFill>
              </a:rPr>
              <a:t>clk</a:t>
            </a:r>
            <a:r>
              <a:rPr lang="en-US" sz="1800" dirty="0">
                <a:solidFill>
                  <a:srgbClr val="262626"/>
                </a:solidFill>
              </a:rPr>
              <a:t xml:space="preserve"> = 1 / T</a:t>
            </a:r>
            <a:r>
              <a:rPr lang="en-US" sz="1800" baseline="-25000" dirty="0">
                <a:solidFill>
                  <a:srgbClr val="262626"/>
                </a:solidFill>
              </a:rPr>
              <a:t>clk</a:t>
            </a:r>
            <a:r>
              <a:rPr lang="en-US" sz="1800" dirty="0">
                <a:solidFill>
                  <a:srgbClr val="262626"/>
                </a:solidFill>
              </a:rPr>
              <a:t>, the clock frequency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T</a:t>
            </a:r>
            <a:r>
              <a:rPr lang="en-US" sz="1800" baseline="-25000" dirty="0">
                <a:solidFill>
                  <a:srgbClr val="262626"/>
                </a:solidFill>
              </a:rPr>
              <a:t>crit</a:t>
            </a:r>
            <a:r>
              <a:rPr lang="en-US" sz="1800" dirty="0">
                <a:solidFill>
                  <a:srgbClr val="262626"/>
                </a:solidFill>
              </a:rPr>
              <a:t>: the delay of the critical path through the combinational logic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T</a:t>
            </a:r>
            <a:r>
              <a:rPr lang="en-US" sz="1800" baseline="-25000" dirty="0">
                <a:solidFill>
                  <a:srgbClr val="262626"/>
                </a:solidFill>
              </a:rPr>
              <a:t>setup</a:t>
            </a:r>
            <a:r>
              <a:rPr lang="en-US" sz="1800" dirty="0">
                <a:solidFill>
                  <a:srgbClr val="262626"/>
                </a:solidFill>
              </a:rPr>
              <a:t xml:space="preserve">: the minimum setup time;  T</a:t>
            </a:r>
            <a:r>
              <a:rPr lang="en-US" sz="1800" baseline="-25000" dirty="0">
                <a:solidFill>
                  <a:srgbClr val="262626"/>
                </a:solidFill>
              </a:rPr>
              <a:t>clk-Q</a:t>
            </a:r>
            <a:r>
              <a:rPr lang="en-US" sz="1800" dirty="0">
                <a:solidFill>
                  <a:srgbClr val="262626"/>
                </a:solidFill>
              </a:rPr>
              <a:t>: the clock-to-Q time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 xml:space="preserve">If it holds, the design </a:t>
            </a:r>
            <a:r>
              <a:rPr lang="en-US" sz="1800" b="1" dirty="0">
                <a:solidFill>
                  <a:srgbClr val="00857C"/>
                </a:solidFill>
              </a:rPr>
              <a:t>meets timing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 xml:space="preserve">Otherwise it </a:t>
            </a:r>
            <a:r>
              <a:rPr lang="en-US" sz="1800" b="1" dirty="0">
                <a:solidFill>
                  <a:srgbClr val="B4530F"/>
                </a:solidFill>
              </a:rPr>
              <a:t>fails timing</a:t>
            </a:r>
            <a:r>
              <a:rPr lang="en-US" sz="1800" dirty="0">
                <a:solidFill>
                  <a:srgbClr val="262626"/>
                </a:solidFill>
              </a:rPr>
              <a:t xml:space="preserve">: a </a:t>
            </a:r>
            <a:r>
              <a:rPr lang="en-US" sz="1800" b="1" dirty="0">
                <a:solidFill>
                  <a:srgbClr val="57068C"/>
                </a:solidFill>
              </a:rPr>
              <a:t>timing violation</a:t>
            </a:r>
            <a:endParaRPr lang="en-US" sz="18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the Critical Path</a:t>
            </a:r>
          </a:p>
        </p:txBody>
      </p:sp>
      <p:pic>
        <p:nvPicPr>
          <p:cNvPr id="3" name="Picture 3" descr="twovar_cr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54480"/>
            <a:ext cx="6766560" cy="2766409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001000" y="1600200"/>
          <a:ext cx="3474720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Value [ns]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f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1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PD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1.8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f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2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PD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2.2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f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3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PD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2.3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f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4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PD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2.1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clk-Q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0.2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setup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0.1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685800" y="4617720"/>
            <a:ext cx="6949440" cy="1188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Arrival times computed block by block, as for combinational logic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 xml:space="preserve">x_next0: max(1.8, 2.2) + 2.3 = 4.5;   x_next1: 1.8 + 2.1 = 3.9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Critical path x</a:t>
            </a:r>
            <a:r>
              <a:rPr lang="en-US" sz="1500" baseline="-25000" dirty="0">
                <a:solidFill>
                  <a:srgbClr val="262626"/>
                </a:solidFill>
              </a:rPr>
              <a:t>1</a:t>
            </a:r>
            <a:r>
              <a:rPr lang="en-US" sz="1500" dirty="0">
                <a:solidFill>
                  <a:srgbClr val="262626"/>
                </a:solidFill>
              </a:rPr>
              <a:t xml:space="preserve"> → f</a:t>
            </a:r>
            <a:r>
              <a:rPr lang="en-US" sz="1500" baseline="-25000" dirty="0">
                <a:solidFill>
                  <a:srgbClr val="262626"/>
                </a:solidFill>
              </a:rPr>
              <a:t>2</a:t>
            </a:r>
            <a:r>
              <a:rPr lang="en-US" sz="1500" dirty="0">
                <a:solidFill>
                  <a:srgbClr val="262626"/>
                </a:solidFill>
              </a:rPr>
              <a:t xml:space="preserve"> → f</a:t>
            </a:r>
            <a:r>
              <a:rPr lang="en-US" sz="1500" baseline="-25000" dirty="0">
                <a:solidFill>
                  <a:srgbClr val="262626"/>
                </a:solidFill>
              </a:rPr>
              <a:t>3</a:t>
            </a:r>
            <a:r>
              <a:rPr lang="en-US" sz="1500" dirty="0">
                <a:solidFill>
                  <a:srgbClr val="262626"/>
                </a:solidFill>
              </a:rPr>
              <a:t xml:space="preserve"> → x</a:t>
            </a:r>
            <a:r>
              <a:rPr lang="en-US" sz="1500" baseline="-25000" dirty="0">
                <a:solidFill>
                  <a:srgbClr val="262626"/>
                </a:solidFill>
              </a:rPr>
              <a:t>0</a:t>
            </a:r>
            <a:r>
              <a:rPr lang="en-US" sz="1500" dirty="0">
                <a:solidFill>
                  <a:srgbClr val="262626"/>
                </a:solidFill>
              </a:rPr>
              <a:t xml:space="preserve">′:  </a:t>
            </a:r>
            <a:r>
              <a:rPr lang="en-US" sz="1500" b="1" dirty="0">
                <a:solidFill>
                  <a:srgbClr val="00857C"/>
                </a:solidFill>
              </a:rPr>
              <a:t>T</a:t>
            </a:r>
            <a:r>
              <a:rPr lang="en-US" sz="1500" b="1" baseline="-25000" dirty="0">
                <a:solidFill>
                  <a:srgbClr val="00857C"/>
                </a:solidFill>
              </a:rPr>
              <a:t>crit</a:t>
            </a:r>
            <a:r>
              <a:rPr lang="en-US" sz="1500" b="1" dirty="0">
                <a:solidFill>
                  <a:srgbClr val="00857C"/>
                </a:solidFill>
              </a:rPr>
              <a:t xml:space="preserve"> = 4.5 ns</a:t>
            </a:r>
            <a:endParaRPr lang="en-US" sz="15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Maximum Clock Frequency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45920"/>
            <a:ext cx="5669280" cy="3566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800" dirty="0">
                <a:solidFill>
                  <a:srgbClr val="262626"/>
                </a:solidFill>
              </a:rPr>
              <a:t>From the previous slide, T</a:t>
            </a:r>
            <a:r>
              <a:rPr lang="en-US" sz="1800" baseline="-25000" dirty="0">
                <a:solidFill>
                  <a:srgbClr val="262626"/>
                </a:solidFill>
              </a:rPr>
              <a:t>crit</a:t>
            </a:r>
            <a:r>
              <a:rPr lang="en-US" sz="1800" dirty="0">
                <a:solidFill>
                  <a:srgbClr val="262626"/>
                </a:solidFill>
              </a:rPr>
              <a:t xml:space="preserve"> = 4.5 ns</a:t>
            </a:r>
            <a:endParaRPr lang="en-US" sz="1800" dirty="0"/>
          </a:p>
          <a:p>
            <a:r>
              <a:rPr lang="en-US" sz="1800" dirty="0">
                <a:solidFill>
                  <a:srgbClr val="262626"/>
                </a:solidFill>
              </a:rPr>
              <a:t>So to meet timing</a:t>
            </a:r>
            <a:endParaRPr lang="en-US" sz="1800" dirty="0"/>
          </a:p>
          <a:p>
            <a:pPr marL="365760">
              <a:spcBef>
                <a:spcPts val="600"/>
              </a:spcBef>
            </a:pPr>
            <a:r>
              <a:rPr lang="en-US" sz="1800" dirty="0">
                <a:solidFill>
                  <a:srgbClr val="262626"/>
                </a:solidFill>
              </a:rPr>
              <a:t>T</a:t>
            </a:r>
            <a:r>
              <a:rPr lang="en-US" sz="1800" baseline="-25000" dirty="0">
                <a:solidFill>
                  <a:srgbClr val="262626"/>
                </a:solidFill>
              </a:rPr>
              <a:t>clk</a:t>
            </a:r>
            <a:r>
              <a:rPr lang="en-US" sz="1800" dirty="0">
                <a:solidFill>
                  <a:srgbClr val="262626"/>
                </a:solidFill>
              </a:rPr>
              <a:t xml:space="preserve"> ≥ T</a:t>
            </a:r>
            <a:r>
              <a:rPr lang="en-US" sz="1800" baseline="-25000" dirty="0">
                <a:solidFill>
                  <a:srgbClr val="262626"/>
                </a:solidFill>
              </a:rPr>
              <a:t>crit</a:t>
            </a:r>
            <a:r>
              <a:rPr lang="en-US" sz="1800" dirty="0">
                <a:solidFill>
                  <a:srgbClr val="262626"/>
                </a:solidFill>
              </a:rPr>
              <a:t xml:space="preserve"> + T</a:t>
            </a:r>
            <a:r>
              <a:rPr lang="en-US" sz="1800" baseline="-25000" dirty="0">
                <a:solidFill>
                  <a:srgbClr val="262626"/>
                </a:solidFill>
              </a:rPr>
              <a:t>clk-Q</a:t>
            </a:r>
            <a:r>
              <a:rPr lang="en-US" sz="1800" dirty="0">
                <a:solidFill>
                  <a:srgbClr val="262626"/>
                </a:solidFill>
              </a:rPr>
              <a:t xml:space="preserve"> + T</a:t>
            </a:r>
            <a:r>
              <a:rPr lang="en-US" sz="1800" baseline="-25000" dirty="0">
                <a:solidFill>
                  <a:srgbClr val="262626"/>
                </a:solidFill>
              </a:rPr>
              <a:t>setup</a:t>
            </a:r>
            <a:endParaRPr lang="en-US" sz="1800" dirty="0"/>
          </a:p>
          <a:p>
            <a:pPr marL="868680">
              <a:spcBef>
                <a:spcPts val="400"/>
              </a:spcBef>
            </a:pPr>
            <a:r>
              <a:rPr lang="en-US" sz="1800" dirty="0">
                <a:solidFill>
                  <a:srgbClr val="262626"/>
                </a:solidFill>
              </a:rPr>
              <a:t xml:space="preserve">= 4.5 + 0.2 + 0.1 = </a:t>
            </a:r>
            <a:r>
              <a:rPr lang="en-US" sz="1800" b="1" dirty="0">
                <a:solidFill>
                  <a:srgbClr val="57068C"/>
                </a:solidFill>
              </a:rPr>
              <a:t>4.8 ns</a:t>
            </a:r>
            <a:endParaRPr lang="en-US" sz="1800" dirty="0"/>
          </a:p>
          <a:p>
            <a:pPr>
              <a:spcBef>
                <a:spcPts val="1400"/>
              </a:spcBef>
            </a:pPr>
            <a:r>
              <a:rPr lang="en-US" sz="1800" dirty="0">
                <a:solidFill>
                  <a:srgbClr val="262626"/>
                </a:solidFill>
              </a:rPr>
              <a:t>Maximum clock frequency</a:t>
            </a:r>
            <a:endParaRPr lang="en-US" sz="1800" dirty="0"/>
          </a:p>
          <a:p>
            <a:pPr marL="365760">
              <a:spcBef>
                <a:spcPts val="600"/>
              </a:spcBef>
            </a:pPr>
            <a:r>
              <a:rPr lang="en-US" sz="1800" dirty="0">
                <a:solidFill>
                  <a:srgbClr val="262626"/>
                </a:solidFill>
              </a:rPr>
              <a:t>f</a:t>
            </a:r>
            <a:r>
              <a:rPr lang="en-US" sz="1800" baseline="-25000" dirty="0">
                <a:solidFill>
                  <a:srgbClr val="262626"/>
                </a:solidFill>
              </a:rPr>
              <a:t>clk</a:t>
            </a:r>
            <a:r>
              <a:rPr lang="en-US" sz="1800" dirty="0">
                <a:solidFill>
                  <a:srgbClr val="262626"/>
                </a:solidFill>
              </a:rPr>
              <a:t xml:space="preserve"> = 1 / T</a:t>
            </a:r>
            <a:r>
              <a:rPr lang="en-US" sz="1800" baseline="-25000" dirty="0">
                <a:solidFill>
                  <a:srgbClr val="262626"/>
                </a:solidFill>
              </a:rPr>
              <a:t>clk</a:t>
            </a:r>
            <a:r>
              <a:rPr lang="en-US" sz="1800" dirty="0">
                <a:solidFill>
                  <a:srgbClr val="262626"/>
                </a:solidFill>
              </a:rPr>
              <a:t xml:space="preserve"> ≤ 1 / 4.8 ns ≈ </a:t>
            </a:r>
            <a:r>
              <a:rPr lang="en-US" sz="1800" b="1" dirty="0">
                <a:solidFill>
                  <a:srgbClr val="00857C"/>
                </a:solidFill>
              </a:rPr>
              <a:t>208 MHz</a:t>
            </a:r>
            <a:endParaRPr lang="en-US" sz="1800" dirty="0"/>
          </a:p>
        </p:txBody>
      </p:sp>
      <p:pic>
        <p:nvPicPr>
          <p:cNvPr id="4" name="Picture 4" descr="twovar_cr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373915"/>
            <a:ext cx="4937760" cy="2018731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85800" y="566928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Homework in the LLM grader: Unit 6 › Critical path</a:t>
            </a:r>
            <a:endParaRPr lang="en-US" sz="12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the Minimum Hold Time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94360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Consider a simple </a:t>
            </a:r>
            <a:r>
              <a:rPr lang="en-US" sz="1700" b="1" dirty="0">
                <a:solidFill>
                  <a:srgbClr val="57068C"/>
                </a:solidFill>
              </a:rPr>
              <a:t>delay line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A naive implementation has a very short path from x0 to the input of x1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It could violate the minimum hold time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Place and route fixes this: it inserts delay where a path is too short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So in a reasonable synchronous design, the RTL need not worry about hold time</a:t>
            </a:r>
            <a:endParaRPr lang="en-US" sz="1700" dirty="0"/>
          </a:p>
        </p:txBody>
      </p:sp>
      <p:sp>
        <p:nvSpPr>
          <p:cNvPr id="4" name="Shape 4"/>
          <p:cNvSpPr/>
          <p:nvPr/>
        </p:nvSpPr>
        <p:spPr>
          <a:xfrm>
            <a:off x="7040880" y="1737360"/>
            <a:ext cx="4434840" cy="1160272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always_ff @(posedge clk) begin</a:t>
            </a:r>
            <a:endParaRPr lang="en-US" sz="1400" dirty="0"/>
          </a:p>
          <a:p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 xml:space="preserve">    x0 &lt;= x;</a:t>
            </a:r>
            <a:endParaRPr lang="en-US" sz="1400" dirty="0"/>
          </a:p>
          <a:p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 xml:space="preserve">    x1 &lt;= x0;</a:t>
            </a:r>
            <a:endParaRPr lang="en-US" sz="1400" dirty="0"/>
          </a:p>
          <a:p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end</a:t>
            </a:r>
            <a:endParaRPr lang="en-US" sz="1400" dirty="0"/>
          </a:p>
        </p:txBody>
      </p:sp>
      <p:pic>
        <p:nvPicPr>
          <p:cNvPr id="5" name="Picture 5" descr="delay_l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3363194"/>
            <a:ext cx="4434840" cy="2051853"/>
          </a:xfrm>
          <a:prstGeom prst="rect">
            <a:avLst/>
          </a:prstGeom>
        </p:spPr>
      </p:pic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1F03-BED8-BA26-5CB5-44FEA188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57ADF-09BA-6E3B-4B04-D8B80D96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2B81F-96DB-0C24-4E3A-FFC32F833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/>
              <a:t>Static Timing Analysis in Combinational Logic</a:t>
            </a:r>
          </a:p>
          <a:p>
            <a:r>
              <a:rPr lang="en-US" sz="2400" dirty="0"/>
              <a:t>Static Timing Analysis in Sequential Logic</a:t>
            </a:r>
          </a:p>
          <a:p>
            <a:r>
              <a:rPr lang="en-US" sz="2400" dirty="0"/>
              <a:t>Sequential Logic Timing Diagrams</a:t>
            </a:r>
          </a:p>
          <a:p>
            <a:r>
              <a:rPr lang="en-US" sz="2400" dirty="0"/>
              <a:t>VCD Files and Timing Diagrams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408F1-3318-1B27-48E4-DEDBDDA3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5D22A2E-19FF-368E-899C-4315775DDC38}"/>
              </a:ext>
            </a:extLst>
          </p:cNvPr>
          <p:cNvSpPr/>
          <p:nvPr/>
        </p:nvSpPr>
        <p:spPr>
          <a:xfrm>
            <a:off x="378644" y="247430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788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Logic in Detail</a:t>
            </a:r>
          </a:p>
        </p:txBody>
      </p:sp>
      <p:pic>
        <p:nvPicPr>
          <p:cNvPr id="3" name="Picture 3" descr="counter_detail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00200"/>
            <a:ext cx="6309360" cy="2647342"/>
          </a:xfrm>
          <a:prstGeom prst="rect">
            <a:avLst/>
          </a:prstGeom>
        </p:spPr>
      </p:pic>
      <p:pic>
        <p:nvPicPr>
          <p:cNvPr id="4" name="Picture 4" descr="reg_loop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2594" y="1554480"/>
            <a:ext cx="2962812" cy="155448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178040" y="3291840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A counter: f(x) = x + 1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600" dirty="0">
                <a:solidFill>
                  <a:srgbClr val="262626"/>
                </a:solidFill>
              </a:rPr>
              <a:t>Every synchronous circuit has two delays</a:t>
            </a:r>
            <a:endParaRPr lang="en-US" sz="16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400" b="1" dirty="0">
                <a:solidFill>
                  <a:srgbClr val="57068C"/>
                </a:solidFill>
              </a:rPr>
              <a:t>Clock-to-Q</a:t>
            </a:r>
            <a:r>
              <a:rPr lang="en-US" sz="1400" dirty="0">
                <a:solidFill>
                  <a:srgbClr val="262626"/>
                </a:solidFill>
              </a:rPr>
              <a:t>: edge → register output; 2 ns here</a:t>
            </a:r>
            <a:endParaRPr lang="en-US" sz="14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400" b="1" dirty="0">
                <a:solidFill>
                  <a:srgbClr val="57068C"/>
                </a:solidFill>
              </a:rPr>
              <a:t>Combinational PD</a:t>
            </a:r>
            <a:r>
              <a:rPr lang="en-US" sz="1400" dirty="0">
                <a:solidFill>
                  <a:srgbClr val="262626"/>
                </a:solidFill>
              </a:rPr>
              <a:t>: register output → next value; 3 ns here</a:t>
            </a:r>
            <a:endParaRPr lang="en-US" sz="14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Timing Diagram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21208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A diagram with every delay is a </a:t>
            </a:r>
            <a:r>
              <a:rPr lang="en-US" sz="1700" b="1" dirty="0">
                <a:solidFill>
                  <a:srgbClr val="57068C"/>
                </a:solidFill>
              </a:rPr>
              <a:t>detailed</a:t>
            </a:r>
            <a:r>
              <a:rPr lang="en-US" sz="1700" dirty="0">
                <a:solidFill>
                  <a:srgbClr val="262626"/>
                </a:solidFill>
              </a:rPr>
              <a:t xml:space="preserve"> timing diagram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Sometimes called the real timing diagram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It shows register delays and every propagation delay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Good for reasoning about precise timing: clock speed, throughput, …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But too much detail to see what the circuit </a:t>
            </a:r>
            <a:r>
              <a:rPr lang="en-US" sz="1700" b="1" dirty="0">
                <a:solidFill>
                  <a:srgbClr val="57068C"/>
                </a:solidFill>
              </a:rPr>
              <a:t>does</a:t>
            </a:r>
            <a:endParaRPr lang="en-US" sz="1700" dirty="0"/>
          </a:p>
        </p:txBody>
      </p:sp>
      <p:pic>
        <p:nvPicPr>
          <p:cNvPr id="4" name="Picture 4" descr="counter_detail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316349"/>
            <a:ext cx="5303520" cy="2225302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Cycle-Accurate Timing Diagram</a:t>
            </a:r>
          </a:p>
        </p:txBody>
      </p:sp>
      <p:pic>
        <p:nvPicPr>
          <p:cNvPr id="3" name="Picture 3" descr="counter_abstrac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54480"/>
            <a:ext cx="6035040" cy="402047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995160" y="1600200"/>
            <a:ext cx="448056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Abstract</a:t>
            </a:r>
            <a:r>
              <a:rPr lang="en-US" sz="1700" dirty="0">
                <a:solidFill>
                  <a:srgbClr val="262626"/>
                </a:solidFill>
              </a:rPr>
              <a:t xml:space="preserve"> or </a:t>
            </a:r>
            <a:r>
              <a:rPr lang="en-US" sz="1700" b="1" dirty="0">
                <a:solidFill>
                  <a:srgbClr val="57068C"/>
                </a:solidFill>
              </a:rPr>
              <a:t>cycle-accurate</a:t>
            </a:r>
            <a:r>
              <a:rPr lang="en-US" sz="1700" dirty="0">
                <a:solidFill>
                  <a:srgbClr val="262626"/>
                </a:solidFill>
              </a:rPr>
              <a:t xml:space="preserve"> timing diagram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Every delay → 0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No unknown (X) regions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Simpler to see what the circuit does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Each cycle shows the value just before the rising edge that ends it</a:t>
            </a:r>
            <a:endParaRPr lang="en-US" sz="17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ReLU + Linear: Synchronous Module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486400" cy="2743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Now the synchronous version of ReLU + linear, as in Unit 2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Two ports are added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b="1" dirty="0">
                <a:solidFill>
                  <a:srgbClr val="57068C"/>
                </a:solidFill>
              </a:rPr>
              <a:t>clk</a:t>
            </a:r>
            <a:r>
              <a:rPr lang="en-US" sz="1500" dirty="0">
                <a:solidFill>
                  <a:srgbClr val="262626"/>
                </a:solidFill>
              </a:rPr>
              <a:t>: the clock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b="1" dirty="0">
                <a:solidFill>
                  <a:srgbClr val="57068C"/>
                </a:solidFill>
              </a:rPr>
              <a:t>rst_n</a:t>
            </a:r>
            <a:r>
              <a:rPr lang="en-US" sz="1500" dirty="0">
                <a:solidFill>
                  <a:srgbClr val="262626"/>
                </a:solidFill>
              </a:rPr>
              <a:t>: an active-low reset</a:t>
            </a:r>
            <a:endParaRPr lang="en-US" sz="1500" dirty="0"/>
          </a:p>
        </p:txBody>
      </p:sp>
      <p:sp>
        <p:nvSpPr>
          <p:cNvPr id="4" name="Shape 4"/>
          <p:cNvSpPr/>
          <p:nvPr/>
        </p:nvSpPr>
        <p:spPr>
          <a:xfrm>
            <a:off x="6583680" y="1737360"/>
            <a:ext cx="4892040" cy="2151888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module relu_lin (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 xml:space="preserve">    input  logic clk,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 xml:space="preserve">    input  logic rst_n,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 xml:space="preserve">    input  int   x,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 xml:space="preserve">    input  int   a,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 xml:space="preserve">    input  int   b,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 xml:space="preserve">    output int   y</a:t>
            </a:r>
            <a:endParaRPr lang="en-US" sz="1500" dirty="0"/>
          </a:p>
          <a:p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);</a:t>
            </a:r>
            <a:endParaRPr lang="en-US" sz="15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Implementation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394960" cy="1097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The same implementation as in Unit 2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Next values computed in an always_comb block</a:t>
            </a:r>
            <a:endParaRPr lang="en-US" sz="1700" dirty="0"/>
          </a:p>
        </p:txBody>
      </p:sp>
      <p:pic>
        <p:nvPicPr>
          <p:cNvPr id="4" name="Picture 4" descr="relu_syn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26080"/>
            <a:ext cx="5394960" cy="1444534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6355080" y="1645920"/>
            <a:ext cx="5120640" cy="2849118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int x_reg, a_reg, b_reg;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always_ff @(posedge clk or negedge rst_n) begin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if (!rst_n) begin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x_reg &lt;= 0;  a_reg &lt;= 0;  b_reg &lt;= 0;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end else begin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x_reg &lt;= x;  a_reg &lt;= a;  b_reg &lt;= b;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end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end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always_comb begin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int mult_out, add_out;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mult_out = x_reg * a_reg;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add_out = mult_out + b_reg;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y = (add_out &gt; 0) ? add_out : 0;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end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endmodule</a:t>
            </a:r>
            <a:endParaRPr lang="en-US" sz="11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 of the Synchronous Module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760720" cy="1645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Assume the delays in the table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Ignore the clock-to-Q time for now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The arrival time at each stage is in </a:t>
            </a:r>
            <a:r>
              <a:rPr lang="en-US" sz="1700" b="1" dirty="0">
                <a:solidFill>
                  <a:srgbClr val="57068C"/>
                </a:solidFill>
              </a:rPr>
              <a:t>violet</a:t>
            </a:r>
            <a:endParaRPr lang="en-US" sz="1700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086600" y="1600200"/>
          <a:ext cx="438912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Hardware block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Max prop delay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Register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0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Multiplier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mult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= 3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Adder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add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= 1.5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Max operator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max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= 1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Total: critical path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="1" baseline="-25000" dirty="0">
                          <a:solidFill>
                            <a:srgbClr val="262626"/>
                          </a:solidFill>
                        </a:rPr>
                        <a:t>crit</a:t>
                      </a: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 xml:space="preserve"> = 5.5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5" descr="relu_sync_s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1088" y="3886200"/>
            <a:ext cx="6659343" cy="1783080"/>
          </a:xfrm>
          <a:prstGeom prst="rect">
            <a:avLst/>
          </a:prstGeom>
        </p:spPr>
      </p:pic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ReLU + Linear Timing Diagram</a:t>
            </a:r>
          </a:p>
        </p:txBody>
      </p:sp>
      <p:pic>
        <p:nvPicPr>
          <p:cNvPr id="3" name="Picture 3" descr="relu_sync_tim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508760"/>
            <a:ext cx="5852160" cy="3886005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949440" y="1600200"/>
          <a:ext cx="438912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Hardware block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Max prop delay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Register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0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Multiplier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mult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= 3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Adder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add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= 1.5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Max operator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max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= 1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Total: critical path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="1" baseline="-25000" dirty="0">
                          <a:solidFill>
                            <a:srgbClr val="262626"/>
                          </a:solidFill>
                        </a:rPr>
                        <a:t>crit</a:t>
                      </a: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 xml:space="preserve"> = 5.5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6949440" y="4069080"/>
            <a:ext cx="4389120" cy="777240"/>
          </a:xfrm>
          <a:prstGeom prst="roundRect">
            <a:avLst>
              <a:gd name="adj" fmla="val 16000"/>
            </a:avLst>
          </a:prstGeom>
          <a:solidFill>
            <a:srgbClr val="DCEFEC"/>
          </a:solidFill>
          <a:ln w="15875">
            <a:solidFill>
              <a:srgbClr val="00857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600" b="1" dirty="0">
                <a:solidFill>
                  <a:srgbClr val="00857C"/>
                </a:solidFill>
              </a:rPr>
              <a:t xml:space="preserve">Meets timing:  T</a:t>
            </a:r>
            <a:r>
              <a:rPr lang="en-US" sz="1600" b="1" baseline="-25000" dirty="0">
                <a:solidFill>
                  <a:srgbClr val="00857C"/>
                </a:solidFill>
              </a:rPr>
              <a:t>clk</a:t>
            </a:r>
            <a:r>
              <a:rPr lang="en-US" sz="1600" b="1" dirty="0">
                <a:solidFill>
                  <a:srgbClr val="00857C"/>
                </a:solidFill>
              </a:rPr>
              <a:t xml:space="preserve"> = 10 ns &gt; T</a:t>
            </a:r>
            <a:r>
              <a:rPr lang="en-US" sz="1600" b="1" baseline="-25000" dirty="0">
                <a:solidFill>
                  <a:srgbClr val="00857C"/>
                </a:solidFill>
              </a:rPr>
              <a:t>crit</a:t>
            </a:r>
            <a:r>
              <a:rPr lang="en-US" sz="1600" b="1" dirty="0">
                <a:solidFill>
                  <a:srgbClr val="00857C"/>
                </a:solidFill>
              </a:rPr>
              <a:t xml:space="preserve"> = 5.5 ns</a:t>
            </a:r>
            <a:endParaRPr lang="en-US" sz="1600" dirty="0"/>
          </a:p>
        </p:txBody>
      </p:sp>
      <p:sp>
        <p:nvSpPr>
          <p:cNvPr id="6" name="TextBox 6"/>
          <p:cNvSpPr txBox="1"/>
          <p:nvPr/>
        </p:nvSpPr>
        <p:spPr>
          <a:xfrm>
            <a:off x="6949440" y="498348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400" dirty="0">
                <a:solidFill>
                  <a:srgbClr val="262626"/>
                </a:solidFill>
              </a:rPr>
              <a:t>y settles 5.5 ns after each rising edge, well before the next one.</a:t>
            </a:r>
            <a:endParaRPr lang="en-US" sz="1400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Clock Frequency Example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48640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With clock-to-Q and setup time ignored, the minimum clock period is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T</a:t>
            </a:r>
            <a:r>
              <a:rPr lang="en-US" sz="1700" baseline="-25000" dirty="0">
                <a:solidFill>
                  <a:srgbClr val="262626"/>
                </a:solidFill>
              </a:rPr>
              <a:t>clk</a:t>
            </a:r>
            <a:r>
              <a:rPr lang="en-US" sz="1700" dirty="0">
                <a:solidFill>
                  <a:srgbClr val="262626"/>
                </a:solidFill>
              </a:rPr>
              <a:t xml:space="preserve"> = T</a:t>
            </a:r>
            <a:r>
              <a:rPr lang="en-US" sz="1700" baseline="-25000" dirty="0">
                <a:solidFill>
                  <a:srgbClr val="262626"/>
                </a:solidFill>
              </a:rPr>
              <a:t>crit</a:t>
            </a:r>
            <a:r>
              <a:rPr lang="en-US" sz="1700" dirty="0">
                <a:solidFill>
                  <a:srgbClr val="262626"/>
                </a:solidFill>
              </a:rPr>
              <a:t xml:space="preserve"> = 5.5 ns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Maximum clock frequency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f</a:t>
            </a:r>
            <a:r>
              <a:rPr lang="en-US" sz="1700" baseline="-25000" dirty="0">
                <a:solidFill>
                  <a:srgbClr val="262626"/>
                </a:solidFill>
              </a:rPr>
              <a:t>clk</a:t>
            </a:r>
            <a:r>
              <a:rPr lang="en-US" sz="1700" dirty="0">
                <a:solidFill>
                  <a:srgbClr val="262626"/>
                </a:solidFill>
              </a:rPr>
              <a:t xml:space="preserve"> = 1 / 5.5 ns ≈ </a:t>
            </a:r>
            <a:r>
              <a:rPr lang="en-US" sz="1700" b="1" dirty="0">
                <a:solidFill>
                  <a:srgbClr val="00857C"/>
                </a:solidFill>
              </a:rPr>
              <a:t>182 MHz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With T</a:t>
            </a:r>
            <a:r>
              <a:rPr lang="en-US" sz="1800" baseline="-25000" dirty="0">
                <a:solidFill>
                  <a:srgbClr val="262626"/>
                </a:solidFill>
              </a:rPr>
              <a:t>clk-Q</a:t>
            </a:r>
            <a:r>
              <a:rPr lang="en-US" sz="1800" dirty="0">
                <a:solidFill>
                  <a:srgbClr val="262626"/>
                </a:solidFill>
              </a:rPr>
              <a:t xml:space="preserve"> and T</a:t>
            </a:r>
            <a:r>
              <a:rPr lang="en-US" sz="1800" baseline="-25000" dirty="0">
                <a:solidFill>
                  <a:srgbClr val="262626"/>
                </a:solidFill>
              </a:rPr>
              <a:t>setup</a:t>
            </a:r>
            <a:r>
              <a:rPr lang="en-US" sz="1800" dirty="0">
                <a:solidFill>
                  <a:srgbClr val="262626"/>
                </a:solidFill>
              </a:rPr>
              <a:t>, it would be lower</a:t>
            </a:r>
            <a:endParaRPr lang="en-US" sz="1800" dirty="0"/>
          </a:p>
        </p:txBody>
      </p:sp>
      <p:pic>
        <p:nvPicPr>
          <p:cNvPr id="4" name="Picture 4" descr="relu_sync_tim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926932"/>
            <a:ext cx="5074920" cy="3369895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Example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A quadratic: y = w</a:t>
            </a:r>
            <a:r>
              <a:rPr lang="en-US" sz="1700" baseline="-25000" dirty="0">
                <a:solidFill>
                  <a:srgbClr val="262626"/>
                </a:solidFill>
              </a:rPr>
              <a:t>2</a:t>
            </a:r>
            <a:r>
              <a:rPr lang="en-US" sz="1700" dirty="0">
                <a:solidFill>
                  <a:srgbClr val="262626"/>
                </a:solidFill>
              </a:rPr>
              <a:t>x</a:t>
            </a:r>
            <a:r>
              <a:rPr lang="en-US" sz="1700" baseline="30000" dirty="0">
                <a:solidFill>
                  <a:srgbClr val="262626"/>
                </a:solidFill>
              </a:rPr>
              <a:t>2</a:t>
            </a:r>
            <a:r>
              <a:rPr lang="en-US" sz="1700" dirty="0">
                <a:solidFill>
                  <a:srgbClr val="262626"/>
                </a:solidFill>
              </a:rPr>
              <a:t xml:space="preserve"> + w</a:t>
            </a:r>
            <a:r>
              <a:rPr lang="en-US" sz="1700" baseline="-25000" dirty="0">
                <a:solidFill>
                  <a:srgbClr val="262626"/>
                </a:solidFill>
              </a:rPr>
              <a:t>1</a:t>
            </a:r>
            <a:r>
              <a:rPr lang="en-US" sz="1700" dirty="0">
                <a:solidFill>
                  <a:srgbClr val="262626"/>
                </a:solidFill>
              </a:rPr>
              <a:t>x + w</a:t>
            </a:r>
            <a:r>
              <a:rPr lang="en-US" sz="1700" baseline="-25000" dirty="0">
                <a:solidFill>
                  <a:srgbClr val="262626"/>
                </a:solidFill>
              </a:rPr>
              <a:t>0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w</a:t>
            </a:r>
            <a:r>
              <a:rPr lang="en-US" sz="1700" baseline="-25000" dirty="0">
                <a:solidFill>
                  <a:srgbClr val="262626"/>
                </a:solidFill>
              </a:rPr>
              <a:t>0</a:t>
            </a:r>
            <a:r>
              <a:rPr lang="en-US" sz="1700" dirty="0">
                <a:solidFill>
                  <a:srgbClr val="262626"/>
                </a:solidFill>
              </a:rPr>
              <a:t>, w</a:t>
            </a:r>
            <a:r>
              <a:rPr lang="en-US" sz="1700" baseline="-25000" dirty="0">
                <a:solidFill>
                  <a:srgbClr val="262626"/>
                </a:solidFill>
              </a:rPr>
              <a:t>1</a:t>
            </a:r>
            <a:r>
              <a:rPr lang="en-US" sz="1700" dirty="0">
                <a:solidFill>
                  <a:srgbClr val="262626"/>
                </a:solidFill>
              </a:rPr>
              <a:t>, w</a:t>
            </a:r>
            <a:r>
              <a:rPr lang="en-US" sz="1700" baseline="-25000" dirty="0">
                <a:solidFill>
                  <a:srgbClr val="262626"/>
                </a:solidFill>
              </a:rPr>
              <a:t>2</a:t>
            </a:r>
            <a:r>
              <a:rPr lang="en-US" sz="1700" dirty="0">
                <a:solidFill>
                  <a:srgbClr val="262626"/>
                </a:solidFill>
              </a:rPr>
              <a:t xml:space="preserve"> are fixed parameters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A single-cycle implementation, right</a:t>
            </a:r>
            <a:endParaRPr lang="en-US" sz="1700" dirty="0"/>
          </a:p>
        </p:txBody>
      </p:sp>
      <p:pic>
        <p:nvPicPr>
          <p:cNvPr id="4" name="Picture 4" descr="qua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46120"/>
            <a:ext cx="6035040" cy="2093432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6995160" y="1508760"/>
            <a:ext cx="4480560" cy="3473196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09728" tIns="54864" rIns="109728" bIns="54864" anchor="t" rtlCol="0">
            <a:noAutofit/>
          </a:bodyPr>
          <a:lstStyle/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>module quad_func #(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parameter int w2 = 0,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parameter int w1 = 0,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parameter int w0 = 0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>) (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input  logic clk,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input  int   x,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output int   y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>);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int x_reg;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always_ff @(posedge clk) begin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x_reg &lt;= x;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end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always_comb begin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int xsq, xsq_w2, x_w1;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xsq    = x_reg * x_reg;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xsq_w2 = w2 * xsq;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x_w1   = w1 * x_reg;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y      = xsq_w2 + x_w1 + w0;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 xml:space="preserve">    end</a:t>
            </a:r>
            <a:endParaRPr lang="en-US" sz="1000" dirty="0"/>
          </a:p>
          <a:p>
            <a:r>
              <a:rPr lang="en-US" sz="1000" dirty="0">
                <a:solidFill>
                  <a:srgbClr val="330662"/>
                </a:solidFill>
                <a:latin typeface="Consolas"/>
                <a:cs typeface="Consolas"/>
              </a:rPr>
              <a:t>endmodule</a:t>
            </a:r>
            <a:endParaRPr lang="en-US" sz="10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Critical Path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685800" y="1600200"/>
          <a:ext cx="512064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310896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Hardware block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Example value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Register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reg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= 1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Multiplier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mult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= 4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Adder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add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= 1.5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B4530F"/>
                          </a:solidFill>
                        </a:rPr>
                        <a:t>Path 1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B4530F"/>
                          </a:solidFill>
                        </a:rPr>
                        <a:t>1 + 4 + 4 + 1.5 + 1.5 = 12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Path 2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1 + 4 + 1.5 + 1.5 = 8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4" descr="quad_cr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77640"/>
            <a:ext cx="5008540" cy="173736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355080" y="1600200"/>
            <a:ext cx="512064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Two paths from x_reg to y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Path 1, through xsq and xsq_w2: a register, 2 multiplies, 2 adds: 12 ns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Path 2, through x_w1: a register, 1 multiply, 2 adds: 8 ns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Path 1 is critical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Maximum clock frequency = 1 / 12 ns ≈ </a:t>
            </a:r>
            <a:r>
              <a:rPr lang="en-US" sz="1700" b="1" dirty="0">
                <a:solidFill>
                  <a:srgbClr val="00857C"/>
                </a:solidFill>
              </a:rPr>
              <a:t>83 MHz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So it </a:t>
            </a:r>
            <a:r>
              <a:rPr lang="en-US" sz="1700" b="1" dirty="0">
                <a:solidFill>
                  <a:srgbClr val="B4530F"/>
                </a:solidFill>
              </a:rPr>
              <a:t>fails timing</a:t>
            </a:r>
            <a:r>
              <a:rPr lang="en-US" sz="1700" dirty="0">
                <a:solidFill>
                  <a:srgbClr val="262626"/>
                </a:solidFill>
              </a:rPr>
              <a:t xml:space="preserve"> at 100 MHz</a:t>
            </a:r>
            <a:endParaRPr lang="en-US" sz="17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Two-Cycle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852160" cy="182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Improve the clock rate by spreading the computation over </a:t>
            </a:r>
            <a:r>
              <a:rPr lang="en-US" sz="1700" b="1" dirty="0">
                <a:solidFill>
                  <a:srgbClr val="57068C"/>
                </a:solidFill>
              </a:rPr>
              <a:t>two cycles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Register two intermediate terms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xsq = xreg * xreg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lin_term = w1*xreg + w0</a:t>
            </a:r>
            <a:endParaRPr lang="en-US" sz="1500" dirty="0"/>
          </a:p>
        </p:txBody>
      </p:sp>
      <p:pic>
        <p:nvPicPr>
          <p:cNvPr id="4" name="Picture 4" descr="quad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20440"/>
            <a:ext cx="5671597" cy="214884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6812280" y="1691640"/>
            <a:ext cx="4663440" cy="2105406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int xreg, xsq, lin_term;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always_ff @(posedge clk) begin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xreg     &lt;= x;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xsq      &lt;= xreg * xreg;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lin_term &lt;= w1 * xreg + w0;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end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always_comb begin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y = w2 * xsq + lin_term;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end</a:t>
            </a:r>
            <a:endParaRPr lang="en-US" sz="13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Stages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02920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The design now runs in three stages, over two cycles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Stage 0</a:t>
            </a:r>
            <a:r>
              <a:rPr lang="en-US" sz="1700" dirty="0">
                <a:solidFill>
                  <a:srgbClr val="262626"/>
                </a:solidFill>
              </a:rPr>
              <a:t>: register x into xreg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Stage 1</a:t>
            </a:r>
            <a:r>
              <a:rPr lang="en-US" sz="1700" dirty="0">
                <a:solidFill>
                  <a:srgbClr val="262626"/>
                </a:solidFill>
              </a:rPr>
              <a:t>: compute and register xsq and lin_term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xsq = xreg · xreg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lin_term = w</a:t>
            </a:r>
            <a:r>
              <a:rPr lang="en-US" sz="1500" baseline="-25000" dirty="0">
                <a:solidFill>
                  <a:srgbClr val="262626"/>
                </a:solidFill>
              </a:rPr>
              <a:t>1</a:t>
            </a:r>
            <a:r>
              <a:rPr lang="en-US" sz="1500" dirty="0">
                <a:solidFill>
                  <a:srgbClr val="262626"/>
                </a:solidFill>
              </a:rPr>
              <a:t>·xreg + w</a:t>
            </a:r>
            <a:r>
              <a:rPr lang="en-US" sz="1500" baseline="-25000" dirty="0">
                <a:solidFill>
                  <a:srgbClr val="262626"/>
                </a:solidFill>
              </a:rPr>
              <a:t>0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Stage 2</a:t>
            </a:r>
            <a:r>
              <a:rPr lang="en-US" sz="1700" dirty="0">
                <a:solidFill>
                  <a:srgbClr val="262626"/>
                </a:solidFill>
              </a:rPr>
              <a:t>: compute y = w</a:t>
            </a:r>
            <a:r>
              <a:rPr lang="en-US" sz="1700" baseline="-25000" dirty="0">
                <a:solidFill>
                  <a:srgbClr val="262626"/>
                </a:solidFill>
              </a:rPr>
              <a:t>2</a:t>
            </a:r>
            <a:r>
              <a:rPr lang="en-US" sz="1700" dirty="0">
                <a:solidFill>
                  <a:srgbClr val="262626"/>
                </a:solidFill>
              </a:rPr>
              <a:t>·xsq + lin_term</a:t>
            </a:r>
            <a:endParaRPr lang="en-US" sz="1700" dirty="0"/>
          </a:p>
        </p:txBody>
      </p:sp>
      <p:pic>
        <p:nvPicPr>
          <p:cNvPr id="4" name="Picture 4" descr="quad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435384"/>
            <a:ext cx="5486400" cy="2078673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 with Three Stages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685800" y="1600200"/>
          <a:ext cx="4389120" cy="2432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/>
                <a:gridCol w="2560320"/>
              </a:tblGrid>
              <a:tr h="34747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Hardware block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Example value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Register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reg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= 1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Multiplier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mult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= 4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Adder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</a:t>
                      </a:r>
                      <a:r>
                        <a:rPr lang="en-US" sz="1400" baseline="-25000" dirty="0">
                          <a:solidFill>
                            <a:srgbClr val="262626"/>
                          </a:solidFill>
                        </a:rPr>
                        <a:t>add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= 1.5 ns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Path 1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1 + 4 = 5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B4530F"/>
                          </a:solidFill>
                        </a:rPr>
                        <a:t>Path 2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B4530F"/>
                          </a:solidFill>
                        </a:rPr>
                        <a:t>1 + 4 + 1.5 = 6.5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B4530F"/>
                          </a:solidFill>
                        </a:rPr>
                        <a:t>Path 3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B4530F"/>
                          </a:solidFill>
                        </a:rPr>
                        <a:t>1 + 4 + 1.5 = 6.5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4" descr="quad2_cr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06240"/>
            <a:ext cx="3740841" cy="141732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669280" y="1600200"/>
            <a:ext cx="580644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Measure every path from register to register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Path 1: x_reg → the xsq register: 1 register, 1 multiply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Path 2: x_reg → the lin_term register: 1 register, 1 multiply, 1 add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Path 3: xsq, lin_term → y: 1 register, 1 multiply, 1 add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Critical path delay: 6.5 ns, down from 12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Maximum clock frequency = 1 / 6.5 ns ≈ </a:t>
            </a:r>
            <a:r>
              <a:rPr lang="en-US" sz="1700" b="1" dirty="0">
                <a:solidFill>
                  <a:srgbClr val="00857C"/>
                </a:solidFill>
              </a:rPr>
              <a:t>154 MHz</a:t>
            </a:r>
            <a:endParaRPr lang="en-US" sz="1700" dirty="0"/>
          </a:p>
        </p:txBody>
      </p:sp>
      <p:sp>
        <p:nvSpPr>
          <p:cNvPr id="6" name="TextBox 6"/>
          <p:cNvSpPr txBox="1"/>
          <p:nvPr/>
        </p:nvSpPr>
        <p:spPr>
          <a:xfrm>
            <a:off x="685800" y="566928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Homework in the LLM grader: Unit 6 › Two cycle datapath</a:t>
            </a:r>
            <a:endParaRPr lang="en-US" sz="1200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Two-Cycle Timing Diagram</a:t>
            </a:r>
          </a:p>
        </p:txBody>
      </p:sp>
      <p:pic>
        <p:nvPicPr>
          <p:cNvPr id="3" name="Picture 3" descr="two_cyc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508760"/>
            <a:ext cx="8229600" cy="341034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144000" y="1600200"/>
            <a:ext cx="233172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500" dirty="0">
                <a:solidFill>
                  <a:srgbClr val="262626"/>
                </a:solidFill>
              </a:rPr>
              <a:t>w</a:t>
            </a:r>
            <a:r>
              <a:rPr lang="en-US" sz="1500" baseline="-25000" dirty="0">
                <a:solidFill>
                  <a:srgbClr val="262626"/>
                </a:solidFill>
              </a:rPr>
              <a:t>0</a:t>
            </a:r>
            <a:r>
              <a:rPr lang="en-US" sz="1500" dirty="0">
                <a:solidFill>
                  <a:srgbClr val="262626"/>
                </a:solidFill>
              </a:rPr>
              <a:t>, w</a:t>
            </a:r>
            <a:r>
              <a:rPr lang="en-US" sz="1500" baseline="-25000" dirty="0">
                <a:solidFill>
                  <a:srgbClr val="262626"/>
                </a:solidFill>
              </a:rPr>
              <a:t>1</a:t>
            </a:r>
            <a:r>
              <a:rPr lang="en-US" sz="1500" dirty="0">
                <a:solidFill>
                  <a:srgbClr val="262626"/>
                </a:solidFill>
              </a:rPr>
              <a:t>, w</a:t>
            </a:r>
            <a:r>
              <a:rPr lang="en-US" sz="1500" baseline="-25000" dirty="0">
                <a:solidFill>
                  <a:srgbClr val="262626"/>
                </a:solidFill>
              </a:rPr>
              <a:t>2</a:t>
            </a:r>
            <a:r>
              <a:rPr lang="en-US" sz="1500" dirty="0">
                <a:solidFill>
                  <a:srgbClr val="262626"/>
                </a:solidFill>
              </a:rPr>
              <a:t xml:space="preserve"> = 4, −7, 5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500" dirty="0">
                <a:solidFill>
                  <a:srgbClr val="262626"/>
                </a:solidFill>
              </a:rPr>
              <a:t>x = 10, −4, 8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500" dirty="0">
                <a:solidFill>
                  <a:srgbClr val="262626"/>
                </a:solidFill>
              </a:rPr>
              <a:t>y = 434, 112, 268</a:t>
            </a:r>
            <a:endParaRPr lang="en-US" sz="15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Latency, Throughput and Pipelining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493776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>Run the design at a 100 MHz clock</a:t>
            </a:r>
            <a:endParaRPr lang="en-US" sz="17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Latency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An input captured at one rising edge is out before the edge two cycles later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Latency = 2 cycles = 20 ns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Throughput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A new input every cycle: 100 M inputs/s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This is a </a:t>
            </a:r>
            <a:r>
              <a:rPr lang="en-US" sz="1700" b="1" dirty="0">
                <a:solidFill>
                  <a:srgbClr val="57068C"/>
                </a:solidFill>
              </a:rPr>
              <a:t>pipeline</a:t>
            </a:r>
            <a:r>
              <a:rPr lang="en-US" sz="1700" dirty="0">
                <a:solidFill>
                  <a:srgbClr val="262626"/>
                </a:solidFill>
              </a:rPr>
              <a:t>: several inputs are in progress at once</a:t>
            </a:r>
            <a:endParaRPr lang="en-US" sz="1700" dirty="0"/>
          </a:p>
        </p:txBody>
      </p:sp>
      <p:pic>
        <p:nvPicPr>
          <p:cNvPr id="4" name="Picture 4" descr="pipeli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241448"/>
            <a:ext cx="5623560" cy="2832304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463040" y="1737360"/>
          <a:ext cx="969264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1840"/>
                <a:gridCol w="3200400"/>
                <a:gridCol w="3200400"/>
              </a:tblGrid>
              <a:tr h="50292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Single-cycle design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Two-cycle design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262626"/>
                          </a:solidFill>
                        </a:rPr>
                        <a:t>Critical path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12 ns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6.5 ns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262626"/>
                          </a:solidFill>
                        </a:rPr>
                        <a:t>Maximum clock frequency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≈ 83 MHz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≈ 154 MHz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262626"/>
                          </a:solidFill>
                        </a:rPr>
                        <a:t>Maximum throughput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≈ 83 M inputs/s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≈ 154 M inputs/s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262626"/>
                          </a:solidFill>
                        </a:rPr>
                        <a:t>Latency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 cycle = 12 ns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2 cycles = 13 ns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4"/>
          <p:cNvSpPr/>
          <p:nvPr/>
        </p:nvSpPr>
        <p:spPr>
          <a:xfrm>
            <a:off x="685800" y="4754880"/>
            <a:ext cx="10789920" cy="685800"/>
          </a:xfrm>
          <a:prstGeom prst="rect">
            <a:avLst/>
          </a:prstGeom>
          <a:solidFill>
            <a:srgbClr val="EEE6F3"/>
          </a:solidFill>
          <a:ln w="15875">
            <a:solidFill>
              <a:srgbClr val="57068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800" b="1" dirty="0">
                <a:solidFill>
                  <a:srgbClr val="57068C"/>
                </a:solidFill>
              </a:rPr>
              <a:t>Pipelining</a:t>
            </a:r>
            <a:r>
              <a:rPr lang="en-US" sz="1800" dirty="0">
                <a:solidFill>
                  <a:srgbClr val="262626"/>
                </a:solidFill>
              </a:rPr>
              <a:t>: for a small increase in latency, a large gain in throughput.</a:t>
            </a:r>
            <a:endParaRPr lang="en-US" sz="18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6EBAF-1561-2702-C7C9-EC7731AB1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12AD6-7C0C-432E-63F1-87A252AA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2EDB9-7DBA-CD53-4701-3A933DCD7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/>
              <a:t>Static Timing Analysis in Combinational Logic</a:t>
            </a:r>
          </a:p>
          <a:p>
            <a:r>
              <a:rPr lang="en-US" sz="2400" dirty="0"/>
              <a:t>Static Timing Analysis in Sequential Logic</a:t>
            </a:r>
          </a:p>
          <a:p>
            <a:r>
              <a:rPr lang="en-US" sz="2400" dirty="0"/>
              <a:t>Sequential Logic Timing Diagrams</a:t>
            </a:r>
          </a:p>
          <a:p>
            <a:r>
              <a:rPr lang="en-US" sz="2400" dirty="0"/>
              <a:t>VCD Files and Timing Diagrams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C04C1-1993-FD20-F18D-8FF7BE39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60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AF872F8-E6D7-9AEA-4A0A-B16A5A9E6644}"/>
              </a:ext>
            </a:extLst>
          </p:cNvPr>
          <p:cNvSpPr/>
          <p:nvPr/>
        </p:nvSpPr>
        <p:spPr>
          <a:xfrm>
            <a:off x="416744" y="302040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818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B4D75-4931-40C1-EBC7-0FFCB99EE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Value-Change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ABBC8-94C7-4F6D-54E6-40FAED872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14488"/>
            <a:ext cx="10058400" cy="4254606"/>
          </a:xfrm>
        </p:spPr>
        <p:txBody>
          <a:bodyPr/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/>
              <a:t>Simulation tools trace values over time for large numbers of signals</a:t>
            </a:r>
          </a:p>
          <a:p>
            <a:r>
              <a:rPr lang="en-US" sz="2400" dirty="0"/>
              <a:t>Data on each signal is typically stored via </a:t>
            </a:r>
            <a:r>
              <a:rPr lang="en-US" sz="2400" dirty="0">
                <a:solidFill>
                  <a:srgbClr val="57068C"/>
                </a:solidFill>
              </a:rPr>
              <a:t>value-change points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r>
              <a:rPr lang="en-US" sz="2000" dirty="0"/>
              <a:t>Value change points also called </a:t>
            </a:r>
            <a:r>
              <a:rPr lang="en-US" sz="2000" dirty="0">
                <a:solidFill>
                  <a:srgbClr val="57068C"/>
                </a:solidFill>
              </a:rPr>
              <a:t>value-change events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57068C"/>
                </a:solidFill>
              </a:rPr>
              <a:t>transitions</a:t>
            </a:r>
            <a:r>
              <a:rPr lang="en-US" sz="2000" dirty="0"/>
              <a:t>, 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260DF-6DFE-EFB3-0FAB-2FB56618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63FB2108-4127-B3FB-E9F7-712A43794A70}"/>
                  </a:ext>
                </a:extLst>
              </p:cNvPr>
              <p:cNvSpPr/>
              <p:nvPr/>
            </p:nvSpPr>
            <p:spPr>
              <a:xfrm>
                <a:off x="1317626" y="2862262"/>
                <a:ext cx="9105900" cy="1641620"/>
              </a:xfrm>
              <a:prstGeom prst="roundRect">
                <a:avLst/>
              </a:prstGeom>
              <a:solidFill>
                <a:srgbClr val="EEE6F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rgbClr val="57068C"/>
              </a:fillRef>
              <a:effectRef idx="0">
                <a:srgbClr val="57068C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:r>
                  <a:rPr lang="en-US" sz="2000" dirty="0">
                    <a:solidFill>
                      <a:srgbClr val="57068C"/>
                    </a:solidFill>
                  </a:rPr>
                  <a:t>Definition</a:t>
                </a:r>
                <a:r>
                  <a:rPr lang="en-US" sz="2000" dirty="0">
                    <a:solidFill>
                      <a:schemeClr val="tx1"/>
                    </a:solidFill>
                  </a:rPr>
                  <a:t>:  A signal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has </a:t>
                </a:r>
                <a:r>
                  <a:rPr lang="en-US" sz="2000" dirty="0">
                    <a:solidFill>
                      <a:srgbClr val="57068C"/>
                    </a:solidFill>
                  </a:rPr>
                  <a:t>value-change points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=0, …,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if:</a:t>
                </a:r>
                <a:br>
                  <a:rPr lang="en-US" sz="200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  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=0,…,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63FB2108-4127-B3FB-E9F7-712A43794A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26" y="2862262"/>
                <a:ext cx="9105900" cy="16416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3403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Value-Change Points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10789920" cy="2651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A timing diagram can be drawn from the value-change points</a:t>
            </a:r>
            <a:endParaRPr lang="en-US" sz="18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Example with two signals, times in ns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</a:rPr>
              <a:t xml:space="preserve">x:  (3, 5), (20, 17), (40, 8)</a:t>
            </a:r>
            <a:endParaRPr lang="en-US" sz="16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</a:rPr>
              <a:t xml:space="preserve">y:  (12, 3), (25, 12), (35, 0)</a:t>
            </a:r>
            <a:endParaRPr lang="en-US" sz="16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Before its first point, a signal is unknown</a:t>
            </a:r>
            <a:endParaRPr lang="en-US" sz="1800" dirty="0"/>
          </a:p>
        </p:txBody>
      </p:sp>
      <p:pic>
        <p:nvPicPr>
          <p:cNvPr id="4" name="Picture 4" descr="vcd_examp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418" y="4160520"/>
            <a:ext cx="7626684" cy="1600200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VCD Files from a Vitis Simulation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603504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Co-simulation records waveforms in a </a:t>
            </a:r>
            <a:r>
              <a:rPr lang="en-US" sz="1700" b="1" dirty="0">
                <a:solidFill>
                  <a:srgbClr val="57068C"/>
                </a:solidFill>
              </a:rPr>
              <a:t>.wdb</a:t>
            </a:r>
            <a:r>
              <a:rPr lang="en-US" sz="1700" dirty="0">
                <a:solidFill>
                  <a:srgbClr val="262626"/>
                </a:solidFill>
              </a:rPr>
              <a:t xml:space="preserve"> file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An AMD format that only the Vivado viewer opens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A </a:t>
            </a:r>
            <a:r>
              <a:rPr lang="en-US" sz="1700" b="1" dirty="0">
                <a:solidFill>
                  <a:srgbClr val="57068C"/>
                </a:solidFill>
              </a:rPr>
              <a:t>VCD</a:t>
            </a:r>
            <a:r>
              <a:rPr lang="en-US" sz="1700" dirty="0">
                <a:solidFill>
                  <a:srgbClr val="262626"/>
                </a:solidFill>
              </a:rPr>
              <a:t xml:space="preserve"> (value change dump) is an open text format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A header naming the signals, then the time of every change</a:t>
            </a:r>
            <a:endParaRPr lang="en-US" sz="1500" dirty="0"/>
          </a:p>
          <a:p>
            <a:pPr marL="274320" indent="-274320">
              <a:spcBef>
                <a:spcPts val="10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dirty="0">
                <a:solidFill>
                  <a:srgbClr val="262626"/>
                </a:solidFill>
              </a:rPr>
              <a:t xml:space="preserve">The demo builds re-run the RTL simulation with VCD logging on: the </a:t>
            </a:r>
            <a:r>
              <a:rPr lang="en-US" sz="1700" dirty="0">
                <a:solidFill>
                  <a:srgbClr val="330662"/>
                </a:solidFill>
                <a:latin typeface="Consolas"/>
                <a:cs typeface="Consolas"/>
              </a:rPr>
              <a:t>extract_vcd</a:t>
            </a:r>
            <a:r>
              <a:rPr lang="en-US" sz="1700" dirty="0">
                <a:solidFill>
                  <a:srgbClr val="262626"/>
                </a:solidFill>
              </a:rPr>
              <a:t xml:space="preserve"> step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 xml:space="preserve">Port signals by default;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--trace-level all</a:t>
            </a:r>
            <a:r>
              <a:rPr lang="en-US" sz="1500" dirty="0">
                <a:solidFill>
                  <a:srgbClr val="262626"/>
                </a:solidFill>
              </a:rPr>
              <a:t xml:space="preserve"> for every internal one</a:t>
            </a:r>
            <a:endParaRPr lang="en-US" sz="1500" dirty="0"/>
          </a:p>
        </p:txBody>
      </p:sp>
      <p:sp>
        <p:nvSpPr>
          <p:cNvPr id="4" name="TextBox 4"/>
          <p:cNvSpPr txBox="1"/>
          <p:nvPr/>
        </p:nvSpPr>
        <p:spPr>
          <a:xfrm>
            <a:off x="6995160" y="160020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THE EXAMPLE ON THE LAST SLIDE, AS A VCD</a:t>
            </a:r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6995160" y="1920240"/>
            <a:ext cx="4480560" cy="3081528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$timescale 1ns $end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$scope module top $end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$var wire 32 ! x [31:0] $end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$var wire 32 " y [31:0] $end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$upscope $end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$enddefinitions $end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#3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b101 !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#12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b11 "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#20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b10001 !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#25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b1100 "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...</a:t>
            </a:r>
            <a:endParaRPr lang="en-US" sz="12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Timing Diagrams in Python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700" b="1" dirty="0">
                <a:solidFill>
                  <a:srgbClr val="57068C"/>
                </a:solidFill>
              </a:rPr>
              <a:t>waveflow</a:t>
            </a:r>
            <a:r>
              <a:rPr lang="en-US" sz="1700" dirty="0">
                <a:solidFill>
                  <a:srgbClr val="262626"/>
                </a:solidFill>
              </a:rPr>
              <a:t xml:space="preserve"> (in pysilicon) reads VCD files and draws timing diagrams; the value "x" is drawn as the grey unknown region</a:t>
            </a:r>
            <a:endParaRPr lang="en-US" sz="1700" dirty="0"/>
          </a:p>
        </p:txBody>
      </p:sp>
      <p:sp>
        <p:nvSpPr>
          <p:cNvPr id="4" name="Shape 4"/>
          <p:cNvSpPr/>
          <p:nvPr/>
        </p:nvSpPr>
        <p:spPr>
          <a:xfrm>
            <a:off x="685800" y="2468880"/>
            <a:ext cx="6400800" cy="2151888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from waveflow.utils.timing import SigTimingInfo, TimingDiagram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xsig = SigTimingInfo("x", times=[0, 3, 20, 40],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             values=["x", "5", "17", "8"])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ysig = SigTimingInfo("y", times=[0, 12, 25, 35],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             values=["x", "3", "12", "0"])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td = TimingDiagram()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td.add_signals([xsig, ysig])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ax = td.plot_signals(trange=[0, 50], add_clk_grid=False)</a:t>
            </a:r>
            <a:endParaRPr lang="en-US" sz="1200" dirty="0"/>
          </a:p>
          <a:p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ax.set_xlabel("time [ns]")</a:t>
            </a:r>
            <a:endParaRPr lang="en-US" sz="1200" dirty="0"/>
          </a:p>
        </p:txBody>
      </p:sp>
      <p:pic>
        <p:nvPicPr>
          <p:cNvPr id="5" name="Picture 5" descr="vcd_examp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855368"/>
            <a:ext cx="4160520" cy="872943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315200" y="4114800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The figure the code draws: the example from two slides back.</a:t>
            </a:r>
            <a:endParaRPr lang="en-US" sz="1200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Propagation Delay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45920"/>
            <a:ext cx="6126480" cy="3931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262626"/>
                </a:solidFill>
              </a:rPr>
              <a:t xml:space="preserve">A signal x is unknown before 10 ns.  It is 0 from 10 ns, 4 from 20 ns and 2 from 30 ns.</a:t>
            </a:r>
            <a:endParaRPr lang="en-US" sz="1700" dirty="0"/>
          </a:p>
          <a:p>
            <a:pPr>
              <a:spcAft>
                <a:spcPts val="400"/>
              </a:spcAft>
            </a:pPr>
            <a:r>
              <a:rPr lang="en-US" sz="1700" dirty="0">
                <a:solidFill>
                  <a:srgbClr val="262626"/>
                </a:solidFill>
              </a:rPr>
              <a:t>It passes through a circuit whose stable output is y = 2x + 1, with a propagation delay of 3 ns.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(a)</a:t>
            </a:r>
            <a:r>
              <a:rPr lang="en-US" sz="1700" dirty="0">
                <a:solidFill>
                  <a:srgbClr val="262626"/>
                </a:solidFill>
              </a:rPr>
              <a:t xml:space="preserve">	List the times at which y changes and the value it takes at each.  Mark the periods where y is unknown, y = ?.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(b)</a:t>
            </a:r>
            <a:r>
              <a:rPr lang="en-US" sz="1700" dirty="0">
                <a:solidFill>
                  <a:srgbClr val="262626"/>
                </a:solidFill>
              </a:rPr>
              <a:t xml:space="preserve">	Draw the timing diagram of x and y from 0 to 40 ns: the unknown periods, the transition times and the values.</a:t>
            </a:r>
            <a:endParaRPr lang="en-US" sz="1700" dirty="0"/>
          </a:p>
        </p:txBody>
      </p:sp>
      <p:sp>
        <p:nvSpPr>
          <p:cNvPr id="5" name="TextBox 5"/>
          <p:cNvSpPr txBox="1"/>
          <p:nvPr/>
        </p:nvSpPr>
        <p:spPr>
          <a:xfrm>
            <a:off x="7178040" y="16916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The input</a:t>
            </a:r>
            <a:endParaRPr lang="en-US" sz="12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78040" y="2011680"/>
          <a:ext cx="420624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72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Time [ns]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20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30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7" name="Shape 7"/>
          <p:cNvSpPr/>
          <p:nvPr/>
        </p:nvSpPr>
        <p:spPr>
          <a:xfrm>
            <a:off x="7178040" y="3246120"/>
            <a:ext cx="4206240" cy="1463040"/>
          </a:xfrm>
          <a:prstGeom prst="roundRect">
            <a:avLst>
              <a:gd name="adj" fmla="val 8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57068C"/>
                </a:solidFill>
              </a:rPr>
              <a:t>Drawing the diagram</a:t>
            </a:r>
            <a:endParaRPr lang="en-US" sz="1400" dirty="0"/>
          </a:p>
          <a:p>
            <a:r>
              <a:rPr lang="en-US" sz="1300" dirty="0">
                <a:solidFill>
                  <a:srgbClr val="262626"/>
                </a:solidFill>
              </a:rPr>
              <a:t xml:space="preserve">By hand, or with waveflow's </a:t>
            </a:r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TimingDiagram</a:t>
            </a:r>
            <a:r>
              <a:rPr lang="en-US" sz="1300" dirty="0">
                <a:solidFill>
                  <a:srgbClr val="262626"/>
                </a:solidFill>
              </a:rPr>
              <a:t xml:space="preserve">: see the slide </a:t>
            </a:r>
            <a:r>
              <a:rPr lang="en-US" sz="1300" b="1" dirty="0">
                <a:solidFill>
                  <a:srgbClr val="57068C"/>
                </a:solidFill>
              </a:rPr>
              <a:t>Drawing Timing Diagrams in Python</a:t>
            </a:r>
            <a:r>
              <a:rPr lang="en-US" sz="1300" dirty="0">
                <a:solidFill>
                  <a:srgbClr val="262626"/>
                </a:solidFill>
              </a:rPr>
              <a:t>, where the value "x" draws an unknown period.</a:t>
            </a:r>
            <a:endParaRPr lang="en-US" sz="1300" dirty="0"/>
          </a:p>
        </p:txBody>
      </p:sp>
      <p:sp>
        <p:nvSpPr>
          <p:cNvPr id="8" name="TextBox 8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6 › Propagation delay</a:t>
            </a:r>
            <a:endParaRPr lang="en-US" sz="1200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Propagation Delay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00200"/>
            <a:ext cx="5943600" cy="10058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After each change of x, y is unknown for 3 ns, then settles to 2x + 1: </a:t>
            </a:r>
            <a:r>
              <a:rPr lang="en-US" sz="1600" b="1" dirty="0">
                <a:solidFill>
                  <a:srgbClr val="00857C"/>
                </a:solidFill>
              </a:rPr>
              <a:t>1, 9 and 5</a:t>
            </a:r>
            <a:endParaRPr lang="en-US" sz="1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97280" y="2514600"/>
          <a:ext cx="5486400" cy="7680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Time [ns]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13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20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23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30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33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y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6949440" y="1645920"/>
            <a:ext cx="4526280" cy="1417320"/>
          </a:xfrm>
          <a:prstGeom prst="roundRect">
            <a:avLst>
              <a:gd name="adj" fmla="val 8000"/>
            </a:avLst>
          </a:prstGeom>
          <a:solidFill>
            <a:srgbClr val="FCEEE3"/>
          </a:solidFill>
          <a:ln>
            <a:noFill/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B4530F"/>
                </a:solidFill>
              </a:rPr>
              <a:t>Common error</a:t>
            </a:r>
            <a:endParaRPr lang="en-US" sz="1500" dirty="0"/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62626"/>
                </a:solidFill>
              </a:rPr>
              <a:t>Listing only (13, 1), (23, 9), (33, 5): the unknown periods are part of the answer.</a:t>
            </a:r>
            <a:endParaRPr lang="en-US" sz="14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34290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The timing diagram: y goes unknown the moment x changes, and settles 3 ns later</a:t>
            </a:r>
            <a:endParaRPr lang="en-US" sz="1600" dirty="0"/>
          </a:p>
        </p:txBody>
      </p:sp>
      <p:pic>
        <p:nvPicPr>
          <p:cNvPr id="8" name="Picture 8" descr="q_propag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3886200"/>
            <a:ext cx="7899400" cy="173736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6 › Propagation delay</a:t>
            </a:r>
            <a:endParaRPr lang="en-US" sz="1200" dirty="0"/>
          </a:p>
        </p:txBody>
      </p:sp>
      <p:sp>
        <p:nvSpPr>
          <p:cNvPr id="10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Timing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00200"/>
            <a:ext cx="5486400" cy="2743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Before: xsq = 0, y = 0, z = 6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After: </a:t>
            </a:r>
            <a:r>
              <a:rPr lang="en-US" sz="1600" b="1" dirty="0">
                <a:solidFill>
                  <a:srgbClr val="00857C"/>
                </a:solidFill>
              </a:rPr>
              <a:t>xsq = 16, y = 3·16 = 48, z = 48 + 6 = 54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The timing diagram, right.  All three go unknown at </a:t>
            </a:r>
            <a:r>
              <a:rPr lang="en-US" sz="1600" b="1" dirty="0">
                <a:solidFill>
                  <a:srgbClr val="00857C"/>
                </a:solidFill>
              </a:rPr>
              <a:t>10 ns</a:t>
            </a:r>
            <a:r>
              <a:rPr lang="en-US" sz="1600" dirty="0">
                <a:solidFill>
                  <a:srgbClr val="262626"/>
                </a:solidFill>
              </a:rPr>
              <a:t>, when x changes; x itself changes at once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xsq stable at </a:t>
            </a:r>
            <a:r>
              <a:rPr lang="en-US" sz="1600" b="1" dirty="0">
                <a:solidFill>
                  <a:srgbClr val="00857C"/>
                </a:solidFill>
              </a:rPr>
              <a:t>13 ns</a:t>
            </a:r>
            <a:r>
              <a:rPr lang="en-US" sz="1600" dirty="0">
                <a:solidFill>
                  <a:srgbClr val="262626"/>
                </a:solidFill>
              </a:rPr>
              <a:t>: 10 + 3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y stable at </a:t>
            </a:r>
            <a:r>
              <a:rPr lang="en-US" sz="1600" b="1" dirty="0">
                <a:solidFill>
                  <a:srgbClr val="00857C"/>
                </a:solidFill>
              </a:rPr>
              <a:t>16 ns</a:t>
            </a:r>
            <a:r>
              <a:rPr lang="en-US" sz="1600" dirty="0">
                <a:solidFill>
                  <a:srgbClr val="262626"/>
                </a:solidFill>
              </a:rPr>
              <a:t>: 13 + 3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z stable at </a:t>
            </a:r>
            <a:r>
              <a:rPr lang="en-US" sz="1600" b="1" dirty="0">
                <a:solidFill>
                  <a:srgbClr val="00857C"/>
                </a:solidFill>
              </a:rPr>
              <a:t>18 ns</a:t>
            </a:r>
            <a:r>
              <a:rPr lang="en-US" sz="1600" dirty="0">
                <a:solidFill>
                  <a:srgbClr val="262626"/>
                </a:solidFill>
              </a:rPr>
              <a:t>: 16 + 2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685800" y="4434840"/>
            <a:ext cx="5486400" cy="1097280"/>
          </a:xfrm>
          <a:prstGeom prst="roundRect">
            <a:avLst>
              <a:gd name="adj" fmla="val 8000"/>
            </a:avLst>
          </a:prstGeom>
          <a:solidFill>
            <a:srgbClr val="FCEEE3"/>
          </a:solidFill>
          <a:ln>
            <a:noFill/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B4530F"/>
                </a:solidFill>
              </a:rPr>
              <a:t>Common error</a:t>
            </a:r>
            <a:endParaRPr lang="en-US" sz="1500" dirty="0"/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62626"/>
                </a:solidFill>
              </a:rPr>
              <a:t>y and z go unknown at 10 ns, not when the block before them settles.</a:t>
            </a:r>
            <a:endParaRPr lang="en-US" sz="1400" dirty="0"/>
          </a:p>
        </p:txBody>
      </p:sp>
      <p:pic>
        <p:nvPicPr>
          <p:cNvPr id="6" name="Picture 6" descr="q_se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59640"/>
            <a:ext cx="5074920" cy="1904479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6 › Series timing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Multi-Path Timing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45920"/>
            <a:ext cx="630936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262626"/>
                </a:solidFill>
              </a:rPr>
              <a:t xml:space="preserve">x is 0 for a long time before 0 ns, unknown from 10 ns, and 4 from 12 ns.  a = 3 and b = 6.  Delays: multiplication 3 ns, addition 2 ns, max 1 ns.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What are the stable values of z1, z2 and y before 10 ns?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What are their stable values after 12 ns, once every delay has passed?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(c)</a:t>
            </a:r>
            <a:r>
              <a:rPr lang="en-US" sz="1600" dirty="0">
                <a:solidFill>
                  <a:srgbClr val="262626"/>
                </a:solidFill>
              </a:rPr>
              <a:t xml:space="preserve">	Draw the timing diagram of x, z1, z2 and y from 0 to 20 ns: the unknown periods (?), the transition times and the values.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7360920" y="1691640"/>
            <a:ext cx="4114800" cy="943356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z1 = a*x;</a:t>
            </a:r>
            <a:endParaRPr lang="en-US" sz="1400" dirty="0"/>
          </a:p>
          <a:p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z2 = x+b;</a:t>
            </a:r>
            <a:endParaRPr lang="en-US" sz="1400" dirty="0"/>
          </a:p>
          <a:p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 xml:space="preserve">y = max(z1, z2);  // the larger</a:t>
            </a:r>
            <a:endParaRPr lang="en-US" sz="14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360920" y="2926080"/>
          <a:ext cx="4069080" cy="7680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720"/>
                <a:gridCol w="960120"/>
                <a:gridCol w="96012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Time [ns]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7" name="Shape 7"/>
          <p:cNvSpPr/>
          <p:nvPr/>
        </p:nvSpPr>
        <p:spPr>
          <a:xfrm>
            <a:off x="7360920" y="3840480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57068C"/>
                </a:solidFill>
              </a:rPr>
              <a:t>Drawing the diagram</a:t>
            </a:r>
            <a:endParaRPr lang="en-US" sz="1400" dirty="0"/>
          </a:p>
          <a:p>
            <a:r>
              <a:rPr lang="en-US" sz="1300" dirty="0">
                <a:solidFill>
                  <a:srgbClr val="262626"/>
                </a:solidFill>
              </a:rPr>
              <a:t xml:space="preserve">By hand, or with waveflow's </a:t>
            </a:r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TimingDiagram</a:t>
            </a:r>
            <a:r>
              <a:rPr lang="en-US" sz="1300" dirty="0">
                <a:solidFill>
                  <a:srgbClr val="262626"/>
                </a:solidFill>
              </a:rPr>
              <a:t xml:space="preserve">: see the slide </a:t>
            </a:r>
            <a:r>
              <a:rPr lang="en-US" sz="1300" b="1" dirty="0">
                <a:solidFill>
                  <a:srgbClr val="57068C"/>
                </a:solidFill>
              </a:rPr>
              <a:t>Drawing Timing Diagrams in Python</a:t>
            </a:r>
            <a:r>
              <a:rPr lang="en-US" sz="1300" dirty="0">
                <a:solidFill>
                  <a:srgbClr val="262626"/>
                </a:solidFill>
              </a:rPr>
              <a:t>, where the value "x" draws an unknown period.</a:t>
            </a:r>
            <a:endParaRPr lang="en-US" sz="1300" dirty="0"/>
          </a:p>
        </p:txBody>
      </p:sp>
      <p:sp>
        <p:nvSpPr>
          <p:cNvPr id="8" name="TextBox 8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6 › Multi-path timing</a:t>
            </a:r>
            <a:endParaRPr lang="en-US" sz="1200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Multi-Path Timing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00200"/>
            <a:ext cx="5486400" cy="2743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z1 = 0, z2 = 6, y = max(0, 6) = 6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</a:t>
            </a:r>
            <a:r>
              <a:rPr lang="en-US" sz="1600" b="1" dirty="0">
                <a:solidFill>
                  <a:srgbClr val="00857C"/>
                </a:solidFill>
              </a:rPr>
              <a:t>z1 = 12, z2 = 10, y = 12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(c)</a:t>
            </a:r>
            <a:r>
              <a:rPr lang="en-US" sz="1600" dirty="0">
                <a:solidFill>
                  <a:srgbClr val="262626"/>
                </a:solidFill>
              </a:rPr>
              <a:t xml:space="preserve">	The timing diagram, right.  All go unknown at </a:t>
            </a:r>
            <a:r>
              <a:rPr lang="en-US" sz="1600" b="1" dirty="0">
                <a:solidFill>
                  <a:srgbClr val="00857C"/>
                </a:solidFill>
              </a:rPr>
              <a:t>10 ns</a:t>
            </a:r>
            <a:r>
              <a:rPr lang="en-US" sz="1600" dirty="0">
                <a:solidFill>
                  <a:srgbClr val="262626"/>
                </a:solidFill>
              </a:rPr>
              <a:t>; x settles at 12 ns, so: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z1 at </a:t>
            </a:r>
            <a:r>
              <a:rPr lang="en-US" sz="1600" b="1" dirty="0">
                <a:solidFill>
                  <a:srgbClr val="00857C"/>
                </a:solidFill>
              </a:rPr>
              <a:t>15 ns</a:t>
            </a:r>
            <a:r>
              <a:rPr lang="en-US" sz="1600" dirty="0">
                <a:solidFill>
                  <a:srgbClr val="262626"/>
                </a:solidFill>
              </a:rPr>
              <a:t xml:space="preserve"> (12 + 3),  z2 at </a:t>
            </a:r>
            <a:r>
              <a:rPr lang="en-US" sz="1600" b="1" dirty="0">
                <a:solidFill>
                  <a:srgbClr val="00857C"/>
                </a:solidFill>
              </a:rPr>
              <a:t>14 ns</a:t>
            </a:r>
            <a:r>
              <a:rPr lang="en-US" sz="1600" dirty="0">
                <a:solidFill>
                  <a:srgbClr val="262626"/>
                </a:solidFill>
              </a:rPr>
              <a:t xml:space="preserve"> (12 + 2)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y at </a:t>
            </a:r>
            <a:r>
              <a:rPr lang="en-US" sz="1600" b="1" dirty="0">
                <a:solidFill>
                  <a:srgbClr val="00857C"/>
                </a:solidFill>
              </a:rPr>
              <a:t>16 ns</a:t>
            </a:r>
            <a:r>
              <a:rPr lang="en-US" sz="1600" dirty="0">
                <a:solidFill>
                  <a:srgbClr val="262626"/>
                </a:solidFill>
              </a:rPr>
              <a:t>: the later of the two, plus 1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685800" y="4343400"/>
            <a:ext cx="5486400" cy="1188720"/>
          </a:xfrm>
          <a:prstGeom prst="roundRect">
            <a:avLst>
              <a:gd name="adj" fmla="val 8000"/>
            </a:avLst>
          </a:prstGeom>
          <a:solidFill>
            <a:srgbClr val="FCEEE3"/>
          </a:solidFill>
          <a:ln>
            <a:noFill/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B4530F"/>
                </a:solidFill>
              </a:rPr>
              <a:t>Common error</a:t>
            </a:r>
            <a:endParaRPr lang="en-US" sz="1500" dirty="0"/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62626"/>
                </a:solidFill>
              </a:rPr>
              <a:t xml:space="preserve">Counting from 10 ns, when x first changes: 13, 12 and 14.  The delay starts when x is stable again.</a:t>
            </a:r>
            <a:endParaRPr lang="en-US" sz="1400" dirty="0"/>
          </a:p>
        </p:txBody>
      </p:sp>
      <p:pic>
        <p:nvPicPr>
          <p:cNvPr id="6" name="Picture 6" descr="q_multipa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51257"/>
            <a:ext cx="5074920" cy="1921246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6 › Multi-path timing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Demo: Timing Diagrams from Vitis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335024"/>
            <a:ext cx="10789920" cy="694944"/>
          </a:xfrm>
          <a:prstGeom prst="roundRect">
            <a:avLst>
              <a:gd name="adj" fmla="val 16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 xml:space="preserve">sdrangan.github.io/hwdesign   —   Demos › AXI4-Streaming › Viewing the Timing Diagram</a:t>
            </a:r>
            <a:endParaRPr lang="en-US" sz="18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221284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RUN THE WHOLE FLOW</a:t>
            </a:r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685800" y="2523744"/>
            <a:ext cx="5394960" cy="1828800"/>
          </a:xfrm>
          <a:prstGeom prst="rect">
            <a:avLst/>
          </a:prstGeom>
          <a:solidFill>
            <a:srgbClr val="F4F4F7"/>
          </a:solidFill>
          <a:ln w="12700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cd demos/stream/avgfilt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python avgfilt_build.py --list-steps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python avgfilt_build.py --through extract_vcd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python avgfilt_build.py --through timing_diagram</a:t>
            </a:r>
            <a:endParaRPr lang="en-US" sz="1200" dirty="0"/>
          </a:p>
        </p:txBody>
      </p:sp>
      <p:sp>
        <p:nvSpPr>
          <p:cNvPr id="6" name="TextBox 6"/>
          <p:cNvSpPr txBox="1"/>
          <p:nvPr/>
        </p:nvSpPr>
        <p:spPr>
          <a:xfrm>
            <a:off x="6355080" y="221284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WHAT TO WATCH FOR</a:t>
            </a:r>
            <a:endParaRPr lang="en-US" sz="1200" dirty="0"/>
          </a:p>
        </p:txBody>
      </p:sp>
      <p:sp>
        <p:nvSpPr>
          <p:cNvPr id="7" name="TextBox 7"/>
          <p:cNvSpPr txBox="1"/>
          <p:nvPr/>
        </p:nvSpPr>
        <p:spPr>
          <a:xfrm>
            <a:off x="6355080" y="2523744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extract_vcd</a:t>
            </a:r>
            <a:r>
              <a:rPr lang="en-US" sz="1400" dirty="0">
                <a:solidFill>
                  <a:srgbClr val="262626"/>
                </a:solidFill>
              </a:rPr>
              <a:t xml:space="preserve"> re-runs the RTL simulation with VCD logging switched on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timing_diagram</a:t>
            </a:r>
            <a:r>
              <a:rPr lang="en-US" sz="1400" dirty="0">
                <a:solidFill>
                  <a:srgbClr val="262626"/>
                </a:solidFill>
              </a:rPr>
              <a:t xml:space="preserve"> reads the VCD and decodes the stream off the wires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A sample moves on a rising edge where TVALID and TREADY are both high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The scalar-function demo does the same for an AXI4-Lite IP</a:t>
            </a:r>
            <a:endParaRPr lang="en-US" sz="1400" dirty="0"/>
          </a:p>
        </p:txBody>
      </p:sp>
      <p:sp>
        <p:nvSpPr>
          <p:cNvPr id="8" name="Shape 8"/>
          <p:cNvSpPr/>
          <p:nvPr/>
        </p:nvSpPr>
        <p:spPr>
          <a:xfrm>
            <a:off x="685800" y="4663440"/>
            <a:ext cx="10789920" cy="123444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219456" tIns="109728" rIns="219456" bIns="109728" anchor="ctr" rtlCol="0">
            <a:noAutofit/>
          </a:bodyPr>
          <a:lstStyle/>
          <a:p>
            <a:pPr algn="ctr"/>
            <a:r>
              <a:rPr lang="en-US" sz="1500" dirty="0">
                <a:solidFill>
                  <a:srgbClr val="262626"/>
                </a:solidFill>
              </a:rPr>
              <a:t>Measured on the RTL: a latency of 19 cycles, then 200 samples out in 200 cycles.</a:t>
            </a:r>
            <a:endParaRPr lang="en-US" sz="1500" dirty="0"/>
          </a:p>
          <a:p>
            <a:pPr algn="ctr">
              <a:spcBef>
                <a:spcPts val="800"/>
              </a:spcBef>
            </a:pPr>
            <a:r>
              <a:rPr lang="en-US" sz="1400" b="1" dirty="0">
                <a:solidFill>
                  <a:srgbClr val="00857C"/>
                </a:solidFill>
              </a:rPr>
              <a:t>The latency and throughput this unit computes by hand, read off a real waveform.</a:t>
            </a:r>
            <a:endParaRPr lang="en-US" sz="1400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Demo: Latency and the Clock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335024"/>
            <a:ext cx="10789920" cy="694944"/>
          </a:xfrm>
          <a:prstGeom prst="roundRect">
            <a:avLst>
              <a:gd name="adj" fmla="val 16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 xml:space="preserve">sdrangan.github.io/hwdesign   —   Demos › Timing and the Clock</a:t>
            </a:r>
            <a:endParaRPr lang="en-US" sz="18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221284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RUN THE SWEEP</a:t>
            </a:r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685800" y="2523744"/>
            <a:ext cx="5120640" cy="1143000"/>
          </a:xfrm>
          <a:prstGeom prst="rect">
            <a:avLst/>
          </a:prstGeom>
          <a:solidFill>
            <a:srgbClr val="F4F4F7"/>
          </a:solidFill>
          <a:ln w="12700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Bef>
                <a:spcPts val="0"/>
              </a:spcBef>
            </a:pPr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cd demos/timing/quad</a:t>
            </a:r>
            <a:endParaRPr lang="en-US" sz="1300" dirty="0"/>
          </a:p>
          <a:p>
            <a:pPr>
              <a:spcBef>
                <a:spcPts val="600"/>
              </a:spcBef>
            </a:pPr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python quad_build.py --list-steps</a:t>
            </a:r>
            <a:endParaRPr lang="en-US" sz="1300" dirty="0"/>
          </a:p>
          <a:p>
            <a:pPr>
              <a:spcBef>
                <a:spcPts val="600"/>
              </a:spcBef>
            </a:pPr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python quad_build.py --force-step sweep</a:t>
            </a:r>
            <a:endParaRPr lang="en-US" sz="1300" dirty="0"/>
          </a:p>
        </p:txBody>
      </p:sp>
      <p:sp>
        <p:nvSpPr>
          <p:cNvPr id="6" name="TextBox 6"/>
          <p:cNvSpPr txBox="1"/>
          <p:nvPr/>
        </p:nvSpPr>
        <p:spPr>
          <a:xfrm>
            <a:off x="685800" y="38404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WHAT TO WATCH FOR</a:t>
            </a:r>
            <a:endParaRPr lang="en-US" sz="12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4133088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 xml:space="preserve">The quadratic with </a:t>
            </a:r>
            <a:r>
              <a:rPr lang="en-US" sz="1400" b="1" dirty="0">
                <a:solidFill>
                  <a:srgbClr val="57068C"/>
                </a:solidFill>
              </a:rPr>
              <a:t>no AXI</a:t>
            </a:r>
            <a:r>
              <a:rPr lang="en-US" sz="1400" dirty="0">
                <a:solidFill>
                  <a:srgbClr val="262626"/>
                </a:solidFill>
              </a:rPr>
              <a:t xml:space="preserve">: plain wires and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ap_start</a:t>
            </a:r>
            <a:r>
              <a:rPr lang="en-US" sz="1400" dirty="0">
                <a:solidFill>
                  <a:srgbClr val="262626"/>
                </a:solidFill>
              </a:rPr>
              <a:t xml:space="preserve"> /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ap_done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 xml:space="preserve">Latency: </a:t>
            </a:r>
            <a:r>
              <a:rPr lang="en-US" sz="1400" b="1" dirty="0">
                <a:solidFill>
                  <a:srgbClr val="57068C"/>
                </a:solidFill>
              </a:rPr>
              <a:t>0 cycles</a:t>
            </a:r>
            <a:r>
              <a:rPr lang="en-US" sz="1400" dirty="0">
                <a:solidFill>
                  <a:srgbClr val="262626"/>
                </a:solidFill>
              </a:rPr>
              <a:t xml:space="preserve"> at 50 MHz, 2 at 100 MHz, 9 at 300 MHz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 xml:space="preserve">In ns it does </a:t>
            </a:r>
            <a:r>
              <a:rPr lang="en-US" sz="1400" b="1" dirty="0">
                <a:solidFill>
                  <a:srgbClr val="57068C"/>
                </a:solidFill>
              </a:rPr>
              <a:t>not</a:t>
            </a:r>
            <a:r>
              <a:rPr lang="en-US" sz="1400" dirty="0">
                <a:solidFill>
                  <a:srgbClr val="262626"/>
                </a:solidFill>
              </a:rPr>
              <a:t xml:space="preserve"> fall: 20 ns at 100 MHz, 30 ns at 300 MHz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 xml:space="preserve">Fails timing at 400 MHz; pipelined, a new input </a:t>
            </a:r>
            <a:r>
              <a:rPr lang="en-US" sz="1400" b="1" dirty="0">
                <a:solidFill>
                  <a:srgbClr val="57068C"/>
                </a:solidFill>
              </a:rPr>
              <a:t>every cycle</a:t>
            </a:r>
            <a:endParaRPr lang="en-US" sz="1400" dirty="0"/>
          </a:p>
        </p:txBody>
      </p:sp>
      <p:pic>
        <p:nvPicPr>
          <p:cNvPr id="8" name="Picture 8" descr="quad_swee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52554"/>
            <a:ext cx="5349240" cy="3532468"/>
          </a:xfrm>
          <a:prstGeom prst="rect">
            <a:avLst/>
          </a:prstGeom>
        </p:spPr>
      </p:pic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57068C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13096</TotalTime>
  <Words>3441</Words>
  <Application>Microsoft Office PowerPoint</Application>
  <PresentationFormat>Widescreen</PresentationFormat>
  <Paragraphs>785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Calibri</vt:lpstr>
      <vt:lpstr>Cambria Math</vt:lpstr>
      <vt:lpstr>Courier New</vt:lpstr>
      <vt:lpstr>Wingdings</vt:lpstr>
      <vt:lpstr>Retrospect</vt:lpstr>
      <vt:lpstr>Unit 6  Timing and Critical Path Analysis</vt:lpstr>
      <vt:lpstr>Learning Objectives</vt:lpstr>
      <vt:lpstr>Outline</vt:lpstr>
      <vt:lpstr>Static Timing Analysis</vt:lpstr>
      <vt:lpstr>Implementing Signal Physically</vt:lpstr>
      <vt:lpstr>Undefined Logic Value:  ‘X’ or ‘?’ </vt:lpstr>
      <vt:lpstr>Undefined Regions Illustrated</vt:lpstr>
      <vt:lpstr>Stable Values and Propagation Delays</vt:lpstr>
      <vt:lpstr>Maximum Propagation Delay</vt:lpstr>
      <vt:lpstr>Timing in a Series Circuit:  ReLU + Linear</vt:lpstr>
      <vt:lpstr>Timing Diagram for Series Connections</vt:lpstr>
      <vt:lpstr>Timing Diagram of a Series</vt:lpstr>
      <vt:lpstr>Series Timing:  Initial Component</vt:lpstr>
      <vt:lpstr>Series Timing:  Second Component</vt:lpstr>
      <vt:lpstr>Series Timing:  Third Component</vt:lpstr>
      <vt:lpstr>Example Total Propagation Delay</vt:lpstr>
      <vt:lpstr>Example Timing Over Multiple Inputs</vt:lpstr>
      <vt:lpstr>Example Problem</vt:lpstr>
      <vt:lpstr>Typical Propagation Delays:  Low-End FPGA</vt:lpstr>
      <vt:lpstr>Typical Propagation Delays:  ASIC</vt:lpstr>
      <vt:lpstr>Timing Diagram with Multiple Paths</vt:lpstr>
      <vt:lpstr>Timing Diagram:  Inputs</vt:lpstr>
      <vt:lpstr>Timing Diagram:  First Steps</vt:lpstr>
      <vt:lpstr>Multipath:  Final Output</vt:lpstr>
      <vt:lpstr>Conditional Circuits</vt:lpstr>
      <vt:lpstr>Implementing Conditional with Multiplexers</vt:lpstr>
      <vt:lpstr>Propagation Delay with Multiplexers</vt:lpstr>
      <vt:lpstr>Critical Path</vt:lpstr>
      <vt:lpstr>Critical Path Example</vt:lpstr>
      <vt:lpstr>Delay Depends on Implementation</vt:lpstr>
      <vt:lpstr>Outline</vt:lpstr>
      <vt:lpstr>Synchronous Logic</vt:lpstr>
      <vt:lpstr>STA for Synchronous Logic Overview</vt:lpstr>
      <vt:lpstr>Set-Up and Hold Time</vt:lpstr>
      <vt:lpstr>Clock-to-Q time</vt:lpstr>
      <vt:lpstr>Typical Times</vt:lpstr>
      <vt:lpstr>Register-to-Register Paths</vt:lpstr>
      <vt:lpstr>STA Analysis:  Verifying the Set-Up Time</vt:lpstr>
      <vt:lpstr>Meeting or Failing Timing</vt:lpstr>
      <vt:lpstr>Example:  Calculating Critical Path</vt:lpstr>
      <vt:lpstr>Example:  Maximum Clock Frequency</vt:lpstr>
      <vt:lpstr>Meeting the Min Hold Time Constraint</vt:lpstr>
      <vt:lpstr>Outline</vt:lpstr>
      <vt:lpstr>Synchronous Logic Detailed Timing Diagram</vt:lpstr>
      <vt:lpstr>Detailed Timing Diagram</vt:lpstr>
      <vt:lpstr>Abstract or Cycle Accurate Timing Diagram</vt:lpstr>
      <vt:lpstr>ReLU + Linear Synchronous Module</vt:lpstr>
      <vt:lpstr>Synchronous Implementation</vt:lpstr>
      <vt:lpstr>STA</vt:lpstr>
      <vt:lpstr>ReLU+Linear Timing Diagram</vt:lpstr>
      <vt:lpstr>Max Clock Frequency Example</vt:lpstr>
      <vt:lpstr>Quadratic Example</vt:lpstr>
      <vt:lpstr>Finding the Critical Path</vt:lpstr>
      <vt:lpstr>A Two Cycle Design</vt:lpstr>
      <vt:lpstr>Three Stages</vt:lpstr>
      <vt:lpstr>Critical Path with Three Stages</vt:lpstr>
      <vt:lpstr>Two Cycle Timing Diagram</vt:lpstr>
      <vt:lpstr>Latency, Throughput and Pipelining</vt:lpstr>
      <vt:lpstr>Performance Comparison</vt:lpstr>
      <vt:lpstr>Outline</vt:lpstr>
      <vt:lpstr>Value-Change Points</vt:lpstr>
      <vt:lpstr>Timing Diagram and VCDs</vt:lpstr>
      <vt:lpstr>Viewing Waveforms in Vivado</vt:lpstr>
      <vt:lpstr>Viewing Timing Diagrams in this Class</vt:lpstr>
      <vt:lpstr>Parsing the Signals in Python</vt:lpstr>
      <vt:lpstr>Displaying the Signals in Python</vt:lpstr>
      <vt:lpstr>Drawing Timing Diagrams in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603</cp:revision>
  <cp:lastPrinted>2018-09-04T19:00:14Z</cp:lastPrinted>
  <dcterms:created xsi:type="dcterms:W3CDTF">2015-03-22T11:15:32Z</dcterms:created>
  <dcterms:modified xsi:type="dcterms:W3CDTF">2026-03-24T01:26:37Z</dcterms:modified>
</cp:coreProperties>
</file>