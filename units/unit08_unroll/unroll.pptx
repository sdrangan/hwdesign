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8" r:id="rId2"/>
    <p:sldId id="271" r:id="rId3"/>
    <p:sldId id="407" r:id="rId4"/>
    <p:sldId id="400" r:id="rId5"/>
    <p:sldId id="401" r:id="rId6"/>
    <p:sldId id="402" r:id="rId7"/>
    <p:sldId id="403" r:id="rId8"/>
    <p:sldId id="404" r:id="rId9"/>
    <p:sldId id="405" r:id="rId10"/>
    <p:sldId id="406" r:id="rId11"/>
    <p:sldId id="408" r:id="rId12"/>
  </p:sldIdLst>
  <p:sldSz cx="12192000" cy="6858000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FFCC"/>
    <a:srgbClr val="E0F8E0"/>
    <a:srgbClr val="92278F"/>
    <a:srgbClr val="CADEB2"/>
    <a:srgbClr val="C9D3BD"/>
    <a:srgbClr val="FBF9FB"/>
    <a:srgbClr val="EAE5EB"/>
    <a:srgbClr val="CCFF99"/>
    <a:srgbClr val="E3DFF7"/>
    <a:srgbClr val="DEE6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15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61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B7D6DDD3-D7E9-488B-B626-1E8285E424D8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5CF6084-2C3C-4FE7-B181-D16A34290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252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Relationship Id="rId3" Type="http://schemas.openxmlformats.org/officeDocument/2006/relationships/image" Target="../media/image1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 userDrawn="1"/>
        </p:nvSpPr>
        <p:spPr>
          <a:xfrm>
            <a:off x="0" y="6171231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7" name="Rectangle 16"/>
          <p:cNvSpPr/>
          <p:nvPr userDrawn="1"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164" y="6292310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91440" indent="-91440">
              <a:buSzPct val="100000"/>
              <a:buFont typeface="Wingdings" panose="05000000000000000000" pitchFamily="2" charset="2"/>
              <a:buChar char="q"/>
              <a:defRPr/>
            </a:lvl1pPr>
          </a:lstStyle>
          <a:p>
            <a:pPr lvl="0"/>
            <a:r>
              <a:rPr lang="en-US" dirty="0"/>
              <a:t> 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7" name="Picture 16" descr="final-logo-3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379551"/>
            <a:ext cx="1117381" cy="81740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045" y="6405564"/>
            <a:ext cx="2113225" cy="334949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54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6019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214193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477911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214193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339080"/>
            <a:ext cx="12192000" cy="518920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>
            <a:off x="15" y="627259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32682" y="6508672"/>
            <a:ext cx="984019" cy="273844"/>
          </a:xfrm>
          <a:prstGeom prst="rect">
            <a:avLst/>
          </a:prstGeom>
        </p:spPr>
        <p:txBody>
          <a:bodyPr vert="horz" lIns="68567" tIns="34289" rIns="68567" bIns="34289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507" y="6405564"/>
            <a:ext cx="2113225" cy="334949"/>
          </a:xfrm>
          <a:prstGeom prst="rect">
            <a:avLst/>
          </a:prstGeom>
        </p:spPr>
      </p:pic>
      <p:pic>
        <p:nvPicPr>
          <p:cNvPr id="16" name="Picture 15" descr="final-logo-3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2543" y="6446621"/>
            <a:ext cx="923615" cy="67565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emf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160663"/>
            <a:ext cx="12192000" cy="697337"/>
          </a:xfrm>
          <a:prstGeom prst="rect">
            <a:avLst/>
          </a:prstGeom>
          <a:solidFill>
            <a:srgbClr val="5706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800" dirty="0"/>
          </a:p>
        </p:txBody>
      </p:sp>
      <p:sp>
        <p:nvSpPr>
          <p:cNvPr id="9" name="Rectangle 8"/>
          <p:cNvSpPr/>
          <p:nvPr/>
        </p:nvSpPr>
        <p:spPr>
          <a:xfrm>
            <a:off x="15" y="6094179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402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539277"/>
            <a:ext cx="10058400" cy="432981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46794" y="6314268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4330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307" y="6307398"/>
            <a:ext cx="2113225" cy="334949"/>
          </a:xfrm>
          <a:prstGeom prst="rect">
            <a:avLst/>
          </a:prstGeom>
        </p:spPr>
      </p:pic>
      <p:pic>
        <p:nvPicPr>
          <p:cNvPr id="15" name="Picture 14" descr="final-logo-3.eps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1914" y="6270691"/>
            <a:ext cx="1117381" cy="81740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600" dirty="0"/>
              <a:t>Unit 8 </a:t>
            </a:r>
            <a:br>
              <a:rPr lang="en-US" sz="6600" dirty="0"/>
            </a:br>
            <a:r>
              <a:rPr lang="en-US" sz="6600" dirty="0"/>
              <a:t>Loop Unrolling and Nested Loops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ECE-GY 6463:  Advanced Hardware Design</a:t>
            </a:r>
          </a:p>
          <a:p>
            <a:r>
              <a:rPr lang="en-US"/>
              <a:t>ProfS. Sundeep Rangan, Siddharth Garg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4293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to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u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nroll</a:t>
            </a:r>
            <a:r>
              <a:rPr lang="en-US" dirty="0"/>
              <a:t> loops in Vitis HLS</a:t>
            </a:r>
          </a:p>
          <a:p>
            <a:r>
              <a:rPr lang="en-US" dirty="0"/>
              <a:t>Mitigate memory bottlenecks in unrolled loops with:</a:t>
            </a:r>
          </a:p>
          <a:p>
            <a:pPr lvl="1"/>
            <a:r>
              <a:rPr lang="en-US" dirty="0"/>
              <a:t>Increased memory bit width</a:t>
            </a:r>
          </a:p>
          <a:p>
            <a:pPr lvl="1"/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Memory partitioning</a:t>
            </a:r>
          </a:p>
          <a:p>
            <a:r>
              <a:rPr lang="en-US" dirty="0">
                <a:solidFill>
                  <a:schemeClr val="tx1"/>
                </a:solidFill>
              </a:rPr>
              <a:t>Design efficient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nested loops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55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C648C-F24B-3E02-A196-A8D9BF9D1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7797F-7CD8-AC18-0AAD-460CDF2AB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CD2F2-F951-798B-1A8B-5156FDEA8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Loop Unrolling and Memory Constraints </a:t>
            </a:r>
          </a:p>
          <a:p>
            <a:r>
              <a:rPr lang="en-US" sz="2400" dirty="0"/>
              <a:t>Nested Loops</a:t>
            </a:r>
          </a:p>
          <a:p>
            <a:r>
              <a:rPr lang="en-US" sz="2400" dirty="0"/>
              <a:t>FIR Filter Example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41135-692F-4813-D146-AA10C9E69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8FBEDAB-E7B9-4460-DC0B-6E34A4CE33F8}"/>
              </a:ext>
            </a:extLst>
          </p:cNvPr>
          <p:cNvSpPr/>
          <p:nvPr/>
        </p:nvSpPr>
        <p:spPr>
          <a:xfrm>
            <a:off x="392264" y="1447851"/>
            <a:ext cx="938784" cy="48463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6446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F7F38-9872-5807-D0AC-B812A4A0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519E3-7393-5EA5-2EA6-D3F7B22AD1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Simple idea:  Repeat processing in each cycle</a:t>
            </a:r>
          </a:p>
          <a:p>
            <a:r>
              <a:rPr lang="en-US" sz="2400" dirty="0"/>
              <a:t>Unroll by 2</a:t>
            </a:r>
          </a:p>
          <a:p>
            <a:pPr lvl="1"/>
            <a:r>
              <a:rPr lang="en-US" sz="2200" dirty="0"/>
              <a:t>Need half the number of iterations</a:t>
            </a:r>
          </a:p>
          <a:p>
            <a:pPr lvl="1"/>
            <a:r>
              <a:rPr lang="en-US" sz="2200" dirty="0"/>
              <a:t>But double the logic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B66DB-9B86-DC44-02E6-201EAE5A1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4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5369FA-B673-538E-C72C-51FA0D7098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0748" y="2063273"/>
            <a:ext cx="4541088" cy="355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535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BD300-8BB9-EE2B-7903-D2A70A69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Loop Unrolling in Vitis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Can be done with a simple pragma</a:t>
                </a:r>
              </a:p>
              <a:p>
                <a:r>
                  <a:rPr lang="en-US" sz="2400" dirty="0"/>
                  <a:t>No need to manually unroll!</a:t>
                </a:r>
              </a:p>
              <a:p>
                <a:r>
                  <a:rPr lang="en-US" sz="2400" dirty="0"/>
                  <a:t>Handles cases when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</a:t>
                </a:r>
                <a:r>
                  <a:rPr lang="en-US" sz="2400" dirty="0"/>
                  <a:t>is not divisible by unroll factor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8EDAE4-3805-85D5-206A-931A30067D4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539277"/>
                <a:ext cx="10058400" cy="1669871"/>
              </a:xfrm>
              <a:blipFill>
                <a:blip r:embed="rId2"/>
                <a:stretch>
                  <a:fillRect l="-1697" t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51E725-5BD2-E980-A2F1-2A8E0CD7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38C19E-6919-1DDA-28AE-E8115AA17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7429" y="3429000"/>
            <a:ext cx="3908597" cy="16698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8CDB722-0F46-43C6-0B65-AB1BA11A4E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5268" y="3421611"/>
            <a:ext cx="3656286" cy="15954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4CB35B-3414-E6FB-7DB0-01B16F752F7E}"/>
              </a:ext>
            </a:extLst>
          </p:cNvPr>
          <p:cNvSpPr txBox="1"/>
          <p:nvPr/>
        </p:nvSpPr>
        <p:spPr>
          <a:xfrm>
            <a:off x="6126480" y="3743586"/>
            <a:ext cx="4651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=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364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98C6A-107C-547D-948C-E252E74F2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 Bottleneck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M</a:t>
                </a:r>
                <a:r>
                  <a:rPr lang="en-US" sz="2200" dirty="0"/>
                  <a:t>emory bottleneck</a:t>
                </a:r>
              </a:p>
              <a:p>
                <a:pPr lvl="1"/>
                <a:r>
                  <a:rPr lang="en-US" sz="2000" dirty="0"/>
                  <a:t>Loop unrolling is often limited by memory accesses</a:t>
                </a:r>
              </a:p>
              <a:p>
                <a:r>
                  <a:rPr lang="en-US" sz="2200" dirty="0"/>
                  <a:t>Consider vector multiply SV code</a:t>
                </a:r>
              </a:p>
              <a:p>
                <a:r>
                  <a:rPr lang="en-US" sz="2200" dirty="0"/>
                  <a:t>Stage 0 needs:</a:t>
                </a:r>
              </a:p>
              <a:p>
                <a:pPr lvl="1"/>
                <a:r>
                  <a:rPr lang="en-US" sz="2000" dirty="0"/>
                  <a:t>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/>
                  <a:t> and two reads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sz="2000" dirty="0"/>
              </a:p>
              <a:p>
                <a:r>
                  <a:rPr lang="en-US" sz="2200" dirty="0"/>
                  <a:t>Stage 2 needs:</a:t>
                </a:r>
              </a:p>
              <a:p>
                <a:pPr lvl="1"/>
                <a:r>
                  <a:rPr lang="en-US" sz="2000" dirty="0"/>
                  <a:t>Two writes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75C02B-402D-D548-8832-DE01C44888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60102" y="1539277"/>
                <a:ext cx="5795578" cy="4329817"/>
              </a:xfrm>
              <a:blipFill>
                <a:blip r:embed="rId2"/>
                <a:stretch>
                  <a:fillRect l="-2944" t="-1972" r="-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C3FF70-FE1C-DD4C-36AD-58DA6D66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69AC2-BD2D-0ED2-8148-2993E57CE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320" y="2163827"/>
            <a:ext cx="4025484" cy="3520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711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AFB79-FFC3-595F-8968-0538F2D6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Port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ECE66-05B0-0988-A504-15417A7A2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539277"/>
            <a:ext cx="5652103" cy="4329817"/>
          </a:xfrm>
        </p:spPr>
        <p:txBody>
          <a:bodyPr/>
          <a:lstStyle/>
          <a:p>
            <a:r>
              <a:rPr lang="en-US" dirty="0"/>
              <a:t>Recall memory architecture from Unit 4</a:t>
            </a:r>
          </a:p>
          <a:p>
            <a:r>
              <a:rPr lang="en-US" dirty="0"/>
              <a:t>Basic memories are 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single port</a:t>
            </a:r>
          </a:p>
          <a:p>
            <a:r>
              <a:rPr lang="en-US" dirty="0"/>
              <a:t>There is a single address decoder</a:t>
            </a:r>
          </a:p>
          <a:p>
            <a:r>
              <a:rPr lang="en-US" dirty="0"/>
              <a:t>Can read / write one word in a cycle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AE6E6-6B92-A8F4-9F2A-4DA28053E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7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BD49341-5BE5-7D32-D16D-11A8ADA5298B}"/>
              </a:ext>
            </a:extLst>
          </p:cNvPr>
          <p:cNvSpPr/>
          <p:nvPr/>
        </p:nvSpPr>
        <p:spPr>
          <a:xfrm>
            <a:off x="9704107" y="2575829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D085F4-A645-E101-8C4A-DC452FCE6F6E}"/>
              </a:ext>
            </a:extLst>
          </p:cNvPr>
          <p:cNvSpPr/>
          <p:nvPr/>
        </p:nvSpPr>
        <p:spPr>
          <a:xfrm>
            <a:off x="7481412" y="3069792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5B6015-0D73-54FA-AFCF-562D968601F9}"/>
              </a:ext>
            </a:extLst>
          </p:cNvPr>
          <p:cNvSpPr/>
          <p:nvPr/>
        </p:nvSpPr>
        <p:spPr>
          <a:xfrm>
            <a:off x="11367048" y="2436377"/>
            <a:ext cx="310060" cy="2882346"/>
          </a:xfrm>
          <a:prstGeom prst="rect">
            <a:avLst/>
          </a:prstGeom>
          <a:solidFill>
            <a:srgbClr val="CCFF99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C1EB41-0F8E-C3AA-B8E1-F616056DC234}"/>
              </a:ext>
            </a:extLst>
          </p:cNvPr>
          <p:cNvSpPr/>
          <p:nvPr/>
        </p:nvSpPr>
        <p:spPr>
          <a:xfrm>
            <a:off x="9713872" y="3166646"/>
            <a:ext cx="914317" cy="30481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/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input</a:t>
                </a:r>
                <a:br>
                  <a:rPr lang="en-US" sz="1600" dirty="0"/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16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bits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9CEA24F-8CA2-80E2-2AA4-90AC7DEB44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0" y="2846928"/>
                <a:ext cx="1334533" cy="584775"/>
              </a:xfrm>
              <a:prstGeom prst="rect">
                <a:avLst/>
              </a:prstGeom>
              <a:blipFill>
                <a:blip r:embed="rId2"/>
                <a:stretch>
                  <a:fillRect l="-2283" t="-3125" r="-91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75E1734-DAAF-2224-B18A-B0DABB448493}"/>
              </a:ext>
            </a:extLst>
          </p:cNvPr>
          <p:cNvCxnSpPr>
            <a:cxnSpLocks/>
          </p:cNvCxnSpPr>
          <p:nvPr/>
        </p:nvCxnSpPr>
        <p:spPr>
          <a:xfrm flipH="1">
            <a:off x="8945666" y="2743781"/>
            <a:ext cx="30388" cy="2334152"/>
          </a:xfrm>
          <a:prstGeom prst="line">
            <a:avLst/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391F4D9-7265-36AD-C4AB-6B69D3E6CAFB}"/>
              </a:ext>
            </a:extLst>
          </p:cNvPr>
          <p:cNvCxnSpPr/>
          <p:nvPr/>
        </p:nvCxnSpPr>
        <p:spPr>
          <a:xfrm>
            <a:off x="6749259" y="3463987"/>
            <a:ext cx="738563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/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Address </a:t>
                </a:r>
                <a:b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decoder</a:t>
                </a:r>
                <a:br>
                  <a:rPr lang="en-US" sz="1600" dirty="0"/>
                </a:br>
                <a:r>
                  <a:rPr lang="en-US" sz="1600" dirty="0"/>
                  <a:t>Selects one of</a:t>
                </a:r>
              </a:p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C3E1AC1-44C5-A55F-7073-7AE278A62E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5432" y="4014348"/>
                <a:ext cx="1350050" cy="1077218"/>
              </a:xfrm>
              <a:prstGeom prst="rect">
                <a:avLst/>
              </a:prstGeom>
              <a:blipFill>
                <a:blip r:embed="rId3"/>
                <a:stretch>
                  <a:fillRect l="-2252" t="-1705" r="-901" b="-6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/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wordlines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15EFE4F-E81A-8DDC-8F3F-DA47D9CCE0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99422" y="2257444"/>
                <a:ext cx="1201226" cy="338554"/>
              </a:xfrm>
              <a:prstGeom prst="rect">
                <a:avLst/>
              </a:prstGeom>
              <a:blipFill>
                <a:blip r:embed="rId4"/>
                <a:stretch>
                  <a:fillRect t="-5357" r="-2030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/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A9FD932-FE3F-F748-B31B-A2B29D3F61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92218" y="3740400"/>
                <a:ext cx="349775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/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82BF4B-723E-1E51-EA74-0EC08081F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2742" y="3812076"/>
                <a:ext cx="349775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oup 18">
            <a:extLst>
              <a:ext uri="{FF2B5EF4-FFF2-40B4-BE49-F238E27FC236}">
                <a16:creationId xmlns:a16="http://schemas.microsoft.com/office/drawing/2014/main" id="{873E6B12-A295-5F9A-C2F6-1A9A77AB8409}"/>
              </a:ext>
            </a:extLst>
          </p:cNvPr>
          <p:cNvGrpSpPr/>
          <p:nvPr/>
        </p:nvGrpSpPr>
        <p:grpSpPr>
          <a:xfrm>
            <a:off x="8969428" y="2575829"/>
            <a:ext cx="2397325" cy="296148"/>
            <a:chOff x="3167386" y="2308781"/>
            <a:chExt cx="2397325" cy="296148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3DD3E9E-8852-078F-A606-1A3C7B0697F9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50D667E-B18C-0E99-2D0A-F8AAA5401919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FA7658F1-EAB6-9F3D-47A1-EA9EBB979190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4FE26795-C050-2628-4638-484C7B97743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94F1D3A-1BA3-082F-36D8-C8245D07CAC9}"/>
              </a:ext>
            </a:extLst>
          </p:cNvPr>
          <p:cNvCxnSpPr/>
          <p:nvPr/>
        </p:nvCxnSpPr>
        <p:spPr>
          <a:xfrm>
            <a:off x="8974222" y="3335915"/>
            <a:ext cx="738563" cy="0"/>
          </a:xfrm>
          <a:prstGeom prst="straightConnector1">
            <a:avLst/>
          </a:prstGeom>
          <a:ln w="254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3F9EDD96-0DEC-74A9-677B-E83F76559CB7}"/>
              </a:ext>
            </a:extLst>
          </p:cNvPr>
          <p:cNvSpPr/>
          <p:nvPr/>
        </p:nvSpPr>
        <p:spPr>
          <a:xfrm>
            <a:off x="9711958" y="3172170"/>
            <a:ext cx="914400" cy="29614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68479F0-E014-0010-9B95-3D0D0219DE10}"/>
              </a:ext>
            </a:extLst>
          </p:cNvPr>
          <p:cNvCxnSpPr/>
          <p:nvPr/>
        </p:nvCxnSpPr>
        <p:spPr>
          <a:xfrm>
            <a:off x="10632984" y="3371199"/>
            <a:ext cx="738563" cy="0"/>
          </a:xfrm>
          <a:prstGeom prst="straightConnector1">
            <a:avLst/>
          </a:prstGeom>
          <a:ln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A4A68C2-364E-0602-A642-60387C90E5E5}"/>
              </a:ext>
            </a:extLst>
          </p:cNvPr>
          <p:cNvCxnSpPr>
            <a:cxnSpLocks/>
          </p:cNvCxnSpPr>
          <p:nvPr/>
        </p:nvCxnSpPr>
        <p:spPr>
          <a:xfrm flipH="1">
            <a:off x="10632984" y="3269492"/>
            <a:ext cx="3812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4EFCDA1-BF4F-0263-FF29-F0974093CBB6}"/>
              </a:ext>
            </a:extLst>
          </p:cNvPr>
          <p:cNvCxnSpPr>
            <a:cxnSpLocks/>
          </p:cNvCxnSpPr>
          <p:nvPr/>
        </p:nvCxnSpPr>
        <p:spPr>
          <a:xfrm>
            <a:off x="8395812" y="3463987"/>
            <a:ext cx="580242" cy="0"/>
          </a:xfrm>
          <a:prstGeom prst="straightConnector1">
            <a:avLst/>
          </a:prstGeom>
          <a:ln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AB999EB8-5468-2A4F-018D-4EE703E6D883}"/>
              </a:ext>
            </a:extLst>
          </p:cNvPr>
          <p:cNvCxnSpPr>
            <a:cxnSpLocks/>
          </p:cNvCxnSpPr>
          <p:nvPr/>
        </p:nvCxnSpPr>
        <p:spPr>
          <a:xfrm flipH="1">
            <a:off x="10996478" y="2436377"/>
            <a:ext cx="12957" cy="2580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B6A1727-B00E-C404-7E04-C4A80F625018}"/>
              </a:ext>
            </a:extLst>
          </p:cNvPr>
          <p:cNvSpPr txBox="1"/>
          <p:nvPr/>
        </p:nvSpPr>
        <p:spPr>
          <a:xfrm>
            <a:off x="11248290" y="1897185"/>
            <a:ext cx="5713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Bus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3547F62-0CEE-ACDE-48E0-FB5F9D10A398}"/>
              </a:ext>
            </a:extLst>
          </p:cNvPr>
          <p:cNvGrpSpPr/>
          <p:nvPr/>
        </p:nvGrpSpPr>
        <p:grpSpPr>
          <a:xfrm>
            <a:off x="8965544" y="2872878"/>
            <a:ext cx="2397325" cy="296148"/>
            <a:chOff x="3167386" y="2308781"/>
            <a:chExt cx="2397325" cy="296148"/>
          </a:xfrm>
        </p:grpSpPr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DEB26A35-5CFE-DE0B-CC24-036B9AC1C4DC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EFD280-F037-904B-D39C-39E2646F08C6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926FBF84-CD52-E7D9-6DB3-0E39F26DDE4C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BB28333-8223-1154-C750-EF5A07A0DF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4A4ECE2-B06E-A07A-84CB-8929A6293EE1}"/>
              </a:ext>
            </a:extLst>
          </p:cNvPr>
          <p:cNvGrpSpPr/>
          <p:nvPr/>
        </p:nvGrpSpPr>
        <p:grpSpPr>
          <a:xfrm>
            <a:off x="8952292" y="4919749"/>
            <a:ext cx="2397325" cy="296148"/>
            <a:chOff x="3167386" y="2308781"/>
            <a:chExt cx="2397325" cy="296148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4B99442-D4F6-A2CD-C914-5A437985C944}"/>
                </a:ext>
              </a:extLst>
            </p:cNvPr>
            <p:cNvCxnSpPr/>
            <p:nvPr/>
          </p:nvCxnSpPr>
          <p:spPr>
            <a:xfrm>
              <a:off x="3167386" y="2472526"/>
              <a:ext cx="738563" cy="0"/>
            </a:xfrm>
            <a:prstGeom prst="straightConnector1">
              <a:avLst/>
            </a:prstGeom>
            <a:ln>
              <a:solidFill>
                <a:schemeClr val="accent6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B268A124-ED28-6FE0-DD53-E258595AF3EA}"/>
                </a:ext>
              </a:extLst>
            </p:cNvPr>
            <p:cNvSpPr/>
            <p:nvPr/>
          </p:nvSpPr>
          <p:spPr>
            <a:xfrm>
              <a:off x="3911748" y="2308781"/>
              <a:ext cx="914400" cy="29614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A9A334E-596E-C2BE-BBA8-22DCF40FA115}"/>
                </a:ext>
              </a:extLst>
            </p:cNvPr>
            <p:cNvCxnSpPr/>
            <p:nvPr/>
          </p:nvCxnSpPr>
          <p:spPr>
            <a:xfrm>
              <a:off x="4826148" y="2507810"/>
              <a:ext cx="738563" cy="0"/>
            </a:xfrm>
            <a:prstGeom prst="straightConnector1">
              <a:avLst/>
            </a:prstGeom>
            <a:ln>
              <a:solidFill>
                <a:srgbClr val="00B05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D6B7DE6-9FE1-1FE1-8265-E5810B8D14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148" y="2406103"/>
              <a:ext cx="38124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/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 data </a:t>
                </a:r>
                <a:b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</a:br>
                <a:r>
                  <a:rPr lang="en-US" sz="1600" dirty="0">
                    <a:solidFill>
                      <a:schemeClr val="accent2">
                        <a:lumMod val="75000"/>
                      </a:schemeClr>
                    </a:solidFill>
                  </a:rPr>
                  <a:t>words</a:t>
                </a: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98B39ED-C908-8283-3FFB-45B112C9B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53455" y="1975810"/>
                <a:ext cx="800797" cy="584775"/>
              </a:xfrm>
              <a:prstGeom prst="rect">
                <a:avLst/>
              </a:prstGeom>
              <a:blipFill>
                <a:blip r:embed="rId7"/>
                <a:stretch>
                  <a:fillRect l="-4580" t="-3125" r="-305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D4679E64-CE95-80D6-C5F7-F823B8AA333F}"/>
              </a:ext>
            </a:extLst>
          </p:cNvPr>
          <p:cNvSpPr txBox="1"/>
          <p:nvPr/>
        </p:nvSpPr>
        <p:spPr>
          <a:xfrm>
            <a:off x="10708692" y="2118911"/>
            <a:ext cx="55816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R/W</a:t>
            </a:r>
          </a:p>
        </p:txBody>
      </p:sp>
    </p:spTree>
    <p:extLst>
      <p:ext uri="{BB962C8B-B14F-4D97-AF65-F5344CB8AC3E}">
        <p14:creationId xmlns:p14="http://schemas.microsoft.com/office/powerpoint/2010/main" val="4166593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4CBC1-474F-05FC-B8A4-AD569CA3D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8A929D-D10A-0CFF-1997-BC97C34D5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Solution 1:  Use a true multi-port RAM</a:t>
            </a:r>
            <a:endParaRPr lang="en-US" sz="2800" dirty="0"/>
          </a:p>
          <a:p>
            <a:pPr lvl="1"/>
            <a:r>
              <a:rPr lang="en-US" sz="2000" dirty="0"/>
              <a:t>Most general.  Allows read and write from any combination of addresses</a:t>
            </a:r>
          </a:p>
          <a:p>
            <a:pPr lvl="1"/>
            <a:r>
              <a:rPr lang="en-US" sz="2000" dirty="0"/>
              <a:t>Xilinx FGPA BRAMs are two port</a:t>
            </a:r>
          </a:p>
          <a:p>
            <a:pPr lvl="1"/>
            <a:r>
              <a:rPr lang="en-US" sz="2000" dirty="0"/>
              <a:t>But most costly in hardware</a:t>
            </a:r>
          </a:p>
          <a:p>
            <a:r>
              <a:rPr lang="en-US" sz="2200" dirty="0"/>
              <a:t>Solution 2:  Use a wider </a:t>
            </a:r>
            <a:r>
              <a:rPr lang="en-US" sz="2200" dirty="0" err="1"/>
              <a:t>bitwidth</a:t>
            </a:r>
            <a:endParaRPr lang="en-US" sz="2200" dirty="0"/>
          </a:p>
          <a:p>
            <a:pPr lvl="1"/>
            <a:r>
              <a:rPr lang="en-US" sz="2000" dirty="0"/>
              <a:t>Say 64 bits to read two 32 bit numbers</a:t>
            </a:r>
          </a:p>
          <a:p>
            <a:pPr lvl="1"/>
            <a:r>
              <a:rPr lang="en-US" sz="2000" dirty="0"/>
              <a:t>Works only when the accesses are contiguous</a:t>
            </a:r>
          </a:p>
          <a:p>
            <a:r>
              <a:rPr lang="en-US" sz="2200" dirty="0"/>
              <a:t>Solution 3:  Bank or partition memory</a:t>
            </a:r>
          </a:p>
          <a:p>
            <a:pPr lvl="1"/>
            <a:r>
              <a:rPr lang="en-US" sz="2000" dirty="0"/>
              <a:t>Divide memory into partitions</a:t>
            </a:r>
          </a:p>
          <a:p>
            <a:pPr lvl="1"/>
            <a:r>
              <a:rPr lang="en-US" sz="2000" dirty="0"/>
              <a:t>Each partition has its own decoder</a:t>
            </a:r>
          </a:p>
          <a:p>
            <a:pPr lvl="1"/>
            <a:r>
              <a:rPr lang="en-US" sz="2000" dirty="0"/>
              <a:t>Works if accesses can be across different partitions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63E781-49AC-5338-84B1-0D8C7C1FB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15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C7FB3-61A6-B50E-9534-6AF651E22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F6AD-5636-5999-9471-9D1743F624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arbitrary read / writes </a:t>
            </a:r>
          </a:p>
          <a:p>
            <a:pPr lvl="1"/>
            <a:r>
              <a:rPr lang="en-US" dirty="0"/>
              <a:t>Except for read-write collisions to same address in same cycle</a:t>
            </a:r>
          </a:p>
          <a:p>
            <a:r>
              <a:rPr lang="en-US" dirty="0"/>
              <a:t>BRAM in FPGAs generally only support true two port</a:t>
            </a:r>
          </a:p>
          <a:p>
            <a:r>
              <a:rPr lang="en-US" dirty="0" err="1"/>
              <a:t>BMutli</a:t>
            </a:r>
            <a:r>
              <a:rPr lang="en-US" dirty="0"/>
              <a:t>-port SRAMs in ASICs are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FBF13-AACC-FD4B-7430-3E65E1D7E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C3B153-DBB2-A15E-0F48-C4B23DFA5623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9BB559-B66A-1BB0-B08E-136C6FF2A6A9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FC34E2A-D329-5108-0782-084CF57F5788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CB5F44-8FDB-45F2-93A4-94ED654DA01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FDA0E1-3F86-3C36-0D5B-5E46CFB47938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3B8278-F2E3-D854-1AFC-ADB23597292E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BA0771A-42CF-E3EA-AA84-C8D0D9FC87F3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4FB95FC-A484-8D98-E86C-A5FD4CC02E11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5B7F16-0565-4936-34C6-BF6D73908AEA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21D045E-7543-B390-3021-7EF9C437AD30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D869003A-FA05-D772-E392-D68EA34CFB55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D76675-0937-7526-7887-C13F2AAD00B5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53B457B-193B-3B93-0FA0-0E98725D667E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424EB7-355A-26AA-432A-3824934EC3DD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27A9D63-4F2E-CC39-85B4-DF5938E8AE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6396" y="3234105"/>
            <a:ext cx="5097928" cy="2903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181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5354-99F8-E11F-7EBE-20EFCF965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Wider Bit widths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DE095-6D76-385C-664C-0447AAF89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26682D-2200-8C76-98E8-AECA24FEA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850" y="1676400"/>
            <a:ext cx="4207944" cy="4152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EB49397-4439-101A-EF1A-DB7697FD424E}"/>
              </a:ext>
            </a:extLst>
          </p:cNvPr>
          <p:cNvSpPr txBox="1"/>
          <p:nvPr/>
        </p:nvSpPr>
        <p:spPr>
          <a:xfrm>
            <a:off x="7712348" y="3220375"/>
            <a:ext cx="38604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Wide bit width design</a:t>
            </a:r>
          </a:p>
          <a:p>
            <a:pPr marL="285750" indent="-285750">
              <a:buFontTx/>
              <a:buChar char="-"/>
            </a:pPr>
            <a:r>
              <a:rPr lang="en-US" dirty="0"/>
              <a:t>Only one R/W to each array</a:t>
            </a:r>
          </a:p>
          <a:p>
            <a:pPr marL="285750" indent="-285750">
              <a:buFontTx/>
              <a:buChar char="-"/>
            </a:pPr>
            <a:r>
              <a:rPr lang="en-US" dirty="0"/>
              <a:t>Can pipeline with II=1</a:t>
            </a:r>
          </a:p>
          <a:p>
            <a:pPr marL="285750" indent="-285750">
              <a:buFontTx/>
              <a:buChar char="-"/>
            </a:pPr>
            <a:r>
              <a:rPr lang="en-US" dirty="0"/>
              <a:t>But need accesses to be contiguous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3047E43-C07A-789B-4A7F-92083437B1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72" y="3455630"/>
            <a:ext cx="2989537" cy="13045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5FE6721-2CFE-742C-FB54-2D9B4C89729D}"/>
              </a:ext>
            </a:extLst>
          </p:cNvPr>
          <p:cNvSpPr txBox="1"/>
          <p:nvPr/>
        </p:nvSpPr>
        <p:spPr>
          <a:xfrm>
            <a:off x="634128" y="1883411"/>
            <a:ext cx="33872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Narrow bit width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only one word per cycle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Memory bottleneck </a:t>
            </a:r>
          </a:p>
        </p:txBody>
      </p:sp>
    </p:spTree>
    <p:extLst>
      <p:ext uri="{BB962C8B-B14F-4D97-AF65-F5344CB8AC3E}">
        <p14:creationId xmlns:p14="http://schemas.microsoft.com/office/powerpoint/2010/main" val="589663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38516-10C5-56CB-6961-38D262AF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886E0-71FE-C60B-7FFA-E63F82BE1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Mutli</a:t>
            </a:r>
            <a:r>
              <a:rPr lang="en-US" dirty="0"/>
              <a:t>-Port RAMs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5568F-2897-9A57-17DE-A827F3C55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Allow arbitrary read / writes </a:t>
            </a:r>
          </a:p>
          <a:p>
            <a:pPr lvl="1"/>
            <a:r>
              <a:rPr lang="en-US" dirty="0"/>
              <a:t>Except for read-write collisions to same address in same cycle</a:t>
            </a:r>
          </a:p>
          <a:p>
            <a:r>
              <a:rPr lang="en-US" dirty="0"/>
              <a:t>BRAM in FPGAs generally only support true two port</a:t>
            </a:r>
          </a:p>
          <a:p>
            <a:r>
              <a:rPr lang="en-US" dirty="0" err="1"/>
              <a:t>BMutli</a:t>
            </a:r>
            <a:r>
              <a:rPr lang="en-US" dirty="0"/>
              <a:t>-port SRAMs in ASICs are expensive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20D99-8980-AD90-8500-628CCC4A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A8FA9-1374-03A5-F2E1-496974D99212}"/>
              </a:ext>
            </a:extLst>
          </p:cNvPr>
          <p:cNvSpPr/>
          <p:nvPr/>
        </p:nvSpPr>
        <p:spPr>
          <a:xfrm>
            <a:off x="10698521" y="2045743"/>
            <a:ext cx="914317" cy="264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DEC1CD-CF1B-A2A2-76E1-3B5CF66A4C56}"/>
              </a:ext>
            </a:extLst>
          </p:cNvPr>
          <p:cNvSpPr/>
          <p:nvPr/>
        </p:nvSpPr>
        <p:spPr>
          <a:xfrm>
            <a:off x="10708692" y="4329699"/>
            <a:ext cx="914317" cy="176231"/>
          </a:xfrm>
          <a:prstGeom prst="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0E9844-D543-0F34-97C6-912F9D0EB541}"/>
                  </a:ext>
                </a:extLst>
              </p:cNvPr>
              <p:cNvSpPr txBox="1"/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AF4DD5B-8742-55B8-F623-B3AA9DA847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86632" y="3210314"/>
                <a:ext cx="34977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5A3352F-662B-9C94-609B-F8F966DF3B11}"/>
              </a:ext>
            </a:extLst>
          </p:cNvPr>
          <p:cNvSpPr txBox="1"/>
          <p:nvPr/>
        </p:nvSpPr>
        <p:spPr>
          <a:xfrm>
            <a:off x="10698521" y="1616776"/>
            <a:ext cx="90063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Memory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E270F0-4785-A2EA-D182-1A8A8B2C8A9E}"/>
              </a:ext>
            </a:extLst>
          </p:cNvPr>
          <p:cNvSpPr/>
          <p:nvPr/>
        </p:nvSpPr>
        <p:spPr>
          <a:xfrm>
            <a:off x="10698521" y="3852806"/>
            <a:ext cx="914317" cy="176231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3C9884B-00B3-03F0-5911-2C76DAF988B9}"/>
              </a:ext>
            </a:extLst>
          </p:cNvPr>
          <p:cNvSpPr/>
          <p:nvPr/>
        </p:nvSpPr>
        <p:spPr>
          <a:xfrm>
            <a:off x="9088406" y="2484171"/>
            <a:ext cx="914400" cy="9144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6A5DE72-C252-08C3-46A1-3573D0D165E4}"/>
              </a:ext>
            </a:extLst>
          </p:cNvPr>
          <p:cNvSpPr/>
          <p:nvPr/>
        </p:nvSpPr>
        <p:spPr>
          <a:xfrm>
            <a:off x="9088406" y="3611034"/>
            <a:ext cx="914400" cy="914400"/>
          </a:xfrm>
          <a:prstGeom prst="rect">
            <a:avLst/>
          </a:prstGeom>
          <a:solidFill>
            <a:srgbClr val="CCFFCC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58BF9AA-9580-A673-7F22-9D302C1E2F6A}"/>
              </a:ext>
            </a:extLst>
          </p:cNvPr>
          <p:cNvCxnSpPr>
            <a:stCxn id="12" idx="3"/>
            <a:endCxn id="10" idx="1"/>
          </p:cNvCxnSpPr>
          <p:nvPr/>
        </p:nvCxnSpPr>
        <p:spPr>
          <a:xfrm flipV="1">
            <a:off x="10002806" y="3940922"/>
            <a:ext cx="695715" cy="127312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88F89A8-229B-F46B-A55F-F35719174D18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10002806" y="2941371"/>
            <a:ext cx="685950" cy="1438062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FC8EAA3-EA3E-A756-C5AE-4F4BDF40ECE1}"/>
              </a:ext>
            </a:extLst>
          </p:cNvPr>
          <p:cNvCxnSpPr>
            <a:endCxn id="11" idx="1"/>
          </p:cNvCxnSpPr>
          <p:nvPr/>
        </p:nvCxnSpPr>
        <p:spPr>
          <a:xfrm>
            <a:off x="8468139" y="2941371"/>
            <a:ext cx="620267" cy="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1BA53AB7-D1CA-488B-FD10-EB79B8C16BBC}"/>
              </a:ext>
            </a:extLst>
          </p:cNvPr>
          <p:cNvCxnSpPr/>
          <p:nvPr/>
        </p:nvCxnSpPr>
        <p:spPr>
          <a:xfrm>
            <a:off x="8468138" y="4068234"/>
            <a:ext cx="620267" cy="0"/>
          </a:xfrm>
          <a:prstGeom prst="straightConnector1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BB7BA68-FCA5-67D8-711F-AE53C2C04E1B}"/>
              </a:ext>
            </a:extLst>
          </p:cNvPr>
          <p:cNvSpPr txBox="1"/>
          <p:nvPr/>
        </p:nvSpPr>
        <p:spPr>
          <a:xfrm>
            <a:off x="9053451" y="4525433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Address</a:t>
            </a:r>
            <a:br>
              <a:rPr lang="en-US" sz="1600" dirty="0">
                <a:solidFill>
                  <a:srgbClr val="00B050"/>
                </a:solidFill>
              </a:rPr>
            </a:br>
            <a:r>
              <a:rPr lang="en-US" sz="1600" dirty="0">
                <a:solidFill>
                  <a:srgbClr val="00B050"/>
                </a:solidFill>
              </a:rPr>
              <a:t>Decoder 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06158E-8939-2E1E-3B58-D1438C5689F0}"/>
              </a:ext>
            </a:extLst>
          </p:cNvPr>
          <p:cNvSpPr txBox="1"/>
          <p:nvPr/>
        </p:nvSpPr>
        <p:spPr>
          <a:xfrm>
            <a:off x="7770343" y="2602817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Data1, Addr1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26A423-7011-E786-B3CF-1F9C20A45895}"/>
              </a:ext>
            </a:extLst>
          </p:cNvPr>
          <p:cNvSpPr txBox="1"/>
          <p:nvPr/>
        </p:nvSpPr>
        <p:spPr>
          <a:xfrm>
            <a:off x="9025335" y="1924182"/>
            <a:ext cx="1040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Address</a:t>
            </a:r>
            <a:br>
              <a:rPr lang="en-US" sz="1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</a:rPr>
              <a:t>Decoder 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76CC22-47A2-93A6-6289-18D474DE996F}"/>
              </a:ext>
            </a:extLst>
          </p:cNvPr>
          <p:cNvSpPr txBox="1"/>
          <p:nvPr/>
        </p:nvSpPr>
        <p:spPr>
          <a:xfrm>
            <a:off x="7760902" y="3729679"/>
            <a:ext cx="128310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Data2, Addr2</a:t>
            </a:r>
          </a:p>
        </p:txBody>
      </p:sp>
    </p:spTree>
    <p:extLst>
      <p:ext uri="{BB962C8B-B14F-4D97-AF65-F5344CB8AC3E}">
        <p14:creationId xmlns:p14="http://schemas.microsoft.com/office/powerpoint/2010/main" val="30492580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31564</TotalTime>
  <Words>434</Words>
  <Application>Microsoft Office PowerPoint</Application>
  <PresentationFormat>Widescreen</PresentationFormat>
  <Paragraphs>101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 Math</vt:lpstr>
      <vt:lpstr>Wingdings</vt:lpstr>
      <vt:lpstr>Retrospect</vt:lpstr>
      <vt:lpstr>Unit 8  Loop Unrolling and Nested Loops</vt:lpstr>
      <vt:lpstr>Learning Objectives</vt:lpstr>
      <vt:lpstr>Outline</vt:lpstr>
      <vt:lpstr>Loop Unrolling</vt:lpstr>
      <vt:lpstr>Loop Unrolling in Vitis</vt:lpstr>
      <vt:lpstr>Memory Bottleneck</vt:lpstr>
      <vt:lpstr>Single Port Memory</vt:lpstr>
      <vt:lpstr>Three Solutions</vt:lpstr>
      <vt:lpstr>Mutli-Port RAMs</vt:lpstr>
      <vt:lpstr>Using Wider Bit widths</vt:lpstr>
      <vt:lpstr>Mutli-Port RAMs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Sundeep Rangan</dc:creator>
  <cp:lastModifiedBy>Sundeep Rangan</cp:lastModifiedBy>
  <cp:revision>757</cp:revision>
  <cp:lastPrinted>2018-09-04T19:00:14Z</cp:lastPrinted>
  <dcterms:created xsi:type="dcterms:W3CDTF">2015-03-22T11:15:32Z</dcterms:created>
  <dcterms:modified xsi:type="dcterms:W3CDTF">2026-04-23T17:35:22Z</dcterms:modified>
</cp:coreProperties>
</file>